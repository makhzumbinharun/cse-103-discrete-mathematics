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CA6DA0-29E5-46EF-A652-29AB444062F1}">
  <a:tblStyle styleId="{1CCA6DA0-29E5-46EF-A652-29AB444062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4" name="Shape 34"/>
        <p:cNvGrpSpPr/>
        <p:nvPr/>
      </p:nvGrpSpPr>
      <p:grpSpPr>
        <a:xfrm>
          <a:off x="0" y="0"/>
          <a:ext cx="0" cy="0"/>
          <a:chOff x="0" y="0"/>
          <a:chExt cx="0" cy="0"/>
        </a:xfrm>
      </p:grpSpPr>
      <p:sp>
        <p:nvSpPr>
          <p:cNvPr id="35" name="Google Shape;35;p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 name="Google Shape;43;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7"/>
          <p:cNvSpPr/>
          <p:nvPr>
            <p:ph idx="2" type="pic"/>
          </p:nvPr>
        </p:nvSpPr>
        <p:spPr>
          <a:xfrm>
            <a:off x="1792288" y="612775"/>
            <a:ext cx="5486400" cy="4114800"/>
          </a:xfrm>
          <a:prstGeom prst="rect">
            <a:avLst/>
          </a:prstGeom>
          <a:noFill/>
          <a:ln>
            <a:noFill/>
          </a:ln>
        </p:spPr>
      </p:sp>
      <p:sp>
        <p:nvSpPr>
          <p:cNvPr id="49" name="Google Shape;49;p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6" name="Google Shape;56;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7" name="Google Shape;57;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9" name="Shape 69"/>
        <p:cNvGrpSpPr/>
        <p:nvPr/>
      </p:nvGrpSpPr>
      <p:grpSpPr>
        <a:xfrm>
          <a:off x="0" y="0"/>
          <a:ext cx="0" cy="0"/>
          <a:chOff x="0" y="0"/>
          <a:chExt cx="0" cy="0"/>
        </a:xfrm>
      </p:grpSpPr>
      <p:sp>
        <p:nvSpPr>
          <p:cNvPr id="70" name="Google Shape;70;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2" name="Google Shape;72;p1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3" name="Google Shape;73;p1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4" name="Google Shape;74;p1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AC6600"/>
              </a:buClr>
              <a:buSzPts val="4400"/>
              <a:buFont typeface="Calibri"/>
              <a:buNone/>
            </a:pPr>
            <a:r>
              <a:rPr b="0" i="0" lang="en-US" sz="4400" u="none">
                <a:solidFill>
                  <a:srgbClr val="AC6600"/>
                </a:solidFill>
                <a:latin typeface="Calibri"/>
                <a:ea typeface="Calibri"/>
                <a:cs typeface="Calibri"/>
                <a:sym typeface="Calibri"/>
              </a:rPr>
              <a:t>Rules of Inference</a:t>
            </a:r>
            <a:endParaRPr/>
          </a:p>
        </p:txBody>
      </p:sp>
      <p:sp>
        <p:nvSpPr>
          <p:cNvPr id="89" name="Google Shape;89;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E46C0A"/>
              </a:buClr>
              <a:buSzPts val="3200"/>
              <a:buNone/>
            </a:pPr>
            <a:r>
              <a:rPr b="0" i="0" lang="en-US" sz="3200" u="none">
                <a:solidFill>
                  <a:srgbClr val="E46C0A"/>
                </a:solidFill>
                <a:latin typeface="Calibri"/>
                <a:ea typeface="Calibri"/>
                <a:cs typeface="Calibri"/>
                <a:sym typeface="Calibri"/>
              </a:rPr>
              <a:t>CSE-103: Discrete Mathematics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457200" y="274637"/>
            <a:ext cx="8229600" cy="9445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Introductions</a:t>
            </a:r>
            <a:endParaRPr/>
          </a:p>
        </p:txBody>
      </p:sp>
      <p:sp>
        <p:nvSpPr>
          <p:cNvPr id="95" name="Google Shape;95;p14"/>
          <p:cNvSpPr txBox="1"/>
          <p:nvPr>
            <p:ph idx="1" type="body"/>
          </p:nvPr>
        </p:nvSpPr>
        <p:spPr>
          <a:xfrm>
            <a:off x="457200" y="1447800"/>
            <a:ext cx="83058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By an </a:t>
            </a:r>
            <a:r>
              <a:rPr b="0" i="1" lang="en-US" sz="2400" u="none" cap="none" strike="noStrike">
                <a:solidFill>
                  <a:srgbClr val="D60093"/>
                </a:solidFill>
                <a:latin typeface="Calibri"/>
                <a:ea typeface="Calibri"/>
                <a:cs typeface="Calibri"/>
                <a:sym typeface="Calibri"/>
              </a:rPr>
              <a:t>argument</a:t>
            </a:r>
            <a:r>
              <a:rPr b="0" i="0" lang="en-US" sz="2400" u="none" cap="none" strike="noStrike">
                <a:solidFill>
                  <a:schemeClr val="dk1"/>
                </a:solidFill>
                <a:latin typeface="Calibri"/>
                <a:ea typeface="Calibri"/>
                <a:cs typeface="Calibri"/>
                <a:sym typeface="Calibri"/>
              </a:rPr>
              <a:t> we mean a sequence of statements that end with a conclusion.</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By </a:t>
            </a:r>
            <a:r>
              <a:rPr b="0" i="1" lang="en-US" sz="2400" u="none" cap="none" strike="noStrike">
                <a:solidFill>
                  <a:srgbClr val="D60093"/>
                </a:solidFill>
                <a:latin typeface="Calibri"/>
                <a:ea typeface="Calibri"/>
                <a:cs typeface="Calibri"/>
                <a:sym typeface="Calibri"/>
              </a:rPr>
              <a:t>valid</a:t>
            </a:r>
            <a:r>
              <a:rPr b="0" i="0" lang="en-US" sz="2400" u="none" cap="none" strike="noStrike">
                <a:solidFill>
                  <a:schemeClr val="dk1"/>
                </a:solidFill>
                <a:latin typeface="Calibri"/>
                <a:ea typeface="Calibri"/>
                <a:cs typeface="Calibri"/>
                <a:sym typeface="Calibri"/>
              </a:rPr>
              <a:t> we mean that the </a:t>
            </a:r>
            <a:r>
              <a:rPr b="1" i="1" lang="en-US" sz="2400" u="none" cap="none" strike="noStrike">
                <a:solidFill>
                  <a:schemeClr val="dk1"/>
                </a:solidFill>
                <a:latin typeface="Calibri"/>
                <a:ea typeface="Calibri"/>
                <a:cs typeface="Calibri"/>
                <a:sym typeface="Calibri"/>
              </a:rPr>
              <a:t>conclusion</a:t>
            </a:r>
            <a:r>
              <a:rPr b="0" i="0" lang="en-US" sz="2400" u="none" cap="none" strike="noStrike">
                <a:solidFill>
                  <a:schemeClr val="dk1"/>
                </a:solidFill>
                <a:latin typeface="Calibri"/>
                <a:ea typeface="Calibri"/>
                <a:cs typeface="Calibri"/>
                <a:sym typeface="Calibri"/>
              </a:rPr>
              <a:t> or the final statement of the argument, must follow from the truth of the preceding statements or </a:t>
            </a:r>
            <a:r>
              <a:rPr b="1" i="1" lang="en-US" sz="2400" u="none" cap="none" strike="noStrike">
                <a:solidFill>
                  <a:schemeClr val="dk1"/>
                </a:solidFill>
                <a:latin typeface="Calibri"/>
                <a:ea typeface="Calibri"/>
                <a:cs typeface="Calibri"/>
                <a:sym typeface="Calibri"/>
              </a:rPr>
              <a:t>premises</a:t>
            </a:r>
            <a:r>
              <a:rPr b="0" i="0" lang="en-US" sz="2400" u="none" cap="none" strike="noStrike">
                <a:solidFill>
                  <a:schemeClr val="dk1"/>
                </a:solidFill>
                <a:latin typeface="Calibri"/>
                <a:ea typeface="Calibri"/>
                <a:cs typeface="Calibri"/>
                <a:sym typeface="Calibri"/>
              </a:rPr>
              <a:t>, of the argument.</a:t>
            </a:r>
            <a:endParaRPr b="1" i="1"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From the above two definition we come to know that --- </a:t>
            </a:r>
            <a:r>
              <a:rPr b="0" i="1" lang="en-US" sz="2400" u="none" cap="none" strike="noStrike">
                <a:solidFill>
                  <a:srgbClr val="FF0000"/>
                </a:solidFill>
                <a:latin typeface="Calibri"/>
                <a:ea typeface="Calibri"/>
                <a:cs typeface="Calibri"/>
                <a:sym typeface="Calibri"/>
              </a:rPr>
              <a:t>an argument is valid if and only if it is impossible for all its premises to be true and the conclusion is false.</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If the premises of an argument is P</a:t>
            </a:r>
            <a:r>
              <a:rPr b="0" baseline="-25000" i="0" lang="en-US" sz="2000" u="none" cap="none" strike="noStrike">
                <a:solidFill>
                  <a:schemeClr val="dk1"/>
                </a:solidFill>
                <a:latin typeface="Calibri"/>
                <a:ea typeface="Calibri"/>
                <a:cs typeface="Calibri"/>
                <a:sym typeface="Calibri"/>
              </a:rPr>
              <a:t>1</a:t>
            </a:r>
            <a:r>
              <a:rPr b="0" i="0" lang="en-US" sz="2000" u="none" cap="none" strike="noStrike">
                <a:solidFill>
                  <a:schemeClr val="dk1"/>
                </a:solidFill>
                <a:latin typeface="Calibri"/>
                <a:ea typeface="Calibri"/>
                <a:cs typeface="Calibri"/>
                <a:sym typeface="Calibri"/>
              </a:rPr>
              <a:t>, P</a:t>
            </a:r>
            <a:r>
              <a:rPr b="0" baseline="-25000" i="0" lang="en-US" sz="2000" u="none" cap="none" strike="noStrike">
                <a:solidFill>
                  <a:schemeClr val="dk1"/>
                </a:solidFill>
                <a:latin typeface="Calibri"/>
                <a:ea typeface="Calibri"/>
                <a:cs typeface="Calibri"/>
                <a:sym typeface="Calibri"/>
              </a:rPr>
              <a:t>2</a:t>
            </a:r>
            <a:r>
              <a:rPr b="0" i="0" lang="en-US" sz="2000" u="none" cap="none" strike="noStrike">
                <a:solidFill>
                  <a:schemeClr val="dk1"/>
                </a:solidFill>
                <a:latin typeface="Calibri"/>
                <a:ea typeface="Calibri"/>
                <a:cs typeface="Calibri"/>
                <a:sym typeface="Calibri"/>
              </a:rPr>
              <a:t>, P</a:t>
            </a:r>
            <a:r>
              <a:rPr b="0" baseline="-25000" i="0" lang="en-US" sz="2000" u="none" cap="none" strike="noStrike">
                <a:solidFill>
                  <a:schemeClr val="dk1"/>
                </a:solidFill>
                <a:latin typeface="Calibri"/>
                <a:ea typeface="Calibri"/>
                <a:cs typeface="Calibri"/>
                <a:sym typeface="Calibri"/>
              </a:rPr>
              <a:t>3</a:t>
            </a:r>
            <a:r>
              <a:rPr b="0" i="0" lang="en-US" sz="2000" u="none" cap="none" strike="noStrike">
                <a:solidFill>
                  <a:schemeClr val="dk1"/>
                </a:solidFill>
                <a:latin typeface="Calibri"/>
                <a:ea typeface="Calibri"/>
                <a:cs typeface="Calibri"/>
                <a:sym typeface="Calibri"/>
              </a:rPr>
              <a:t> …… P</a:t>
            </a:r>
            <a:r>
              <a:rPr b="0" baseline="-25000" i="0" lang="en-US" sz="2000" u="none" cap="none" strike="noStrike">
                <a:solidFill>
                  <a:schemeClr val="dk1"/>
                </a:solidFill>
                <a:latin typeface="Calibri"/>
                <a:ea typeface="Calibri"/>
                <a:cs typeface="Calibri"/>
                <a:sym typeface="Calibri"/>
              </a:rPr>
              <a:t>n</a:t>
            </a:r>
            <a:r>
              <a:rPr b="0" i="0" lang="en-US" sz="2000" u="none" cap="none" strike="noStrike">
                <a:solidFill>
                  <a:schemeClr val="dk1"/>
                </a:solidFill>
                <a:latin typeface="Calibri"/>
                <a:ea typeface="Calibri"/>
                <a:cs typeface="Calibri"/>
                <a:sym typeface="Calibri"/>
              </a:rPr>
              <a:t> yields a conclusion Q, the argument is said to be valid if Q is true whenever all the premises are true.</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 argument which is not valid is called </a:t>
            </a:r>
            <a:r>
              <a:rPr b="0" i="1" lang="en-US" sz="2400" u="none" cap="none" strike="noStrike">
                <a:solidFill>
                  <a:srgbClr val="D60093"/>
                </a:solidFill>
                <a:latin typeface="Calibri"/>
                <a:ea typeface="Calibri"/>
                <a:cs typeface="Calibri"/>
                <a:sym typeface="Calibri"/>
              </a:rPr>
              <a:t>fallacy</a:t>
            </a:r>
            <a:r>
              <a:rPr b="0" i="0" lang="en-US" sz="2400" u="none" cap="none" strike="noStrike">
                <a:solidFill>
                  <a:schemeClr val="dk1"/>
                </a:solidFill>
                <a:latin typeface="Calibri"/>
                <a:ea typeface="Calibri"/>
                <a:cs typeface="Calibri"/>
                <a:sym typeface="Calibri"/>
              </a:rPr>
              <a:t>. </a:t>
            </a:r>
            <a:endParaRPr/>
          </a:p>
        </p:txBody>
      </p:sp>
      <p:sp>
        <p:nvSpPr>
          <p:cNvPr id="96" name="Google Shape;96;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Valid Arguments in Propositional Logic</a:t>
            </a:r>
            <a:endParaRPr/>
          </a:p>
        </p:txBody>
      </p:sp>
      <p:sp>
        <p:nvSpPr>
          <p:cNvPr id="102" name="Google Shape;102;p15"/>
          <p:cNvSpPr txBox="1"/>
          <p:nvPr>
            <p:ph idx="1" type="body"/>
          </p:nvPr>
        </p:nvSpPr>
        <p:spPr>
          <a:xfrm>
            <a:off x="533400" y="2743200"/>
            <a:ext cx="8305800" cy="3810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D60093"/>
              </a:buClr>
              <a:buSzPts val="2000"/>
              <a:buFont typeface="Arial"/>
              <a:buChar char="•"/>
            </a:pPr>
            <a:r>
              <a:rPr b="0" i="0" lang="en-US" sz="2000" u="none" cap="none" strike="noStrike">
                <a:solidFill>
                  <a:srgbClr val="D60093"/>
                </a:solidFill>
                <a:latin typeface="Calibri"/>
                <a:ea typeface="Calibri"/>
                <a:cs typeface="Calibri"/>
                <a:sym typeface="Calibri"/>
              </a:rPr>
              <a:t>Example: </a:t>
            </a:r>
            <a:r>
              <a:rPr b="0" i="0" lang="en-US" sz="2000" u="none" cap="none" strike="noStrike">
                <a:solidFill>
                  <a:schemeClr val="dk1"/>
                </a:solidFill>
                <a:latin typeface="Calibri"/>
                <a:ea typeface="Calibri"/>
                <a:cs typeface="Calibri"/>
                <a:sym typeface="Calibri"/>
              </a:rPr>
              <a:t>Consider the following propositions:</a:t>
            </a:r>
            <a:endParaRPr/>
          </a:p>
          <a:p>
            <a:pPr indent="-285750" lvl="1" marL="74295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“If you have a current password then you can log onto the network”.</a:t>
            </a:r>
            <a:endParaRPr/>
          </a:p>
          <a:p>
            <a:pPr indent="-285750" lvl="1" marL="74295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“If you have a current password”  -- p</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r>
              <a:rPr b="0" i="1" lang="en-US" sz="1800" u="none" cap="none" strike="noStrike">
                <a:solidFill>
                  <a:srgbClr val="D60093"/>
                </a:solidFill>
                <a:latin typeface="Calibri"/>
                <a:ea typeface="Calibri"/>
                <a:cs typeface="Calibri"/>
                <a:sym typeface="Calibri"/>
              </a:rPr>
              <a:t>	Therefore</a:t>
            </a:r>
            <a:endParaRPr/>
          </a:p>
          <a:p>
            <a:pPr indent="-285750" lvl="1" marL="74295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“You can log onto the network” ---  q</a:t>
            </a:r>
            <a:endParaRPr/>
          </a:p>
          <a:p>
            <a:pPr indent="-285750" lvl="1" marL="74295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Then the argument form:</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p → q</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p</a:t>
            </a:r>
            <a:endParaRPr/>
          </a:p>
          <a:p>
            <a:pPr indent="-285750" lvl="1" marL="742950" marR="0" rtl="0" algn="l">
              <a:lnSpc>
                <a:spcPct val="100000"/>
              </a:lnSpc>
              <a:spcBef>
                <a:spcPts val="40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t>
            </a:r>
            <a:r>
              <a:rPr b="0" i="0" lang="en-US" sz="1800" u="none" cap="none" strike="noStrike">
                <a:solidFill>
                  <a:schemeClr val="dk1"/>
                </a:solidFill>
                <a:latin typeface="Calibri"/>
                <a:ea typeface="Calibri"/>
                <a:cs typeface="Calibri"/>
                <a:sym typeface="Calibri"/>
              </a:rPr>
              <a:t>q      </a:t>
            </a:r>
            <a:endParaRPr/>
          </a:p>
          <a:p>
            <a:pPr indent="-285750" lvl="1" marL="742950" marR="0" rtl="0" algn="l">
              <a:lnSpc>
                <a:spcPct val="100000"/>
              </a:lnSpc>
              <a:spcBef>
                <a:spcPts val="4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Where the symbol </a:t>
            </a:r>
            <a:r>
              <a:rPr b="0" i="0" lang="en-US" sz="20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denotes “therefore”.</a:t>
            </a:r>
            <a:endParaRPr/>
          </a:p>
        </p:txBody>
      </p:sp>
      <p:sp>
        <p:nvSpPr>
          <p:cNvPr id="103" name="Google Shape;103;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
        <p:nvSpPr>
          <p:cNvPr id="104" name="Google Shape;104;p15"/>
          <p:cNvSpPr txBox="1"/>
          <p:nvPr/>
        </p:nvSpPr>
        <p:spPr>
          <a:xfrm>
            <a:off x="533400" y="1295400"/>
            <a:ext cx="8305800" cy="1323975"/>
          </a:xfrm>
          <a:prstGeom prst="rect">
            <a:avLst/>
          </a:prstGeom>
          <a:solidFill>
            <a:srgbClr val="DDD9C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alibri"/>
              <a:buNone/>
            </a:pPr>
            <a:r>
              <a:rPr b="1" i="1" lang="en-US" sz="2000" u="none" cap="none" strike="noStrike">
                <a:solidFill>
                  <a:schemeClr val="dk1"/>
                </a:solidFill>
                <a:latin typeface="Calibri"/>
                <a:ea typeface="Calibri"/>
                <a:cs typeface="Calibri"/>
                <a:sym typeface="Calibri"/>
              </a:rPr>
              <a:t>Definition 1:  </a:t>
            </a:r>
            <a:r>
              <a:rPr b="0" i="0" lang="en-US" sz="2000" u="none" cap="none" strike="noStrike">
                <a:solidFill>
                  <a:schemeClr val="dk1"/>
                </a:solidFill>
                <a:latin typeface="Calibri"/>
                <a:ea typeface="Calibri"/>
                <a:cs typeface="Calibri"/>
                <a:sym typeface="Calibri"/>
              </a:rPr>
              <a:t>An </a:t>
            </a:r>
            <a:r>
              <a:rPr b="0" i="1" lang="en-US" sz="2000" u="none" cap="none" strike="noStrike">
                <a:solidFill>
                  <a:srgbClr val="D60093"/>
                </a:solidFill>
                <a:latin typeface="Calibri"/>
                <a:ea typeface="Calibri"/>
                <a:cs typeface="Calibri"/>
                <a:sym typeface="Calibri"/>
              </a:rPr>
              <a:t>argument</a:t>
            </a:r>
            <a:r>
              <a:rPr b="0" i="0" lang="en-US" sz="2000" u="none" cap="none" strike="noStrike">
                <a:solidFill>
                  <a:srgbClr val="D60093"/>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in a propositional logic is a sequence of propositions. All but the final proposition in the argument are called the </a:t>
            </a:r>
            <a:r>
              <a:rPr b="0" i="1" lang="en-US" sz="2000" u="none" cap="none" strike="noStrike">
                <a:solidFill>
                  <a:srgbClr val="D60093"/>
                </a:solidFill>
                <a:latin typeface="Calibri"/>
                <a:ea typeface="Calibri"/>
                <a:cs typeface="Calibri"/>
                <a:sym typeface="Calibri"/>
              </a:rPr>
              <a:t>premises</a:t>
            </a:r>
            <a:r>
              <a:rPr b="0" i="0" lang="en-US" sz="2000" u="none" cap="none" strike="noStrike">
                <a:solidFill>
                  <a:schemeClr val="dk1"/>
                </a:solidFill>
                <a:latin typeface="Calibri"/>
                <a:ea typeface="Calibri"/>
                <a:cs typeface="Calibri"/>
                <a:sym typeface="Calibri"/>
              </a:rPr>
              <a:t> and the final proposition is called the </a:t>
            </a:r>
            <a:r>
              <a:rPr b="0" i="1" lang="en-US" sz="2000" u="none" cap="none" strike="noStrike">
                <a:solidFill>
                  <a:srgbClr val="D60093"/>
                </a:solidFill>
                <a:latin typeface="Calibri"/>
                <a:ea typeface="Calibri"/>
                <a:cs typeface="Calibri"/>
                <a:sym typeface="Calibri"/>
              </a:rPr>
              <a:t>conclusion</a:t>
            </a:r>
            <a:r>
              <a:rPr b="0" i="0" lang="en-US" sz="2000" u="none" cap="none" strike="noStrike">
                <a:solidFill>
                  <a:schemeClr val="dk1"/>
                </a:solidFill>
                <a:latin typeface="Calibri"/>
                <a:ea typeface="Calibri"/>
                <a:cs typeface="Calibri"/>
                <a:sym typeface="Calibri"/>
              </a:rPr>
              <a:t>. An argument is </a:t>
            </a:r>
            <a:r>
              <a:rPr b="0" i="1" lang="en-US" sz="2000" u="none" cap="none" strike="noStrike">
                <a:solidFill>
                  <a:srgbClr val="D60093"/>
                </a:solidFill>
                <a:latin typeface="Calibri"/>
                <a:ea typeface="Calibri"/>
                <a:cs typeface="Calibri"/>
                <a:sym typeface="Calibri"/>
              </a:rPr>
              <a:t>valid</a:t>
            </a:r>
            <a:r>
              <a:rPr b="0" i="0" lang="en-US" sz="2000" u="none" cap="none" strike="noStrike">
                <a:solidFill>
                  <a:schemeClr val="dk1"/>
                </a:solidFill>
                <a:latin typeface="Calibri"/>
                <a:ea typeface="Calibri"/>
                <a:cs typeface="Calibri"/>
                <a:sym typeface="Calibri"/>
              </a:rPr>
              <a:t> if truth of all its premises implies that the conclusion is true.</a:t>
            </a:r>
            <a:endParaRPr/>
          </a:p>
        </p:txBody>
      </p:sp>
      <p:cxnSp>
        <p:nvCxnSpPr>
          <p:cNvPr id="105" name="Google Shape;105;p15"/>
          <p:cNvCxnSpPr/>
          <p:nvPr/>
        </p:nvCxnSpPr>
        <p:spPr>
          <a:xfrm>
            <a:off x="1371600" y="5486400"/>
            <a:ext cx="990600" cy="1587"/>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4572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Calibri"/>
              <a:buNone/>
            </a:pPr>
            <a:r>
              <a:rPr b="0" i="0" lang="en-US" sz="3600" u="none">
                <a:solidFill>
                  <a:srgbClr val="000000"/>
                </a:solidFill>
                <a:latin typeface="Calibri"/>
                <a:ea typeface="Calibri"/>
                <a:cs typeface="Calibri"/>
                <a:sym typeface="Calibri"/>
              </a:rPr>
              <a:t>Valid Arguments in Propositional Logic</a:t>
            </a:r>
            <a:endParaRPr/>
          </a:p>
        </p:txBody>
      </p:sp>
      <p:sp>
        <p:nvSpPr>
          <p:cNvPr id="111" name="Google Shape;111;p16"/>
          <p:cNvSpPr txBox="1"/>
          <p:nvPr>
            <p:ph idx="1" type="body"/>
          </p:nvPr>
        </p:nvSpPr>
        <p:spPr>
          <a:xfrm>
            <a:off x="457200" y="1143000"/>
            <a:ext cx="8458200" cy="3657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From previous study we know if p and q are propositions the statement </a:t>
            </a:r>
            <a:r>
              <a:rPr b="0" i="0" lang="en-US" sz="2000" u="none" cap="none" strike="noStrike">
                <a:solidFill>
                  <a:srgbClr val="D60093"/>
                </a:solidFill>
                <a:latin typeface="Calibri"/>
                <a:ea typeface="Calibri"/>
                <a:cs typeface="Calibri"/>
                <a:sym typeface="Calibri"/>
              </a:rPr>
              <a:t>((p → q) Λ p) → q </a:t>
            </a:r>
            <a:r>
              <a:rPr b="0" i="0" lang="en-US" sz="2000" u="none" cap="none" strike="noStrike">
                <a:solidFill>
                  <a:srgbClr val="000000"/>
                </a:solidFill>
                <a:latin typeface="Calibri"/>
                <a:ea typeface="Calibri"/>
                <a:cs typeface="Calibri"/>
                <a:sym typeface="Calibri"/>
              </a:rPr>
              <a:t>is a tautology.</a:t>
            </a:r>
            <a:endParaRPr/>
          </a:p>
          <a:p>
            <a:pPr indent="-285750" lvl="1" marL="742950" marR="0" rtl="0" algn="l">
              <a:lnSpc>
                <a:spcPct val="100000"/>
              </a:lnSpc>
              <a:spcBef>
                <a:spcPts val="36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When both p → q and p is true the conclusion q is must also be true. Thus the argument is valid.</a:t>
            </a:r>
            <a:endParaRPr/>
          </a:p>
          <a:p>
            <a:pPr indent="-285750" lvl="1" marL="742950" marR="0" rtl="0" algn="l">
              <a:lnSpc>
                <a:spcPct val="100000"/>
              </a:lnSpc>
              <a:spcBef>
                <a:spcPts val="36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When any one or all the premises are false, the conclusion can’t be true. Thus the argument is not valid.</a:t>
            </a:r>
            <a:endParaRPr/>
          </a:p>
          <a:p>
            <a:pPr indent="-342900" lvl="0" marL="342900" marR="0" rtl="0" algn="l">
              <a:lnSpc>
                <a:spcPct val="100000"/>
              </a:lnSpc>
              <a:spcBef>
                <a:spcPts val="4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An </a:t>
            </a:r>
            <a:r>
              <a:rPr b="0" i="1" lang="en-US" sz="2000" u="none" cap="none" strike="noStrike">
                <a:solidFill>
                  <a:srgbClr val="D60093"/>
                </a:solidFill>
                <a:latin typeface="Calibri"/>
                <a:ea typeface="Calibri"/>
                <a:cs typeface="Calibri"/>
                <a:sym typeface="Calibri"/>
              </a:rPr>
              <a:t>argument form </a:t>
            </a:r>
            <a:r>
              <a:rPr b="0" i="0" lang="en-US" sz="2000" u="none" cap="none" strike="noStrike">
                <a:solidFill>
                  <a:srgbClr val="000000"/>
                </a:solidFill>
                <a:latin typeface="Calibri"/>
                <a:ea typeface="Calibri"/>
                <a:cs typeface="Calibri"/>
                <a:sym typeface="Calibri"/>
              </a:rPr>
              <a:t>in propositional logic is a sequence of compound propositions involving propositional variables; i.e. the propositions are replaced by the propositional variables.</a:t>
            </a:r>
            <a:endParaRPr/>
          </a:p>
          <a:p>
            <a:pPr indent="-285750" lvl="1" marL="742950" marR="0" rtl="0" algn="l">
              <a:lnSpc>
                <a:spcPct val="100000"/>
              </a:lnSpc>
              <a:spcBef>
                <a:spcPts val="36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If the premises are </a:t>
            </a:r>
            <a:r>
              <a:rPr b="0" i="0" lang="en-US" sz="1800" u="none" cap="none" strike="noStrike">
                <a:solidFill>
                  <a:schemeClr val="dk1"/>
                </a:solidFill>
                <a:latin typeface="Calibri"/>
                <a:ea typeface="Calibri"/>
                <a:cs typeface="Calibri"/>
                <a:sym typeface="Calibri"/>
              </a:rPr>
              <a:t>p</a:t>
            </a:r>
            <a:r>
              <a:rPr b="0" baseline="-25000" i="0" lang="en-US" sz="1800" u="none" cap="none" strike="noStrike">
                <a:solidFill>
                  <a:schemeClr val="dk1"/>
                </a:solidFill>
                <a:latin typeface="Calibri"/>
                <a:ea typeface="Calibri"/>
                <a:cs typeface="Calibri"/>
                <a:sym typeface="Calibri"/>
              </a:rPr>
              <a:t>1</a:t>
            </a:r>
            <a:r>
              <a:rPr b="0" i="0" lang="en-US" sz="1800" u="none" cap="none" strike="noStrike">
                <a:solidFill>
                  <a:schemeClr val="dk1"/>
                </a:solidFill>
                <a:latin typeface="Calibri"/>
                <a:ea typeface="Calibri"/>
                <a:cs typeface="Calibri"/>
                <a:sym typeface="Calibri"/>
              </a:rPr>
              <a:t>, p</a:t>
            </a:r>
            <a:r>
              <a:rPr b="0" baseline="-25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 p</a:t>
            </a:r>
            <a:r>
              <a:rPr b="0" baseline="-25000" i="0" lang="en-US" sz="1800" u="none" cap="none" strike="noStrike">
                <a:solidFill>
                  <a:schemeClr val="dk1"/>
                </a:solidFill>
                <a:latin typeface="Calibri"/>
                <a:ea typeface="Calibri"/>
                <a:cs typeface="Calibri"/>
                <a:sym typeface="Calibri"/>
              </a:rPr>
              <a:t>3</a:t>
            </a:r>
            <a:r>
              <a:rPr b="0" i="0" lang="en-US" sz="1800" u="none" cap="none" strike="noStrike">
                <a:solidFill>
                  <a:schemeClr val="dk1"/>
                </a:solidFill>
                <a:latin typeface="Calibri"/>
                <a:ea typeface="Calibri"/>
                <a:cs typeface="Calibri"/>
                <a:sym typeface="Calibri"/>
              </a:rPr>
              <a:t> …… p</a:t>
            </a:r>
            <a:r>
              <a:rPr b="0" baseline="-25000" i="0" lang="en-US" sz="1800" u="none" cap="none" strike="noStrike">
                <a:solidFill>
                  <a:schemeClr val="dk1"/>
                </a:solidFill>
                <a:latin typeface="Calibri"/>
                <a:ea typeface="Calibri"/>
                <a:cs typeface="Calibri"/>
                <a:sym typeface="Calibri"/>
              </a:rPr>
              <a:t>n</a:t>
            </a:r>
            <a:r>
              <a:rPr b="0" i="0" lang="en-US" sz="1800" u="none" cap="none" strike="noStrike">
                <a:solidFill>
                  <a:schemeClr val="dk1"/>
                </a:solidFill>
                <a:latin typeface="Calibri"/>
                <a:ea typeface="Calibri"/>
                <a:cs typeface="Calibri"/>
                <a:sym typeface="Calibri"/>
              </a:rPr>
              <a:t> and t</a:t>
            </a:r>
            <a:r>
              <a:rPr b="0" i="0" lang="en-US" sz="1800" u="none" cap="none" strike="noStrike">
                <a:solidFill>
                  <a:srgbClr val="000000"/>
                </a:solidFill>
                <a:latin typeface="Calibri"/>
                <a:ea typeface="Calibri"/>
                <a:cs typeface="Calibri"/>
                <a:sym typeface="Calibri"/>
              </a:rPr>
              <a:t>he conclusion is q, then q is valid when </a:t>
            </a:r>
            <a:r>
              <a:rPr b="0" i="0" lang="en-US" sz="1800" u="none" cap="none" strike="noStrike">
                <a:solidFill>
                  <a:srgbClr val="D60093"/>
                </a:solidFill>
                <a:latin typeface="Calibri"/>
                <a:ea typeface="Calibri"/>
                <a:cs typeface="Calibri"/>
                <a:sym typeface="Calibri"/>
              </a:rPr>
              <a:t>(p</a:t>
            </a:r>
            <a:r>
              <a:rPr b="0" baseline="-25000" i="0" lang="en-US" sz="1800" u="none" cap="none" strike="noStrike">
                <a:solidFill>
                  <a:srgbClr val="D60093"/>
                </a:solidFill>
                <a:latin typeface="Calibri"/>
                <a:ea typeface="Calibri"/>
                <a:cs typeface="Calibri"/>
                <a:sym typeface="Calibri"/>
              </a:rPr>
              <a:t>1</a:t>
            </a:r>
            <a:r>
              <a:rPr b="0" i="0" lang="en-US" sz="1800" u="none" cap="none" strike="noStrike">
                <a:solidFill>
                  <a:srgbClr val="D60093"/>
                </a:solidFill>
                <a:latin typeface="Calibri"/>
                <a:ea typeface="Calibri"/>
                <a:cs typeface="Calibri"/>
                <a:sym typeface="Calibri"/>
              </a:rPr>
              <a:t> Λ p</a:t>
            </a:r>
            <a:r>
              <a:rPr b="0" baseline="-25000" i="0" lang="en-US" sz="1800" u="none" cap="none" strike="noStrike">
                <a:solidFill>
                  <a:srgbClr val="D60093"/>
                </a:solidFill>
                <a:latin typeface="Calibri"/>
                <a:ea typeface="Calibri"/>
                <a:cs typeface="Calibri"/>
                <a:sym typeface="Calibri"/>
              </a:rPr>
              <a:t>2</a:t>
            </a:r>
            <a:r>
              <a:rPr b="0" i="0" lang="en-US" sz="1800" u="none" cap="none" strike="noStrike">
                <a:solidFill>
                  <a:srgbClr val="D60093"/>
                </a:solidFill>
                <a:latin typeface="Calibri"/>
                <a:ea typeface="Calibri"/>
                <a:cs typeface="Calibri"/>
                <a:sym typeface="Calibri"/>
              </a:rPr>
              <a:t> Λ p</a:t>
            </a:r>
            <a:r>
              <a:rPr b="0" baseline="-25000" i="0" lang="en-US" sz="1800" u="none" cap="none" strike="noStrike">
                <a:solidFill>
                  <a:srgbClr val="D60093"/>
                </a:solidFill>
                <a:latin typeface="Calibri"/>
                <a:ea typeface="Calibri"/>
                <a:cs typeface="Calibri"/>
                <a:sym typeface="Calibri"/>
              </a:rPr>
              <a:t>3</a:t>
            </a:r>
            <a:r>
              <a:rPr b="0" i="0" lang="en-US" sz="1800" u="none" cap="none" strike="noStrike">
                <a:solidFill>
                  <a:srgbClr val="D60093"/>
                </a:solidFill>
                <a:latin typeface="Calibri"/>
                <a:ea typeface="Calibri"/>
                <a:cs typeface="Calibri"/>
                <a:sym typeface="Calibri"/>
              </a:rPr>
              <a:t> Λ …… Λ p</a:t>
            </a:r>
            <a:r>
              <a:rPr b="0" baseline="-25000" i="0" lang="en-US" sz="1800" u="none" cap="none" strike="noStrike">
                <a:solidFill>
                  <a:srgbClr val="D60093"/>
                </a:solidFill>
                <a:latin typeface="Calibri"/>
                <a:ea typeface="Calibri"/>
                <a:cs typeface="Calibri"/>
                <a:sym typeface="Calibri"/>
              </a:rPr>
              <a:t>n </a:t>
            </a:r>
            <a:r>
              <a:rPr b="0" i="0" lang="en-US" sz="1800" u="none" cap="none" strike="noStrike">
                <a:solidFill>
                  <a:srgbClr val="D60093"/>
                </a:solidFill>
                <a:latin typeface="Calibri"/>
                <a:ea typeface="Calibri"/>
                <a:cs typeface="Calibri"/>
                <a:sym typeface="Calibri"/>
              </a:rPr>
              <a:t>) → q</a:t>
            </a:r>
            <a:r>
              <a:rPr b="0" i="0" lang="en-US" sz="1800" u="none" cap="none" strike="noStrike">
                <a:solidFill>
                  <a:schemeClr val="dk1"/>
                </a:solidFill>
                <a:latin typeface="Calibri"/>
                <a:ea typeface="Calibri"/>
                <a:cs typeface="Calibri"/>
                <a:sym typeface="Calibri"/>
              </a:rPr>
              <a:t> is a tautology.</a:t>
            </a:r>
            <a:endParaRPr b="0" i="0" sz="1800" u="none" cap="none" strike="noStrike">
              <a:solidFill>
                <a:srgbClr val="000000"/>
              </a:solidFill>
              <a:latin typeface="Calibri"/>
              <a:ea typeface="Calibri"/>
              <a:cs typeface="Calibri"/>
              <a:sym typeface="Calibri"/>
            </a:endParaRPr>
          </a:p>
          <a:p>
            <a:pPr indent="-228600" lvl="0" marL="342900" marR="0" rtl="0" algn="l">
              <a:spcBef>
                <a:spcPts val="36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 name="Google Shape;112;p1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graphicFrame>
        <p:nvGraphicFramePr>
          <p:cNvPr id="113" name="Google Shape;113;p16"/>
          <p:cNvGraphicFramePr/>
          <p:nvPr/>
        </p:nvGraphicFramePr>
        <p:xfrm>
          <a:off x="2057400" y="4800600"/>
          <a:ext cx="3000000" cy="3000000"/>
        </p:xfrm>
        <a:graphic>
          <a:graphicData uri="http://schemas.openxmlformats.org/drawingml/2006/table">
            <a:tbl>
              <a:tblPr>
                <a:noFill/>
                <a:tableStyleId>{1CCA6DA0-29E5-46EF-A652-29AB444062F1}</a:tableStyleId>
              </a:tblPr>
              <a:tblGrid>
                <a:gridCol w="304800"/>
                <a:gridCol w="304800"/>
                <a:gridCol w="838200"/>
                <a:gridCol w="1371600"/>
                <a:gridCol w="2057400"/>
              </a:tblGrid>
              <a:tr h="371475">
                <a:tc>
                  <a:txBody>
                    <a:bodyPr/>
                    <a:lstStyle/>
                    <a:p>
                      <a:pPr indent="0" lvl="0" marL="0" marR="0" rtl="0" algn="ctr">
                        <a:lnSpc>
                          <a:spcPct val="100000"/>
                        </a:lnSpc>
                        <a:spcBef>
                          <a:spcPts val="0"/>
                        </a:spcBef>
                        <a:spcAft>
                          <a:spcPts val="0"/>
                        </a:spcAft>
                        <a:buClr>
                          <a:schemeClr val="dk1"/>
                        </a:buClr>
                        <a:buSzPts val="1800"/>
                        <a:buFont typeface="Arial"/>
                        <a:buNone/>
                      </a:pPr>
                      <a:r>
                        <a:rPr b="0" i="1" lang="en-US" sz="1800" u="none" cap="none" strike="noStrike">
                          <a:solidFill>
                            <a:schemeClr val="dk1"/>
                          </a:solidFill>
                          <a:latin typeface="Arial"/>
                          <a:ea typeface="Arial"/>
                          <a:cs typeface="Arial"/>
                          <a:sym typeface="Arial"/>
                        </a:rPr>
                        <a:t>p</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1" lang="en-US" sz="1800" u="none" cap="none" strike="noStrike">
                          <a:solidFill>
                            <a:schemeClr val="dk1"/>
                          </a:solidFill>
                          <a:latin typeface="Arial"/>
                          <a:ea typeface="Arial"/>
                          <a:cs typeface="Arial"/>
                          <a:sym typeface="Arial"/>
                        </a:rPr>
                        <a:t>q</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p → q</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(p → q) </a:t>
                      </a:r>
                      <a:r>
                        <a:rPr b="0" i="0" lang="en-US" sz="1800" u="none" cap="none" strike="noStrike">
                          <a:solidFill>
                            <a:schemeClr val="dk1"/>
                          </a:solidFill>
                          <a:latin typeface="Arial"/>
                          <a:ea typeface="Arial"/>
                          <a:cs typeface="Arial"/>
                          <a:sym typeface="Arial"/>
                        </a:rPr>
                        <a:t>Λ</a:t>
                      </a:r>
                      <a:r>
                        <a:rPr b="0" i="1" lang="en-US" sz="1800" u="none" cap="none" strike="noStrike">
                          <a:solidFill>
                            <a:srgbClr val="000000"/>
                          </a:solidFill>
                          <a:latin typeface="Arial"/>
                          <a:ea typeface="Arial"/>
                          <a:cs typeface="Arial"/>
                          <a:sym typeface="Arial"/>
                        </a:rPr>
                        <a:t> p</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((p → q) </a:t>
                      </a:r>
                      <a:r>
                        <a:rPr b="0" i="0" lang="en-US" sz="1800" u="none" cap="none" strike="noStrike">
                          <a:solidFill>
                            <a:schemeClr val="dk1"/>
                          </a:solidFill>
                          <a:latin typeface="Arial"/>
                          <a:ea typeface="Arial"/>
                          <a:cs typeface="Arial"/>
                          <a:sym typeface="Arial"/>
                        </a:rPr>
                        <a:t>Λ</a:t>
                      </a:r>
                      <a:r>
                        <a:rPr b="0" i="1" lang="en-US" sz="1800" u="none" cap="none" strike="noStrike">
                          <a:solidFill>
                            <a:srgbClr val="000000"/>
                          </a:solidFill>
                          <a:latin typeface="Arial"/>
                          <a:ea typeface="Arial"/>
                          <a:cs typeface="Arial"/>
                          <a:sym typeface="Arial"/>
                        </a:rPr>
                        <a:t> p) → q </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365125">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371475">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371475">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371475">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4572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400"/>
              <a:buFont typeface="Calibri"/>
              <a:buNone/>
            </a:pPr>
            <a:r>
              <a:rPr b="0" i="0" lang="en-US" sz="3400" u="none">
                <a:solidFill>
                  <a:schemeClr val="dk1"/>
                </a:solidFill>
                <a:latin typeface="Calibri"/>
                <a:ea typeface="Calibri"/>
                <a:cs typeface="Calibri"/>
                <a:sym typeface="Calibri"/>
              </a:rPr>
              <a:t>Rules of Inference for Propositional Logic</a:t>
            </a:r>
            <a:endParaRPr/>
          </a:p>
        </p:txBody>
      </p:sp>
      <p:sp>
        <p:nvSpPr>
          <p:cNvPr id="119" name="Google Shape;119;p17"/>
          <p:cNvSpPr txBox="1"/>
          <p:nvPr>
            <p:ph idx="1" type="body"/>
          </p:nvPr>
        </p:nvSpPr>
        <p:spPr>
          <a:xfrm>
            <a:off x="457200" y="1066800"/>
            <a:ext cx="84582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Truth tables can be used to show that an argument form is valid, which is a tedious approach.</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If an argument involves 10 different propositions then we need 2</a:t>
            </a:r>
            <a:r>
              <a:rPr b="0" baseline="30000" i="0" lang="en-US" sz="2000" u="none" cap="none" strike="noStrike">
                <a:solidFill>
                  <a:schemeClr val="dk1"/>
                </a:solidFill>
                <a:latin typeface="Calibri"/>
                <a:ea typeface="Calibri"/>
                <a:cs typeface="Calibri"/>
                <a:sym typeface="Calibri"/>
              </a:rPr>
              <a:t>10</a:t>
            </a:r>
            <a:r>
              <a:rPr b="0" i="0" lang="en-US" sz="2000" u="none" cap="none" strike="noStrike">
                <a:solidFill>
                  <a:schemeClr val="dk1"/>
                </a:solidFill>
                <a:latin typeface="Calibri"/>
                <a:ea typeface="Calibri"/>
                <a:cs typeface="Calibri"/>
                <a:sym typeface="Calibri"/>
              </a:rPr>
              <a:t> = 1024 different rows in a truth table.</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Instead of truth table we can establish the validity of some relatively simple argument forms, called </a:t>
            </a:r>
            <a:r>
              <a:rPr b="0" i="1" lang="en-US" sz="2400" u="none">
                <a:solidFill>
                  <a:srgbClr val="D60093"/>
                </a:solidFill>
                <a:latin typeface="Calibri"/>
                <a:ea typeface="Calibri"/>
                <a:cs typeface="Calibri"/>
                <a:sym typeface="Calibri"/>
              </a:rPr>
              <a:t>rules of inference</a:t>
            </a:r>
            <a:r>
              <a:rPr b="0" i="0" lang="en-US" sz="2400" u="none">
                <a:solidFill>
                  <a:schemeClr val="dk1"/>
                </a:solidFill>
                <a:latin typeface="Calibri"/>
                <a:ea typeface="Calibri"/>
                <a:cs typeface="Calibri"/>
                <a:sym typeface="Calibri"/>
              </a:rPr>
              <a:t>; which can be used as building blocks of more complicated valid argument forms.</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tautology </a:t>
            </a:r>
            <a:r>
              <a:rPr b="0" i="0" lang="en-US" sz="2400" u="none">
                <a:solidFill>
                  <a:srgbClr val="D60093"/>
                </a:solidFill>
                <a:latin typeface="Calibri"/>
                <a:ea typeface="Calibri"/>
                <a:cs typeface="Calibri"/>
                <a:sym typeface="Calibri"/>
              </a:rPr>
              <a:t>((p → q) </a:t>
            </a:r>
            <a:r>
              <a:rPr b="0" i="0" lang="en-US" sz="2000" u="none">
                <a:solidFill>
                  <a:srgbClr val="D60093"/>
                </a:solidFill>
                <a:latin typeface="Calibri"/>
                <a:ea typeface="Calibri"/>
                <a:cs typeface="Calibri"/>
                <a:sym typeface="Calibri"/>
              </a:rPr>
              <a:t>Λ</a:t>
            </a:r>
            <a:r>
              <a:rPr b="0" i="0" lang="en-US" sz="2400" u="none">
                <a:solidFill>
                  <a:srgbClr val="D60093"/>
                </a:solidFill>
                <a:latin typeface="Calibri"/>
                <a:ea typeface="Calibri"/>
                <a:cs typeface="Calibri"/>
                <a:sym typeface="Calibri"/>
              </a:rPr>
              <a:t> p) → q </a:t>
            </a:r>
            <a:r>
              <a:rPr b="0" i="0" lang="en-US" sz="2400" u="none">
                <a:solidFill>
                  <a:schemeClr val="dk1"/>
                </a:solidFill>
                <a:latin typeface="Calibri"/>
                <a:ea typeface="Calibri"/>
                <a:cs typeface="Calibri"/>
                <a:sym typeface="Calibri"/>
              </a:rPr>
              <a:t>is the basis of rules of inference called </a:t>
            </a:r>
            <a:r>
              <a:rPr b="0" i="1" lang="en-US" sz="2400" u="none">
                <a:solidFill>
                  <a:srgbClr val="D60093"/>
                </a:solidFill>
                <a:latin typeface="Calibri"/>
                <a:ea typeface="Calibri"/>
                <a:cs typeface="Calibri"/>
                <a:sym typeface="Calibri"/>
              </a:rPr>
              <a:t>modus ponens </a:t>
            </a:r>
            <a:r>
              <a:rPr b="0" i="0" lang="en-US" sz="2400" u="none">
                <a:solidFill>
                  <a:schemeClr val="dk1"/>
                </a:solidFill>
                <a:latin typeface="Calibri"/>
                <a:ea typeface="Calibri"/>
                <a:cs typeface="Calibri"/>
                <a:sym typeface="Calibri"/>
              </a:rPr>
              <a:t>or the </a:t>
            </a:r>
            <a:r>
              <a:rPr b="0" i="1" lang="en-US" sz="2400" u="none">
                <a:solidFill>
                  <a:srgbClr val="D60093"/>
                </a:solidFill>
                <a:latin typeface="Calibri"/>
                <a:ea typeface="Calibri"/>
                <a:cs typeface="Calibri"/>
                <a:sym typeface="Calibri"/>
              </a:rPr>
              <a:t>law of detachment</a:t>
            </a:r>
            <a:r>
              <a:rPr b="0" i="0" lang="en-US" sz="2400" u="none">
                <a:solidFill>
                  <a:schemeClr val="dk1"/>
                </a:solidFill>
                <a:latin typeface="Calibri"/>
                <a:ea typeface="Calibri"/>
                <a:cs typeface="Calibri"/>
                <a:sym typeface="Calibri"/>
              </a:rPr>
              <a:t>. </a:t>
            </a:r>
            <a:endParaRPr/>
          </a:p>
          <a:p>
            <a:pPr indent="-285750" lvl="1" marL="74295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 p → q</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p</a:t>
            </a:r>
            <a:endParaRPr/>
          </a:p>
          <a:p>
            <a:pPr indent="-285750" lvl="1" marL="742950" marR="0" rtl="0" algn="l">
              <a:lnSpc>
                <a:spcPct val="100000"/>
              </a:lnSpc>
              <a:spcBef>
                <a:spcPts val="40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t>
            </a:r>
            <a:r>
              <a:rPr b="0" i="0" lang="en-US" sz="1800" u="none" cap="none" strike="noStrike">
                <a:solidFill>
                  <a:schemeClr val="dk1"/>
                </a:solidFill>
                <a:latin typeface="Calibri"/>
                <a:ea typeface="Calibri"/>
                <a:cs typeface="Calibri"/>
                <a:sym typeface="Calibri"/>
              </a:rPr>
              <a:t>q </a:t>
            </a:r>
            <a:endParaRPr/>
          </a:p>
        </p:txBody>
      </p:sp>
      <p:sp>
        <p:nvSpPr>
          <p:cNvPr id="120" name="Google Shape;120;p1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cxnSp>
        <p:nvCxnSpPr>
          <p:cNvPr id="121" name="Google Shape;121;p17"/>
          <p:cNvCxnSpPr/>
          <p:nvPr/>
        </p:nvCxnSpPr>
        <p:spPr>
          <a:xfrm>
            <a:off x="1447800" y="5638800"/>
            <a:ext cx="914400" cy="1587"/>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 of Modus Ponens</a:t>
            </a:r>
            <a:endParaRPr/>
          </a:p>
        </p:txBody>
      </p:sp>
      <p:sp>
        <p:nvSpPr>
          <p:cNvPr id="127" name="Google Shape;127;p18"/>
          <p:cNvSpPr txBox="1"/>
          <p:nvPr>
            <p:ph idx="1" type="body"/>
          </p:nvPr>
        </p:nvSpPr>
        <p:spPr>
          <a:xfrm>
            <a:off x="457200" y="1295400"/>
            <a:ext cx="8458200" cy="50292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rgbClr val="D60093"/>
              </a:buClr>
              <a:buSzPts val="2200"/>
              <a:buFont typeface="Arial"/>
              <a:buChar char="•"/>
            </a:pPr>
            <a:r>
              <a:rPr b="0" i="0" lang="en-US" sz="2200" u="none">
                <a:solidFill>
                  <a:srgbClr val="D60093"/>
                </a:solidFill>
                <a:latin typeface="Calibri"/>
                <a:ea typeface="Calibri"/>
                <a:cs typeface="Calibri"/>
                <a:sym typeface="Calibri"/>
              </a:rPr>
              <a:t>Example 1:</a:t>
            </a:r>
            <a:r>
              <a:rPr b="0" i="0" lang="en-US" sz="2200" u="none">
                <a:solidFill>
                  <a:schemeClr val="dk1"/>
                </a:solidFill>
                <a:latin typeface="Calibri"/>
                <a:ea typeface="Calibri"/>
                <a:cs typeface="Calibri"/>
                <a:sym typeface="Calibri"/>
              </a:rPr>
              <a:t> Suppose that the statement “If it is raining today, then we will go skiing” and its hypothesis is “It is raining today” are true. Then by modus  ponens it follows that the conclusion “We will go skiing” is true.</a:t>
            </a:r>
            <a:endParaRPr/>
          </a:p>
          <a:p>
            <a:pPr indent="-342900" lvl="0" marL="342900" marR="0" rtl="0" algn="l">
              <a:lnSpc>
                <a:spcPct val="90000"/>
              </a:lnSpc>
              <a:spcBef>
                <a:spcPts val="440"/>
              </a:spcBef>
              <a:spcAft>
                <a:spcPts val="0"/>
              </a:spcAft>
              <a:buClr>
                <a:srgbClr val="D60093"/>
              </a:buClr>
              <a:buSzPts val="2200"/>
              <a:buFont typeface="Arial"/>
              <a:buChar char="•"/>
            </a:pPr>
            <a:r>
              <a:rPr b="0" i="0" lang="en-US" sz="2200" u="none">
                <a:solidFill>
                  <a:srgbClr val="D60093"/>
                </a:solidFill>
                <a:latin typeface="Calibri"/>
                <a:ea typeface="Calibri"/>
                <a:cs typeface="Calibri"/>
                <a:sym typeface="Calibri"/>
              </a:rPr>
              <a:t>Example 2</a:t>
            </a:r>
            <a:r>
              <a:rPr b="0" i="0" lang="en-US" sz="2200" u="none">
                <a:solidFill>
                  <a:schemeClr val="dk1"/>
                </a:solidFill>
                <a:latin typeface="Calibri"/>
                <a:ea typeface="Calibri"/>
                <a:cs typeface="Calibri"/>
                <a:sym typeface="Calibri"/>
              </a:rPr>
              <a:t>: Determine whether the argument given here is valid and determine whether its conclusion must be true because of the validity of the argument.</a:t>
            </a:r>
            <a:endParaRPr/>
          </a:p>
          <a:p>
            <a:pPr indent="-342900" lvl="0" marL="342900" marR="0" rtl="0" algn="l">
              <a:lnSpc>
                <a:spcPct val="9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“If           , then               ”. We can say </a:t>
            </a:r>
            <a:endParaRPr/>
          </a:p>
          <a:p>
            <a:pPr indent="-342900" lvl="0" marL="342900" marR="0" rtl="0" algn="l">
              <a:lnSpc>
                <a:spcPct val="150000"/>
              </a:lnSpc>
              <a:spcBef>
                <a:spcPts val="380"/>
              </a:spcBef>
              <a:spcAft>
                <a:spcPts val="0"/>
              </a:spcAft>
              <a:buClr>
                <a:schemeClr val="dk1"/>
              </a:buClr>
              <a:buSzPts val="1900"/>
              <a:buFont typeface="Arial"/>
              <a:buNone/>
            </a:pPr>
            <a:r>
              <a:rPr b="0" i="0" lang="en-US" sz="1900" u="none">
                <a:solidFill>
                  <a:schemeClr val="dk1"/>
                </a:solidFill>
                <a:latin typeface="Calibri"/>
                <a:ea typeface="Calibri"/>
                <a:cs typeface="Calibri"/>
                <a:sym typeface="Calibri"/>
              </a:rPr>
              <a:t>	</a:t>
            </a:r>
            <a:r>
              <a:rPr b="0" i="1" lang="en-US" sz="1900" u="none">
                <a:solidFill>
                  <a:schemeClr val="dk1"/>
                </a:solidFill>
                <a:latin typeface="Calibri"/>
                <a:ea typeface="Calibri"/>
                <a:cs typeface="Calibri"/>
                <a:sym typeface="Calibri"/>
              </a:rPr>
              <a:t>Solution: </a:t>
            </a:r>
            <a:r>
              <a:rPr b="0" i="0" lang="en-US" sz="1900" u="none">
                <a:solidFill>
                  <a:schemeClr val="dk1"/>
                </a:solidFill>
                <a:latin typeface="Calibri"/>
                <a:ea typeface="Calibri"/>
                <a:cs typeface="Calibri"/>
                <a:sym typeface="Calibri"/>
              </a:rPr>
              <a:t>Let p be the proposition             and q be the proposition</a:t>
            </a:r>
            <a:endParaRPr/>
          </a:p>
          <a:p>
            <a:pPr indent="-342900" lvl="0" marL="342900" marR="0" rtl="0" algn="l">
              <a:lnSpc>
                <a:spcPct val="150000"/>
              </a:lnSpc>
              <a:spcBef>
                <a:spcPts val="380"/>
              </a:spcBef>
              <a:spcAft>
                <a:spcPts val="0"/>
              </a:spcAft>
              <a:buClr>
                <a:schemeClr val="dk1"/>
              </a:buClr>
              <a:buSzPts val="1900"/>
              <a:buFont typeface="Arial"/>
              <a:buNone/>
            </a:pPr>
            <a:r>
              <a:rPr b="0" i="0" lang="en-US" sz="1900" u="none">
                <a:solidFill>
                  <a:schemeClr val="dk1"/>
                </a:solidFill>
                <a:latin typeface="Calibri"/>
                <a:ea typeface="Calibri"/>
                <a:cs typeface="Calibri"/>
                <a:sym typeface="Calibri"/>
              </a:rPr>
              <a:t>	The premises of the argument is p → q and p, and q is its conclusion. As it is constructed using modus ponens form the argument form is valid. But one of its premises            is false. So we can conclude the conclusion is false as well as the argument is false, because </a:t>
            </a:r>
            <a:endParaRPr/>
          </a:p>
        </p:txBody>
      </p:sp>
      <p:sp>
        <p:nvSpPr>
          <p:cNvPr id="128" name="Google Shape;128;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pic>
        <p:nvPicPr>
          <p:cNvPr id="129" name="Google Shape;129;p18"/>
          <p:cNvPicPr preferRelativeResize="0"/>
          <p:nvPr/>
        </p:nvPicPr>
        <p:blipFill rotWithShape="1">
          <a:blip r:embed="rId3">
            <a:alphaModFix/>
          </a:blip>
          <a:srcRect b="0" l="0" r="0" t="0"/>
          <a:stretch/>
        </p:blipFill>
        <p:spPr>
          <a:xfrm>
            <a:off x="1295400" y="3505200"/>
            <a:ext cx="685800" cy="544512"/>
          </a:xfrm>
          <a:prstGeom prst="rect">
            <a:avLst/>
          </a:prstGeom>
          <a:noFill/>
          <a:ln>
            <a:noFill/>
          </a:ln>
        </p:spPr>
      </p:pic>
      <p:pic>
        <p:nvPicPr>
          <p:cNvPr id="130" name="Google Shape;130;p18"/>
          <p:cNvPicPr preferRelativeResize="0"/>
          <p:nvPr/>
        </p:nvPicPr>
        <p:blipFill rotWithShape="1">
          <a:blip r:embed="rId4">
            <a:alphaModFix/>
          </a:blip>
          <a:srcRect b="0" l="0" r="0" t="0"/>
          <a:stretch/>
        </p:blipFill>
        <p:spPr>
          <a:xfrm>
            <a:off x="2533650" y="3505200"/>
            <a:ext cx="1066800" cy="581025"/>
          </a:xfrm>
          <a:prstGeom prst="rect">
            <a:avLst/>
          </a:prstGeom>
          <a:noFill/>
          <a:ln>
            <a:noFill/>
          </a:ln>
        </p:spPr>
      </p:pic>
      <p:pic>
        <p:nvPicPr>
          <p:cNvPr id="131" name="Google Shape;131;p18"/>
          <p:cNvPicPr preferRelativeResize="0"/>
          <p:nvPr/>
        </p:nvPicPr>
        <p:blipFill rotWithShape="1">
          <a:blip r:embed="rId3">
            <a:alphaModFix/>
          </a:blip>
          <a:srcRect b="0" l="0" r="0" t="0"/>
          <a:stretch/>
        </p:blipFill>
        <p:spPr>
          <a:xfrm>
            <a:off x="4152900" y="3930650"/>
            <a:ext cx="685800" cy="544512"/>
          </a:xfrm>
          <a:prstGeom prst="rect">
            <a:avLst/>
          </a:prstGeom>
          <a:noFill/>
          <a:ln>
            <a:noFill/>
          </a:ln>
        </p:spPr>
      </p:pic>
      <p:pic>
        <p:nvPicPr>
          <p:cNvPr id="132" name="Google Shape;132;p18"/>
          <p:cNvPicPr preferRelativeResize="0"/>
          <p:nvPr/>
        </p:nvPicPr>
        <p:blipFill rotWithShape="1">
          <a:blip r:embed="rId5">
            <a:alphaModFix/>
          </a:blip>
          <a:srcRect b="0" l="0" r="0" t="0"/>
          <a:stretch/>
        </p:blipFill>
        <p:spPr>
          <a:xfrm>
            <a:off x="5715000" y="3429000"/>
            <a:ext cx="1600200" cy="569912"/>
          </a:xfrm>
          <a:prstGeom prst="rect">
            <a:avLst/>
          </a:prstGeom>
          <a:noFill/>
          <a:ln>
            <a:noFill/>
          </a:ln>
        </p:spPr>
      </p:pic>
      <p:pic>
        <p:nvPicPr>
          <p:cNvPr id="133" name="Google Shape;133;p18"/>
          <p:cNvPicPr preferRelativeResize="0"/>
          <p:nvPr/>
        </p:nvPicPr>
        <p:blipFill rotWithShape="1">
          <a:blip r:embed="rId6">
            <a:alphaModFix/>
          </a:blip>
          <a:srcRect b="0" l="0" r="0" t="0"/>
          <a:stretch/>
        </p:blipFill>
        <p:spPr>
          <a:xfrm>
            <a:off x="8001000" y="3886200"/>
            <a:ext cx="609600" cy="633412"/>
          </a:xfrm>
          <a:prstGeom prst="rect">
            <a:avLst/>
          </a:prstGeom>
          <a:noFill/>
          <a:ln>
            <a:noFill/>
          </a:ln>
        </p:spPr>
      </p:pic>
      <p:pic>
        <p:nvPicPr>
          <p:cNvPr id="134" name="Google Shape;134;p18"/>
          <p:cNvPicPr preferRelativeResize="0"/>
          <p:nvPr/>
        </p:nvPicPr>
        <p:blipFill rotWithShape="1">
          <a:blip r:embed="rId3">
            <a:alphaModFix/>
          </a:blip>
          <a:srcRect b="0" l="0" r="0" t="0"/>
          <a:stretch/>
        </p:blipFill>
        <p:spPr>
          <a:xfrm>
            <a:off x="1752600" y="5251450"/>
            <a:ext cx="685800" cy="544512"/>
          </a:xfrm>
          <a:prstGeom prst="rect">
            <a:avLst/>
          </a:prstGeom>
          <a:noFill/>
          <a:ln>
            <a:noFill/>
          </a:ln>
        </p:spPr>
      </p:pic>
      <p:pic>
        <p:nvPicPr>
          <p:cNvPr id="135" name="Google Shape;135;p18"/>
          <p:cNvPicPr preferRelativeResize="0"/>
          <p:nvPr/>
        </p:nvPicPr>
        <p:blipFill rotWithShape="1">
          <a:blip r:embed="rId7">
            <a:alphaModFix/>
          </a:blip>
          <a:srcRect b="0" l="0" r="0" t="0"/>
          <a:stretch/>
        </p:blipFill>
        <p:spPr>
          <a:xfrm>
            <a:off x="3543300" y="5710237"/>
            <a:ext cx="609600" cy="6302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457200" y="228600"/>
            <a:ext cx="8229600" cy="7159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Rules of Inference</a:t>
            </a:r>
            <a:endParaRPr/>
          </a:p>
        </p:txBody>
      </p:sp>
      <p:graphicFrame>
        <p:nvGraphicFramePr>
          <p:cNvPr id="141" name="Google Shape;141;p19"/>
          <p:cNvGraphicFramePr/>
          <p:nvPr/>
        </p:nvGraphicFramePr>
        <p:xfrm>
          <a:off x="457200" y="1066800"/>
          <a:ext cx="3000000" cy="3000000"/>
        </p:xfrm>
        <a:graphic>
          <a:graphicData uri="http://schemas.openxmlformats.org/drawingml/2006/table">
            <a:tbl>
              <a:tblPr>
                <a:noFill/>
                <a:tableStyleId>{1CCA6DA0-29E5-46EF-A652-29AB444062F1}</a:tableStyleId>
              </a:tblPr>
              <a:tblGrid>
                <a:gridCol w="2286000"/>
                <a:gridCol w="4038600"/>
                <a:gridCol w="1905000"/>
              </a:tblGrid>
              <a:tr h="381000">
                <a:tc gridSpan="3">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Table 1: Rules of Inference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hMerge="1"/>
                <a:tc hMerge="1"/>
              </a:tr>
              <a:tr h="525450">
                <a:tc>
                  <a:txBody>
                    <a:bodyPr/>
                    <a:lstStyle/>
                    <a:p>
                      <a:pPr indent="0" lvl="0" marL="0" marR="0" rtl="0" algn="l">
                        <a:lnSpc>
                          <a:spcPct val="100000"/>
                        </a:lnSpc>
                        <a:spcBef>
                          <a:spcPts val="0"/>
                        </a:spcBef>
                        <a:spcAft>
                          <a:spcPts val="0"/>
                        </a:spcAft>
                        <a:buClr>
                          <a:schemeClr val="dk1"/>
                        </a:buClr>
                        <a:buSzPts val="1800"/>
                        <a:buFont typeface="Arial"/>
                        <a:buNone/>
                      </a:pPr>
                      <a:r>
                        <a:rPr b="1" i="1" lang="en-US" sz="1800" u="none" cap="none" strike="noStrike">
                          <a:solidFill>
                            <a:schemeClr val="dk1"/>
                          </a:solidFill>
                          <a:latin typeface="Arial"/>
                          <a:ea typeface="Arial"/>
                          <a:cs typeface="Arial"/>
                          <a:sym typeface="Arial"/>
                        </a:rPr>
                        <a:t>Rules of Inference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1" i="1" lang="en-US" sz="1800" u="none" cap="none" strike="noStrike">
                          <a:solidFill>
                            <a:schemeClr val="dk1"/>
                          </a:solidFill>
                          <a:latin typeface="Arial"/>
                          <a:ea typeface="Arial"/>
                          <a:cs typeface="Arial"/>
                          <a:sym typeface="Arial"/>
                        </a:rPr>
                        <a:t>Tautology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1" i="1" lang="en-US" sz="1800" u="none" cap="none" strike="noStrike">
                          <a:solidFill>
                            <a:schemeClr val="dk1"/>
                          </a:solidFill>
                          <a:latin typeface="Arial"/>
                          <a:ea typeface="Arial"/>
                          <a:cs typeface="Arial"/>
                          <a:sym typeface="Arial"/>
                        </a:rPr>
                        <a:t>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9144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p</a:t>
                      </a:r>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r>
                        <a:rPr b="0" i="0" lang="en-US" sz="1800" u="sng" cap="none" strike="noStrike">
                          <a:solidFill>
                            <a:schemeClr val="dk1"/>
                          </a:solidFill>
                          <a:latin typeface="Arial"/>
                          <a:ea typeface="Arial"/>
                          <a:cs typeface="Arial"/>
                          <a:sym typeface="Arial"/>
                        </a:rPr>
                        <a:t>p → q</a:t>
                      </a:r>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∴q</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 Λ (p → q)] → q</a:t>
                      </a:r>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If it is raining, then I will study discrete math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Modus Ponens</a:t>
                      </a:r>
                      <a:endParaRPr/>
                    </a:p>
                    <a:p>
                      <a:pPr indent="0" lvl="0" marL="0" marR="0" rtl="0" algn="l">
                        <a:spcBef>
                          <a:spcPts val="0"/>
                        </a:spcBef>
                        <a:spcAft>
                          <a:spcPts val="0"/>
                        </a:spcAft>
                        <a:buNone/>
                      </a:pPr>
                      <a:r>
                        <a:t/>
                      </a:r>
                      <a:endParaRPr b="0" i="0" sz="1800" u="non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12573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p →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[┐q Λ (p → q)] → ┐p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not  study discrete math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If it is raining, then I will study discrete math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Modes Tollens</a:t>
                      </a:r>
                      <a:endParaRPr/>
                    </a:p>
                    <a:p>
                      <a:pPr indent="0" lvl="0" marL="0" marR="0" rtl="0" algn="l">
                        <a:spcBef>
                          <a:spcPts val="0"/>
                        </a:spcBef>
                        <a:spcAft>
                          <a:spcPts val="0"/>
                        </a:spcAft>
                        <a:buNone/>
                      </a:pPr>
                      <a:r>
                        <a:t/>
                      </a:r>
                      <a:endParaRPr b="0" i="0" sz="1800" u="non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1189025">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p →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q → r</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 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 q) Λ (q → r)] → (p → r)</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If it is raining, then I will study discrete math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If I study DS, then I will get 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Hypothetical syllogism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968375">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p V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┐p___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∴q</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V q) Λ ┐p] →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study DS or I will study English</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not study discrete math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Disjunctive syllogism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9144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p_</a:t>
                      </a:r>
                      <a:r>
                        <a:rPr b="0" i="0" lang="en-US" sz="1800" u="none">
                          <a:solidFill>
                            <a:schemeClr val="dk1"/>
                          </a:solidFill>
                          <a:latin typeface="Arial"/>
                          <a:ea typeface="Arial"/>
                          <a:cs typeface="Arial"/>
                          <a:sym typeface="Arial"/>
                        </a:rPr>
                        <a:t>___</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V q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 (p V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study DS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study English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Addition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bl>
          </a:graphicData>
        </a:graphic>
      </p:graphicFrame>
      <p:sp>
        <p:nvSpPr>
          <p:cNvPr id="142" name="Google Shape;142;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Rules of Inference</a:t>
            </a:r>
            <a:endParaRPr/>
          </a:p>
        </p:txBody>
      </p:sp>
      <p:graphicFrame>
        <p:nvGraphicFramePr>
          <p:cNvPr id="148" name="Google Shape;148;p20"/>
          <p:cNvGraphicFramePr/>
          <p:nvPr/>
        </p:nvGraphicFramePr>
        <p:xfrm>
          <a:off x="457200" y="1600200"/>
          <a:ext cx="3000000" cy="3000000"/>
        </p:xfrm>
        <a:graphic>
          <a:graphicData uri="http://schemas.openxmlformats.org/drawingml/2006/table">
            <a:tbl>
              <a:tblPr>
                <a:noFill/>
                <a:tableStyleId>{1CCA6DA0-29E5-46EF-A652-29AB444062F1}</a:tableStyleId>
              </a:tblPr>
              <a:tblGrid>
                <a:gridCol w="2286000"/>
                <a:gridCol w="3200400"/>
                <a:gridCol w="2743200"/>
              </a:tblGrid>
              <a:tr h="381000">
                <a:tc gridSpan="3">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Table 1: Rules of Inference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hMerge="1"/>
                <a:tc hMerge="1"/>
              </a:tr>
              <a:tr h="525450">
                <a:tc>
                  <a:txBody>
                    <a:bodyPr/>
                    <a:lstStyle/>
                    <a:p>
                      <a:pPr indent="0" lvl="0" marL="0" marR="0" rtl="0" algn="l">
                        <a:lnSpc>
                          <a:spcPct val="100000"/>
                        </a:lnSpc>
                        <a:spcBef>
                          <a:spcPts val="0"/>
                        </a:spcBef>
                        <a:spcAft>
                          <a:spcPts val="0"/>
                        </a:spcAft>
                        <a:buClr>
                          <a:schemeClr val="dk1"/>
                        </a:buClr>
                        <a:buSzPts val="1800"/>
                        <a:buFont typeface="Arial"/>
                        <a:buNone/>
                      </a:pPr>
                      <a:r>
                        <a:rPr b="1" i="1" lang="en-US" sz="1800" u="none">
                          <a:solidFill>
                            <a:schemeClr val="dk1"/>
                          </a:solidFill>
                          <a:latin typeface="Arial"/>
                          <a:ea typeface="Arial"/>
                          <a:cs typeface="Arial"/>
                          <a:sym typeface="Arial"/>
                        </a:rPr>
                        <a:t>Rules of Inference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1" i="1" lang="en-US" sz="1800" u="none">
                          <a:solidFill>
                            <a:schemeClr val="dk1"/>
                          </a:solidFill>
                          <a:latin typeface="Arial"/>
                          <a:ea typeface="Arial"/>
                          <a:cs typeface="Arial"/>
                          <a:sym typeface="Arial"/>
                        </a:rPr>
                        <a:t>Tautology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1" i="1" lang="en-US" sz="1800" u="none">
                          <a:solidFill>
                            <a:schemeClr val="dk1"/>
                          </a:solidFill>
                          <a:latin typeface="Arial"/>
                          <a:ea typeface="Arial"/>
                          <a:cs typeface="Arial"/>
                          <a:sym typeface="Arial"/>
                        </a:rPr>
                        <a:t>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9144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p Λ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p</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Λ q) →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study English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 will study DS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Simplification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9144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p</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q_____</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p Λ q</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Λ (q)] → (p Λ q)</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Conjunction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r h="9144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p V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0" lang="en-US" sz="1800" u="sng">
                          <a:solidFill>
                            <a:schemeClr val="dk1"/>
                          </a:solidFill>
                          <a:latin typeface="Arial"/>
                          <a:ea typeface="Arial"/>
                          <a:cs typeface="Arial"/>
                          <a:sym typeface="Arial"/>
                        </a:rPr>
                        <a:t>┐p V q</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q V 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 V q) Λ (┐p V q)] → (q V 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Resolution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3EAF2"/>
                    </a:solidFill>
                  </a:tcPr>
                </a:tc>
              </a:tr>
            </a:tbl>
          </a:graphicData>
        </a:graphic>
      </p:graphicFrame>
      <p:sp>
        <p:nvSpPr>
          <p:cNvPr id="149" name="Google Shape;149;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Examples on Rules of Inference</a:t>
            </a:r>
            <a:endParaRPr/>
          </a:p>
        </p:txBody>
      </p:sp>
      <p:sp>
        <p:nvSpPr>
          <p:cNvPr id="155" name="Google Shape;155;p21"/>
          <p:cNvSpPr txBox="1"/>
          <p:nvPr>
            <p:ph idx="1" type="body"/>
          </p:nvPr>
        </p:nvSpPr>
        <p:spPr>
          <a:xfrm>
            <a:off x="457200" y="1143000"/>
            <a:ext cx="84582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D60093"/>
              </a:buClr>
              <a:buSzPts val="2400"/>
              <a:buFont typeface="Arial"/>
              <a:buChar char="•"/>
            </a:pPr>
            <a:r>
              <a:rPr b="0" i="0" lang="en-US" sz="2400" u="none">
                <a:solidFill>
                  <a:srgbClr val="D60093"/>
                </a:solidFill>
                <a:latin typeface="Calibri"/>
                <a:ea typeface="Calibri"/>
                <a:cs typeface="Calibri"/>
                <a:sym typeface="Calibri"/>
              </a:rPr>
              <a:t>Example 3</a:t>
            </a:r>
            <a:r>
              <a:rPr b="0" i="0" lang="en-US" sz="2400" u="none">
                <a:solidFill>
                  <a:schemeClr val="dk1"/>
                </a:solidFill>
                <a:latin typeface="Calibri"/>
                <a:ea typeface="Calibri"/>
                <a:cs typeface="Calibri"/>
                <a:sym typeface="Calibri"/>
              </a:rPr>
              <a:t>: State which rule of inference is the basis of the following argument “If is below freezing now. Therefore, it is either below freezing or raining now”.</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Solution: Let p = “If is below freezing now” and q = “If is raining now”. Then the argument is the form of addition:</a:t>
            </a:r>
            <a:endParaRPr/>
          </a:p>
          <a:p>
            <a:pPr indent="-342900" lvl="0" marL="34290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r>
              <a:rPr b="0" i="0" lang="en-US" sz="2000" u="none">
                <a:solidFill>
                  <a:srgbClr val="000000"/>
                </a:solidFill>
                <a:latin typeface="Calibri"/>
                <a:ea typeface="Calibri"/>
                <a:cs typeface="Calibri"/>
                <a:sym typeface="Calibri"/>
              </a:rPr>
              <a:t>    </a:t>
            </a:r>
            <a:r>
              <a:rPr b="0" i="0" lang="en-US" sz="2000" u="sng">
                <a:solidFill>
                  <a:srgbClr val="000000"/>
                </a:solidFill>
                <a:latin typeface="Calibri"/>
                <a:ea typeface="Calibri"/>
                <a:cs typeface="Calibri"/>
                <a:sym typeface="Calibri"/>
              </a:rPr>
              <a:t>p_</a:t>
            </a:r>
            <a:r>
              <a:rPr b="0" i="0" lang="en-US" sz="2000" u="none">
                <a:solidFill>
                  <a:srgbClr val="000000"/>
                </a:solidFill>
                <a:latin typeface="Calibri"/>
                <a:ea typeface="Calibri"/>
                <a:cs typeface="Calibri"/>
                <a:sym typeface="Calibri"/>
              </a:rPr>
              <a:t>___</a:t>
            </a:r>
            <a:endParaRPr/>
          </a:p>
          <a:p>
            <a:pPr indent="-342900" lvl="0" marL="342900" marR="0" rtl="0" algn="l">
              <a:lnSpc>
                <a:spcPct val="100000"/>
              </a:lnSpc>
              <a:spcBef>
                <a:spcPts val="0"/>
              </a:spcBef>
              <a:spcAft>
                <a:spcPts val="0"/>
              </a:spcAft>
              <a:buClr>
                <a:srgbClr val="000000"/>
              </a:buClr>
              <a:buSzPts val="2000"/>
              <a:buFont typeface="Arial"/>
              <a:buNone/>
            </a:pPr>
            <a:r>
              <a:rPr b="0" i="0" lang="en-US" sz="2000" u="none">
                <a:solidFill>
                  <a:srgbClr val="000000"/>
                </a:solidFill>
                <a:latin typeface="Calibri"/>
                <a:ea typeface="Calibri"/>
                <a:cs typeface="Calibri"/>
                <a:sym typeface="Calibri"/>
              </a:rPr>
              <a:t>	∴p V q </a:t>
            </a:r>
            <a:endParaRPr b="0" i="0" sz="2400" u="non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rgbClr val="D60093"/>
              </a:buClr>
              <a:buSzPts val="2400"/>
              <a:buFont typeface="Arial"/>
              <a:buChar char="•"/>
            </a:pPr>
            <a:r>
              <a:rPr b="0" i="0" lang="en-US" sz="2400" u="none">
                <a:solidFill>
                  <a:srgbClr val="D60093"/>
                </a:solidFill>
                <a:latin typeface="Calibri"/>
                <a:ea typeface="Calibri"/>
                <a:cs typeface="Calibri"/>
                <a:sym typeface="Calibri"/>
              </a:rPr>
              <a:t>Example 4</a:t>
            </a:r>
            <a:r>
              <a:rPr b="0" i="0" lang="en-US" sz="2400" u="none">
                <a:solidFill>
                  <a:schemeClr val="dk1"/>
                </a:solidFill>
                <a:latin typeface="Calibri"/>
                <a:ea typeface="Calibri"/>
                <a:cs typeface="Calibri"/>
                <a:sym typeface="Calibri"/>
              </a:rPr>
              <a:t>: State which rule of inference is the basis of the following argument; “It is below freezing and raining now. Therefore it is below freezing”.</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Solution: This argument is form of simplification:</a:t>
            </a:r>
            <a:endParaRPr/>
          </a:p>
          <a:p>
            <a:pPr indent="-342900" lvl="0" marL="34290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r>
              <a:rPr b="0" i="0" lang="en-US" sz="2000" u="none">
                <a:solidFill>
                  <a:srgbClr val="000000"/>
                </a:solidFill>
                <a:latin typeface="Calibri"/>
                <a:ea typeface="Calibri"/>
                <a:cs typeface="Calibri"/>
                <a:sym typeface="Calibri"/>
              </a:rPr>
              <a:t> </a:t>
            </a:r>
            <a:r>
              <a:rPr b="0" i="0" lang="en-US" sz="2000" u="sng">
                <a:solidFill>
                  <a:srgbClr val="000000"/>
                </a:solidFill>
                <a:latin typeface="Calibri"/>
                <a:ea typeface="Calibri"/>
                <a:cs typeface="Calibri"/>
                <a:sym typeface="Calibri"/>
              </a:rPr>
              <a:t>p Λ q</a:t>
            </a:r>
            <a:endParaRPr/>
          </a:p>
          <a:p>
            <a:pPr indent="-342900" lvl="0" marL="342900" marR="0" rtl="0" algn="l">
              <a:lnSpc>
                <a:spcPct val="100000"/>
              </a:lnSpc>
              <a:spcBef>
                <a:spcPts val="0"/>
              </a:spcBef>
              <a:spcAft>
                <a:spcPts val="0"/>
              </a:spcAft>
              <a:buClr>
                <a:srgbClr val="000000"/>
              </a:buClr>
              <a:buSzPts val="2000"/>
              <a:buFont typeface="Arial"/>
              <a:buNone/>
            </a:pPr>
            <a:r>
              <a:rPr b="0" i="0" lang="en-US" sz="2000" u="none">
                <a:solidFill>
                  <a:srgbClr val="000000"/>
                </a:solidFill>
                <a:latin typeface="Calibri"/>
                <a:ea typeface="Calibri"/>
                <a:cs typeface="Calibri"/>
                <a:sym typeface="Calibri"/>
              </a:rPr>
              <a:t>     ∴ p</a:t>
            </a:r>
            <a:endParaRPr/>
          </a:p>
        </p:txBody>
      </p:sp>
      <p:sp>
        <p:nvSpPr>
          <p:cNvPr id="156" name="Google Shape;156;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4572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0" i="0" lang="en-US" sz="3200" u="none">
                <a:solidFill>
                  <a:schemeClr val="dk1"/>
                </a:solidFill>
                <a:latin typeface="Calibri"/>
                <a:ea typeface="Calibri"/>
                <a:cs typeface="Calibri"/>
                <a:sym typeface="Calibri"/>
              </a:rPr>
              <a:t>Building arguments using Rules of Inference </a:t>
            </a:r>
            <a:endParaRPr/>
          </a:p>
        </p:txBody>
      </p:sp>
      <p:sp>
        <p:nvSpPr>
          <p:cNvPr id="162" name="Google Shape;162;p22"/>
          <p:cNvSpPr txBox="1"/>
          <p:nvPr>
            <p:ph idx="1" type="body"/>
          </p:nvPr>
        </p:nvSpPr>
        <p:spPr>
          <a:xfrm>
            <a:off x="457200" y="1219200"/>
            <a:ext cx="44958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D60093"/>
              </a:buClr>
              <a:buSzPts val="2000"/>
              <a:buFont typeface="Arial"/>
              <a:buChar char="•"/>
            </a:pPr>
            <a:r>
              <a:rPr b="0" i="0" lang="en-US" sz="2000" u="none">
                <a:solidFill>
                  <a:srgbClr val="D60093"/>
                </a:solidFill>
                <a:latin typeface="Calibri"/>
                <a:ea typeface="Calibri"/>
                <a:cs typeface="Calibri"/>
                <a:sym typeface="Calibri"/>
              </a:rPr>
              <a:t>Example 6</a:t>
            </a:r>
            <a:r>
              <a:rPr b="0" i="0" lang="en-US" sz="2000" u="none">
                <a:solidFill>
                  <a:schemeClr val="dk1"/>
                </a:solidFill>
                <a:latin typeface="Calibri"/>
                <a:ea typeface="Calibri"/>
                <a:cs typeface="Calibri"/>
                <a:sym typeface="Calibri"/>
              </a:rPr>
              <a:t>: Show that the hypothesis “It is not sunny this afternoon and it is colder than yesterday,” “We will go swimming only if it is sunny,” “If we do not go to swimming, then we will take a canoe trip,” and “If we take a canoe trip, then we will be home by sunset” leads to the conclusion “We will be home by sunset”.</a:t>
            </a:r>
            <a:endParaRPr/>
          </a:p>
          <a:p>
            <a:pPr indent="-285750" lvl="1" marL="742950" marR="0" rtl="0" algn="l">
              <a:lnSpc>
                <a:spcPct val="100000"/>
              </a:lnSpc>
              <a:spcBef>
                <a:spcPts val="32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Let p = “It is sunny this afternoon”, </a:t>
            </a:r>
            <a:endParaRPr/>
          </a:p>
          <a:p>
            <a:pPr indent="-285750" lvl="1" marL="74295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	q = “It is colder than yesterday”, </a:t>
            </a:r>
            <a:endParaRPr/>
          </a:p>
          <a:p>
            <a:pPr indent="-285750" lvl="1" marL="74295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	r = “We will go swimming”, </a:t>
            </a:r>
            <a:endParaRPr/>
          </a:p>
          <a:p>
            <a:pPr indent="-285750" lvl="1" marL="74295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	s = “We will take a canoe trip” and </a:t>
            </a:r>
            <a:endParaRPr/>
          </a:p>
          <a:p>
            <a:pPr indent="-285750" lvl="1" marL="74295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	t = “We will be home by sunset”</a:t>
            </a:r>
            <a:endParaRPr/>
          </a:p>
        </p:txBody>
      </p:sp>
      <p:sp>
        <p:nvSpPr>
          <p:cNvPr id="163" name="Google Shape;163;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graphicFrame>
        <p:nvGraphicFramePr>
          <p:cNvPr id="164" name="Google Shape;164;p22"/>
          <p:cNvGraphicFramePr/>
          <p:nvPr/>
        </p:nvGraphicFramePr>
        <p:xfrm>
          <a:off x="5105400" y="1371600"/>
          <a:ext cx="3000000" cy="3000000"/>
        </p:xfrm>
        <a:graphic>
          <a:graphicData uri="http://schemas.openxmlformats.org/drawingml/2006/table">
            <a:tbl>
              <a:tblPr>
                <a:noFill/>
                <a:tableStyleId>{1CCA6DA0-29E5-46EF-A652-29AB444062F1}</a:tableStyleId>
              </a:tblPr>
              <a:tblGrid>
                <a:gridCol w="1219200"/>
                <a:gridCol w="2438400"/>
              </a:tblGrid>
              <a:tr h="4746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Step</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Reason</a:t>
                      </a:r>
                      <a:endParaRPr/>
                    </a:p>
                  </a:txBody>
                  <a:tcPr marT="45725" marB="45725" marR="91450" marL="91450"/>
                </a:tc>
              </a:tr>
              <a:tr h="4746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1. ┐p Λ q</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Hypothesis</a:t>
                      </a:r>
                      <a:endParaRPr/>
                    </a:p>
                  </a:txBody>
                  <a:tcPr marT="45725" marB="45725" marR="91450" marL="91450"/>
                </a:tc>
              </a:tr>
              <a:tr h="4746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2. ┐p</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Simplification using 1</a:t>
                      </a:r>
                      <a:endParaRPr/>
                    </a:p>
                  </a:txBody>
                  <a:tcPr marT="45725" marB="45725" marR="91450" marL="91450"/>
                </a:tc>
              </a:tr>
              <a:tr h="4746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3. r → p</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Hypothesis</a:t>
                      </a:r>
                      <a:endParaRPr/>
                    </a:p>
                  </a:txBody>
                  <a:tcPr marT="45725" marB="45725" marR="91450" marL="91450"/>
                </a:tc>
              </a:tr>
              <a:tr h="6397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4. ┐r</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Modus tollens using 2 and 3</a:t>
                      </a:r>
                      <a:endParaRPr/>
                    </a:p>
                  </a:txBody>
                  <a:tcPr marT="45725" marB="45725" marR="91450" marL="91450"/>
                </a:tc>
              </a:tr>
              <a:tr h="4746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5. ┐r → s</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Hypothesis</a:t>
                      </a:r>
                      <a:endParaRPr/>
                    </a:p>
                  </a:txBody>
                  <a:tcPr marT="45725" marB="45725" marR="91450" marL="91450"/>
                </a:tc>
              </a:tr>
              <a:tr h="6413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6. s</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Modus ponens using 4 and 5</a:t>
                      </a:r>
                      <a:endParaRPr/>
                    </a:p>
                  </a:txBody>
                  <a:tcPr marT="45725" marB="45725" marR="91450" marL="91450"/>
                </a:tc>
              </a:tr>
              <a:tr h="4746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7. s → t</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Hypothesis</a:t>
                      </a:r>
                      <a:endParaRPr/>
                    </a:p>
                  </a:txBody>
                  <a:tcPr marT="45725" marB="45725" marR="91450" marL="91450"/>
                </a:tc>
              </a:tr>
              <a:tr h="6397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8. t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Modus ponens using 7 and 8</a:t>
                      </a:r>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200"/>
              <a:buFont typeface="Calibri"/>
              <a:buNone/>
            </a:pPr>
            <a:r>
              <a:rPr b="0" i="0" lang="en-US" sz="3200" u="none">
                <a:solidFill>
                  <a:srgbClr val="000000"/>
                </a:solidFill>
                <a:latin typeface="Calibri"/>
                <a:ea typeface="Calibri"/>
                <a:cs typeface="Calibri"/>
                <a:sym typeface="Calibri"/>
              </a:rPr>
              <a:t>Building arguments using Rules of Inference </a:t>
            </a:r>
            <a:endParaRPr/>
          </a:p>
        </p:txBody>
      </p:sp>
      <p:sp>
        <p:nvSpPr>
          <p:cNvPr id="170" name="Google Shape;170;p23"/>
          <p:cNvSpPr txBox="1"/>
          <p:nvPr>
            <p:ph idx="1" type="body"/>
          </p:nvPr>
        </p:nvSpPr>
        <p:spPr>
          <a:xfrm>
            <a:off x="381000" y="1371600"/>
            <a:ext cx="4800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D60093"/>
              </a:buClr>
              <a:buSzPts val="2000"/>
              <a:buFont typeface="Arial"/>
              <a:buChar char="•"/>
            </a:pPr>
            <a:r>
              <a:rPr b="0" i="0" lang="en-US" sz="2000" u="none">
                <a:solidFill>
                  <a:srgbClr val="D60093"/>
                </a:solidFill>
                <a:latin typeface="Calibri"/>
                <a:ea typeface="Calibri"/>
                <a:cs typeface="Calibri"/>
                <a:sym typeface="Calibri"/>
              </a:rPr>
              <a:t>Example 7</a:t>
            </a:r>
            <a:r>
              <a:rPr b="0" i="0" lang="en-US" sz="2000" u="none">
                <a:solidFill>
                  <a:schemeClr val="dk1"/>
                </a:solidFill>
                <a:latin typeface="Calibri"/>
                <a:ea typeface="Calibri"/>
                <a:cs typeface="Calibri"/>
                <a:sym typeface="Calibri"/>
              </a:rPr>
              <a:t>: Show that the hypothesis “If you send an email message, then I will finish writing the program,” “If you do not send me an e-mail message, then I will go to sleep early,” and “If I go to sleep early , then I will woke up feeling refreshed” leads to the conclusion “If I do not finish writing the program I will woke up refreshed.”</a:t>
            </a:r>
            <a:endParaRPr/>
          </a:p>
          <a:p>
            <a:pPr indent="-285750" lvl="1" marL="74295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Solution: Let p = “you send an email message”; </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q = “I will finish writing the program”; </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r = “I will go to sleep early”; </a:t>
            </a:r>
            <a:endParaRPr/>
          </a:p>
          <a:p>
            <a:pPr indent="-285750" lvl="1" marL="742950" marR="0" rtl="0" algn="l">
              <a:lnSpc>
                <a:spcPct val="10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s = “I will woke up feeling refreshed”</a:t>
            </a:r>
            <a:endParaRPr/>
          </a:p>
        </p:txBody>
      </p:sp>
      <p:graphicFrame>
        <p:nvGraphicFramePr>
          <p:cNvPr id="171" name="Google Shape;171;p23"/>
          <p:cNvGraphicFramePr/>
          <p:nvPr/>
        </p:nvGraphicFramePr>
        <p:xfrm>
          <a:off x="5257800" y="1371600"/>
          <a:ext cx="3000000" cy="3000000"/>
        </p:xfrm>
        <a:graphic>
          <a:graphicData uri="http://schemas.openxmlformats.org/drawingml/2006/table">
            <a:tbl>
              <a:tblPr>
                <a:noFill/>
                <a:tableStyleId>{1CCA6DA0-29E5-46EF-A652-29AB444062F1}</a:tableStyleId>
              </a:tblPr>
              <a:tblGrid>
                <a:gridCol w="1371600"/>
                <a:gridCol w="2438400"/>
              </a:tblGrid>
              <a:tr h="566725">
                <a:tc>
                  <a:txBody>
                    <a:bodyPr/>
                    <a:lstStyle/>
                    <a:p>
                      <a:pPr indent="0" lvl="0" marL="0" marR="0" rtl="0" algn="l">
                        <a:lnSpc>
                          <a:spcPct val="100000"/>
                        </a:lnSpc>
                        <a:spcBef>
                          <a:spcPts val="0"/>
                        </a:spcBef>
                        <a:spcAft>
                          <a:spcPts val="0"/>
                        </a:spcAft>
                        <a:buClr>
                          <a:schemeClr val="dk1"/>
                        </a:buClr>
                        <a:buSzPts val="1800"/>
                        <a:buFont typeface="Calibri"/>
                        <a:buNone/>
                      </a:pPr>
                      <a:r>
                        <a:rPr b="1" i="0" lang="en-US" sz="1800" u="none">
                          <a:solidFill>
                            <a:schemeClr val="dk1"/>
                          </a:solidFill>
                          <a:latin typeface="Calibri"/>
                          <a:ea typeface="Calibri"/>
                          <a:cs typeface="Calibri"/>
                          <a:sym typeface="Calibri"/>
                        </a:rPr>
                        <a:t>Step</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1" i="0" lang="en-US" sz="1800" u="none">
                          <a:solidFill>
                            <a:schemeClr val="dk1"/>
                          </a:solidFill>
                          <a:latin typeface="Calibri"/>
                          <a:ea typeface="Calibri"/>
                          <a:cs typeface="Calibri"/>
                          <a:sym typeface="Calibri"/>
                        </a:rPr>
                        <a:t>Reason</a:t>
                      </a:r>
                      <a:endParaRPr/>
                    </a:p>
                  </a:txBody>
                  <a:tcPr marT="45725" marB="45725" marR="91450" marL="91450"/>
                </a:tc>
              </a:tr>
              <a:tr h="565150">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1. p → q</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Hypothesis</a:t>
                      </a:r>
                      <a:endParaRPr/>
                    </a:p>
                  </a:txBody>
                  <a:tcPr marT="45725" marB="45725" marR="91450" marL="91450"/>
                </a:tc>
              </a:tr>
              <a:tr h="566725">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2. ┐q →┐p</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Contrapositive of 1</a:t>
                      </a:r>
                      <a:endParaRPr/>
                    </a:p>
                  </a:txBody>
                  <a:tcPr marT="45725" marB="45725" marR="91450" marL="91450"/>
                </a:tc>
              </a:tr>
              <a:tr h="565150">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3. ┐p → r</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Hypothesis</a:t>
                      </a:r>
                      <a:endParaRPr/>
                    </a:p>
                  </a:txBody>
                  <a:tcPr marT="45725" marB="45725" marR="91450" marL="91450"/>
                </a:tc>
              </a:tr>
              <a:tr h="639750">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4. ┐q → r</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Hypothetical syllogism using 2 &amp; 3</a:t>
                      </a:r>
                      <a:endParaRPr/>
                    </a:p>
                  </a:txBody>
                  <a:tcPr marT="45725" marB="45725" marR="91450" marL="91450"/>
                </a:tc>
              </a:tr>
              <a:tr h="566725">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5. r → s</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Hypothesis</a:t>
                      </a:r>
                      <a:endParaRPr/>
                    </a:p>
                  </a:txBody>
                  <a:tcPr marT="45725" marB="45725" marR="91450" marL="91450"/>
                </a:tc>
              </a:tr>
              <a:tr h="639750">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6.  ┐q → s</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Hypothetical syllogism using 4 &amp; 5</a:t>
                      </a:r>
                      <a:endParaRPr/>
                    </a:p>
                  </a:txBody>
                  <a:tcPr marT="45725" marB="45725" marR="91450" marL="91450"/>
                </a:tc>
              </a:tr>
            </a:tbl>
          </a:graphicData>
        </a:graphic>
      </p:graphicFrame>
      <p:sp>
        <p:nvSpPr>
          <p:cNvPr id="172" name="Google Shape;172;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Thank You</a:t>
            </a:r>
            <a:endParaRPr/>
          </a:p>
        </p:txBody>
      </p:sp>
      <p:sp>
        <p:nvSpPr>
          <p:cNvPr id="178" name="Google Shape;178;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Study all the solved problem from your text book.</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Try to solve related problems from exercise.</a:t>
            </a:r>
            <a:endParaRPr/>
          </a:p>
        </p:txBody>
      </p:sp>
      <p:sp>
        <p:nvSpPr>
          <p:cNvPr id="179" name="Google Shape;179;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