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6858000" cx="9144000"/>
  <p:notesSz cx="6858000" cy="9144000"/>
  <p:embeddedFontLst>
    <p:embeddedFont>
      <p:font typeface="Tahoma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32" roundtripDataSignature="AMtx7mi+Sq+e9Szc551IilftLOgF6R44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Tahoma-bold.fntdata"/><Relationship Id="rId30" Type="http://schemas.openxmlformats.org/officeDocument/2006/relationships/font" Target="fonts/Tahoma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0" name="Google Shape;6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9" name="Google Shape;69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8" name="Google Shape;78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7" name="Google Shape;87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" name="Google Shape;8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95" name="Google Shape;9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" name="Google Shape;9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07" name="Google Shape;107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17" name="Google Shape;117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26" name="Google Shape;12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47" name="Google Shape;147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" name="Google Shape;14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64" name="Google Shape;164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" name="Google Shape;16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78" name="Google Shape;178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88" name="Google Shape;188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9" name="Google Shape;18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96" name="Google Shape;196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7" name="Google Shape;19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7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07" name="Google Shape;207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8" name="Google Shape;20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17" name="Google Shape;217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" name="Google Shape;21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28" name="Google Shape;228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41" name="Google Shape;241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2" name="Google Shape;24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49" name="Google Shape;249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0" name="Google Shape;250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61" name="Google Shape;261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2" name="Google Shape;26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75" name="Google Shape;275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6" name="Google Shape;276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85" name="Google Shape;285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6" name="Google Shape;286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94" name="Google Shape;294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5" name="Google Shape;295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7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02" name="Google Shape;302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3" name="Google Shape;303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3" name="Google Shape;13;p8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12419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2921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1464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99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8575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8575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8575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8575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8575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4" name="Google Shape;14;p8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12419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2921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1464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99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8575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8575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8575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8575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8575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5" name="Google Shape;15;p89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9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8" name="Google Shape;18;p9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2639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921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921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921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921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" name="Google Shape;19;p92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9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2" name="Google Shape;22;p9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2639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921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921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921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921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3" name="Google Shape;23;p93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9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6" name="Google Shape;26;p9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7" name="Google Shape;27;p9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840"/>
              <a:buFont typeface="Noto Sans Symbols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hlink"/>
              </a:buClr>
              <a:buSzPts val="66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folHlink"/>
              </a:buClr>
              <a:buSzPts val="500"/>
              <a:buFont typeface="Noto Sans Symbols"/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495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45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45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45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45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45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8" name="Google Shape;28;p94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31" name="Google Shape;31;p9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2639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921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921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921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921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32" name="Google Shape;32;p9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840"/>
              <a:buFont typeface="Noto Sans Symbols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hlink"/>
              </a:buClr>
              <a:buSzPts val="66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folHlink"/>
              </a:buClr>
              <a:buSzPts val="500"/>
              <a:buFont typeface="Noto Sans Symbols"/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495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45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45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45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45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45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33" name="Google Shape;33;p95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36" name="Google Shape;36;p96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39" name="Google Shape;39;p9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None/>
              <a:defRPr b="1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None/>
              <a:defRPr b="1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None/>
              <a:defRPr b="1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88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0" name="Google Shape;40;p9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984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28575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8448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88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794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794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794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794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794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1" name="Google Shape;41;p9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None/>
              <a:defRPr b="1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None/>
              <a:defRPr b="1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None/>
              <a:defRPr b="1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88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2" name="Google Shape;42;p9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984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28575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8448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88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794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794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794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794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794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3" name="Google Shape;43;p97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6" name="Google Shape;46;p9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990"/>
              <a:buFont typeface="Noto Sans Symbols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228600" lvl="2" marL="1371600" marR="0" rtl="0" algn="l"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800"/>
              <a:buFont typeface="Noto Sans Symbols"/>
              <a:buNone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28600" lvl="3" marL="1828800" marR="0" rtl="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770"/>
              <a:buFont typeface="Noto Sans Symbols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28600" lvl="4" marL="2286000" marR="0" rtl="0" algn="l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28600" lvl="5" marL="2743200" marR="0" rtl="0" algn="l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28600" lvl="6" marL="3200400" marR="0" rtl="0" algn="l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28600" lvl="7" marL="3657600" marR="0" rtl="0" algn="l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286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7" name="Google Shape;47;p98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0" name="Google Shape;50;p9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2639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921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921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921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921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1" name="Google Shape;51;p99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1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8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</a:t>
            </a:r>
            <a:fld id="{00000000-1234-1234-1234-123412341234}" type="slidenum">
              <a:rPr lang="en-US"/>
              <a:t>‹#›</a:t>
            </a:fld>
            <a:endParaRPr b="0"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0"/>
          <p:cNvSpPr txBox="1"/>
          <p:nvPr/>
        </p:nvSpPr>
        <p:spPr>
          <a:xfrm>
            <a:off x="8458200" y="6600825"/>
            <a:ext cx="6858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00"/>
              </a:buClr>
              <a:buSzPts val="1200"/>
              <a:buFont typeface="Times New Roman"/>
              <a:buNone/>
            </a:pPr>
            <a:r>
              <a:rPr b="1" i="0" lang="en-US" sz="1200" u="none" cap="none" strike="noStrike">
                <a:solidFill>
                  <a:srgbClr val="00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IIT, JU</a:t>
            </a:r>
            <a:endParaRPr/>
          </a:p>
        </p:txBody>
      </p:sp>
      <p:sp>
        <p:nvSpPr>
          <p:cNvPr id="54" name="Google Shape;54;p90"/>
          <p:cNvSpPr txBox="1"/>
          <p:nvPr/>
        </p:nvSpPr>
        <p:spPr>
          <a:xfrm rot="-5400000">
            <a:off x="-2817724" y="3941676"/>
            <a:ext cx="5791200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050"/>
              <a:buFont typeface="Times New Roman"/>
              <a:buNone/>
            </a:pPr>
            <a:r>
              <a:rPr b="1" i="1" lang="en-US" sz="105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by: </a:t>
            </a:r>
            <a:r>
              <a:rPr b="1" i="1" lang="en-US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M Akkas Ali</a:t>
            </a:r>
            <a:r>
              <a:rPr b="1" i="1" lang="en-US" sz="105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Associate Professor, </a:t>
            </a:r>
            <a:r>
              <a:rPr b="1" i="1" lang="en-US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IIT</a:t>
            </a:r>
            <a:r>
              <a:rPr b="1" i="1" lang="en-US" sz="105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Jahangirnagar University, Dhaka</a:t>
            </a:r>
            <a:endParaRPr/>
          </a:p>
        </p:txBody>
      </p:sp>
      <p:sp>
        <p:nvSpPr>
          <p:cNvPr id="55" name="Google Shape;55;p90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</a:t>
            </a:r>
            <a:fld id="{00000000-1234-1234-1234-123412341234}" type="slidenum">
              <a:rPr lang="en-US"/>
              <a:t>‹#›</a:t>
            </a:fld>
            <a:endParaRPr b="0"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/>
          <p:nvPr/>
        </p:nvSpPr>
        <p:spPr>
          <a:xfrm>
            <a:off x="366712" y="107950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2"/>
          <p:cNvSpPr txBox="1"/>
          <p:nvPr/>
        </p:nvSpPr>
        <p:spPr>
          <a:xfrm>
            <a:off x="749300" y="107950"/>
            <a:ext cx="328612" cy="474662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2"/>
          <p:cNvSpPr txBox="1"/>
          <p:nvPr/>
        </p:nvSpPr>
        <p:spPr>
          <a:xfrm>
            <a:off x="442912" y="533400"/>
            <a:ext cx="8226425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1077900" y="2261075"/>
            <a:ext cx="7238100" cy="206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</a:rPr>
              <a:t>CSE-103</a:t>
            </a:r>
            <a:endParaRPr sz="32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i="0" lang="en-US" sz="3200" u="none">
                <a:solidFill>
                  <a:schemeClr val="dk1"/>
                </a:solidFill>
              </a:rPr>
              <a:t>Lecture-</a:t>
            </a:r>
            <a:r>
              <a:rPr lang="en-US" sz="3200">
                <a:solidFill>
                  <a:schemeClr val="dk1"/>
                </a:solidFill>
              </a:rPr>
              <a:t>07:</a:t>
            </a:r>
            <a:r>
              <a:rPr i="0" lang="en-US" sz="3200" u="none">
                <a:solidFill>
                  <a:schemeClr val="dk1"/>
                </a:solidFill>
              </a:rPr>
              <a:t> </a:t>
            </a:r>
            <a:r>
              <a:rPr lang="en-US" sz="3200">
                <a:solidFill>
                  <a:schemeClr val="dk1"/>
                </a:solidFill>
              </a:rPr>
              <a:t>Number Theory</a:t>
            </a:r>
            <a:endParaRPr sz="32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</a:rPr>
              <a:t> </a:t>
            </a:r>
            <a:endParaRPr sz="32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 txBox="1"/>
          <p:nvPr/>
        </p:nvSpPr>
        <p:spPr>
          <a:xfrm>
            <a:off x="228600" y="1077912"/>
            <a:ext cx="8686800" cy="24939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 integer arithmetic, we use a </a:t>
            </a:r>
            <a:r>
              <a:rPr b="0" i="0" lang="en-US" sz="1800" u="none">
                <a:solidFill>
                  <a:srgbClr val="3333FF"/>
                </a:solidFill>
                <a:latin typeface="Verdana"/>
                <a:ea typeface="Verdana"/>
                <a:cs typeface="Verdana"/>
                <a:sym typeface="Verdana"/>
              </a:rPr>
              <a:t>set</a:t>
            </a:r>
            <a:r>
              <a:rPr b="0" i="0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and a few </a:t>
            </a:r>
            <a:r>
              <a:rPr b="0" i="0" lang="en-US" sz="1800" u="none">
                <a:solidFill>
                  <a:srgbClr val="3333FF"/>
                </a:solidFill>
                <a:latin typeface="Verdana"/>
                <a:ea typeface="Verdana"/>
                <a:cs typeface="Verdana"/>
                <a:sym typeface="Verdana"/>
              </a:rPr>
              <a:t>operations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 </a:t>
            </a:r>
            <a:endParaRPr/>
          </a:p>
          <a:p>
            <a:pPr indent="-457200" lvl="0" marL="4572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We are already familiar with this set and the corresponding operations, but they are reviewed here to create a background for modular arithmetic.</a:t>
            </a:r>
            <a:endParaRPr/>
          </a:p>
          <a:p>
            <a:pPr indent="-457200" lvl="0" marL="4572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set of integers, denoted by </a:t>
            </a:r>
            <a:r>
              <a:rPr b="1" i="0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Z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contains all integral numbers (with no fraction) from </a:t>
            </a:r>
            <a:r>
              <a:rPr b="0" i="0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negative infinity 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to </a:t>
            </a:r>
            <a:r>
              <a:rPr b="0" i="0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positive infinity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/>
          </a:p>
          <a:p>
            <a:pPr indent="-457200" lvl="0" marL="4572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Figure below shows the set of integers.</a:t>
            </a:r>
            <a:endParaRPr/>
          </a:p>
        </p:txBody>
      </p:sp>
      <p:sp>
        <p:nvSpPr>
          <p:cNvPr id="73" name="Google Shape;73;p4"/>
          <p:cNvSpPr txBox="1"/>
          <p:nvPr/>
        </p:nvSpPr>
        <p:spPr>
          <a:xfrm>
            <a:off x="2971800" y="5573712"/>
            <a:ext cx="36163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Verdana"/>
              <a:buNone/>
            </a:pPr>
            <a:r>
              <a:rPr b="1" i="0" lang="en-US" sz="1800" u="none">
                <a:solidFill>
                  <a:schemeClr val="folHlink"/>
                </a:solidFill>
                <a:latin typeface="Verdana"/>
                <a:ea typeface="Verdana"/>
                <a:cs typeface="Verdana"/>
                <a:sym typeface="Verdana"/>
              </a:rPr>
              <a:t>Figure: </a:t>
            </a: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set of integers</a:t>
            </a:r>
            <a:endParaRPr/>
          </a:p>
        </p:txBody>
      </p:sp>
      <p:pic>
        <p:nvPicPr>
          <p:cNvPr id="74" name="Google Shape;7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3100" y="4398962"/>
            <a:ext cx="5256212" cy="782637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4"/>
          <p:cNvSpPr txBox="1"/>
          <p:nvPr/>
        </p:nvSpPr>
        <p:spPr>
          <a:xfrm>
            <a:off x="0" y="0"/>
            <a:ext cx="9144000" cy="584200"/>
          </a:xfrm>
          <a:prstGeom prst="rect">
            <a:avLst/>
          </a:prstGeom>
          <a:solidFill>
            <a:srgbClr val="FFC000">
              <a:alpha val="73725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Integer Arithmetic: The Set of Integers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 txBox="1"/>
          <p:nvPr/>
        </p:nvSpPr>
        <p:spPr>
          <a:xfrm>
            <a:off x="228600" y="838200"/>
            <a:ext cx="8686800" cy="135413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08000" lvl="0" marL="508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binary operation </a:t>
            </a:r>
            <a:r>
              <a:rPr b="0" i="0" lang="en-US" sz="1800" u="none">
                <a:solidFill>
                  <a:srgbClr val="00CC00"/>
                </a:solidFill>
                <a:latin typeface="Verdana"/>
                <a:ea typeface="Verdana"/>
                <a:cs typeface="Verdana"/>
                <a:sym typeface="Verdana"/>
              </a:rPr>
              <a:t>takes two inputs  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(e.g. </a:t>
            </a:r>
            <a:r>
              <a:rPr b="1" i="1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and </a:t>
            </a:r>
            <a:r>
              <a:rPr b="1" i="1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) and </a:t>
            </a:r>
            <a:r>
              <a:rPr b="0" i="0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creates one output</a:t>
            </a:r>
            <a:r>
              <a:rPr b="0" i="0" lang="en-US" sz="1800" u="none">
                <a:solidFill>
                  <a:srgbClr val="7575D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(e.g. </a:t>
            </a:r>
            <a:r>
              <a:rPr b="1" i="1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). </a:t>
            </a:r>
            <a:endParaRPr/>
          </a:p>
          <a:p>
            <a:pPr indent="-508000" lvl="0" marL="5080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 cryptography, we are interested in three binary operations applied to the set of integers: </a:t>
            </a:r>
            <a:r>
              <a:rPr b="0" i="0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addition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b="0" i="0" lang="en-US" sz="1800" u="none">
                <a:solidFill>
                  <a:srgbClr val="00CC00"/>
                </a:solidFill>
                <a:latin typeface="Verdana"/>
                <a:ea typeface="Verdana"/>
                <a:cs typeface="Verdana"/>
                <a:sym typeface="Verdana"/>
              </a:rPr>
              <a:t>subtraction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and </a:t>
            </a:r>
            <a:r>
              <a:rPr b="0" i="0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multiplication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 </a:t>
            </a:r>
            <a:endParaRPr/>
          </a:p>
        </p:txBody>
      </p:sp>
      <p:pic>
        <p:nvPicPr>
          <p:cNvPr id="82" name="Google Shape;8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0" y="2514600"/>
            <a:ext cx="3830637" cy="3287712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5"/>
          <p:cNvSpPr txBox="1"/>
          <p:nvPr/>
        </p:nvSpPr>
        <p:spPr>
          <a:xfrm>
            <a:off x="1219200" y="6076950"/>
            <a:ext cx="72104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Verdana"/>
              <a:buNone/>
            </a:pPr>
            <a:r>
              <a:rPr b="1" i="0" lang="en-US" sz="1800" u="none">
                <a:solidFill>
                  <a:schemeClr val="folHlink"/>
                </a:solidFill>
                <a:latin typeface="Verdana"/>
                <a:ea typeface="Verdana"/>
                <a:cs typeface="Verdana"/>
                <a:sym typeface="Verdana"/>
              </a:rPr>
              <a:t>Figure: </a:t>
            </a: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Three binary operations for the set of integers</a:t>
            </a:r>
            <a:endParaRPr/>
          </a:p>
        </p:txBody>
      </p:sp>
      <p:sp>
        <p:nvSpPr>
          <p:cNvPr id="84" name="Google Shape;84;p5"/>
          <p:cNvSpPr txBox="1"/>
          <p:nvPr/>
        </p:nvSpPr>
        <p:spPr>
          <a:xfrm>
            <a:off x="0" y="0"/>
            <a:ext cx="9144000" cy="584200"/>
          </a:xfrm>
          <a:prstGeom prst="rect">
            <a:avLst/>
          </a:prstGeom>
          <a:solidFill>
            <a:srgbClr val="FFC000">
              <a:alpha val="73725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Binary Operations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"/>
          <p:cNvSpPr txBox="1"/>
          <p:nvPr/>
        </p:nvSpPr>
        <p:spPr>
          <a:xfrm>
            <a:off x="152400" y="1143000"/>
            <a:ext cx="8229600" cy="13541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508000" lvl="0" marL="508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following examples shows the results of the three binary operations on two integers. </a:t>
            </a:r>
            <a:endParaRPr/>
          </a:p>
          <a:p>
            <a:pPr indent="-508000" lvl="0" marL="5080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Because each input can be either positive or negative, we can have </a:t>
            </a:r>
            <a:r>
              <a:rPr b="0" i="0" lang="en-US" sz="1800" u="none">
                <a:solidFill>
                  <a:srgbClr val="3333FF"/>
                </a:solidFill>
                <a:latin typeface="Verdana"/>
                <a:ea typeface="Verdana"/>
                <a:cs typeface="Verdana"/>
                <a:sym typeface="Verdana"/>
              </a:rPr>
              <a:t>four cases for each operation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/>
          </a:p>
        </p:txBody>
      </p:sp>
      <p:pic>
        <p:nvPicPr>
          <p:cNvPr id="91" name="Google Shape;9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4500" y="3186112"/>
            <a:ext cx="8089900" cy="100488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6"/>
          <p:cNvSpPr txBox="1"/>
          <p:nvPr/>
        </p:nvSpPr>
        <p:spPr>
          <a:xfrm>
            <a:off x="0" y="0"/>
            <a:ext cx="9144000" cy="584200"/>
          </a:xfrm>
          <a:prstGeom prst="rect">
            <a:avLst/>
          </a:prstGeom>
          <a:solidFill>
            <a:srgbClr val="FFC000">
              <a:alpha val="73725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Binary Operations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"/>
          <p:cNvSpPr txBox="1"/>
          <p:nvPr/>
        </p:nvSpPr>
        <p:spPr>
          <a:xfrm>
            <a:off x="228600" y="1066800"/>
            <a:ext cx="8686800" cy="6159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⮚"/>
            </a:pP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 integer arithmetic, if we divide </a:t>
            </a:r>
            <a:r>
              <a:rPr b="0" i="1" lang="en-US" sz="17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by </a:t>
            </a:r>
            <a:r>
              <a:rPr b="0" i="1" lang="en-US" sz="17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n</a:t>
            </a: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we can get </a:t>
            </a:r>
            <a:r>
              <a:rPr b="0" i="1" lang="en-US" sz="17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q </a:t>
            </a: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and </a:t>
            </a:r>
            <a:r>
              <a:rPr b="0" i="1" lang="en-US" sz="17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r</a:t>
            </a: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 The relationship between these </a:t>
            </a:r>
            <a:r>
              <a:rPr b="0" i="0" lang="en-US" sz="1700" u="none">
                <a:solidFill>
                  <a:srgbClr val="3333FF"/>
                </a:solidFill>
                <a:latin typeface="Verdana"/>
                <a:ea typeface="Verdana"/>
                <a:cs typeface="Verdana"/>
                <a:sym typeface="Verdana"/>
              </a:rPr>
              <a:t>four integers </a:t>
            </a: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can be shown as</a:t>
            </a:r>
            <a:endParaRPr/>
          </a:p>
        </p:txBody>
      </p:sp>
      <p:cxnSp>
        <p:nvCxnSpPr>
          <p:cNvPr id="99" name="Google Shape;99;p7"/>
          <p:cNvCxnSpPr/>
          <p:nvPr/>
        </p:nvCxnSpPr>
        <p:spPr>
          <a:xfrm>
            <a:off x="457200" y="2362200"/>
            <a:ext cx="8153400" cy="0"/>
          </a:xfrm>
          <a:prstGeom prst="straightConnector1">
            <a:avLst/>
          </a:prstGeom>
          <a:noFill/>
          <a:ln cap="flat" cmpd="sng" w="76200">
            <a:solidFill>
              <a:srgbClr val="0099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0" name="Google Shape;100;p7"/>
          <p:cNvCxnSpPr/>
          <p:nvPr/>
        </p:nvCxnSpPr>
        <p:spPr>
          <a:xfrm>
            <a:off x="458787" y="3124200"/>
            <a:ext cx="8153400" cy="0"/>
          </a:xfrm>
          <a:prstGeom prst="straightConnector1">
            <a:avLst/>
          </a:prstGeom>
          <a:noFill/>
          <a:ln cap="flat" cmpd="sng" w="76200">
            <a:solidFill>
              <a:srgbClr val="0099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01" name="Google Shape;101;p7"/>
          <p:cNvSpPr txBox="1"/>
          <p:nvPr/>
        </p:nvSpPr>
        <p:spPr>
          <a:xfrm>
            <a:off x="495300" y="2541587"/>
            <a:ext cx="8077200" cy="354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None/>
            </a:pPr>
            <a:r>
              <a:rPr b="1" i="1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b="1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= </a:t>
            </a:r>
            <a:r>
              <a:rPr b="1" i="1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q</a:t>
            </a:r>
            <a:r>
              <a:rPr b="1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× </a:t>
            </a:r>
            <a:r>
              <a:rPr b="1" i="1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</a:t>
            </a:r>
            <a:r>
              <a:rPr b="1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+ </a:t>
            </a:r>
            <a:r>
              <a:rPr b="1" i="1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</a:t>
            </a:r>
            <a:endParaRPr/>
          </a:p>
        </p:txBody>
      </p:sp>
      <p:sp>
        <p:nvSpPr>
          <p:cNvPr id="102" name="Google Shape;102;p7"/>
          <p:cNvSpPr txBox="1"/>
          <p:nvPr/>
        </p:nvSpPr>
        <p:spPr>
          <a:xfrm>
            <a:off x="838200" y="3248025"/>
            <a:ext cx="3660775" cy="14001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08000" lvl="0" marL="508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None/>
            </a:pP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Where,</a:t>
            </a:r>
            <a:endParaRPr/>
          </a:p>
          <a:p>
            <a:pPr indent="-508000" lvl="0" marL="508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❖"/>
            </a:pP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🡪 dividend</a:t>
            </a:r>
            <a:endParaRPr/>
          </a:p>
          <a:p>
            <a:pPr indent="-508000" lvl="0" marL="508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❖"/>
            </a:pP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 🡪 divisor</a:t>
            </a:r>
            <a:endParaRPr/>
          </a:p>
          <a:p>
            <a:pPr indent="-508000" lvl="0" marL="508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❖"/>
            </a:pP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q 🡪 quotient</a:t>
            </a:r>
            <a:endParaRPr/>
          </a:p>
          <a:p>
            <a:pPr indent="-508000" lvl="0" marL="508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❖"/>
            </a:pP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 🡪 remainder</a:t>
            </a:r>
            <a:endParaRPr/>
          </a:p>
        </p:txBody>
      </p:sp>
      <p:sp>
        <p:nvSpPr>
          <p:cNvPr id="103" name="Google Shape;103;p7"/>
          <p:cNvSpPr txBox="1"/>
          <p:nvPr/>
        </p:nvSpPr>
        <p:spPr>
          <a:xfrm>
            <a:off x="228600" y="5218112"/>
            <a:ext cx="8001000" cy="8778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08000" lvl="0" marL="508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Verdana"/>
              <a:buNone/>
            </a:pPr>
            <a:r>
              <a:rPr b="1" i="0" lang="en-US" sz="17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Note:</a:t>
            </a:r>
            <a:endParaRPr/>
          </a:p>
          <a:p>
            <a:pPr indent="-508000" lvl="0" marL="508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⮚"/>
            </a:pP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Division is not a binary operation, because it produces two output instead of one (</a:t>
            </a:r>
            <a:r>
              <a:rPr b="1" i="1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q</a:t>
            </a: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and </a:t>
            </a:r>
            <a:r>
              <a:rPr b="1" i="1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</a:t>
            </a: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). Instead, we can call it division relation.</a:t>
            </a:r>
            <a:endParaRPr/>
          </a:p>
        </p:txBody>
      </p:sp>
      <p:sp>
        <p:nvSpPr>
          <p:cNvPr id="104" name="Google Shape;104;p7"/>
          <p:cNvSpPr txBox="1"/>
          <p:nvPr/>
        </p:nvSpPr>
        <p:spPr>
          <a:xfrm>
            <a:off x="0" y="0"/>
            <a:ext cx="9144000" cy="584200"/>
          </a:xfrm>
          <a:prstGeom prst="rect">
            <a:avLst/>
          </a:prstGeom>
          <a:solidFill>
            <a:srgbClr val="FFC000">
              <a:alpha val="73725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Integer Division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 txBox="1"/>
          <p:nvPr/>
        </p:nvSpPr>
        <p:spPr>
          <a:xfrm>
            <a:off x="228600" y="1379537"/>
            <a:ext cx="8686800" cy="64611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Assume that </a:t>
            </a:r>
            <a:r>
              <a:rPr b="0" i="0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a 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= 255 and </a:t>
            </a:r>
            <a:r>
              <a:rPr b="0" i="0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n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= 11. We can find </a:t>
            </a:r>
            <a:r>
              <a:rPr b="0" i="0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q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= 23 and </a:t>
            </a:r>
            <a:r>
              <a:rPr b="0" i="0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r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= 2 using the division algorithm.</a:t>
            </a:r>
            <a:endParaRPr/>
          </a:p>
        </p:txBody>
      </p:sp>
      <p:pic>
        <p:nvPicPr>
          <p:cNvPr id="111" name="Google Shape;11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3350" y="2590800"/>
            <a:ext cx="5073650" cy="309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8"/>
          <p:cNvSpPr txBox="1"/>
          <p:nvPr/>
        </p:nvSpPr>
        <p:spPr>
          <a:xfrm>
            <a:off x="1143000" y="6096000"/>
            <a:ext cx="58547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Verdana"/>
              <a:buNone/>
            </a:pPr>
            <a:r>
              <a:rPr b="1" i="0" lang="en-US" sz="1800" u="none">
                <a:solidFill>
                  <a:schemeClr val="folHlink"/>
                </a:solidFill>
                <a:latin typeface="Verdana"/>
                <a:ea typeface="Verdana"/>
                <a:cs typeface="Verdana"/>
                <a:sym typeface="Verdana"/>
              </a:rPr>
              <a:t>Figure:  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Finding the quotient and the remainder</a:t>
            </a:r>
            <a:endParaRPr/>
          </a:p>
        </p:txBody>
      </p:sp>
      <p:sp>
        <p:nvSpPr>
          <p:cNvPr id="113" name="Google Shape;113;p8"/>
          <p:cNvSpPr txBox="1"/>
          <p:nvPr/>
        </p:nvSpPr>
        <p:spPr>
          <a:xfrm>
            <a:off x="0" y="0"/>
            <a:ext cx="9144000" cy="584200"/>
          </a:xfrm>
          <a:prstGeom prst="rect">
            <a:avLst/>
          </a:prstGeom>
          <a:solidFill>
            <a:srgbClr val="FFC000">
              <a:alpha val="73725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Integer Division</a:t>
            </a:r>
            <a:endParaRPr/>
          </a:p>
        </p:txBody>
      </p:sp>
      <p:sp>
        <p:nvSpPr>
          <p:cNvPr id="114" name="Google Shape;114;p8"/>
          <p:cNvSpPr txBox="1"/>
          <p:nvPr/>
        </p:nvSpPr>
        <p:spPr>
          <a:xfrm>
            <a:off x="131762" y="773112"/>
            <a:ext cx="13795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Verdana"/>
              <a:buNone/>
            </a:pPr>
            <a:r>
              <a:rPr b="1" i="0" lang="en-US" sz="1800" u="none">
                <a:solidFill>
                  <a:schemeClr val="folHlink"/>
                </a:solidFill>
                <a:latin typeface="Verdana"/>
                <a:ea typeface="Verdana"/>
                <a:cs typeface="Verdana"/>
                <a:sym typeface="Verdana"/>
              </a:rPr>
              <a:t>Example: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"/>
          <p:cNvSpPr txBox="1"/>
          <p:nvPr/>
        </p:nvSpPr>
        <p:spPr>
          <a:xfrm>
            <a:off x="2590800" y="6172200"/>
            <a:ext cx="4868862" cy="354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700"/>
              <a:buFont typeface="Verdana"/>
              <a:buNone/>
            </a:pPr>
            <a:r>
              <a:rPr b="1" i="0" lang="en-US" sz="1700" u="none">
                <a:solidFill>
                  <a:schemeClr val="folHlink"/>
                </a:solidFill>
                <a:latin typeface="Verdana"/>
                <a:ea typeface="Verdana"/>
                <a:cs typeface="Verdana"/>
                <a:sym typeface="Verdana"/>
              </a:rPr>
              <a:t>Figure: </a:t>
            </a:r>
            <a:r>
              <a:rPr b="1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Division algorithm for integers</a:t>
            </a:r>
            <a:endParaRPr/>
          </a:p>
        </p:txBody>
      </p:sp>
      <p:pic>
        <p:nvPicPr>
          <p:cNvPr id="121" name="Google Shape;12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9700" y="2667000"/>
            <a:ext cx="6362700" cy="31734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9"/>
          <p:cNvSpPr txBox="1"/>
          <p:nvPr/>
        </p:nvSpPr>
        <p:spPr>
          <a:xfrm>
            <a:off x="381000" y="809625"/>
            <a:ext cx="8458200" cy="144621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⮚"/>
            </a:pP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When we use the above division relationship in cryptography, we impose two restrictions:</a:t>
            </a:r>
            <a:endParaRPr/>
          </a:p>
          <a:p>
            <a:pPr indent="-457200" lvl="0" marL="4572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ahoma"/>
              <a:buAutoNum type="arabicPeriod"/>
            </a:pP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b="0" i="0" lang="en-US" sz="17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divisor</a:t>
            </a: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be a </a:t>
            </a:r>
            <a:r>
              <a:rPr b="0" i="0" lang="en-US" sz="1700" u="none">
                <a:solidFill>
                  <a:srgbClr val="0070C0"/>
                </a:solidFill>
                <a:latin typeface="Verdana"/>
                <a:ea typeface="Verdana"/>
                <a:cs typeface="Verdana"/>
                <a:sym typeface="Verdana"/>
              </a:rPr>
              <a:t>positive</a:t>
            </a: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integer (i.e. n&gt;0)</a:t>
            </a:r>
            <a:endParaRPr/>
          </a:p>
          <a:p>
            <a:pPr indent="-457200" lvl="0" marL="4572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ahoma"/>
              <a:buAutoNum type="arabicPeriod"/>
            </a:pP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b="0" i="0" lang="en-US" sz="1700" u="none">
                <a:solidFill>
                  <a:srgbClr val="3333FF"/>
                </a:solidFill>
                <a:latin typeface="Verdana"/>
                <a:ea typeface="Verdana"/>
                <a:cs typeface="Verdana"/>
                <a:sym typeface="Verdana"/>
              </a:rPr>
              <a:t>remainder</a:t>
            </a: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be a </a:t>
            </a:r>
            <a:r>
              <a:rPr b="0" i="0" lang="en-US" sz="17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non-negative</a:t>
            </a: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integer (i.e. r&gt;=0)</a:t>
            </a:r>
            <a:endParaRPr/>
          </a:p>
        </p:txBody>
      </p:sp>
      <p:sp>
        <p:nvSpPr>
          <p:cNvPr id="123" name="Google Shape;123;p9"/>
          <p:cNvSpPr txBox="1"/>
          <p:nvPr/>
        </p:nvSpPr>
        <p:spPr>
          <a:xfrm>
            <a:off x="0" y="0"/>
            <a:ext cx="9144000" cy="584200"/>
          </a:xfrm>
          <a:prstGeom prst="rect">
            <a:avLst/>
          </a:prstGeom>
          <a:solidFill>
            <a:srgbClr val="FFC000">
              <a:alpha val="73725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Integer Division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"/>
          <p:cNvSpPr txBox="1"/>
          <p:nvPr/>
        </p:nvSpPr>
        <p:spPr>
          <a:xfrm>
            <a:off x="112712" y="762000"/>
            <a:ext cx="145891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Verdana"/>
              <a:buNone/>
            </a:pPr>
            <a:r>
              <a:rPr b="1" i="0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Example: </a:t>
            </a:r>
            <a:endParaRPr/>
          </a:p>
        </p:txBody>
      </p:sp>
      <p:sp>
        <p:nvSpPr>
          <p:cNvPr id="130" name="Google Shape;130;p10"/>
          <p:cNvSpPr txBox="1"/>
          <p:nvPr/>
        </p:nvSpPr>
        <p:spPr>
          <a:xfrm>
            <a:off x="457200" y="1219200"/>
            <a:ext cx="8229600" cy="178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When we use a computer or a calculator, </a:t>
            </a:r>
            <a:r>
              <a:rPr b="0" i="1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r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and </a:t>
            </a:r>
            <a:r>
              <a:rPr b="0" i="1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q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are negative when </a:t>
            </a:r>
            <a:r>
              <a:rPr b="0" i="1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is negative. </a:t>
            </a:r>
            <a:endParaRPr/>
          </a:p>
          <a:p>
            <a:pPr indent="-457200" lvl="0" marL="4572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How can we apply the restriction that </a:t>
            </a:r>
            <a:r>
              <a:rPr b="0" i="1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r</a:t>
            </a:r>
            <a:r>
              <a:rPr b="0" i="1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needs to be positive? </a:t>
            </a:r>
            <a:endParaRPr/>
          </a:p>
          <a:p>
            <a:pPr indent="-457200" lvl="0" marL="4572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solution is simple, we decrement the value of </a:t>
            </a:r>
            <a:r>
              <a:rPr b="0" i="1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q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by </a:t>
            </a:r>
            <a:r>
              <a:rPr b="0" i="0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and we add the value of </a:t>
            </a:r>
            <a:r>
              <a:rPr b="0" i="1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n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to </a:t>
            </a:r>
            <a:r>
              <a:rPr b="0" i="1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r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to make it positive.</a:t>
            </a:r>
            <a:endParaRPr/>
          </a:p>
        </p:txBody>
      </p:sp>
      <p:pic>
        <p:nvPicPr>
          <p:cNvPr id="131" name="Google Shape;13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312" y="4427537"/>
            <a:ext cx="8675687" cy="5857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2" name="Google Shape;132;p10"/>
          <p:cNvCxnSpPr/>
          <p:nvPr/>
        </p:nvCxnSpPr>
        <p:spPr>
          <a:xfrm>
            <a:off x="3200400" y="3946525"/>
            <a:ext cx="0" cy="533400"/>
          </a:xfrm>
          <a:prstGeom prst="straightConnector1">
            <a:avLst/>
          </a:prstGeom>
          <a:noFill/>
          <a:ln cap="flat" cmpd="sng" w="38100">
            <a:solidFill>
              <a:schemeClr val="hlink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33" name="Google Shape;133;p10"/>
          <p:cNvSpPr txBox="1"/>
          <p:nvPr/>
        </p:nvSpPr>
        <p:spPr>
          <a:xfrm>
            <a:off x="3048000" y="3473450"/>
            <a:ext cx="6096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None/>
            </a:pPr>
            <a:r>
              <a:rPr b="1" i="1" lang="en-US" sz="20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</p:txBody>
      </p:sp>
      <p:cxnSp>
        <p:nvCxnSpPr>
          <p:cNvPr id="134" name="Google Shape;134;p10"/>
          <p:cNvCxnSpPr/>
          <p:nvPr/>
        </p:nvCxnSpPr>
        <p:spPr>
          <a:xfrm>
            <a:off x="8382000" y="3886200"/>
            <a:ext cx="0" cy="5334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35" name="Google Shape;135;p10"/>
          <p:cNvSpPr txBox="1"/>
          <p:nvPr/>
        </p:nvSpPr>
        <p:spPr>
          <a:xfrm>
            <a:off x="7696200" y="3470275"/>
            <a:ext cx="1219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000"/>
              <a:buFont typeface="Times New Roman"/>
              <a:buNone/>
            </a:pPr>
            <a:r>
              <a:rPr b="1" i="1" lang="en-US" sz="2000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</a:t>
            </a:r>
            <a:r>
              <a:rPr b="1" i="1" lang="en-US" sz="2000" u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b="1" i="1" lang="en-US" sz="20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1" lang="en-US" sz="2000" u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b="1" i="1" lang="en-US" sz="2000" u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b="1" i="1" lang="en-US" sz="20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</a:t>
            </a:r>
            <a:endParaRPr/>
          </a:p>
        </p:txBody>
      </p:sp>
      <p:cxnSp>
        <p:nvCxnSpPr>
          <p:cNvPr id="136" name="Google Shape;136;p10"/>
          <p:cNvCxnSpPr/>
          <p:nvPr/>
        </p:nvCxnSpPr>
        <p:spPr>
          <a:xfrm rot="10800000">
            <a:off x="1600200" y="4937125"/>
            <a:ext cx="0" cy="609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37" name="Google Shape;137;p10"/>
          <p:cNvSpPr txBox="1"/>
          <p:nvPr/>
        </p:nvSpPr>
        <p:spPr>
          <a:xfrm>
            <a:off x="1447800" y="5622925"/>
            <a:ext cx="6096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None/>
            </a:pPr>
            <a:r>
              <a:rPr b="1" i="1" lang="en-US" sz="2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endParaRPr/>
          </a:p>
        </p:txBody>
      </p:sp>
      <p:sp>
        <p:nvSpPr>
          <p:cNvPr id="138" name="Google Shape;138;p10"/>
          <p:cNvSpPr txBox="1"/>
          <p:nvPr/>
        </p:nvSpPr>
        <p:spPr>
          <a:xfrm>
            <a:off x="6705600" y="5530850"/>
            <a:ext cx="9906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None/>
            </a:pPr>
            <a:r>
              <a:rPr b="1" i="1" lang="en-US" sz="2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= q-1</a:t>
            </a:r>
            <a:endParaRPr/>
          </a:p>
        </p:txBody>
      </p:sp>
      <p:cxnSp>
        <p:nvCxnSpPr>
          <p:cNvPr id="139" name="Google Shape;139;p10"/>
          <p:cNvCxnSpPr/>
          <p:nvPr/>
        </p:nvCxnSpPr>
        <p:spPr>
          <a:xfrm rot="10800000">
            <a:off x="6858000" y="4937125"/>
            <a:ext cx="0" cy="609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40" name="Google Shape;140;p10"/>
          <p:cNvCxnSpPr/>
          <p:nvPr/>
        </p:nvCxnSpPr>
        <p:spPr>
          <a:xfrm>
            <a:off x="2255837" y="3932237"/>
            <a:ext cx="0" cy="533400"/>
          </a:xfrm>
          <a:prstGeom prst="straightConnector1">
            <a:avLst/>
          </a:prstGeom>
          <a:noFill/>
          <a:ln cap="flat" cmpd="sng" w="38100">
            <a:solidFill>
              <a:srgbClr val="00B05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41" name="Google Shape;141;p10"/>
          <p:cNvSpPr txBox="1"/>
          <p:nvPr/>
        </p:nvSpPr>
        <p:spPr>
          <a:xfrm>
            <a:off x="2103437" y="3459162"/>
            <a:ext cx="6096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000"/>
              <a:buFont typeface="Times New Roman"/>
              <a:buNone/>
            </a:pPr>
            <a:r>
              <a:rPr b="1" i="1" lang="en-US" sz="2000" u="non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/>
          </a:p>
        </p:txBody>
      </p:sp>
      <p:cxnSp>
        <p:nvCxnSpPr>
          <p:cNvPr id="142" name="Google Shape;142;p10"/>
          <p:cNvCxnSpPr/>
          <p:nvPr/>
        </p:nvCxnSpPr>
        <p:spPr>
          <a:xfrm>
            <a:off x="1757362" y="5851525"/>
            <a:ext cx="4876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43" name="Google Shape;143;p10"/>
          <p:cNvCxnSpPr/>
          <p:nvPr/>
        </p:nvCxnSpPr>
        <p:spPr>
          <a:xfrm>
            <a:off x="3352800" y="3717925"/>
            <a:ext cx="411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44" name="Google Shape;144;p10"/>
          <p:cNvSpPr txBox="1"/>
          <p:nvPr/>
        </p:nvSpPr>
        <p:spPr>
          <a:xfrm>
            <a:off x="0" y="0"/>
            <a:ext cx="9144000" cy="584200"/>
          </a:xfrm>
          <a:prstGeom prst="rect">
            <a:avLst/>
          </a:prstGeom>
          <a:solidFill>
            <a:srgbClr val="FFC000">
              <a:alpha val="73725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Integer Division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"/>
          <p:cNvSpPr txBox="1"/>
          <p:nvPr/>
        </p:nvSpPr>
        <p:spPr>
          <a:xfrm>
            <a:off x="457200" y="2693987"/>
            <a:ext cx="8686800" cy="35401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None/>
            </a:pP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b="0" i="0" lang="en-US" sz="1700" u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is not zero and we let  </a:t>
            </a:r>
            <a:r>
              <a:rPr b="0" i="0" lang="en-US" sz="1700" u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r = 0</a:t>
            </a: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in the division relation, we get:</a:t>
            </a:r>
            <a:endParaRPr/>
          </a:p>
        </p:txBody>
      </p:sp>
      <p:cxnSp>
        <p:nvCxnSpPr>
          <p:cNvPr id="151" name="Google Shape;151;p11"/>
          <p:cNvCxnSpPr/>
          <p:nvPr/>
        </p:nvCxnSpPr>
        <p:spPr>
          <a:xfrm>
            <a:off x="381000" y="2590800"/>
            <a:ext cx="8153400" cy="0"/>
          </a:xfrm>
          <a:prstGeom prst="straightConnector1">
            <a:avLst/>
          </a:prstGeom>
          <a:noFill/>
          <a:ln cap="flat" cmpd="sng" w="76200">
            <a:solidFill>
              <a:srgbClr val="0099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2" name="Google Shape;152;p11"/>
          <p:cNvCxnSpPr/>
          <p:nvPr/>
        </p:nvCxnSpPr>
        <p:spPr>
          <a:xfrm>
            <a:off x="381000" y="3200400"/>
            <a:ext cx="8153400" cy="0"/>
          </a:xfrm>
          <a:prstGeom prst="straightConnector1">
            <a:avLst/>
          </a:prstGeom>
          <a:noFill/>
          <a:ln cap="flat" cmpd="sng" w="76200">
            <a:solidFill>
              <a:srgbClr val="0099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53" name="Google Shape;153;p11"/>
          <p:cNvSpPr txBox="1"/>
          <p:nvPr/>
        </p:nvSpPr>
        <p:spPr>
          <a:xfrm>
            <a:off x="1066800" y="3382962"/>
            <a:ext cx="2362200" cy="354012"/>
          </a:xfrm>
          <a:prstGeom prst="rect">
            <a:avLst/>
          </a:prstGeom>
          <a:solidFill>
            <a:srgbClr val="99FF3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None/>
            </a:pP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= q × n</a:t>
            </a:r>
            <a:endParaRPr/>
          </a:p>
        </p:txBody>
      </p:sp>
      <p:sp>
        <p:nvSpPr>
          <p:cNvPr id="154" name="Google Shape;154;p11"/>
          <p:cNvSpPr txBox="1"/>
          <p:nvPr/>
        </p:nvSpPr>
        <p:spPr>
          <a:xfrm>
            <a:off x="381000" y="5073650"/>
            <a:ext cx="3810000" cy="141287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66FF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None/>
            </a:pP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Therefore, when </a:t>
            </a:r>
            <a:r>
              <a:rPr b="0" i="0" lang="en-US" sz="1700" u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is divisible by </a:t>
            </a:r>
            <a:r>
              <a:rPr b="0" i="0" lang="en-US" sz="1700" u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n</a:t>
            </a: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and we are not interested in the value of </a:t>
            </a:r>
            <a:r>
              <a:rPr b="0" i="0" lang="en-US" sz="1700" u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q</a:t>
            </a: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we can write the above relation as </a:t>
            </a:r>
            <a:r>
              <a:rPr b="0" i="0" lang="en-US" sz="1700" u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a|n</a:t>
            </a:r>
            <a:endParaRPr/>
          </a:p>
        </p:txBody>
      </p:sp>
      <p:sp>
        <p:nvSpPr>
          <p:cNvPr id="155" name="Google Shape;155;p11"/>
          <p:cNvSpPr txBox="1"/>
          <p:nvPr/>
        </p:nvSpPr>
        <p:spPr>
          <a:xfrm>
            <a:off x="5181600" y="685800"/>
            <a:ext cx="3657600" cy="354012"/>
          </a:xfrm>
          <a:prstGeom prst="rect">
            <a:avLst/>
          </a:prstGeom>
          <a:solidFill>
            <a:srgbClr val="99FF3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None/>
            </a:pPr>
            <a:r>
              <a:rPr b="1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= q × n + r</a:t>
            </a:r>
            <a:endParaRPr/>
          </a:p>
        </p:txBody>
      </p:sp>
      <p:sp>
        <p:nvSpPr>
          <p:cNvPr id="156" name="Google Shape;156;p11"/>
          <p:cNvSpPr txBox="1"/>
          <p:nvPr/>
        </p:nvSpPr>
        <p:spPr>
          <a:xfrm>
            <a:off x="2057400" y="1090612"/>
            <a:ext cx="2590800" cy="14001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08000" lvl="0" marL="508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None/>
            </a:pP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Where</a:t>
            </a:r>
            <a:endParaRPr/>
          </a:p>
          <a:p>
            <a:pPr indent="-508000" lvl="0" marL="508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None/>
            </a:pP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	a 🡪 dividend</a:t>
            </a:r>
            <a:endParaRPr/>
          </a:p>
          <a:p>
            <a:pPr indent="-508000" lvl="0" marL="508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None/>
            </a:pP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	n 🡪 divisor</a:t>
            </a:r>
            <a:endParaRPr/>
          </a:p>
          <a:p>
            <a:pPr indent="-508000" lvl="0" marL="508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None/>
            </a:pP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	q 🡪 quotient</a:t>
            </a:r>
            <a:endParaRPr/>
          </a:p>
          <a:p>
            <a:pPr indent="-508000" lvl="0" marL="508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None/>
            </a:pP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	r 🡪 remainder</a:t>
            </a:r>
            <a:endParaRPr/>
          </a:p>
        </p:txBody>
      </p:sp>
      <p:sp>
        <p:nvSpPr>
          <p:cNvPr id="157" name="Google Shape;157;p11"/>
          <p:cNvSpPr txBox="1"/>
          <p:nvPr/>
        </p:nvSpPr>
        <p:spPr>
          <a:xfrm>
            <a:off x="2514600" y="685800"/>
            <a:ext cx="2300287" cy="354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None/>
            </a:pP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Division relation is:</a:t>
            </a:r>
            <a:endParaRPr/>
          </a:p>
        </p:txBody>
      </p:sp>
      <p:sp>
        <p:nvSpPr>
          <p:cNvPr id="158" name="Google Shape;158;p11"/>
          <p:cNvSpPr txBox="1"/>
          <p:nvPr/>
        </p:nvSpPr>
        <p:spPr>
          <a:xfrm>
            <a:off x="3124200" y="3738562"/>
            <a:ext cx="4191000" cy="113823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53975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None/>
            </a:pP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We then say that </a:t>
            </a:r>
            <a:endParaRPr/>
          </a:p>
          <a:p>
            <a:pPr indent="-107950" lvl="0" marL="53975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▪"/>
            </a:pP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b="0" i="0" lang="en-US" sz="1700" u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 n</a:t>
            </a: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divides </a:t>
            </a:r>
            <a:r>
              <a:rPr b="0" i="0" lang="en-US" sz="1700" u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/>
          </a:p>
          <a:p>
            <a:pPr indent="-107950" lvl="0" marL="53975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▪"/>
            </a:pP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  or, </a:t>
            </a:r>
            <a:r>
              <a:rPr b="0" i="0" lang="en-US" sz="1700" u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n</a:t>
            </a: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is a divisor of </a:t>
            </a:r>
            <a:r>
              <a:rPr b="0" i="0" lang="en-US" sz="1700" u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endParaRPr/>
          </a:p>
          <a:p>
            <a:pPr indent="-107950" lvl="0" marL="53975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▪"/>
            </a:pP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  or, </a:t>
            </a:r>
            <a:r>
              <a:rPr b="0" i="0" lang="en-US" sz="1700" u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is divisible by </a:t>
            </a:r>
            <a:r>
              <a:rPr b="0" i="0" lang="en-US" sz="1700" u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n</a:t>
            </a:r>
            <a:endParaRPr/>
          </a:p>
        </p:txBody>
      </p:sp>
      <p:sp>
        <p:nvSpPr>
          <p:cNvPr id="159" name="Google Shape;159;p11"/>
          <p:cNvSpPr txBox="1"/>
          <p:nvPr/>
        </p:nvSpPr>
        <p:spPr>
          <a:xfrm>
            <a:off x="4648200" y="5105400"/>
            <a:ext cx="3810000" cy="107315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3333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None/>
            </a:pP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b="0" i="0" lang="en-US" sz="1700" u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is not divisible by </a:t>
            </a:r>
            <a:r>
              <a:rPr b="0" i="0" lang="en-US" sz="1700" u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n</a:t>
            </a: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(i.e. if </a:t>
            </a:r>
            <a:r>
              <a:rPr b="0" i="0" lang="en-US" sz="1700" u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r</a:t>
            </a: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is not zero), then we can write the above relation as</a:t>
            </a:r>
            <a:endParaRPr/>
          </a:p>
        </p:txBody>
      </p:sp>
      <p:pic>
        <p:nvPicPr>
          <p:cNvPr id="160" name="Google Shape;16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62800" y="5837237"/>
            <a:ext cx="533400" cy="34131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1"/>
          <p:cNvSpPr txBox="1"/>
          <p:nvPr/>
        </p:nvSpPr>
        <p:spPr>
          <a:xfrm>
            <a:off x="0" y="0"/>
            <a:ext cx="9144000" cy="584200"/>
          </a:xfrm>
          <a:prstGeom prst="rect">
            <a:avLst/>
          </a:prstGeom>
          <a:solidFill>
            <a:srgbClr val="FFC000">
              <a:alpha val="73725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Divisibility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"/>
          <p:cNvSpPr txBox="1"/>
          <p:nvPr/>
        </p:nvSpPr>
        <p:spPr>
          <a:xfrm>
            <a:off x="228600" y="685800"/>
            <a:ext cx="145891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FF"/>
              </a:buClr>
              <a:buSzPts val="1800"/>
              <a:buFont typeface="Verdana"/>
              <a:buNone/>
            </a:pPr>
            <a:r>
              <a:rPr b="1" i="0" lang="en-US" sz="1800" u="none">
                <a:solidFill>
                  <a:srgbClr val="3333FF"/>
                </a:solidFill>
                <a:latin typeface="Verdana"/>
                <a:ea typeface="Verdana"/>
                <a:cs typeface="Verdana"/>
                <a:sym typeface="Verdana"/>
              </a:rPr>
              <a:t>Example :</a:t>
            </a:r>
            <a:endParaRPr/>
          </a:p>
        </p:txBody>
      </p:sp>
      <p:sp>
        <p:nvSpPr>
          <p:cNvPr id="168" name="Google Shape;168;p12"/>
          <p:cNvSpPr txBox="1"/>
          <p:nvPr/>
        </p:nvSpPr>
        <p:spPr>
          <a:xfrm>
            <a:off x="304800" y="1219200"/>
            <a:ext cx="82296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AutoNum type="alphaLcPeriod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integer 4 divides the integer 32 because 32 = 8 × 4. We show this as</a:t>
            </a:r>
            <a:endParaRPr/>
          </a:p>
        </p:txBody>
      </p:sp>
      <p:sp>
        <p:nvSpPr>
          <p:cNvPr id="169" name="Google Shape;169;p12"/>
          <p:cNvSpPr txBox="1"/>
          <p:nvPr/>
        </p:nvSpPr>
        <p:spPr>
          <a:xfrm>
            <a:off x="304800" y="2667000"/>
            <a:ext cx="8229600" cy="923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b. The number 8 does not divide the number 42 because </a:t>
            </a:r>
            <a:endParaRPr/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  42 = 5 × 8 + 2. There is a remainder, the number 2, in the equation. We show this as </a:t>
            </a:r>
            <a:endParaRPr/>
          </a:p>
        </p:txBody>
      </p:sp>
      <p:pic>
        <p:nvPicPr>
          <p:cNvPr id="170" name="Google Shape;17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3800" y="1752600"/>
            <a:ext cx="6858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81400" y="3810000"/>
            <a:ext cx="9906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2"/>
          <p:cNvSpPr txBox="1"/>
          <p:nvPr/>
        </p:nvSpPr>
        <p:spPr>
          <a:xfrm>
            <a:off x="0" y="0"/>
            <a:ext cx="9144000" cy="584200"/>
          </a:xfrm>
          <a:prstGeom prst="rect">
            <a:avLst/>
          </a:prstGeom>
          <a:solidFill>
            <a:srgbClr val="FFC000">
              <a:alpha val="73725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Divisibility</a:t>
            </a:r>
            <a:endParaRPr/>
          </a:p>
        </p:txBody>
      </p:sp>
      <p:sp>
        <p:nvSpPr>
          <p:cNvPr id="173" name="Google Shape;173;p12"/>
          <p:cNvSpPr txBox="1"/>
          <p:nvPr/>
        </p:nvSpPr>
        <p:spPr>
          <a:xfrm>
            <a:off x="265112" y="4811712"/>
            <a:ext cx="13811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FF"/>
              </a:buClr>
              <a:buSzPts val="1800"/>
              <a:buFont typeface="Verdana"/>
              <a:buNone/>
            </a:pPr>
            <a:r>
              <a:rPr b="1" i="0" lang="en-US" sz="1800" u="none">
                <a:solidFill>
                  <a:srgbClr val="3333FF"/>
                </a:solidFill>
                <a:latin typeface="Verdana"/>
                <a:ea typeface="Verdana"/>
                <a:cs typeface="Verdana"/>
                <a:sym typeface="Verdana"/>
              </a:rPr>
              <a:t>Example:</a:t>
            </a:r>
            <a:endParaRPr/>
          </a:p>
        </p:txBody>
      </p:sp>
      <p:pic>
        <p:nvPicPr>
          <p:cNvPr id="174" name="Google Shape;174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1775" y="5241925"/>
            <a:ext cx="7997825" cy="39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2400" y="5791200"/>
            <a:ext cx="807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"/>
          <p:cNvSpPr txBox="1"/>
          <p:nvPr/>
        </p:nvSpPr>
        <p:spPr>
          <a:xfrm>
            <a:off x="266700" y="4014787"/>
            <a:ext cx="8610600" cy="23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⮚"/>
            </a:pP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greatest common divisor (GCD) of two positive integers is the largest integer that can divide both integers.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⮚"/>
            </a:pP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GCD is often needed in cryptography.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⮚"/>
            </a:pP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Two positive integers may have many common divisors, but only one is the greatest of them.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⮚"/>
            </a:pP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 example, the common divisors of 12 and 140 are: 1, 2, and 4. However, the greatest common divisor is 4.</a:t>
            </a:r>
            <a:endParaRPr/>
          </a:p>
        </p:txBody>
      </p:sp>
      <p:sp>
        <p:nvSpPr>
          <p:cNvPr id="182" name="Google Shape;182;p14"/>
          <p:cNvSpPr txBox="1"/>
          <p:nvPr/>
        </p:nvSpPr>
        <p:spPr>
          <a:xfrm>
            <a:off x="152400" y="609600"/>
            <a:ext cx="8458200" cy="1292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⮚"/>
            </a:pP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positive integer can have more than one divisor. For example, the integer 32 has six divisors: 1, 2, 4, 8, 16, 32. 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⮚"/>
            </a:pP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We can mention two interesting facts about divisors of positive integers:</a:t>
            </a:r>
            <a:endParaRPr/>
          </a:p>
        </p:txBody>
      </p:sp>
      <p:sp>
        <p:nvSpPr>
          <p:cNvPr id="183" name="Google Shape;183;p14"/>
          <p:cNvSpPr txBox="1"/>
          <p:nvPr/>
        </p:nvSpPr>
        <p:spPr>
          <a:xfrm>
            <a:off x="266700" y="2057400"/>
            <a:ext cx="8077200" cy="600075"/>
          </a:xfrm>
          <a:prstGeom prst="rect">
            <a:avLst/>
          </a:prstGeom>
          <a:noFill/>
          <a:ln cap="flat" cmpd="sng" w="12700">
            <a:solidFill>
              <a:srgbClr val="3333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Verdana"/>
              <a:buNone/>
            </a:pPr>
            <a:r>
              <a:rPr b="1" i="0" lang="en-US" sz="1800" u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Fact 1: 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b="0" i="0" lang="en-US" sz="15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integer </a:t>
            </a:r>
            <a:r>
              <a:rPr b="0" i="0" lang="en-US" sz="1500" u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r>
              <a:rPr b="0" i="0" lang="en-US" sz="15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has only one divisor, itself.</a:t>
            </a:r>
            <a:endParaRPr/>
          </a:p>
        </p:txBody>
      </p:sp>
      <p:sp>
        <p:nvSpPr>
          <p:cNvPr id="184" name="Google Shape;184;p14"/>
          <p:cNvSpPr txBox="1"/>
          <p:nvPr/>
        </p:nvSpPr>
        <p:spPr>
          <a:xfrm>
            <a:off x="304800" y="3022600"/>
            <a:ext cx="8153400" cy="830262"/>
          </a:xfrm>
          <a:prstGeom prst="rect">
            <a:avLst/>
          </a:prstGeom>
          <a:noFill/>
          <a:ln cap="flat" cmpd="sng" w="9525">
            <a:solidFill>
              <a:srgbClr val="3333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Verdana"/>
              <a:buNone/>
            </a:pPr>
            <a:r>
              <a:rPr b="1" i="0" lang="en-US" sz="1800" u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Fact 2:</a:t>
            </a: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/>
          </a:p>
          <a:p>
            <a:pPr indent="-95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❑"/>
            </a:pPr>
            <a:r>
              <a:rPr b="0" i="0" lang="en-US" sz="15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Any positive integer has at least two divisors, </a:t>
            </a:r>
            <a:r>
              <a:rPr b="0" i="0" lang="en-US" sz="1500" u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r>
              <a:rPr b="0" i="0" lang="en-US" sz="15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and itself (but it can have more).</a:t>
            </a:r>
            <a:endParaRPr/>
          </a:p>
        </p:txBody>
      </p:sp>
      <p:sp>
        <p:nvSpPr>
          <p:cNvPr id="185" name="Google Shape;185;p14"/>
          <p:cNvSpPr txBox="1"/>
          <p:nvPr/>
        </p:nvSpPr>
        <p:spPr>
          <a:xfrm>
            <a:off x="0" y="0"/>
            <a:ext cx="9144000" cy="584200"/>
          </a:xfrm>
          <a:prstGeom prst="rect">
            <a:avLst/>
          </a:prstGeom>
          <a:solidFill>
            <a:srgbClr val="FFC000">
              <a:alpha val="73725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GCD: Greatest Common Divisor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275" y="2057400"/>
            <a:ext cx="8620125" cy="3411537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5"/>
          <p:cNvSpPr txBox="1"/>
          <p:nvPr/>
        </p:nvSpPr>
        <p:spPr>
          <a:xfrm>
            <a:off x="2590800" y="5791200"/>
            <a:ext cx="5181600" cy="430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200"/>
              <a:buFont typeface="Times New Roman"/>
              <a:buNone/>
            </a:pPr>
            <a:r>
              <a:rPr b="1" i="0" lang="en-US" sz="2200" u="non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Figure: </a:t>
            </a:r>
            <a:r>
              <a:rPr b="1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Common divisors of two integers</a:t>
            </a:r>
            <a:endParaRPr/>
          </a:p>
        </p:txBody>
      </p:sp>
      <p:sp>
        <p:nvSpPr>
          <p:cNvPr id="193" name="Google Shape;193;p15"/>
          <p:cNvSpPr txBox="1"/>
          <p:nvPr/>
        </p:nvSpPr>
        <p:spPr>
          <a:xfrm>
            <a:off x="0" y="0"/>
            <a:ext cx="9144000" cy="584200"/>
          </a:xfrm>
          <a:prstGeom prst="rect">
            <a:avLst/>
          </a:prstGeom>
          <a:solidFill>
            <a:srgbClr val="FFC000">
              <a:alpha val="73725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GCD: Greatest Common Divisor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9" name="Google Shape;199;p16"/>
          <p:cNvCxnSpPr/>
          <p:nvPr/>
        </p:nvCxnSpPr>
        <p:spPr>
          <a:xfrm>
            <a:off x="609600" y="3657600"/>
            <a:ext cx="8153400" cy="0"/>
          </a:xfrm>
          <a:prstGeom prst="straightConnector1">
            <a:avLst/>
          </a:prstGeom>
          <a:noFill/>
          <a:ln cap="flat" cmpd="sng" w="76200">
            <a:solidFill>
              <a:srgbClr val="0099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0" name="Google Shape;200;p16"/>
          <p:cNvCxnSpPr/>
          <p:nvPr/>
        </p:nvCxnSpPr>
        <p:spPr>
          <a:xfrm>
            <a:off x="609600" y="6477000"/>
            <a:ext cx="8153400" cy="0"/>
          </a:xfrm>
          <a:prstGeom prst="straightConnector1">
            <a:avLst/>
          </a:prstGeom>
          <a:noFill/>
          <a:ln cap="flat" cmpd="sng" w="76200">
            <a:solidFill>
              <a:srgbClr val="0099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01" name="Google Shape;201;p16"/>
          <p:cNvSpPr txBox="1"/>
          <p:nvPr/>
        </p:nvSpPr>
        <p:spPr>
          <a:xfrm>
            <a:off x="685800" y="3810000"/>
            <a:ext cx="8077200" cy="2014537"/>
          </a:xfrm>
          <a:prstGeom prst="rect">
            <a:avLst/>
          </a:prstGeom>
          <a:solidFill>
            <a:srgbClr val="F2F3B7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28700" lvl="0" marL="1028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Verdana"/>
              <a:buNone/>
            </a:pPr>
            <a:r>
              <a:rPr b="1" i="0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Fact 1:   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When 2nd integer is zero, then </a:t>
            </a:r>
            <a:r>
              <a:rPr b="0" i="0" lang="en-US" sz="1800" u="none">
                <a:solidFill>
                  <a:srgbClr val="3333FF"/>
                </a:solidFill>
                <a:latin typeface="Verdana"/>
                <a:ea typeface="Verdana"/>
                <a:cs typeface="Verdana"/>
                <a:sym typeface="Verdana"/>
              </a:rPr>
              <a:t>gcd (a, 0) = a                 </a:t>
            </a:r>
            <a:endParaRPr/>
          </a:p>
          <a:p>
            <a:pPr indent="-1028700" lvl="0" marL="1028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Example: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gcd(5, 0) = 5</a:t>
            </a:r>
            <a:endParaRPr/>
          </a:p>
          <a:p>
            <a:pPr indent="-1028700" lvl="0" marL="1028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1028700" lvl="0" marL="1028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Verdana"/>
              <a:buNone/>
            </a:pPr>
            <a:r>
              <a:rPr b="1" i="0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Fact 2:  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When both integer is positive, then</a:t>
            </a:r>
            <a:r>
              <a:rPr b="0" i="0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-US" sz="1800" u="none">
                <a:solidFill>
                  <a:schemeClr val="folHlink"/>
                </a:solidFill>
                <a:latin typeface="Verdana"/>
                <a:ea typeface="Verdana"/>
                <a:cs typeface="Verdana"/>
                <a:sym typeface="Verdana"/>
              </a:rPr>
              <a:t>gcd (a, b) = gcd (b, r),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where </a:t>
            </a:r>
            <a:r>
              <a:rPr b="0" i="0" lang="en-US" sz="1800" u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r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is the remainder of dividing </a:t>
            </a:r>
            <a:r>
              <a:rPr b="0" i="0" lang="en-US" sz="1800" u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by </a:t>
            </a:r>
            <a:r>
              <a:rPr b="0" i="0" lang="en-US" sz="1800" u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b 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(here the value of first and second integer is changed until the second integer becomes zero.</a:t>
            </a:r>
            <a:endParaRPr/>
          </a:p>
        </p:txBody>
      </p:sp>
      <p:sp>
        <p:nvSpPr>
          <p:cNvPr id="202" name="Google Shape;202;p16"/>
          <p:cNvSpPr txBox="1"/>
          <p:nvPr/>
        </p:nvSpPr>
        <p:spPr>
          <a:xfrm>
            <a:off x="152400" y="838200"/>
            <a:ext cx="8534400" cy="2308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Finding the GCD of two positive integers by listing all common divisors is not practical when the two integers are large.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More than 2000 years ago, a mathematician named Euclid developed an algorithm that can find the GCD of two large positive integers.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Euclidian algorithm is based on the two facts:</a:t>
            </a:r>
            <a:endParaRPr/>
          </a:p>
        </p:txBody>
      </p:sp>
      <p:sp>
        <p:nvSpPr>
          <p:cNvPr id="203" name="Google Shape;203;p16"/>
          <p:cNvSpPr txBox="1"/>
          <p:nvPr/>
        </p:nvSpPr>
        <p:spPr>
          <a:xfrm>
            <a:off x="685800" y="5791200"/>
            <a:ext cx="8077200" cy="646112"/>
          </a:xfrm>
          <a:prstGeom prst="rect">
            <a:avLst/>
          </a:prstGeom>
          <a:solidFill>
            <a:srgbClr val="F2F3B7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28700" lvl="0" marL="1028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Verdana"/>
              <a:buNone/>
            </a:pPr>
            <a:r>
              <a:rPr b="1" i="0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Example: </a:t>
            </a:r>
            <a:endParaRPr/>
          </a:p>
          <a:p>
            <a:pPr indent="-1028700" lvl="0" marL="1028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Gcd(36, 10) = gcd(10, 6) = gcd(6, 4) = gcd(4,2) = gcd(2, 0) = 2</a:t>
            </a:r>
            <a:endParaRPr/>
          </a:p>
        </p:txBody>
      </p:sp>
      <p:sp>
        <p:nvSpPr>
          <p:cNvPr id="204" name="Google Shape;204;p16"/>
          <p:cNvSpPr txBox="1"/>
          <p:nvPr/>
        </p:nvSpPr>
        <p:spPr>
          <a:xfrm>
            <a:off x="0" y="0"/>
            <a:ext cx="9144000" cy="584200"/>
          </a:xfrm>
          <a:prstGeom prst="rect">
            <a:avLst/>
          </a:prstGeom>
          <a:solidFill>
            <a:srgbClr val="FFC000">
              <a:alpha val="73725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GCD Using Euclidean Algorithm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337" y="1524000"/>
            <a:ext cx="7002462" cy="351472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7"/>
          <p:cNvSpPr txBox="1"/>
          <p:nvPr/>
        </p:nvSpPr>
        <p:spPr>
          <a:xfrm>
            <a:off x="2667000" y="5110162"/>
            <a:ext cx="35131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Verdana"/>
              <a:buNone/>
            </a:pPr>
            <a:r>
              <a:rPr b="1" i="0" lang="en-US" sz="1800" u="none">
                <a:solidFill>
                  <a:schemeClr val="folHlink"/>
                </a:solidFill>
                <a:latin typeface="Verdana"/>
                <a:ea typeface="Verdana"/>
                <a:cs typeface="Verdana"/>
                <a:sym typeface="Verdana"/>
              </a:rPr>
              <a:t>Figure</a:t>
            </a:r>
            <a:r>
              <a:rPr b="0" i="0" lang="en-US" sz="1800" u="none">
                <a:solidFill>
                  <a:schemeClr val="folHlink"/>
                </a:solidFill>
                <a:latin typeface="Verdana"/>
                <a:ea typeface="Verdana"/>
                <a:cs typeface="Verdana"/>
                <a:sym typeface="Verdana"/>
              </a:rPr>
              <a:t>: 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Euclidean Algorithm</a:t>
            </a:r>
            <a:endParaRPr/>
          </a:p>
        </p:txBody>
      </p:sp>
      <p:sp>
        <p:nvSpPr>
          <p:cNvPr id="212" name="Google Shape;212;p17"/>
          <p:cNvSpPr txBox="1"/>
          <p:nvPr/>
        </p:nvSpPr>
        <p:spPr>
          <a:xfrm>
            <a:off x="228600" y="5715000"/>
            <a:ext cx="8534400" cy="877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700"/>
              <a:buFont typeface="Verdana"/>
              <a:buNone/>
            </a:pPr>
            <a:r>
              <a:rPr b="1" i="0" lang="en-US" sz="1700" u="none">
                <a:solidFill>
                  <a:schemeClr val="folHlink"/>
                </a:solidFill>
                <a:latin typeface="Verdana"/>
                <a:ea typeface="Verdana"/>
                <a:cs typeface="Verdana"/>
                <a:sym typeface="Verdana"/>
              </a:rPr>
              <a:t>Note:</a:t>
            </a:r>
            <a:r>
              <a:rPr b="1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/>
          </a:p>
          <a:p>
            <a:pPr indent="-1079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⮚"/>
            </a:pP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When gcd (a, b) = 1, we say that a and b are </a:t>
            </a:r>
            <a:r>
              <a:rPr b="0" i="0" lang="en-US" sz="17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relatively prime </a:t>
            </a: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or they are coprime.</a:t>
            </a:r>
            <a:endParaRPr/>
          </a:p>
        </p:txBody>
      </p:sp>
      <p:sp>
        <p:nvSpPr>
          <p:cNvPr id="213" name="Google Shape;213;p17"/>
          <p:cNvSpPr txBox="1"/>
          <p:nvPr/>
        </p:nvSpPr>
        <p:spPr>
          <a:xfrm>
            <a:off x="152400" y="685800"/>
            <a:ext cx="8839200" cy="354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⮚"/>
            </a:pP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Figure below shows how we use Fact 1 and Fact 2 to calculate </a:t>
            </a:r>
            <a:r>
              <a:rPr b="0" i="0" lang="en-US" sz="1700" u="none">
                <a:solidFill>
                  <a:schemeClr val="folHlink"/>
                </a:solidFill>
                <a:latin typeface="Verdana"/>
                <a:ea typeface="Verdana"/>
                <a:cs typeface="Verdana"/>
                <a:sym typeface="Verdana"/>
              </a:rPr>
              <a:t>gcd (a, b)</a:t>
            </a:r>
            <a:endParaRPr/>
          </a:p>
        </p:txBody>
      </p:sp>
      <p:sp>
        <p:nvSpPr>
          <p:cNvPr id="214" name="Google Shape;214;p17"/>
          <p:cNvSpPr txBox="1"/>
          <p:nvPr/>
        </p:nvSpPr>
        <p:spPr>
          <a:xfrm>
            <a:off x="0" y="0"/>
            <a:ext cx="9144000" cy="584200"/>
          </a:xfrm>
          <a:prstGeom prst="rect">
            <a:avLst/>
          </a:prstGeom>
          <a:solidFill>
            <a:srgbClr val="FFC000">
              <a:alpha val="73725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GCD Using Euclidean Algorithm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8"/>
          <p:cNvSpPr txBox="1"/>
          <p:nvPr/>
        </p:nvSpPr>
        <p:spPr>
          <a:xfrm>
            <a:off x="228600" y="609600"/>
            <a:ext cx="13811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FF"/>
              </a:buClr>
              <a:buSzPts val="1800"/>
              <a:buFont typeface="Verdana"/>
              <a:buNone/>
            </a:pPr>
            <a:r>
              <a:rPr b="1" i="0" lang="en-US" sz="1800" u="none">
                <a:solidFill>
                  <a:srgbClr val="3333FF"/>
                </a:solidFill>
                <a:latin typeface="Verdana"/>
                <a:ea typeface="Verdana"/>
                <a:cs typeface="Verdana"/>
                <a:sym typeface="Verdana"/>
              </a:rPr>
              <a:t>Example:</a:t>
            </a:r>
            <a:endParaRPr/>
          </a:p>
        </p:txBody>
      </p:sp>
      <p:sp>
        <p:nvSpPr>
          <p:cNvPr id="221" name="Google Shape;221;p18"/>
          <p:cNvSpPr txBox="1"/>
          <p:nvPr/>
        </p:nvSpPr>
        <p:spPr>
          <a:xfrm>
            <a:off x="304800" y="1065212"/>
            <a:ext cx="82296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Find the greatest common divisor of 2740 and 1760.</a:t>
            </a:r>
            <a:endParaRPr/>
          </a:p>
        </p:txBody>
      </p:sp>
      <p:sp>
        <p:nvSpPr>
          <p:cNvPr id="222" name="Google Shape;222;p18"/>
          <p:cNvSpPr txBox="1"/>
          <p:nvPr/>
        </p:nvSpPr>
        <p:spPr>
          <a:xfrm>
            <a:off x="228600" y="2057400"/>
            <a:ext cx="82296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We have gcd (2740, 1760) = 20.</a:t>
            </a:r>
            <a:endParaRPr/>
          </a:p>
        </p:txBody>
      </p:sp>
      <p:sp>
        <p:nvSpPr>
          <p:cNvPr id="223" name="Google Shape;223;p18"/>
          <p:cNvSpPr txBox="1"/>
          <p:nvPr/>
        </p:nvSpPr>
        <p:spPr>
          <a:xfrm>
            <a:off x="228600" y="1600200"/>
            <a:ext cx="82296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Verdana"/>
              <a:buNone/>
            </a:pPr>
            <a:r>
              <a:rPr b="1" i="0" lang="en-US" sz="1800" u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Solution:</a:t>
            </a:r>
            <a:endParaRPr/>
          </a:p>
        </p:txBody>
      </p:sp>
      <p:pic>
        <p:nvPicPr>
          <p:cNvPr id="224" name="Google Shape;22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8462" y="2565400"/>
            <a:ext cx="5265737" cy="3830637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8"/>
          <p:cNvSpPr txBox="1"/>
          <p:nvPr/>
        </p:nvSpPr>
        <p:spPr>
          <a:xfrm>
            <a:off x="0" y="0"/>
            <a:ext cx="9144000" cy="584200"/>
          </a:xfrm>
          <a:prstGeom prst="rect">
            <a:avLst/>
          </a:prstGeom>
          <a:solidFill>
            <a:srgbClr val="FFC000">
              <a:alpha val="73725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GCD Using Euclidean Algorithm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9"/>
          <p:cNvSpPr txBox="1"/>
          <p:nvPr/>
        </p:nvSpPr>
        <p:spPr>
          <a:xfrm>
            <a:off x="228600" y="685800"/>
            <a:ext cx="13811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FF"/>
              </a:buClr>
              <a:buSzPts val="1800"/>
              <a:buFont typeface="Verdana"/>
              <a:buNone/>
            </a:pPr>
            <a:r>
              <a:rPr b="1" i="0" lang="en-US" sz="1800" u="none">
                <a:solidFill>
                  <a:srgbClr val="3333FF"/>
                </a:solidFill>
                <a:latin typeface="Verdana"/>
                <a:ea typeface="Verdana"/>
                <a:cs typeface="Verdana"/>
                <a:sym typeface="Verdana"/>
              </a:rPr>
              <a:t>Example:</a:t>
            </a:r>
            <a:endParaRPr/>
          </a:p>
        </p:txBody>
      </p:sp>
      <p:sp>
        <p:nvSpPr>
          <p:cNvPr id="232" name="Google Shape;232;p19"/>
          <p:cNvSpPr txBox="1"/>
          <p:nvPr/>
        </p:nvSpPr>
        <p:spPr>
          <a:xfrm>
            <a:off x="228600" y="1065212"/>
            <a:ext cx="82296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Find the greatest common divisor of 25 and 60.</a:t>
            </a:r>
            <a:endParaRPr/>
          </a:p>
        </p:txBody>
      </p:sp>
      <p:sp>
        <p:nvSpPr>
          <p:cNvPr id="233" name="Google Shape;233;p19"/>
          <p:cNvSpPr txBox="1"/>
          <p:nvPr/>
        </p:nvSpPr>
        <p:spPr>
          <a:xfrm>
            <a:off x="228600" y="1905000"/>
            <a:ext cx="82296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We have gcd (25, 60) = 5.</a:t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228600" y="1524000"/>
            <a:ext cx="82296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Verdana"/>
              <a:buNone/>
            </a:pPr>
            <a:r>
              <a:rPr b="1" i="0" lang="en-US" sz="1800" u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Solution:</a:t>
            </a:r>
            <a:endParaRPr/>
          </a:p>
        </p:txBody>
      </p:sp>
      <p:pic>
        <p:nvPicPr>
          <p:cNvPr id="235" name="Google Shape;23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7525" y="2286000"/>
            <a:ext cx="5146675" cy="2827337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9"/>
          <p:cNvSpPr txBox="1"/>
          <p:nvPr/>
        </p:nvSpPr>
        <p:spPr>
          <a:xfrm>
            <a:off x="381000" y="5286375"/>
            <a:ext cx="8534400" cy="11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Verdana"/>
              <a:buNone/>
            </a:pPr>
            <a:r>
              <a:rPr b="1" i="1" lang="en-US" sz="1800" u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Note:</a:t>
            </a: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above example shows that it does not matter if the first number is smaller than the second number. We immediately get our correct ordering gcd(60, 25).</a:t>
            </a:r>
            <a:endParaRPr/>
          </a:p>
        </p:txBody>
      </p:sp>
      <p:sp>
        <p:nvSpPr>
          <p:cNvPr id="237" name="Google Shape;237;p19"/>
          <p:cNvSpPr txBox="1"/>
          <p:nvPr/>
        </p:nvSpPr>
        <p:spPr>
          <a:xfrm>
            <a:off x="2667000" y="3309937"/>
            <a:ext cx="2514600" cy="304800"/>
          </a:xfrm>
          <a:prstGeom prst="rect">
            <a:avLst/>
          </a:prstGeom>
          <a:noFill/>
          <a:ln cap="flat" cmpd="sng" w="127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p19"/>
          <p:cNvSpPr txBox="1"/>
          <p:nvPr/>
        </p:nvSpPr>
        <p:spPr>
          <a:xfrm>
            <a:off x="0" y="0"/>
            <a:ext cx="9144000" cy="584200"/>
          </a:xfrm>
          <a:prstGeom prst="rect">
            <a:avLst/>
          </a:prstGeom>
          <a:solidFill>
            <a:srgbClr val="FFC000">
              <a:alpha val="73725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GCD Using Euclidean Algorithm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1"/>
          <p:cNvSpPr txBox="1"/>
          <p:nvPr/>
        </p:nvSpPr>
        <p:spPr>
          <a:xfrm>
            <a:off x="8229600" y="6400800"/>
            <a:ext cx="184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" name="Google Shape;245;p31"/>
          <p:cNvSpPr txBox="1"/>
          <p:nvPr/>
        </p:nvSpPr>
        <p:spPr>
          <a:xfrm>
            <a:off x="304800" y="990600"/>
            <a:ext cx="8229600" cy="4524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Given any positive integer </a:t>
            </a:r>
            <a:r>
              <a:rPr b="1" i="1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n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and any nonnegative integer </a:t>
            </a:r>
            <a:r>
              <a:rPr b="1" i="1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if we divide </a:t>
            </a:r>
            <a:r>
              <a:rPr b="1" i="1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by </a:t>
            </a:r>
            <a:r>
              <a:rPr b="1" i="1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n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we get an integer quotient </a:t>
            </a:r>
            <a:r>
              <a:rPr b="1" i="1" lang="en-US" sz="1800" u="none">
                <a:solidFill>
                  <a:srgbClr val="0070C0"/>
                </a:solidFill>
                <a:latin typeface="Verdana"/>
                <a:ea typeface="Verdana"/>
                <a:cs typeface="Verdana"/>
                <a:sym typeface="Verdana"/>
              </a:rPr>
              <a:t>q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and an integer remainder </a:t>
            </a:r>
            <a:r>
              <a:rPr b="1" i="1" lang="en-US" sz="1800" u="none">
                <a:solidFill>
                  <a:srgbClr val="0070C0"/>
                </a:solidFill>
                <a:latin typeface="Verdana"/>
                <a:ea typeface="Verdana"/>
                <a:cs typeface="Verdana"/>
                <a:sym typeface="Verdana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such that </a:t>
            </a:r>
            <a:r>
              <a:rPr b="0" i="0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a = </a:t>
            </a:r>
            <a:r>
              <a:rPr b="0" i="0" lang="en-US" sz="1800" u="none">
                <a:solidFill>
                  <a:srgbClr val="0070C0"/>
                </a:solidFill>
                <a:latin typeface="Verdana"/>
                <a:ea typeface="Verdana"/>
                <a:cs typeface="Verdana"/>
                <a:sym typeface="Verdana"/>
              </a:rPr>
              <a:t>q </a:t>
            </a:r>
            <a:r>
              <a:rPr b="0" i="0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× n </a:t>
            </a:r>
            <a:r>
              <a:rPr b="0" i="0" lang="en-US" sz="1800" u="none">
                <a:solidFill>
                  <a:srgbClr val="0070C0"/>
                </a:solidFill>
                <a:latin typeface="Verdana"/>
                <a:ea typeface="Verdana"/>
                <a:cs typeface="Verdana"/>
                <a:sym typeface="Verdana"/>
              </a:rPr>
              <a:t>+</a:t>
            </a:r>
            <a:r>
              <a:rPr b="0" i="0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-US" sz="1800" u="none">
                <a:solidFill>
                  <a:srgbClr val="0070C0"/>
                </a:solidFill>
                <a:latin typeface="Verdana"/>
                <a:ea typeface="Verdana"/>
                <a:cs typeface="Verdana"/>
                <a:sym typeface="Verdana"/>
              </a:rPr>
              <a:t>r</a:t>
            </a:r>
            <a:r>
              <a:rPr b="0" i="0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. </a:t>
            </a:r>
            <a:endParaRPr/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This division relation</a:t>
            </a:r>
            <a:r>
              <a:rPr b="0" i="0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has two inputs (</a:t>
            </a:r>
            <a:r>
              <a:rPr b="0" i="1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and </a:t>
            </a:r>
            <a:r>
              <a:rPr b="0" i="1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n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) and two outputs (</a:t>
            </a:r>
            <a:r>
              <a:rPr b="0" i="1" lang="en-US" sz="1800" u="none">
                <a:solidFill>
                  <a:srgbClr val="0070C0"/>
                </a:solidFill>
                <a:latin typeface="Verdana"/>
                <a:ea typeface="Verdana"/>
                <a:cs typeface="Verdana"/>
                <a:sym typeface="Verdana"/>
              </a:rPr>
              <a:t>q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and </a:t>
            </a:r>
            <a:r>
              <a:rPr b="0" i="1" lang="en-US" sz="1800" u="none">
                <a:solidFill>
                  <a:srgbClr val="0070C0"/>
                </a:solidFill>
                <a:latin typeface="Verdana"/>
                <a:ea typeface="Verdana"/>
                <a:cs typeface="Verdana"/>
                <a:sym typeface="Verdana"/>
              </a:rPr>
              <a:t>r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). </a:t>
            </a:r>
            <a:endParaRPr/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 modular arithmetic, we are interested in only one of the outputs, the remainder </a:t>
            </a:r>
            <a:r>
              <a:rPr b="0" i="1" lang="en-US" sz="1800" u="none">
                <a:solidFill>
                  <a:srgbClr val="0070C0"/>
                </a:solidFill>
                <a:latin typeface="Verdana"/>
                <a:ea typeface="Verdana"/>
                <a:cs typeface="Verdana"/>
                <a:sym typeface="Verdana"/>
              </a:rPr>
              <a:t>r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  In other words, we want to know what is the value of </a:t>
            </a:r>
            <a:r>
              <a:rPr b="0" i="1" lang="en-US" sz="1800" u="none">
                <a:solidFill>
                  <a:srgbClr val="0070C0"/>
                </a:solidFill>
                <a:latin typeface="Verdana"/>
                <a:ea typeface="Verdana"/>
                <a:cs typeface="Verdana"/>
                <a:sym typeface="Verdana"/>
              </a:rPr>
              <a:t>r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when we divide </a:t>
            </a:r>
            <a:r>
              <a:rPr b="0" i="1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by </a:t>
            </a:r>
            <a:r>
              <a:rPr b="0" i="1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n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 This implies that, using modular arithmetic, we can change the division relation into a binary operator (called </a:t>
            </a:r>
            <a:r>
              <a:rPr b="0" i="0" lang="en-US" sz="1800" u="none">
                <a:solidFill>
                  <a:srgbClr val="00B0F0"/>
                </a:solidFill>
                <a:latin typeface="Verdana"/>
                <a:ea typeface="Verdana"/>
                <a:cs typeface="Verdana"/>
                <a:sym typeface="Verdana"/>
              </a:rPr>
              <a:t>modulo operator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) with two inputs </a:t>
            </a:r>
            <a:r>
              <a:rPr b="0" i="1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and </a:t>
            </a:r>
            <a:r>
              <a:rPr b="0" i="1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n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and one output </a:t>
            </a:r>
            <a:r>
              <a:rPr b="0" i="0" lang="en-US" sz="1800" u="none">
                <a:solidFill>
                  <a:srgbClr val="0070C0"/>
                </a:solidFill>
                <a:latin typeface="Verdana"/>
                <a:ea typeface="Verdana"/>
                <a:cs typeface="Verdana"/>
                <a:sym typeface="Verdana"/>
              </a:rPr>
              <a:t>r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/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Several important cryptosystems make use of modular arithmetic. </a:t>
            </a:r>
            <a:endParaRPr/>
          </a:p>
        </p:txBody>
      </p:sp>
      <p:sp>
        <p:nvSpPr>
          <p:cNvPr id="246" name="Google Shape;246;p31"/>
          <p:cNvSpPr txBox="1"/>
          <p:nvPr/>
        </p:nvSpPr>
        <p:spPr>
          <a:xfrm>
            <a:off x="0" y="0"/>
            <a:ext cx="9144000" cy="584200"/>
          </a:xfrm>
          <a:prstGeom prst="rect">
            <a:avLst/>
          </a:prstGeom>
          <a:solidFill>
            <a:srgbClr val="FFC000">
              <a:alpha val="73725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Modular Arithmetic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2"/>
          <p:cNvSpPr txBox="1"/>
          <p:nvPr/>
        </p:nvSpPr>
        <p:spPr>
          <a:xfrm>
            <a:off x="152400" y="685800"/>
            <a:ext cx="8458200" cy="64611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modulo operator is shown as </a:t>
            </a:r>
            <a:r>
              <a:rPr b="0" i="0" lang="en-US" sz="1800" u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mod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 The second input (</a:t>
            </a:r>
            <a:r>
              <a:rPr b="0" i="0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n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) is called the modulus. The output </a:t>
            </a:r>
            <a:r>
              <a:rPr b="0" i="0" lang="en-US" sz="1800" u="none">
                <a:solidFill>
                  <a:srgbClr val="0070C0"/>
                </a:solidFill>
                <a:latin typeface="Verdana"/>
                <a:ea typeface="Verdana"/>
                <a:cs typeface="Verdana"/>
                <a:sym typeface="Verdana"/>
              </a:rPr>
              <a:t>r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is called the residue. </a:t>
            </a:r>
            <a:endParaRPr/>
          </a:p>
        </p:txBody>
      </p:sp>
      <p:pic>
        <p:nvPicPr>
          <p:cNvPr id="253" name="Google Shape;25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6650" y="2514600"/>
            <a:ext cx="7321550" cy="2224087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2"/>
          <p:cNvSpPr txBox="1"/>
          <p:nvPr/>
        </p:nvSpPr>
        <p:spPr>
          <a:xfrm>
            <a:off x="2154237" y="2052637"/>
            <a:ext cx="54927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folHlink"/>
                </a:solidFill>
                <a:latin typeface="Verdana"/>
                <a:ea typeface="Verdana"/>
                <a:cs typeface="Verdana"/>
                <a:sym typeface="Verdana"/>
              </a:rPr>
              <a:t>Figure:  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Division relation Vs. modulo operator</a:t>
            </a:r>
            <a:endParaRPr/>
          </a:p>
        </p:txBody>
      </p:sp>
      <p:sp>
        <p:nvSpPr>
          <p:cNvPr id="255" name="Google Shape;255;p32"/>
          <p:cNvSpPr txBox="1"/>
          <p:nvPr/>
        </p:nvSpPr>
        <p:spPr>
          <a:xfrm>
            <a:off x="228600" y="4927600"/>
            <a:ext cx="8229600" cy="1478100"/>
          </a:xfrm>
          <a:prstGeom prst="rect">
            <a:avLst/>
          </a:prstGeom>
          <a:noFill/>
          <a:ln cap="flat" cmpd="sng" w="9525">
            <a:solidFill>
              <a:srgbClr val="3333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 the figure we see that the modulo operator (mod) takes an integer (</a:t>
            </a:r>
            <a:r>
              <a:rPr b="0" i="0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) from the set of integers (</a:t>
            </a:r>
            <a:r>
              <a:rPr b="0" i="0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Z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) and a positive modulus (</a:t>
            </a:r>
            <a:r>
              <a:rPr b="0" i="0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n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). The operator creates a non-negative residue (</a:t>
            </a:r>
            <a:r>
              <a:rPr b="0" i="0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r)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where </a:t>
            </a:r>
            <a:r>
              <a:rPr b="0" i="0" lang="en-US" sz="1800" u="none">
                <a:solidFill>
                  <a:srgbClr val="0070C0"/>
                </a:solidFill>
                <a:latin typeface="Verdana"/>
                <a:ea typeface="Verdana"/>
                <a:cs typeface="Verdana"/>
                <a:sym typeface="Verdana"/>
              </a:rPr>
              <a:t>0 &lt;= r &lt;= n-1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 We can say that: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6" name="Google Shape;256;p32"/>
          <p:cNvSpPr txBox="1"/>
          <p:nvPr/>
        </p:nvSpPr>
        <p:spPr>
          <a:xfrm>
            <a:off x="152400" y="1425575"/>
            <a:ext cx="8534400" cy="64611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Figure below shows the division relation compared with the modulo operator.</a:t>
            </a:r>
            <a:endParaRPr/>
          </a:p>
        </p:txBody>
      </p:sp>
      <p:sp>
        <p:nvSpPr>
          <p:cNvPr id="257" name="Google Shape;257;p32"/>
          <p:cNvSpPr txBox="1"/>
          <p:nvPr/>
        </p:nvSpPr>
        <p:spPr>
          <a:xfrm>
            <a:off x="4038600" y="6019800"/>
            <a:ext cx="2133600" cy="369887"/>
          </a:xfrm>
          <a:prstGeom prst="rect">
            <a:avLst/>
          </a:prstGeom>
          <a:noFill/>
          <a:ln>
            <a:noFill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b="0" i="0" lang="en-US" sz="1800" u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-US" sz="1800" u="none">
                <a:solidFill>
                  <a:srgbClr val="3333FF"/>
                </a:solidFill>
                <a:latin typeface="Verdana"/>
                <a:ea typeface="Verdana"/>
                <a:cs typeface="Verdana"/>
                <a:sym typeface="Verdana"/>
              </a:rPr>
              <a:t>mod</a:t>
            </a:r>
            <a:r>
              <a:rPr b="0" i="0" lang="en-US" sz="1800" u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n</a:t>
            </a:r>
            <a:r>
              <a:rPr b="0" i="0" lang="en-US" sz="1800" u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-US" sz="1800" u="none">
                <a:solidFill>
                  <a:srgbClr val="3333FF"/>
                </a:solidFill>
                <a:latin typeface="Verdana"/>
                <a:ea typeface="Verdana"/>
                <a:cs typeface="Verdana"/>
                <a:sym typeface="Verdana"/>
              </a:rPr>
              <a:t>=</a:t>
            </a:r>
            <a:r>
              <a:rPr b="0" i="0" lang="en-US" sz="1800" u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-US" sz="1800" u="none">
                <a:solidFill>
                  <a:srgbClr val="0070C0"/>
                </a:solidFill>
                <a:latin typeface="Verdana"/>
                <a:ea typeface="Verdana"/>
                <a:cs typeface="Verdana"/>
                <a:sym typeface="Verdana"/>
              </a:rPr>
              <a:t>r</a:t>
            </a:r>
            <a:endParaRPr/>
          </a:p>
        </p:txBody>
      </p:sp>
      <p:sp>
        <p:nvSpPr>
          <p:cNvPr id="258" name="Google Shape;258;p32"/>
          <p:cNvSpPr txBox="1"/>
          <p:nvPr/>
        </p:nvSpPr>
        <p:spPr>
          <a:xfrm>
            <a:off x="0" y="0"/>
            <a:ext cx="9144000" cy="584200"/>
          </a:xfrm>
          <a:prstGeom prst="rect">
            <a:avLst/>
          </a:prstGeom>
          <a:solidFill>
            <a:srgbClr val="FFC000">
              <a:alpha val="73725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Modular Arithmetic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3"/>
          <p:cNvSpPr txBox="1"/>
          <p:nvPr/>
        </p:nvSpPr>
        <p:spPr>
          <a:xfrm>
            <a:off x="0" y="533400"/>
            <a:ext cx="2998787" cy="354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FF"/>
              </a:buClr>
              <a:buSzPts val="1700"/>
              <a:buFont typeface="Verdana"/>
              <a:buNone/>
            </a:pPr>
            <a:r>
              <a:rPr b="1" i="0" lang="en-US" sz="1700" u="none">
                <a:solidFill>
                  <a:srgbClr val="3333FF"/>
                </a:solidFill>
                <a:latin typeface="Verdana"/>
                <a:ea typeface="Verdana"/>
                <a:cs typeface="Verdana"/>
                <a:sym typeface="Verdana"/>
              </a:rPr>
              <a:t>Calculation of a mod n:</a:t>
            </a:r>
            <a:endParaRPr/>
          </a:p>
        </p:txBody>
      </p:sp>
      <p:sp>
        <p:nvSpPr>
          <p:cNvPr id="265" name="Google Shape;265;p33"/>
          <p:cNvSpPr txBox="1"/>
          <p:nvPr/>
        </p:nvSpPr>
        <p:spPr>
          <a:xfrm>
            <a:off x="304800" y="887412"/>
            <a:ext cx="8229600" cy="354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None/>
            </a:pPr>
            <a:r>
              <a:rPr b="1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There are three cases:</a:t>
            </a:r>
            <a:endParaRPr/>
          </a:p>
        </p:txBody>
      </p:sp>
      <p:sp>
        <p:nvSpPr>
          <p:cNvPr id="266" name="Google Shape;266;p33"/>
          <p:cNvSpPr txBox="1"/>
          <p:nvPr/>
        </p:nvSpPr>
        <p:spPr>
          <a:xfrm>
            <a:off x="304800" y="1292225"/>
            <a:ext cx="8229600" cy="354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None/>
            </a:pPr>
            <a:r>
              <a:rPr b="1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Case-1: When both  of </a:t>
            </a:r>
            <a:r>
              <a:rPr b="1" i="1" lang="en-US" sz="1700" u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b="1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and </a:t>
            </a:r>
            <a:r>
              <a:rPr b="1" i="1" lang="en-US" sz="1700" u="none">
                <a:solidFill>
                  <a:schemeClr val="folHlink"/>
                </a:solidFill>
                <a:latin typeface="Verdana"/>
                <a:ea typeface="Verdana"/>
                <a:cs typeface="Verdana"/>
                <a:sym typeface="Verdana"/>
              </a:rPr>
              <a:t>n</a:t>
            </a:r>
            <a:r>
              <a:rPr b="1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is positive integer where </a:t>
            </a:r>
            <a:r>
              <a:rPr b="1" i="1" lang="en-US" sz="1700" u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a&lt;n</a:t>
            </a:r>
            <a:r>
              <a:rPr b="1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</a:t>
            </a:r>
            <a:endParaRPr/>
          </a:p>
        </p:txBody>
      </p:sp>
      <p:sp>
        <p:nvSpPr>
          <p:cNvPr id="267" name="Google Shape;267;p33"/>
          <p:cNvSpPr txBox="1"/>
          <p:nvPr/>
        </p:nvSpPr>
        <p:spPr>
          <a:xfrm>
            <a:off x="304800" y="4724400"/>
            <a:ext cx="8229600" cy="354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None/>
            </a:pPr>
            <a:r>
              <a:rPr b="1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Case-3: When </a:t>
            </a:r>
            <a:r>
              <a:rPr b="1" i="1" lang="en-US" sz="1700" u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b="1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is negative and </a:t>
            </a:r>
            <a:r>
              <a:rPr b="1" i="1" lang="en-US" sz="17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n</a:t>
            </a:r>
            <a:r>
              <a:rPr b="1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is positive integer:</a:t>
            </a:r>
            <a:endParaRPr/>
          </a:p>
        </p:txBody>
      </p:sp>
      <p:sp>
        <p:nvSpPr>
          <p:cNvPr id="268" name="Google Shape;268;p33"/>
          <p:cNvSpPr txBox="1"/>
          <p:nvPr/>
        </p:nvSpPr>
        <p:spPr>
          <a:xfrm>
            <a:off x="914400" y="5091112"/>
            <a:ext cx="7543800" cy="1400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None/>
            </a:pP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 this case, we add as many multiples of </a:t>
            </a:r>
            <a:r>
              <a:rPr b="1" i="1" lang="en-US" sz="1700" u="none">
                <a:solidFill>
                  <a:schemeClr val="folHlink"/>
                </a:solidFill>
                <a:latin typeface="Verdana"/>
                <a:ea typeface="Verdana"/>
                <a:cs typeface="Verdana"/>
                <a:sym typeface="Verdana"/>
              </a:rPr>
              <a:t>n</a:t>
            </a: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with </a:t>
            </a:r>
            <a:r>
              <a:rPr b="1" i="1" lang="en-US" sz="1700" u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as necessary to get </a:t>
            </a:r>
            <a:r>
              <a:rPr b="1" i="1" lang="en-US" sz="1700" u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positive and greater than </a:t>
            </a:r>
            <a:r>
              <a:rPr b="1" i="1" lang="en-US" sz="1700" u="none">
                <a:solidFill>
                  <a:schemeClr val="folHlink"/>
                </a:solidFill>
                <a:latin typeface="Verdana"/>
                <a:ea typeface="Verdana"/>
                <a:cs typeface="Verdana"/>
                <a:sym typeface="Verdana"/>
              </a:rPr>
              <a:t>n.</a:t>
            </a:r>
            <a:r>
              <a:rPr b="1" i="1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Then divide </a:t>
            </a:r>
            <a:r>
              <a:rPr b="1" i="1" lang="en-US" sz="1700" u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by </a:t>
            </a:r>
            <a:r>
              <a:rPr b="1" i="1" lang="en-US" sz="1700" u="none">
                <a:solidFill>
                  <a:schemeClr val="folHlink"/>
                </a:solidFill>
                <a:latin typeface="Verdana"/>
                <a:ea typeface="Verdana"/>
                <a:cs typeface="Verdana"/>
                <a:sym typeface="Verdana"/>
              </a:rPr>
              <a:t>n</a:t>
            </a: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to get the remainder </a:t>
            </a:r>
            <a:r>
              <a:rPr b="1" i="1" lang="en-US" sz="1700" u="none">
                <a:solidFill>
                  <a:srgbClr val="00CC00"/>
                </a:solidFill>
                <a:latin typeface="Verdana"/>
                <a:ea typeface="Verdana"/>
                <a:cs typeface="Verdana"/>
                <a:sym typeface="Verdana"/>
              </a:rPr>
              <a:t>r</a:t>
            </a: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 The result will be in the range </a:t>
            </a:r>
            <a:r>
              <a:rPr b="1" i="1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to </a:t>
            </a:r>
            <a:r>
              <a:rPr b="1" i="1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n-1</a:t>
            </a: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r>
              <a:rPr b="1" i="1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process is known as </a:t>
            </a:r>
            <a:r>
              <a:rPr b="0" i="0" lang="en-US" sz="1700" u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modulo reduction</a:t>
            </a: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None/>
            </a:pP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 example, </a:t>
            </a:r>
            <a:r>
              <a:rPr b="0" i="1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-12 mod 7 = -5 mod 7 = 2 mod 7 = 9 mod 7</a:t>
            </a: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/>
          </a:p>
        </p:txBody>
      </p:sp>
      <p:sp>
        <p:nvSpPr>
          <p:cNvPr id="269" name="Google Shape;269;p33"/>
          <p:cNvSpPr txBox="1"/>
          <p:nvPr/>
        </p:nvSpPr>
        <p:spPr>
          <a:xfrm>
            <a:off x="990600" y="1736725"/>
            <a:ext cx="7391400" cy="11382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None/>
            </a:pP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 this case, we add as many multiples of </a:t>
            </a:r>
            <a:r>
              <a:rPr b="1" i="1" lang="en-US" sz="1700" u="none">
                <a:solidFill>
                  <a:schemeClr val="folHlink"/>
                </a:solidFill>
                <a:latin typeface="Verdana"/>
                <a:ea typeface="Verdana"/>
                <a:cs typeface="Verdana"/>
                <a:sym typeface="Verdana"/>
              </a:rPr>
              <a:t>n</a:t>
            </a: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with </a:t>
            </a:r>
            <a:r>
              <a:rPr b="1" i="1" lang="en-US" sz="1700" u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as necessary to get </a:t>
            </a:r>
            <a:r>
              <a:rPr b="1" i="1" lang="en-US" sz="1700" u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greater than </a:t>
            </a:r>
            <a:r>
              <a:rPr b="1" i="1" lang="en-US" sz="1700" u="none">
                <a:solidFill>
                  <a:schemeClr val="folHlink"/>
                </a:solidFill>
                <a:latin typeface="Verdana"/>
                <a:ea typeface="Verdana"/>
                <a:cs typeface="Verdana"/>
                <a:sym typeface="Verdana"/>
              </a:rPr>
              <a:t>n</a:t>
            </a: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 Then divide </a:t>
            </a:r>
            <a:r>
              <a:rPr b="1" i="1" lang="en-US" sz="1700" u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by </a:t>
            </a:r>
            <a:r>
              <a:rPr b="1" i="1" lang="en-US" sz="1700" u="none">
                <a:solidFill>
                  <a:schemeClr val="folHlink"/>
                </a:solidFill>
                <a:latin typeface="Verdana"/>
                <a:ea typeface="Verdana"/>
                <a:cs typeface="Verdana"/>
                <a:sym typeface="Verdana"/>
              </a:rPr>
              <a:t>n</a:t>
            </a: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to get the remainder </a:t>
            </a:r>
            <a:r>
              <a:rPr b="1" i="1" lang="en-US" sz="1700" u="none">
                <a:solidFill>
                  <a:srgbClr val="00CC00"/>
                </a:solidFill>
                <a:latin typeface="Verdana"/>
                <a:ea typeface="Verdana"/>
                <a:cs typeface="Verdana"/>
                <a:sym typeface="Verdana"/>
              </a:rPr>
              <a:t>r</a:t>
            </a: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 The result will be in the range </a:t>
            </a:r>
            <a:r>
              <a:rPr b="1" i="1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to </a:t>
            </a:r>
            <a:r>
              <a:rPr b="1" i="1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n-1</a:t>
            </a: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None/>
            </a:pP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 example, </a:t>
            </a:r>
            <a:r>
              <a:rPr b="0" i="1" lang="en-US" sz="1700" u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r>
              <a:rPr b="0" i="1" lang="en-US" sz="1700" u="none">
                <a:solidFill>
                  <a:srgbClr val="00CC00"/>
                </a:solidFill>
                <a:latin typeface="Verdana"/>
                <a:ea typeface="Verdana"/>
                <a:cs typeface="Verdana"/>
                <a:sym typeface="Verdana"/>
              </a:rPr>
              <a:t> mod </a:t>
            </a:r>
            <a:r>
              <a:rPr b="0" i="1" lang="en-US" sz="1700" u="none">
                <a:solidFill>
                  <a:schemeClr val="folHlink"/>
                </a:solidFill>
                <a:latin typeface="Verdana"/>
                <a:ea typeface="Verdana"/>
                <a:cs typeface="Verdana"/>
                <a:sym typeface="Verdana"/>
              </a:rPr>
              <a:t>7 </a:t>
            </a:r>
            <a:r>
              <a:rPr b="0" i="1" lang="en-US" sz="1700" u="none">
                <a:solidFill>
                  <a:srgbClr val="00CC00"/>
                </a:solidFill>
                <a:latin typeface="Verdana"/>
                <a:ea typeface="Verdana"/>
                <a:cs typeface="Verdana"/>
                <a:sym typeface="Verdana"/>
              </a:rPr>
              <a:t>= </a:t>
            </a:r>
            <a:r>
              <a:rPr b="0" i="1" lang="en-US" sz="1700" u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9</a:t>
            </a:r>
            <a:r>
              <a:rPr b="0" i="1" lang="en-US" sz="1700" u="none">
                <a:solidFill>
                  <a:srgbClr val="00CC00"/>
                </a:solidFill>
                <a:latin typeface="Verdana"/>
                <a:ea typeface="Verdana"/>
                <a:cs typeface="Verdana"/>
                <a:sym typeface="Verdana"/>
              </a:rPr>
              <a:t> mod </a:t>
            </a:r>
            <a:r>
              <a:rPr b="0" i="1" lang="en-US" sz="1700" u="none">
                <a:solidFill>
                  <a:schemeClr val="folHlink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b="0" i="1" lang="en-US" sz="1700" u="none">
                <a:solidFill>
                  <a:srgbClr val="00CC00"/>
                </a:solidFill>
                <a:latin typeface="Verdana"/>
                <a:ea typeface="Verdana"/>
                <a:cs typeface="Verdana"/>
                <a:sym typeface="Verdana"/>
              </a:rPr>
              <a:t> = 2</a:t>
            </a:r>
            <a:r>
              <a:rPr b="0" i="1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/>
          </a:p>
        </p:txBody>
      </p:sp>
      <p:sp>
        <p:nvSpPr>
          <p:cNvPr id="270" name="Google Shape;270;p33"/>
          <p:cNvSpPr txBox="1"/>
          <p:nvPr/>
        </p:nvSpPr>
        <p:spPr>
          <a:xfrm>
            <a:off x="304800" y="3200400"/>
            <a:ext cx="8229600" cy="354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None/>
            </a:pPr>
            <a:r>
              <a:rPr b="1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Case-2: When both  of </a:t>
            </a:r>
            <a:r>
              <a:rPr b="1" i="1" lang="en-US" sz="1700" u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b="1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and </a:t>
            </a:r>
            <a:r>
              <a:rPr b="1" i="1" lang="en-US" sz="1700" u="none">
                <a:solidFill>
                  <a:schemeClr val="folHlink"/>
                </a:solidFill>
                <a:latin typeface="Verdana"/>
                <a:ea typeface="Verdana"/>
                <a:cs typeface="Verdana"/>
                <a:sym typeface="Verdana"/>
              </a:rPr>
              <a:t>n</a:t>
            </a:r>
            <a:r>
              <a:rPr b="1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is positive integer where </a:t>
            </a:r>
            <a:r>
              <a:rPr b="1" i="1" lang="en-US" sz="1700" u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a&gt;=n</a:t>
            </a:r>
            <a:r>
              <a:rPr b="1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</a:t>
            </a:r>
            <a:endParaRPr/>
          </a:p>
        </p:txBody>
      </p:sp>
      <p:sp>
        <p:nvSpPr>
          <p:cNvPr id="271" name="Google Shape;271;p33"/>
          <p:cNvSpPr txBox="1"/>
          <p:nvPr/>
        </p:nvSpPr>
        <p:spPr>
          <a:xfrm>
            <a:off x="914400" y="3619500"/>
            <a:ext cx="7467600" cy="87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None/>
            </a:pP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 this case, just divide </a:t>
            </a:r>
            <a:r>
              <a:rPr b="1" i="1" lang="en-US" sz="1700" u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by </a:t>
            </a:r>
            <a:r>
              <a:rPr b="1" i="1" lang="en-US" sz="1700" u="none">
                <a:solidFill>
                  <a:schemeClr val="folHlink"/>
                </a:solidFill>
                <a:latin typeface="Verdana"/>
                <a:ea typeface="Verdana"/>
                <a:cs typeface="Verdana"/>
                <a:sym typeface="Verdana"/>
              </a:rPr>
              <a:t>n</a:t>
            </a: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to get the remainder </a:t>
            </a:r>
            <a:r>
              <a:rPr b="1" i="1" lang="en-US" sz="1700" u="none">
                <a:solidFill>
                  <a:srgbClr val="00CC00"/>
                </a:solidFill>
                <a:latin typeface="Verdana"/>
                <a:ea typeface="Verdana"/>
                <a:cs typeface="Verdana"/>
                <a:sym typeface="Verdana"/>
              </a:rPr>
              <a:t>r</a:t>
            </a: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 The result will be in the range </a:t>
            </a:r>
            <a:r>
              <a:rPr b="1" i="1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to </a:t>
            </a:r>
            <a:r>
              <a:rPr b="1" i="1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n-1</a:t>
            </a: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None/>
            </a:pPr>
            <a:r>
              <a:rPr b="0" i="0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 example, </a:t>
            </a:r>
            <a:r>
              <a:rPr b="0" i="1" lang="en-US" sz="1700" u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9</a:t>
            </a:r>
            <a:r>
              <a:rPr b="0" i="1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1" lang="en-US" sz="1700" u="none">
                <a:solidFill>
                  <a:srgbClr val="00CC00"/>
                </a:solidFill>
                <a:latin typeface="Verdana"/>
                <a:ea typeface="Verdana"/>
                <a:cs typeface="Verdana"/>
                <a:sym typeface="Verdana"/>
              </a:rPr>
              <a:t>mod</a:t>
            </a:r>
            <a:r>
              <a:rPr b="0" i="1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1" lang="en-US" sz="1700" u="none">
                <a:solidFill>
                  <a:schemeClr val="folHlink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b="0" i="1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1" lang="en-US" sz="1700" u="none">
                <a:solidFill>
                  <a:srgbClr val="00CC00"/>
                </a:solidFill>
                <a:latin typeface="Verdana"/>
                <a:ea typeface="Verdana"/>
                <a:cs typeface="Verdana"/>
                <a:sym typeface="Verdana"/>
              </a:rPr>
              <a:t>= 2</a:t>
            </a:r>
            <a:r>
              <a:rPr b="0" i="1" lang="en-US" sz="17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/>
          </a:p>
        </p:txBody>
      </p:sp>
      <p:sp>
        <p:nvSpPr>
          <p:cNvPr id="272" name="Google Shape;272;p33"/>
          <p:cNvSpPr txBox="1"/>
          <p:nvPr/>
        </p:nvSpPr>
        <p:spPr>
          <a:xfrm>
            <a:off x="0" y="0"/>
            <a:ext cx="9144000" cy="584200"/>
          </a:xfrm>
          <a:prstGeom prst="rect">
            <a:avLst/>
          </a:prstGeom>
          <a:solidFill>
            <a:srgbClr val="FFC000">
              <a:alpha val="73725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Modular Arithmetic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4"/>
          <p:cNvSpPr txBox="1"/>
          <p:nvPr/>
        </p:nvSpPr>
        <p:spPr>
          <a:xfrm>
            <a:off x="304800" y="1066800"/>
            <a:ext cx="8229600" cy="923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Find the result of the following operations: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a.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27 mod 5                                            </a:t>
            </a:r>
            <a:r>
              <a:rPr b="0" i="0" lang="en-US" sz="1800" u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b.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36 mod 12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c.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−18 mod 14                                        </a:t>
            </a:r>
            <a:r>
              <a:rPr b="0" i="0" lang="en-US" sz="1800" u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d.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−7 mod 10</a:t>
            </a:r>
            <a:endParaRPr/>
          </a:p>
        </p:txBody>
      </p:sp>
      <p:sp>
        <p:nvSpPr>
          <p:cNvPr id="279" name="Google Shape;279;p34"/>
          <p:cNvSpPr txBox="1"/>
          <p:nvPr/>
        </p:nvSpPr>
        <p:spPr>
          <a:xfrm>
            <a:off x="228600" y="3071812"/>
            <a:ext cx="8229600" cy="2640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AutoNum type="alphaLcPeriod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Dividing 27 by 5 results in </a:t>
            </a:r>
            <a:r>
              <a:rPr b="0" i="1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= 2. Therefore </a:t>
            </a:r>
            <a:r>
              <a:rPr b="0" i="0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27 mod 5 = 2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AutoNum type="alphaLcPeriod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Dividing 36 by 12 results in </a:t>
            </a:r>
            <a:r>
              <a:rPr b="0" i="1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= 0. Therefore </a:t>
            </a:r>
            <a:r>
              <a:rPr b="0" i="0" lang="en-US" sz="1800" u="none">
                <a:solidFill>
                  <a:srgbClr val="00B050"/>
                </a:solidFill>
                <a:latin typeface="Verdana"/>
                <a:ea typeface="Verdana"/>
                <a:cs typeface="Verdana"/>
                <a:sym typeface="Verdana"/>
              </a:rPr>
              <a:t>36 mod 12 = 0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c.   Dividing −18 by 14 results in </a:t>
            </a:r>
            <a:r>
              <a:rPr b="0" i="1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= −4. After adding the modulus (14) with the result to make it non-negative, we have </a:t>
            </a:r>
            <a:r>
              <a:rPr b="0" i="1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= -4 + 14 = 10. Therefore </a:t>
            </a:r>
            <a:r>
              <a:rPr b="0" i="0" lang="en-US" sz="1800" u="none">
                <a:solidFill>
                  <a:srgbClr val="0070C0"/>
                </a:solidFill>
                <a:latin typeface="Verdana"/>
                <a:ea typeface="Verdana"/>
                <a:cs typeface="Verdana"/>
                <a:sym typeface="Verdana"/>
              </a:rPr>
              <a:t>-18 mod 14 = 10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d.   Dividing −7 by 10 results in r = −7. After adding the modulus (10) with the result to make it non-negative, we have </a:t>
            </a:r>
            <a:r>
              <a:rPr b="0" i="1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= -7 + 10 = 3. Therefore </a:t>
            </a:r>
            <a:r>
              <a:rPr b="0" i="0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–7 mod 10 = 3</a:t>
            </a:r>
            <a:endParaRPr/>
          </a:p>
        </p:txBody>
      </p:sp>
      <p:sp>
        <p:nvSpPr>
          <p:cNvPr id="280" name="Google Shape;280;p34"/>
          <p:cNvSpPr txBox="1"/>
          <p:nvPr/>
        </p:nvSpPr>
        <p:spPr>
          <a:xfrm>
            <a:off x="228600" y="2667000"/>
            <a:ext cx="82296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Verdana"/>
              <a:buNone/>
            </a:pPr>
            <a:r>
              <a:rPr b="1" i="0" lang="en-US" sz="1800" u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Solution:</a:t>
            </a:r>
            <a:endParaRPr/>
          </a:p>
        </p:txBody>
      </p:sp>
      <p:sp>
        <p:nvSpPr>
          <p:cNvPr id="281" name="Google Shape;281;p34"/>
          <p:cNvSpPr txBox="1"/>
          <p:nvPr/>
        </p:nvSpPr>
        <p:spPr>
          <a:xfrm>
            <a:off x="0" y="0"/>
            <a:ext cx="9144000" cy="584200"/>
          </a:xfrm>
          <a:prstGeom prst="rect">
            <a:avLst/>
          </a:prstGeom>
          <a:solidFill>
            <a:srgbClr val="FFC000">
              <a:alpha val="73725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Modular Arithmetic</a:t>
            </a:r>
            <a:endParaRPr/>
          </a:p>
        </p:txBody>
      </p:sp>
      <p:sp>
        <p:nvSpPr>
          <p:cNvPr id="282" name="Google Shape;282;p34"/>
          <p:cNvSpPr txBox="1"/>
          <p:nvPr/>
        </p:nvSpPr>
        <p:spPr>
          <a:xfrm>
            <a:off x="0" y="609600"/>
            <a:ext cx="13811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FF"/>
              </a:buClr>
              <a:buSzPts val="1800"/>
              <a:buFont typeface="Verdana"/>
              <a:buNone/>
            </a:pPr>
            <a:r>
              <a:rPr b="1" i="0" lang="en-US" sz="1800" u="none">
                <a:solidFill>
                  <a:srgbClr val="3333FF"/>
                </a:solidFill>
                <a:latin typeface="Verdana"/>
                <a:ea typeface="Verdana"/>
                <a:cs typeface="Verdana"/>
                <a:sym typeface="Verdana"/>
              </a:rPr>
              <a:t>Example: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5"/>
          <p:cNvSpPr txBox="1"/>
          <p:nvPr/>
        </p:nvSpPr>
        <p:spPr>
          <a:xfrm>
            <a:off x="228600" y="1066800"/>
            <a:ext cx="8686800" cy="203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result of  </a:t>
            </a:r>
            <a:r>
              <a:rPr b="0" i="0" lang="en-US" sz="1800" u="none">
                <a:solidFill>
                  <a:srgbClr val="00B0F0"/>
                </a:solidFill>
                <a:latin typeface="Verdana"/>
                <a:ea typeface="Verdana"/>
                <a:cs typeface="Verdana"/>
                <a:sym typeface="Verdana"/>
              </a:rPr>
              <a:t>a mod n 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is always an integer between </a:t>
            </a:r>
            <a:r>
              <a:rPr b="0" i="0" lang="en-US" sz="1800" u="none">
                <a:solidFill>
                  <a:srgbClr val="00B0F0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and </a:t>
            </a:r>
            <a:r>
              <a:rPr b="0" i="0" lang="en-US" sz="1800" u="none">
                <a:solidFill>
                  <a:srgbClr val="00B0F0"/>
                </a:solidFill>
                <a:latin typeface="Verdana"/>
                <a:ea typeface="Verdana"/>
                <a:cs typeface="Verdana"/>
                <a:sym typeface="Verdana"/>
              </a:rPr>
              <a:t>n-1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/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Therefore, the modulo operation creates a set, which in modular arithmetic is referred to as </a:t>
            </a:r>
            <a:r>
              <a:rPr b="0" i="0" lang="en-US" sz="1800" u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the set of least residues modulo n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b="0" i="0" lang="en-US" sz="1800" u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or Z</a:t>
            </a:r>
            <a:r>
              <a:rPr b="0" baseline="-25000" i="0" lang="en-US" sz="1800" u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n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/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Figure below shows the set of residues Z</a:t>
            </a:r>
            <a:r>
              <a:rPr b="0" baseline="-2500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 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and three instances of the set of residues Z</a:t>
            </a:r>
            <a:r>
              <a:rPr b="0" baseline="-2500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Z</a:t>
            </a:r>
            <a:r>
              <a:rPr b="0" baseline="-2500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Z</a:t>
            </a:r>
            <a:r>
              <a:rPr b="0" baseline="-2500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11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/>
          </a:p>
        </p:txBody>
      </p:sp>
      <p:pic>
        <p:nvPicPr>
          <p:cNvPr id="289" name="Google Shape;28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9825" y="4038600"/>
            <a:ext cx="7165975" cy="111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5"/>
          <p:cNvSpPr txBox="1"/>
          <p:nvPr/>
        </p:nvSpPr>
        <p:spPr>
          <a:xfrm>
            <a:off x="3124200" y="5486400"/>
            <a:ext cx="286067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Verdana"/>
              <a:buNone/>
            </a:pPr>
            <a:r>
              <a:rPr b="1" i="0" lang="en-US" sz="1800" u="none">
                <a:solidFill>
                  <a:schemeClr val="folHlink"/>
                </a:solidFill>
                <a:latin typeface="Verdana"/>
                <a:ea typeface="Verdana"/>
                <a:cs typeface="Verdana"/>
                <a:sym typeface="Verdana"/>
              </a:rPr>
              <a:t>Figure: </a:t>
            </a: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Some Z</a:t>
            </a:r>
            <a:r>
              <a:rPr b="1" baseline="-2500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</a:t>
            </a: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sets</a:t>
            </a:r>
            <a:endParaRPr/>
          </a:p>
        </p:txBody>
      </p:sp>
      <p:sp>
        <p:nvSpPr>
          <p:cNvPr id="291" name="Google Shape;291;p35"/>
          <p:cNvSpPr txBox="1"/>
          <p:nvPr/>
        </p:nvSpPr>
        <p:spPr>
          <a:xfrm>
            <a:off x="0" y="0"/>
            <a:ext cx="9144000" cy="584200"/>
          </a:xfrm>
          <a:prstGeom prst="rect">
            <a:avLst/>
          </a:prstGeom>
          <a:solidFill>
            <a:srgbClr val="FFC000">
              <a:alpha val="73725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1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Set of Residues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6"/>
          <p:cNvSpPr txBox="1"/>
          <p:nvPr/>
        </p:nvSpPr>
        <p:spPr>
          <a:xfrm>
            <a:off x="228600" y="1066800"/>
            <a:ext cx="8686800" cy="20621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result of </a:t>
            </a:r>
            <a:r>
              <a:rPr b="0" i="0" lang="en-US" sz="1800" u="none">
                <a:solidFill>
                  <a:srgbClr val="3333FF"/>
                </a:solidFill>
                <a:latin typeface="Verdana"/>
                <a:ea typeface="Verdana"/>
                <a:cs typeface="Verdana"/>
                <a:sym typeface="Verdana"/>
              </a:rPr>
              <a:t>2 mod 10 = 2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b="0" i="0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12 mod 10 = 2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b="0" i="0" lang="en-US" sz="1800" u="none">
                <a:solidFill>
                  <a:srgbClr val="00B050"/>
                </a:solidFill>
                <a:latin typeface="Verdana"/>
                <a:ea typeface="Verdana"/>
                <a:cs typeface="Verdana"/>
                <a:sym typeface="Verdana"/>
              </a:rPr>
              <a:t>22 mod 10 = 2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b="0" i="0" lang="en-US" sz="1800" u="none">
                <a:solidFill>
                  <a:srgbClr val="FF00FF"/>
                </a:solidFill>
                <a:latin typeface="Verdana"/>
                <a:ea typeface="Verdana"/>
                <a:cs typeface="Verdana"/>
                <a:sym typeface="Verdana"/>
              </a:rPr>
              <a:t>32 mod 10 = 2 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and so on.</a:t>
            </a:r>
            <a:endParaRPr/>
          </a:p>
          <a:p>
            <a:pPr indent="-457200" lvl="0" marL="4572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 modular arithmetic, integers like </a:t>
            </a:r>
            <a:r>
              <a:rPr b="0" i="0" lang="en-US" sz="1800" u="none">
                <a:solidFill>
                  <a:srgbClr val="3333FF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b="0" i="0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12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b="0" i="0" lang="en-US" sz="1800" u="none">
                <a:solidFill>
                  <a:srgbClr val="00B050"/>
                </a:solidFill>
                <a:latin typeface="Verdana"/>
                <a:ea typeface="Verdana"/>
                <a:cs typeface="Verdana"/>
                <a:sym typeface="Verdana"/>
              </a:rPr>
              <a:t>22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and </a:t>
            </a:r>
            <a:r>
              <a:rPr b="0" i="0" lang="en-US" sz="1800" u="none">
                <a:solidFill>
                  <a:srgbClr val="FF00FF"/>
                </a:solidFill>
                <a:latin typeface="Verdana"/>
                <a:ea typeface="Verdana"/>
                <a:cs typeface="Verdana"/>
                <a:sym typeface="Verdana"/>
              </a:rPr>
              <a:t>32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are called </a:t>
            </a:r>
            <a:r>
              <a:rPr b="0" i="0" lang="en-US" sz="1800" u="none">
                <a:solidFill>
                  <a:srgbClr val="3333FF"/>
                </a:solidFill>
                <a:latin typeface="Verdana"/>
                <a:ea typeface="Verdana"/>
                <a:cs typeface="Verdana"/>
                <a:sym typeface="Verdana"/>
              </a:rPr>
              <a:t>congruent mod 10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/>
          </a:p>
          <a:p>
            <a:pPr indent="-457200" lvl="0" marL="4572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To show that two integers are congruent, we use the congruence operator ( </a:t>
            </a:r>
            <a:r>
              <a:rPr b="0" i="0" lang="en-US" sz="1800" u="non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</a:rPr>
              <a:t>≡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). For example, we write:</a:t>
            </a:r>
            <a:endParaRPr/>
          </a:p>
        </p:txBody>
      </p:sp>
      <p:pic>
        <p:nvPicPr>
          <p:cNvPr id="298" name="Google Shape;29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3429000"/>
            <a:ext cx="6172200" cy="998537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6"/>
          <p:cNvSpPr txBox="1"/>
          <p:nvPr/>
        </p:nvSpPr>
        <p:spPr>
          <a:xfrm>
            <a:off x="0" y="0"/>
            <a:ext cx="9144000" cy="584200"/>
          </a:xfrm>
          <a:prstGeom prst="rect">
            <a:avLst/>
          </a:prstGeom>
          <a:solidFill>
            <a:srgbClr val="FFC000">
              <a:alpha val="73725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Congruence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150" y="2493962"/>
            <a:ext cx="7486650" cy="4059237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7"/>
          <p:cNvSpPr txBox="1"/>
          <p:nvPr/>
        </p:nvSpPr>
        <p:spPr>
          <a:xfrm>
            <a:off x="2243137" y="1905000"/>
            <a:ext cx="42338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2.11  </a:t>
            </a:r>
            <a:r>
              <a:rPr b="1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 of congruence</a:t>
            </a:r>
            <a:endParaRPr/>
          </a:p>
        </p:txBody>
      </p:sp>
      <p:sp>
        <p:nvSpPr>
          <p:cNvPr id="307" name="Google Shape;307;p37"/>
          <p:cNvSpPr txBox="1"/>
          <p:nvPr/>
        </p:nvSpPr>
        <p:spPr>
          <a:xfrm>
            <a:off x="533400" y="762000"/>
            <a:ext cx="6934200" cy="3698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Figure below shows the idea of congruence.</a:t>
            </a:r>
            <a:endParaRPr/>
          </a:p>
        </p:txBody>
      </p:sp>
      <p:sp>
        <p:nvSpPr>
          <p:cNvPr id="308" name="Google Shape;308;p37"/>
          <p:cNvSpPr txBox="1"/>
          <p:nvPr/>
        </p:nvSpPr>
        <p:spPr>
          <a:xfrm>
            <a:off x="0" y="0"/>
            <a:ext cx="9144000" cy="584200"/>
          </a:xfrm>
          <a:prstGeom prst="rect">
            <a:avLst/>
          </a:prstGeom>
          <a:solidFill>
            <a:srgbClr val="FFC000">
              <a:alpha val="73725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Congruence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2000-01-15T04:50:39Z</dcterms:created>
  <dc:creator>Valued Gateway Client</dc:creator>
</cp:coreProperties>
</file>