
<file path=[Content_Types].xml><?xml version="1.0" encoding="utf-8"?>
<Types xmlns="http://schemas.openxmlformats.org/package/2006/content-types">
  <Default ContentType="application/vnd.openxmlformats-officedocument.vmlDrawing" Extension="vml"/>
  <Default ContentType="application/xml" Extension="xml"/>
  <Default ContentType="image/png" Extension="png"/>
  <Default ContentType="application/msword" Extension="doc"/>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msword" PartName="/ppt/embeddings/Microsoft_Office_Word_97_-_2003_Document1.doc"/>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6858000" cx="9144000"/>
  <p:notesSz cx="6858000" cy="9067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56">
          <p15:clr>
            <a:srgbClr val="000000"/>
          </p15:clr>
        </p15:guide>
        <p15:guide id="2" pos="2160">
          <p15:clr>
            <a:srgbClr val="000000"/>
          </p15:clr>
        </p15:guide>
      </p15:notesGuideLst>
    </p:ext>
    <p:ext uri="GoogleSlidesCustomDataVersion2">
      <go:slidesCustomData xmlns:go="http://customooxmlschemas.google.com/" r:id="rId45" roundtripDataSignature="AMtx7mhgDX00E/GkLO2MgwNVWJkWh39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56"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63550"/>
          </a:xfrm>
          <a:prstGeom prst="rect">
            <a:avLst/>
          </a:prstGeom>
          <a:noFill/>
          <a:ln>
            <a:noFill/>
          </a:ln>
        </p:spPr>
        <p:txBody>
          <a:bodyPr anchorCtr="0" anchor="t" bIns="46125" lIns="92250" spcFirstLastPara="1" rIns="92250"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6200" y="0"/>
            <a:ext cx="2971800" cy="463550"/>
          </a:xfrm>
          <a:prstGeom prst="rect">
            <a:avLst/>
          </a:prstGeom>
          <a:noFill/>
          <a:ln>
            <a:noFill/>
          </a:ln>
        </p:spPr>
        <p:txBody>
          <a:bodyPr anchorCtr="0" anchor="t" bIns="46125" lIns="92250" spcFirstLastPara="1" rIns="92250"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593137"/>
            <a:ext cx="2971800" cy="465137"/>
          </a:xfrm>
          <a:prstGeom prst="rect">
            <a:avLst/>
          </a:prstGeom>
          <a:noFill/>
          <a:ln>
            <a:noFill/>
          </a:ln>
        </p:spPr>
        <p:txBody>
          <a:bodyPr anchorCtr="0" anchor="b" bIns="46125" lIns="92250" spcFirstLastPara="1" rIns="92250"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95" name="Google Shape;95;p2: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104" name="Google Shape;104;p3: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105" name="Google Shape;105;p3: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106" name="Google Shape;106;p3: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7" name="Google Shape;107;p3: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3: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Read {a, b, c} as “the set whose elements are a, b, and c” or just “the set a, b, c”.</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117" name="Google Shape;117;p4: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126" name="Google Shape;126;p5: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135" name="Google Shape;135;p6: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144" name="Google Shape;144;p7: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166" name="Google Shape;166;p8: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167" name="Google Shape;167;p8: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168" name="Google Shape;168;p8: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69" name="Google Shape;169;p8: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8: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With Venn diagrams, you can see that one set is a subset of another just by seeing that you can draw an enclosure around its members that fits completely inside an enclosure drawn around the larger set’s members.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199" name="Google Shape;199;p9: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208" name="Google Shape;208;p10: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217" name="Google Shape;217;p11: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218" name="Google Shape;218;p11: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219" name="Google Shape;219;p11: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20" name="Google Shape;220;p11: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1: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Note also that FORALL x P(x)-&gt;Q(x) can also be understood as meaning “{x|P(x)} is a subset of {x|Q{x}}”.  This can help you understand the meaning of implication.  For example, if I say, “if a student has a drivers license, then he is over 16,” this is the same as saying “the set of students with drivers licenses is a subset of the set of students who are over 16”, or “every student with a drivers license is over 16.”  If no students in the universe of discourse have drivers licenses, then the antecedent is always false, or in other words the set of students with drivers licenses is just the empty set, which is of course a member of every set, and so the statement is vacuously true.  Alternatively, if every student in the universe of discourse is over 16, then the consequent is always true, that is, the set of students who are over 16 is the entire universe of discourse, and so every set of students in the u.d. is necessarily a subset of the set of students who are over 16, and so the statement is trivially true.  The statement is only false if there exists a student with a drivers license in the u.d. who is under 16 (perhaps the license is fake or from a foreign country), in which case, the set of students with drivers licenses is *not* a subset of the under-16 students.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231" name="Google Shape;231;p12: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232" name="Google Shape;232;p12: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233" name="Google Shape;233;p12: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34" name="Google Shape;234;p12: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2: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We may also say, “S is a strict subset of T”, or “S is strictly a subset of T” to mean the same thing.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3: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251" name="Google Shape;251;p13: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252" name="Google Shape;252;p13: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253" name="Google Shape;253;p13: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54" name="Google Shape;254;p13: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13: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In general, any kind of object or structure, whether simple or complex, can be a member of a set.  In particular, sets themselves (being structures) can be members of sets.</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rPr lang="en-US"/>
              <a:t>If you don’t understand the distinction between 1, {1}, {{1}}, you’ll make endless silly mistakes.  1 is a number, the number one.  {1} is NOT A NUMBER AT ALL!  It is a COMPLETELY DIFFERENT TYPE OF OBJECT!  Namely, it is a set.  What kind of set?  It is a singleton set, by which we mean a set that contains exactly one element.  In this case, its element happens to be the number 1.  Now, what is {{1}}?  It is also a set, and also a singleton set, but it is a COMPLETELY DIFFERENT TYPE of singleton set.  To see this, notice that {1} is a set of numbers, whereas {{1}} is not a set of numbers at all!  It is a SET OF SETS.  Its single element is not a number at all, but is a SET.  Namely, the set {1}.  In other words, {{1}} is the singleton set whose member is the singleton set whose member is 1.  Whereas, {1} is just the singleton set whose member is 1.  And, 1 is just 1.  All of these are distinct objects and you’ve got to learn to keep them separate!  Otherwise, you’ll never have a chance of understanding data types in programming languages.  For example, in most languages, we can have an array of numbers, or an array of arrays of numbers, etc.  These are all completely different types of objects and can never be compatible with each other.</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4: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267" name="Google Shape;267;p14: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5: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280" name="Google Shape;280;p15: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281" name="Google Shape;281;p15: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282" name="Google Shape;282;p15: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83" name="Google Shape;283;p15: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15: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We’ll get to different sizes of infinite sets later, in the module on functions.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6: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293" name="Google Shape;293;p16: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294" name="Google Shape;294;p16: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295" name="Google Shape;295;p16: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96" name="Google Shape;296;p16: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6: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Sometimes people also define “bags”, which are unordered collections in which duplicates matter.  If you have a bag of coins, they are in no particular order, but it matters how many coins of each type you have.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7: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306" name="Google Shape;306;p17: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307" name="Google Shape;307;p17: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308" name="Google Shape;308;p17: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09" name="Google Shape;309;p17: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p17: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Usually AxBxC is defined as {(a,b,c) | a is in A and b is in B and c is in C}.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8: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319" name="Google Shape;319;p18: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9: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328" name="Google Shape;328;p19: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0: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350" name="Google Shape;350;p20: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1: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359" name="Google Shape;359;p21: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2: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379" name="Google Shape;379;p22: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3: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399" name="Google Shape;399;p23: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400" name="Google Shape;400;p23: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401" name="Google Shape;401;p23: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02" name="Google Shape;402;p23: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3: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We will see this basic counting principle again when we talk about combinatorics.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4: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415" name="Google Shape;415;p24: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416" name="Google Shape;416;p24: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417" name="Google Shape;417;p24: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18" name="Google Shape;418;p24: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p24: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NOT (x in A -&gt; x in B) = NOT (x not in A or x in B) (defn. of implies) = x in A AND x not in B (DeMorgan’s law).</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5: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428" name="Google Shape;428;p25: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6: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447" name="Google Shape;447;p26: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7: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477" name="Google Shape;477;p27: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28: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488" name="Google Shape;488;p28: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489" name="Google Shape;489;p28: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490" name="Google Shape;490;p28: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91" name="Google Shape;491;p28: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28: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Note that set difference and complement do not relate to each other like arithmetic difference and negative.  In arithmetic, we know that a-b = -(b-a).  But in sets, A-B is not generally the same as the complement of B-A.</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9: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512" name="Google Shape;512;p29: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0: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522" name="Google Shape;522;p30: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1: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532" name="Google Shape;532;p31: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2:notes"/>
          <p:cNvSpPr txBox="1"/>
          <p:nvPr/>
        </p:nvSpPr>
        <p:spPr>
          <a:xfrm>
            <a:off x="0" y="0"/>
            <a:ext cx="2971800" cy="463550"/>
          </a:xfrm>
          <a:prstGeom prst="rect">
            <a:avLst/>
          </a:prstGeom>
          <a:noFill/>
          <a:ln>
            <a:noFill/>
          </a:ln>
        </p:spPr>
        <p:txBody>
          <a:bodyPr anchorCtr="0" anchor="t"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Discrete Mathematics and its Applications</a:t>
            </a:r>
            <a:endParaRPr b="0" i="0" sz="1400" u="none" cap="none" strike="noStrike">
              <a:solidFill>
                <a:srgbClr val="000000"/>
              </a:solidFill>
              <a:latin typeface="Arial"/>
              <a:ea typeface="Arial"/>
              <a:cs typeface="Arial"/>
              <a:sym typeface="Arial"/>
            </a:endParaRPr>
          </a:p>
        </p:txBody>
      </p:sp>
      <p:sp>
        <p:nvSpPr>
          <p:cNvPr id="542" name="Google Shape;542;p32:notes"/>
          <p:cNvSpPr txBox="1"/>
          <p:nvPr/>
        </p:nvSpPr>
        <p:spPr>
          <a:xfrm>
            <a:off x="3886200" y="0"/>
            <a:ext cx="2971800" cy="463550"/>
          </a:xfrm>
          <a:prstGeom prst="rect">
            <a:avLst/>
          </a:prstGeom>
          <a:noFill/>
          <a:ln>
            <a:noFill/>
          </a:ln>
        </p:spPr>
        <p:txBody>
          <a:bodyPr anchorCtr="0" anchor="t"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543" name="Google Shape;543;p32:notes"/>
          <p:cNvSpPr txBox="1"/>
          <p:nvPr/>
        </p:nvSpPr>
        <p:spPr>
          <a:xfrm>
            <a:off x="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(c)2001-2002, Michael P. Frank</a:t>
            </a:r>
            <a:endParaRPr b="0" i="0" sz="1400" u="none" cap="none" strike="noStrike">
              <a:solidFill>
                <a:srgbClr val="000000"/>
              </a:solidFill>
              <a:latin typeface="Arial"/>
              <a:ea typeface="Arial"/>
              <a:cs typeface="Arial"/>
              <a:sym typeface="Arial"/>
            </a:endParaRPr>
          </a:p>
        </p:txBody>
      </p:sp>
      <p:sp>
        <p:nvSpPr>
          <p:cNvPr id="544" name="Google Shape;544;p32:notes"/>
          <p:cNvSpPr txBox="1"/>
          <p:nvPr/>
        </p:nvSpPr>
        <p:spPr>
          <a:xfrm>
            <a:off x="3886200" y="8593137"/>
            <a:ext cx="2971800" cy="465137"/>
          </a:xfrm>
          <a:prstGeom prst="rect">
            <a:avLst/>
          </a:prstGeom>
          <a:noFill/>
          <a:ln>
            <a:noFill/>
          </a:ln>
        </p:spPr>
        <p:txBody>
          <a:bodyPr anchorCtr="0" anchor="b" bIns="46125" lIns="92250" spcFirstLastPara="1" rIns="92250" wrap="square" tIns="46125">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45" name="Google Shape;545;p32: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32: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800"/>
              <a:buNone/>
            </a:pPr>
            <a:r>
              <a:rPr lang="en-US"/>
              <a:t>A membership table is like a truth table.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3: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555" name="Google Shape;555;p33: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4: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564" name="Google Shape;564;p34: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5: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578" name="Google Shape;578;p35: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36: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587" name="Google Shape;587;p36: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37: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599" name="Google Shape;599;p37: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8: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610" name="Google Shape;610;p38: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39:notes"/>
          <p:cNvSpPr txBox="1"/>
          <p:nvPr>
            <p:ph idx="1" type="body"/>
          </p:nvPr>
        </p:nvSpPr>
        <p:spPr>
          <a:xfrm>
            <a:off x="914400" y="4335462"/>
            <a:ext cx="5029200" cy="4025900"/>
          </a:xfrm>
          <a:prstGeom prst="rect">
            <a:avLst/>
          </a:prstGeom>
          <a:noFill/>
          <a:ln>
            <a:noFill/>
          </a:ln>
        </p:spPr>
        <p:txBody>
          <a:bodyPr anchorCtr="0" anchor="t" bIns="46125" lIns="92250" spcFirstLastPara="1" rIns="92250" wrap="square" tIns="46125">
            <a:noAutofit/>
          </a:bodyPr>
          <a:lstStyle/>
          <a:p>
            <a:pPr indent="0" lvl="0" marL="0" rtl="0" algn="l">
              <a:lnSpc>
                <a:spcPct val="100000"/>
              </a:lnSpc>
              <a:spcBef>
                <a:spcPts val="0"/>
              </a:spcBef>
              <a:spcAft>
                <a:spcPts val="0"/>
              </a:spcAft>
              <a:buSzPts val="1400"/>
              <a:buNone/>
            </a:pPr>
            <a:r>
              <a:t/>
            </a:r>
            <a:endParaRPr/>
          </a:p>
        </p:txBody>
      </p:sp>
      <p:sp>
        <p:nvSpPr>
          <p:cNvPr id="621" name="Google Shape;621;p39:notes"/>
          <p:cNvSpPr/>
          <p:nvPr>
            <p:ph idx="2" type="sldImg"/>
          </p:nvPr>
        </p:nvSpPr>
        <p:spPr>
          <a:xfrm>
            <a:off x="1158875" y="696912"/>
            <a:ext cx="4541837" cy="34067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4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 name="Shape 19"/>
        <p:cNvGrpSpPr/>
        <p:nvPr/>
      </p:nvGrpSpPr>
      <p:grpSpPr>
        <a:xfrm>
          <a:off x="0" y="0"/>
          <a:ext cx="0" cy="0"/>
          <a:chOff x="0" y="0"/>
          <a:chExt cx="0" cy="0"/>
        </a:xfrm>
      </p:grpSpPr>
      <p:sp>
        <p:nvSpPr>
          <p:cNvPr id="20" name="Google Shape;20;p4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 name="Google Shape;21;p4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4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 name="Shape 25"/>
        <p:cNvGrpSpPr/>
        <p:nvPr/>
      </p:nvGrpSpPr>
      <p:grpSpPr>
        <a:xfrm>
          <a:off x="0" y="0"/>
          <a:ext cx="0" cy="0"/>
          <a:chOff x="0" y="0"/>
          <a:chExt cx="0" cy="0"/>
        </a:xfrm>
      </p:grpSpPr>
      <p:sp>
        <p:nvSpPr>
          <p:cNvPr id="26" name="Google Shape;26;p4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 name="Google Shape;27;p43"/>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4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1" name="Shape 31"/>
        <p:cNvGrpSpPr/>
        <p:nvPr/>
      </p:nvGrpSpPr>
      <p:grpSpPr>
        <a:xfrm>
          <a:off x="0" y="0"/>
          <a:ext cx="0" cy="0"/>
          <a:chOff x="0" y="0"/>
          <a:chExt cx="0" cy="0"/>
        </a:xfrm>
      </p:grpSpPr>
      <p:sp>
        <p:nvSpPr>
          <p:cNvPr id="32" name="Google Shape;32;p4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 name="Google Shape;33;p44"/>
          <p:cNvSpPr/>
          <p:nvPr>
            <p:ph idx="2" type="pic"/>
          </p:nvPr>
        </p:nvSpPr>
        <p:spPr>
          <a:xfrm>
            <a:off x="1792288" y="612775"/>
            <a:ext cx="5486400" cy="4114800"/>
          </a:xfrm>
          <a:prstGeom prst="rect">
            <a:avLst/>
          </a:prstGeom>
          <a:noFill/>
          <a:ln>
            <a:noFill/>
          </a:ln>
        </p:spPr>
      </p:sp>
      <p:sp>
        <p:nvSpPr>
          <p:cNvPr id="34" name="Google Shape;34;p4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35" name="Google Shape;35;p4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8" name="Shape 38"/>
        <p:cNvGrpSpPr/>
        <p:nvPr/>
      </p:nvGrpSpPr>
      <p:grpSpPr>
        <a:xfrm>
          <a:off x="0" y="0"/>
          <a:ext cx="0" cy="0"/>
          <a:chOff x="0" y="0"/>
          <a:chExt cx="0" cy="0"/>
        </a:xfrm>
      </p:grpSpPr>
      <p:sp>
        <p:nvSpPr>
          <p:cNvPr id="39" name="Google Shape;39;p4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 name="Google Shape;40;p4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Arial"/>
              <a:buChar char="•"/>
              <a:defRPr sz="3200"/>
            </a:lvl1pPr>
            <a:lvl2pPr indent="-406400" lvl="1" marL="914400" algn="l">
              <a:lnSpc>
                <a:spcPct val="100000"/>
              </a:lnSpc>
              <a:spcBef>
                <a:spcPts val="560"/>
              </a:spcBef>
              <a:spcAft>
                <a:spcPts val="0"/>
              </a:spcAft>
              <a:buClr>
                <a:schemeClr val="dk1"/>
              </a:buClr>
              <a:buSzPts val="2800"/>
              <a:buFont typeface="Arial"/>
              <a:buChar char="–"/>
              <a:defRPr sz="2800"/>
            </a:lvl2pPr>
            <a:lvl3pPr indent="-381000" lvl="2" marL="1371600" algn="l">
              <a:lnSpc>
                <a:spcPct val="100000"/>
              </a:lnSpc>
              <a:spcBef>
                <a:spcPts val="480"/>
              </a:spcBef>
              <a:spcAft>
                <a:spcPts val="0"/>
              </a:spcAft>
              <a:buClr>
                <a:schemeClr val="dk1"/>
              </a:buClr>
              <a:buSzPts val="2400"/>
              <a:buFont typeface="Arial"/>
              <a:buChar char="•"/>
              <a:defRPr sz="2400"/>
            </a:lvl3pPr>
            <a:lvl4pPr indent="-355600" lvl="3" marL="1828800" algn="l">
              <a:lnSpc>
                <a:spcPct val="100000"/>
              </a:lnSpc>
              <a:spcBef>
                <a:spcPts val="400"/>
              </a:spcBef>
              <a:spcAft>
                <a:spcPts val="0"/>
              </a:spcAft>
              <a:buClr>
                <a:schemeClr val="dk1"/>
              </a:buClr>
              <a:buSzPts val="2000"/>
              <a:buFont typeface="Arial"/>
              <a:buChar char="–"/>
              <a:defRPr sz="2000"/>
            </a:lvl4pPr>
            <a:lvl5pPr indent="-355600" lvl="4" marL="2286000" algn="l">
              <a:lnSpc>
                <a:spcPct val="100000"/>
              </a:lnSpc>
              <a:spcBef>
                <a:spcPts val="400"/>
              </a:spcBef>
              <a:spcAft>
                <a:spcPts val="0"/>
              </a:spcAft>
              <a:buClr>
                <a:schemeClr val="dk1"/>
              </a:buClr>
              <a:buSzPts val="2000"/>
              <a:buFont typeface="Arial"/>
              <a:buChar char="»"/>
              <a:defRPr sz="2000"/>
            </a:lvl5pPr>
            <a:lvl6pPr indent="-355600" lvl="5" marL="2743200" algn="l">
              <a:lnSpc>
                <a:spcPct val="100000"/>
              </a:lnSpc>
              <a:spcBef>
                <a:spcPts val="400"/>
              </a:spcBef>
              <a:spcAft>
                <a:spcPts val="0"/>
              </a:spcAft>
              <a:buClr>
                <a:schemeClr val="dk1"/>
              </a:buClr>
              <a:buSzPts val="2000"/>
              <a:buFont typeface="Arial"/>
              <a:buChar char="»"/>
              <a:defRPr sz="2000"/>
            </a:lvl6pPr>
            <a:lvl7pPr indent="-355600" lvl="6" marL="3200400" algn="l">
              <a:lnSpc>
                <a:spcPct val="100000"/>
              </a:lnSpc>
              <a:spcBef>
                <a:spcPts val="400"/>
              </a:spcBef>
              <a:spcAft>
                <a:spcPts val="0"/>
              </a:spcAft>
              <a:buClr>
                <a:schemeClr val="dk1"/>
              </a:buClr>
              <a:buSzPts val="2000"/>
              <a:buFont typeface="Arial"/>
              <a:buChar char="»"/>
              <a:defRPr sz="2000"/>
            </a:lvl7pPr>
            <a:lvl8pPr indent="-355600" lvl="7" marL="3657600" algn="l">
              <a:lnSpc>
                <a:spcPct val="100000"/>
              </a:lnSpc>
              <a:spcBef>
                <a:spcPts val="400"/>
              </a:spcBef>
              <a:spcAft>
                <a:spcPts val="0"/>
              </a:spcAft>
              <a:buClr>
                <a:schemeClr val="dk1"/>
              </a:buClr>
              <a:buSzPts val="2000"/>
              <a:buFont typeface="Arial"/>
              <a:buChar char="»"/>
              <a:defRPr sz="2000"/>
            </a:lvl8pPr>
            <a:lvl9pPr indent="-355600" lvl="8" marL="4114800" algn="l">
              <a:lnSpc>
                <a:spcPct val="100000"/>
              </a:lnSpc>
              <a:spcBef>
                <a:spcPts val="400"/>
              </a:spcBef>
              <a:spcAft>
                <a:spcPts val="0"/>
              </a:spcAft>
              <a:buClr>
                <a:schemeClr val="dk1"/>
              </a:buClr>
              <a:buSzPts val="2000"/>
              <a:buFont typeface="Arial"/>
              <a:buChar char="»"/>
              <a:defRPr sz="2000"/>
            </a:lvl9pPr>
          </a:lstStyle>
          <a:p/>
        </p:txBody>
      </p:sp>
      <p:sp>
        <p:nvSpPr>
          <p:cNvPr id="41" name="Google Shape;41;p4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Font typeface="Arial"/>
              <a:buNone/>
              <a:defRPr sz="1400"/>
            </a:lvl1pPr>
            <a:lvl2pPr indent="-228600" lvl="1" marL="914400" algn="l">
              <a:lnSpc>
                <a:spcPct val="100000"/>
              </a:lnSpc>
              <a:spcBef>
                <a:spcPts val="240"/>
              </a:spcBef>
              <a:spcAft>
                <a:spcPts val="0"/>
              </a:spcAft>
              <a:buClr>
                <a:schemeClr val="dk1"/>
              </a:buClr>
              <a:buSzPts val="1200"/>
              <a:buFont typeface="Arial"/>
              <a:buNone/>
              <a:defRPr sz="1200"/>
            </a:lvl2pPr>
            <a:lvl3pPr indent="-228600" lvl="2" marL="1371600" algn="l">
              <a:lnSpc>
                <a:spcPct val="100000"/>
              </a:lnSpc>
              <a:spcBef>
                <a:spcPts val="200"/>
              </a:spcBef>
              <a:spcAft>
                <a:spcPts val="0"/>
              </a:spcAft>
              <a:buClr>
                <a:schemeClr val="dk1"/>
              </a:buClr>
              <a:buSzPts val="1000"/>
              <a:buFont typeface="Arial"/>
              <a:buNone/>
              <a:defRPr sz="1000"/>
            </a:lvl3pPr>
            <a:lvl4pPr indent="-228600" lvl="3" marL="1828800" algn="l">
              <a:lnSpc>
                <a:spcPct val="100000"/>
              </a:lnSpc>
              <a:spcBef>
                <a:spcPts val="180"/>
              </a:spcBef>
              <a:spcAft>
                <a:spcPts val="0"/>
              </a:spcAft>
              <a:buClr>
                <a:schemeClr val="dk1"/>
              </a:buClr>
              <a:buSzPts val="900"/>
              <a:buFont typeface="Arial"/>
              <a:buNone/>
              <a:defRPr sz="900"/>
            </a:lvl4pPr>
            <a:lvl5pPr indent="-228600" lvl="4" marL="2286000" algn="l">
              <a:lnSpc>
                <a:spcPct val="100000"/>
              </a:lnSpc>
              <a:spcBef>
                <a:spcPts val="180"/>
              </a:spcBef>
              <a:spcAft>
                <a:spcPts val="0"/>
              </a:spcAft>
              <a:buClr>
                <a:schemeClr val="dk1"/>
              </a:buClr>
              <a:buSzPts val="900"/>
              <a:buFont typeface="Arial"/>
              <a:buNone/>
              <a:defRPr sz="900"/>
            </a:lvl5pPr>
            <a:lvl6pPr indent="-228600" lvl="5" marL="2743200" algn="l">
              <a:lnSpc>
                <a:spcPct val="100000"/>
              </a:lnSpc>
              <a:spcBef>
                <a:spcPts val="180"/>
              </a:spcBef>
              <a:spcAft>
                <a:spcPts val="0"/>
              </a:spcAft>
              <a:buClr>
                <a:schemeClr val="dk1"/>
              </a:buClr>
              <a:buSzPts val="900"/>
              <a:buFont typeface="Arial"/>
              <a:buNone/>
              <a:defRPr sz="900"/>
            </a:lvl6pPr>
            <a:lvl7pPr indent="-228600" lvl="6" marL="3200400" algn="l">
              <a:lnSpc>
                <a:spcPct val="100000"/>
              </a:lnSpc>
              <a:spcBef>
                <a:spcPts val="180"/>
              </a:spcBef>
              <a:spcAft>
                <a:spcPts val="0"/>
              </a:spcAft>
              <a:buClr>
                <a:schemeClr val="dk1"/>
              </a:buClr>
              <a:buSzPts val="900"/>
              <a:buFont typeface="Arial"/>
              <a:buNone/>
              <a:defRPr sz="900"/>
            </a:lvl7pPr>
            <a:lvl8pPr indent="-228600" lvl="7" marL="3657600" algn="l">
              <a:lnSpc>
                <a:spcPct val="100000"/>
              </a:lnSpc>
              <a:spcBef>
                <a:spcPts val="180"/>
              </a:spcBef>
              <a:spcAft>
                <a:spcPts val="0"/>
              </a:spcAft>
              <a:buClr>
                <a:schemeClr val="dk1"/>
              </a:buClr>
              <a:buSzPts val="900"/>
              <a:buFont typeface="Arial"/>
              <a:buNone/>
              <a:defRPr sz="900"/>
            </a:lvl8pPr>
            <a:lvl9pPr indent="-228600" lvl="8" marL="4114800" algn="l">
              <a:lnSpc>
                <a:spcPct val="100000"/>
              </a:lnSpc>
              <a:spcBef>
                <a:spcPts val="180"/>
              </a:spcBef>
              <a:spcAft>
                <a:spcPts val="0"/>
              </a:spcAft>
              <a:buClr>
                <a:schemeClr val="dk1"/>
              </a:buClr>
              <a:buSzPts val="900"/>
              <a:buFont typeface="Arial"/>
              <a:buNone/>
              <a:defRPr sz="900"/>
            </a:lvl9pPr>
          </a:lstStyle>
          <a:p/>
        </p:txBody>
      </p:sp>
      <p:sp>
        <p:nvSpPr>
          <p:cNvPr id="42" name="Google Shape;42;p4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 name="Google Shape;47;p4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 name="Google Shape;52;p4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53" name="Google Shape;53;p4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54" name="Google Shape;54;p4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Arial"/>
              <a:buNone/>
              <a:defRPr b="1" sz="2400"/>
            </a:lvl1pPr>
            <a:lvl2pPr indent="-228600" lvl="1" marL="914400" algn="l">
              <a:lnSpc>
                <a:spcPct val="100000"/>
              </a:lnSpc>
              <a:spcBef>
                <a:spcPts val="400"/>
              </a:spcBef>
              <a:spcAft>
                <a:spcPts val="0"/>
              </a:spcAft>
              <a:buClr>
                <a:schemeClr val="dk1"/>
              </a:buClr>
              <a:buSzPts val="2000"/>
              <a:buFont typeface="Arial"/>
              <a:buNone/>
              <a:defRPr b="1" sz="2000"/>
            </a:lvl2pPr>
            <a:lvl3pPr indent="-228600" lvl="2" marL="1371600" algn="l">
              <a:lnSpc>
                <a:spcPct val="100000"/>
              </a:lnSpc>
              <a:spcBef>
                <a:spcPts val="360"/>
              </a:spcBef>
              <a:spcAft>
                <a:spcPts val="0"/>
              </a:spcAft>
              <a:buClr>
                <a:schemeClr val="dk1"/>
              </a:buClr>
              <a:buSzPts val="1800"/>
              <a:buFont typeface="Arial"/>
              <a:buNone/>
              <a:defRPr b="1" sz="1800"/>
            </a:lvl3pPr>
            <a:lvl4pPr indent="-228600" lvl="3" marL="1828800" algn="l">
              <a:lnSpc>
                <a:spcPct val="100000"/>
              </a:lnSpc>
              <a:spcBef>
                <a:spcPts val="320"/>
              </a:spcBef>
              <a:spcAft>
                <a:spcPts val="0"/>
              </a:spcAft>
              <a:buClr>
                <a:schemeClr val="dk1"/>
              </a:buClr>
              <a:buSzPts val="1600"/>
              <a:buFont typeface="Arial"/>
              <a:buNone/>
              <a:defRPr b="1" sz="1600"/>
            </a:lvl4pPr>
            <a:lvl5pPr indent="-228600" lvl="4" marL="2286000" algn="l">
              <a:lnSpc>
                <a:spcPct val="100000"/>
              </a:lnSpc>
              <a:spcBef>
                <a:spcPts val="320"/>
              </a:spcBef>
              <a:spcAft>
                <a:spcPts val="0"/>
              </a:spcAft>
              <a:buClr>
                <a:schemeClr val="dk1"/>
              </a:buClr>
              <a:buSzPts val="1600"/>
              <a:buFont typeface="Arial"/>
              <a:buNone/>
              <a:defRPr b="1" sz="1600"/>
            </a:lvl5pPr>
            <a:lvl6pPr indent="-228600" lvl="5" marL="2743200" algn="l">
              <a:lnSpc>
                <a:spcPct val="100000"/>
              </a:lnSpc>
              <a:spcBef>
                <a:spcPts val="320"/>
              </a:spcBef>
              <a:spcAft>
                <a:spcPts val="0"/>
              </a:spcAft>
              <a:buClr>
                <a:schemeClr val="dk1"/>
              </a:buClr>
              <a:buSzPts val="1600"/>
              <a:buFont typeface="Arial"/>
              <a:buNone/>
              <a:defRPr b="1" sz="1600"/>
            </a:lvl6pPr>
            <a:lvl7pPr indent="-228600" lvl="6" marL="3200400" algn="l">
              <a:lnSpc>
                <a:spcPct val="100000"/>
              </a:lnSpc>
              <a:spcBef>
                <a:spcPts val="320"/>
              </a:spcBef>
              <a:spcAft>
                <a:spcPts val="0"/>
              </a:spcAft>
              <a:buClr>
                <a:schemeClr val="dk1"/>
              </a:buClr>
              <a:buSzPts val="1600"/>
              <a:buFont typeface="Arial"/>
              <a:buNone/>
              <a:defRPr b="1" sz="1600"/>
            </a:lvl7pPr>
            <a:lvl8pPr indent="-228600" lvl="7" marL="3657600" algn="l">
              <a:lnSpc>
                <a:spcPct val="100000"/>
              </a:lnSpc>
              <a:spcBef>
                <a:spcPts val="320"/>
              </a:spcBef>
              <a:spcAft>
                <a:spcPts val="0"/>
              </a:spcAft>
              <a:buClr>
                <a:schemeClr val="dk1"/>
              </a:buClr>
              <a:buSzPts val="1600"/>
              <a:buFont typeface="Arial"/>
              <a:buNone/>
              <a:defRPr b="1" sz="1600"/>
            </a:lvl8pPr>
            <a:lvl9pPr indent="-228600" lvl="8" marL="4114800" algn="l">
              <a:lnSpc>
                <a:spcPct val="100000"/>
              </a:lnSpc>
              <a:spcBef>
                <a:spcPts val="320"/>
              </a:spcBef>
              <a:spcAft>
                <a:spcPts val="0"/>
              </a:spcAft>
              <a:buClr>
                <a:schemeClr val="dk1"/>
              </a:buClr>
              <a:buSzPts val="1600"/>
              <a:buFont typeface="Arial"/>
              <a:buNone/>
              <a:defRPr b="1" sz="1600"/>
            </a:lvl9pPr>
          </a:lstStyle>
          <a:p/>
        </p:txBody>
      </p:sp>
      <p:sp>
        <p:nvSpPr>
          <p:cNvPr id="55" name="Google Shape;55;p4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Font typeface="Arial"/>
              <a:buChar char="•"/>
              <a:defRPr sz="2400"/>
            </a:lvl1pPr>
            <a:lvl2pPr indent="-355600" lvl="1" marL="914400" algn="l">
              <a:lnSpc>
                <a:spcPct val="100000"/>
              </a:lnSpc>
              <a:spcBef>
                <a:spcPts val="400"/>
              </a:spcBef>
              <a:spcAft>
                <a:spcPts val="0"/>
              </a:spcAft>
              <a:buClr>
                <a:schemeClr val="dk1"/>
              </a:buClr>
              <a:buSzPts val="2000"/>
              <a:buFont typeface="Arial"/>
              <a:buChar char="–"/>
              <a:defRPr sz="2000"/>
            </a:lvl2pPr>
            <a:lvl3pPr indent="-342900" lvl="2" marL="1371600" algn="l">
              <a:lnSpc>
                <a:spcPct val="100000"/>
              </a:lnSpc>
              <a:spcBef>
                <a:spcPts val="360"/>
              </a:spcBef>
              <a:spcAft>
                <a:spcPts val="0"/>
              </a:spcAft>
              <a:buClr>
                <a:schemeClr val="dk1"/>
              </a:buClr>
              <a:buSzPts val="1800"/>
              <a:buFont typeface="Arial"/>
              <a:buChar char="•"/>
              <a:defRPr sz="1800"/>
            </a:lvl3pPr>
            <a:lvl4pPr indent="-330200" lvl="3" marL="1828800" algn="l">
              <a:lnSpc>
                <a:spcPct val="100000"/>
              </a:lnSpc>
              <a:spcBef>
                <a:spcPts val="320"/>
              </a:spcBef>
              <a:spcAft>
                <a:spcPts val="0"/>
              </a:spcAft>
              <a:buClr>
                <a:schemeClr val="dk1"/>
              </a:buClr>
              <a:buSzPts val="1600"/>
              <a:buFont typeface="Arial"/>
              <a:buChar char="–"/>
              <a:defRPr sz="1600"/>
            </a:lvl4pPr>
            <a:lvl5pPr indent="-330200" lvl="4" marL="2286000" algn="l">
              <a:lnSpc>
                <a:spcPct val="100000"/>
              </a:lnSpc>
              <a:spcBef>
                <a:spcPts val="320"/>
              </a:spcBef>
              <a:spcAft>
                <a:spcPts val="0"/>
              </a:spcAft>
              <a:buClr>
                <a:schemeClr val="dk1"/>
              </a:buClr>
              <a:buSzPts val="1600"/>
              <a:buFont typeface="Arial"/>
              <a:buChar char="»"/>
              <a:defRPr sz="1600"/>
            </a:lvl5pPr>
            <a:lvl6pPr indent="-330200" lvl="5" marL="2743200" algn="l">
              <a:lnSpc>
                <a:spcPct val="100000"/>
              </a:lnSpc>
              <a:spcBef>
                <a:spcPts val="320"/>
              </a:spcBef>
              <a:spcAft>
                <a:spcPts val="0"/>
              </a:spcAft>
              <a:buClr>
                <a:schemeClr val="dk1"/>
              </a:buClr>
              <a:buSzPts val="1600"/>
              <a:buFont typeface="Arial"/>
              <a:buChar char="»"/>
              <a:defRPr sz="1600"/>
            </a:lvl6pPr>
            <a:lvl7pPr indent="-330200" lvl="6" marL="3200400" algn="l">
              <a:lnSpc>
                <a:spcPct val="100000"/>
              </a:lnSpc>
              <a:spcBef>
                <a:spcPts val="320"/>
              </a:spcBef>
              <a:spcAft>
                <a:spcPts val="0"/>
              </a:spcAft>
              <a:buClr>
                <a:schemeClr val="dk1"/>
              </a:buClr>
              <a:buSzPts val="1600"/>
              <a:buFont typeface="Arial"/>
              <a:buChar char="»"/>
              <a:defRPr sz="1600"/>
            </a:lvl7pPr>
            <a:lvl8pPr indent="-330200" lvl="7" marL="3657600" algn="l">
              <a:lnSpc>
                <a:spcPct val="100000"/>
              </a:lnSpc>
              <a:spcBef>
                <a:spcPts val="320"/>
              </a:spcBef>
              <a:spcAft>
                <a:spcPts val="0"/>
              </a:spcAft>
              <a:buClr>
                <a:schemeClr val="dk1"/>
              </a:buClr>
              <a:buSzPts val="1600"/>
              <a:buFont typeface="Arial"/>
              <a:buChar char="»"/>
              <a:defRPr sz="1600"/>
            </a:lvl8pPr>
            <a:lvl9pPr indent="-330200" lvl="8" marL="4114800" algn="l">
              <a:lnSpc>
                <a:spcPct val="100000"/>
              </a:lnSpc>
              <a:spcBef>
                <a:spcPts val="320"/>
              </a:spcBef>
              <a:spcAft>
                <a:spcPts val="0"/>
              </a:spcAft>
              <a:buClr>
                <a:schemeClr val="dk1"/>
              </a:buClr>
              <a:buSzPts val="1600"/>
              <a:buFont typeface="Arial"/>
              <a:buChar char="»"/>
              <a:defRPr sz="1600"/>
            </a:lvl9pPr>
          </a:lstStyle>
          <a:p/>
        </p:txBody>
      </p:sp>
      <p:sp>
        <p:nvSpPr>
          <p:cNvPr id="56" name="Google Shape;56;p4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4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 name="Google Shape;61;p4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62" name="Google Shape;62;p4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Font typeface="Arial"/>
              <a:buChar char="•"/>
              <a:defRPr sz="2800"/>
            </a:lvl1pPr>
            <a:lvl2pPr indent="-381000" lvl="1" marL="914400" algn="l">
              <a:lnSpc>
                <a:spcPct val="100000"/>
              </a:lnSpc>
              <a:spcBef>
                <a:spcPts val="480"/>
              </a:spcBef>
              <a:spcAft>
                <a:spcPts val="0"/>
              </a:spcAft>
              <a:buClr>
                <a:schemeClr val="dk1"/>
              </a:buClr>
              <a:buSzPts val="2400"/>
              <a:buFont typeface="Arial"/>
              <a:buChar char="–"/>
              <a:defRPr sz="2400"/>
            </a:lvl2pPr>
            <a:lvl3pPr indent="-355600" lvl="2" marL="1371600" algn="l">
              <a:lnSpc>
                <a:spcPct val="100000"/>
              </a:lnSpc>
              <a:spcBef>
                <a:spcPts val="400"/>
              </a:spcBef>
              <a:spcAft>
                <a:spcPts val="0"/>
              </a:spcAft>
              <a:buClr>
                <a:schemeClr val="dk1"/>
              </a:buClr>
              <a:buSzPts val="2000"/>
              <a:buFont typeface="Arial"/>
              <a:buChar char="•"/>
              <a:defRPr sz="2000"/>
            </a:lvl3pPr>
            <a:lvl4pPr indent="-342900" lvl="3" marL="1828800" algn="l">
              <a:lnSpc>
                <a:spcPct val="100000"/>
              </a:lnSpc>
              <a:spcBef>
                <a:spcPts val="360"/>
              </a:spcBef>
              <a:spcAft>
                <a:spcPts val="0"/>
              </a:spcAft>
              <a:buClr>
                <a:schemeClr val="dk1"/>
              </a:buClr>
              <a:buSzPts val="1800"/>
              <a:buFont typeface="Arial"/>
              <a:buChar char="–"/>
              <a:defRPr sz="1800"/>
            </a:lvl4pPr>
            <a:lvl5pPr indent="-342900" lvl="4" marL="2286000" algn="l">
              <a:lnSpc>
                <a:spcPct val="100000"/>
              </a:lnSpc>
              <a:spcBef>
                <a:spcPts val="360"/>
              </a:spcBef>
              <a:spcAft>
                <a:spcPts val="0"/>
              </a:spcAft>
              <a:buClr>
                <a:schemeClr val="dk1"/>
              </a:buClr>
              <a:buSzPts val="1800"/>
              <a:buFont typeface="Arial"/>
              <a:buChar char="»"/>
              <a:defRPr sz="1800"/>
            </a:lvl5pPr>
            <a:lvl6pPr indent="-342900" lvl="5" marL="2743200" algn="l">
              <a:lnSpc>
                <a:spcPct val="100000"/>
              </a:lnSpc>
              <a:spcBef>
                <a:spcPts val="360"/>
              </a:spcBef>
              <a:spcAft>
                <a:spcPts val="0"/>
              </a:spcAft>
              <a:buClr>
                <a:schemeClr val="dk1"/>
              </a:buClr>
              <a:buSzPts val="1800"/>
              <a:buFont typeface="Arial"/>
              <a:buChar char="»"/>
              <a:defRPr sz="1800"/>
            </a:lvl6pPr>
            <a:lvl7pPr indent="-342900" lvl="6" marL="3200400" algn="l">
              <a:lnSpc>
                <a:spcPct val="100000"/>
              </a:lnSpc>
              <a:spcBef>
                <a:spcPts val="360"/>
              </a:spcBef>
              <a:spcAft>
                <a:spcPts val="0"/>
              </a:spcAft>
              <a:buClr>
                <a:schemeClr val="dk1"/>
              </a:buClr>
              <a:buSzPts val="1800"/>
              <a:buFont typeface="Arial"/>
              <a:buChar char="»"/>
              <a:defRPr sz="1800"/>
            </a:lvl7pPr>
            <a:lvl8pPr indent="-342900" lvl="7" marL="3657600" algn="l">
              <a:lnSpc>
                <a:spcPct val="100000"/>
              </a:lnSpc>
              <a:spcBef>
                <a:spcPts val="360"/>
              </a:spcBef>
              <a:spcAft>
                <a:spcPts val="0"/>
              </a:spcAft>
              <a:buClr>
                <a:schemeClr val="dk1"/>
              </a:buClr>
              <a:buSzPts val="1800"/>
              <a:buFont typeface="Arial"/>
              <a:buChar char="»"/>
              <a:defRPr sz="1800"/>
            </a:lvl8pPr>
            <a:lvl9pPr indent="-342900" lvl="8" marL="4114800" algn="l">
              <a:lnSpc>
                <a:spcPct val="100000"/>
              </a:lnSpc>
              <a:spcBef>
                <a:spcPts val="360"/>
              </a:spcBef>
              <a:spcAft>
                <a:spcPts val="0"/>
              </a:spcAft>
              <a:buClr>
                <a:schemeClr val="dk1"/>
              </a:buClr>
              <a:buSzPts val="1800"/>
              <a:buFont typeface="Arial"/>
              <a:buChar char="»"/>
              <a:defRPr sz="1800"/>
            </a:lvl9pPr>
          </a:lstStyle>
          <a:p/>
        </p:txBody>
      </p:sp>
      <p:sp>
        <p:nvSpPr>
          <p:cNvPr id="63" name="Google Shape;63;p4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4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 name="Google Shape;68;p4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chemeClr val="dk1"/>
              </a:buClr>
              <a:buSzPts val="2000"/>
              <a:buFont typeface="Arial"/>
              <a:buNone/>
              <a:defRPr sz="2000"/>
            </a:lvl1pPr>
            <a:lvl2pPr indent="-228600" lvl="1" marL="914400" algn="l">
              <a:lnSpc>
                <a:spcPct val="100000"/>
              </a:lnSpc>
              <a:spcBef>
                <a:spcPts val="360"/>
              </a:spcBef>
              <a:spcAft>
                <a:spcPts val="0"/>
              </a:spcAft>
              <a:buClr>
                <a:schemeClr val="dk1"/>
              </a:buClr>
              <a:buSzPts val="1800"/>
              <a:buFont typeface="Arial"/>
              <a:buNone/>
              <a:defRPr sz="1800"/>
            </a:lvl2pPr>
            <a:lvl3pPr indent="-228600" lvl="2" marL="1371600" algn="l">
              <a:lnSpc>
                <a:spcPct val="100000"/>
              </a:lnSpc>
              <a:spcBef>
                <a:spcPts val="320"/>
              </a:spcBef>
              <a:spcAft>
                <a:spcPts val="0"/>
              </a:spcAft>
              <a:buClr>
                <a:schemeClr val="dk1"/>
              </a:buClr>
              <a:buSzPts val="1600"/>
              <a:buFont typeface="Arial"/>
              <a:buNone/>
              <a:defRPr sz="1600"/>
            </a:lvl3pPr>
            <a:lvl4pPr indent="-228600" lvl="3" marL="1828800" algn="l">
              <a:lnSpc>
                <a:spcPct val="100000"/>
              </a:lnSpc>
              <a:spcBef>
                <a:spcPts val="280"/>
              </a:spcBef>
              <a:spcAft>
                <a:spcPts val="0"/>
              </a:spcAft>
              <a:buClr>
                <a:schemeClr val="dk1"/>
              </a:buClr>
              <a:buSzPts val="1400"/>
              <a:buFont typeface="Arial"/>
              <a:buNone/>
              <a:defRPr sz="1400"/>
            </a:lvl4pPr>
            <a:lvl5pPr indent="-228600" lvl="4" marL="2286000" algn="l">
              <a:lnSpc>
                <a:spcPct val="100000"/>
              </a:lnSpc>
              <a:spcBef>
                <a:spcPts val="280"/>
              </a:spcBef>
              <a:spcAft>
                <a:spcPts val="0"/>
              </a:spcAft>
              <a:buClr>
                <a:schemeClr val="dk1"/>
              </a:buClr>
              <a:buSzPts val="1400"/>
              <a:buFont typeface="Arial"/>
              <a:buNone/>
              <a:defRPr sz="1400"/>
            </a:lvl5pPr>
            <a:lvl6pPr indent="-228600" lvl="5" marL="2743200" algn="l">
              <a:lnSpc>
                <a:spcPct val="100000"/>
              </a:lnSpc>
              <a:spcBef>
                <a:spcPts val="280"/>
              </a:spcBef>
              <a:spcAft>
                <a:spcPts val="0"/>
              </a:spcAft>
              <a:buClr>
                <a:schemeClr val="dk1"/>
              </a:buClr>
              <a:buSzPts val="1400"/>
              <a:buFont typeface="Arial"/>
              <a:buNone/>
              <a:defRPr sz="1400"/>
            </a:lvl6pPr>
            <a:lvl7pPr indent="-228600" lvl="6" marL="3200400" algn="l">
              <a:lnSpc>
                <a:spcPct val="100000"/>
              </a:lnSpc>
              <a:spcBef>
                <a:spcPts val="280"/>
              </a:spcBef>
              <a:spcAft>
                <a:spcPts val="0"/>
              </a:spcAft>
              <a:buClr>
                <a:schemeClr val="dk1"/>
              </a:buClr>
              <a:buSzPts val="1400"/>
              <a:buFont typeface="Arial"/>
              <a:buNone/>
              <a:defRPr sz="1400"/>
            </a:lvl7pPr>
            <a:lvl8pPr indent="-228600" lvl="7" marL="3657600" algn="l">
              <a:lnSpc>
                <a:spcPct val="100000"/>
              </a:lnSpc>
              <a:spcBef>
                <a:spcPts val="280"/>
              </a:spcBef>
              <a:spcAft>
                <a:spcPts val="0"/>
              </a:spcAft>
              <a:buClr>
                <a:schemeClr val="dk1"/>
              </a:buClr>
              <a:buSzPts val="1400"/>
              <a:buFont typeface="Arial"/>
              <a:buNone/>
              <a:defRPr sz="1400"/>
            </a:lvl8pPr>
            <a:lvl9pPr indent="-228600" lvl="8" marL="4114800" algn="l">
              <a:lnSpc>
                <a:spcPct val="100000"/>
              </a:lnSpc>
              <a:spcBef>
                <a:spcPts val="280"/>
              </a:spcBef>
              <a:spcAft>
                <a:spcPts val="0"/>
              </a:spcAft>
              <a:buClr>
                <a:schemeClr val="dk1"/>
              </a:buClr>
              <a:buSzPts val="1400"/>
              <a:buFont typeface="Arial"/>
              <a:buNone/>
              <a:defRPr sz="1400"/>
            </a:lvl9pPr>
          </a:lstStyle>
          <a:p/>
        </p:txBody>
      </p:sp>
      <p:sp>
        <p:nvSpPr>
          <p:cNvPr id="69" name="Google Shape;69;p4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2" name="Shape 72"/>
        <p:cNvGrpSpPr/>
        <p:nvPr/>
      </p:nvGrpSpPr>
      <p:grpSpPr>
        <a:xfrm>
          <a:off x="0" y="0"/>
          <a:ext cx="0" cy="0"/>
          <a:chOff x="0" y="0"/>
          <a:chExt cx="0" cy="0"/>
        </a:xfrm>
      </p:grpSpPr>
      <p:sp>
        <p:nvSpPr>
          <p:cNvPr id="73" name="Google Shape;73;p5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5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5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8" name="Shape 78"/>
        <p:cNvGrpSpPr/>
        <p:nvPr/>
      </p:nvGrpSpPr>
      <p:grpSpPr>
        <a:xfrm>
          <a:off x="0" y="0"/>
          <a:ext cx="0" cy="0"/>
          <a:chOff x="0" y="0"/>
          <a:chExt cx="0" cy="0"/>
        </a:xfrm>
      </p:grpSpPr>
      <p:sp>
        <p:nvSpPr>
          <p:cNvPr id="79" name="Google Shape;79;p5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 name="Google Shape;80;p5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chemeClr val="dk1"/>
              </a:buClr>
              <a:buSzPts val="3200"/>
              <a:buFont typeface="Arial"/>
              <a:buNone/>
              <a:defRPr/>
            </a:lvl1pPr>
            <a:lvl2pPr lvl="1" algn="ctr">
              <a:lnSpc>
                <a:spcPct val="100000"/>
              </a:lnSpc>
              <a:spcBef>
                <a:spcPts val="560"/>
              </a:spcBef>
              <a:spcAft>
                <a:spcPts val="0"/>
              </a:spcAft>
              <a:buClr>
                <a:schemeClr val="dk1"/>
              </a:buClr>
              <a:buSzPts val="28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400"/>
              </a:spcBef>
              <a:spcAft>
                <a:spcPts val="0"/>
              </a:spcAft>
              <a:buClr>
                <a:schemeClr val="dk1"/>
              </a:buClr>
              <a:buSzPts val="2000"/>
              <a:buFont typeface="Arial"/>
              <a:buNone/>
              <a:defRPr/>
            </a:lvl4pPr>
            <a:lvl5pPr lvl="4" algn="ctr">
              <a:lnSpc>
                <a:spcPct val="100000"/>
              </a:lnSpc>
              <a:spcBef>
                <a:spcPts val="400"/>
              </a:spcBef>
              <a:spcAft>
                <a:spcPts val="0"/>
              </a:spcAft>
              <a:buClr>
                <a:schemeClr val="dk1"/>
              </a:buClr>
              <a:buSzPts val="2000"/>
              <a:buFont typeface="Arial"/>
              <a:buNone/>
              <a:defRPr/>
            </a:lvl5pPr>
            <a:lvl6pPr lvl="5" algn="ctr">
              <a:lnSpc>
                <a:spcPct val="100000"/>
              </a:lnSpc>
              <a:spcBef>
                <a:spcPts val="400"/>
              </a:spcBef>
              <a:spcAft>
                <a:spcPts val="0"/>
              </a:spcAft>
              <a:buClr>
                <a:schemeClr val="dk1"/>
              </a:buClr>
              <a:buSzPts val="2000"/>
              <a:buFont typeface="Arial"/>
              <a:buNone/>
              <a:defRPr/>
            </a:lvl6pPr>
            <a:lvl7pPr lvl="6" algn="ctr">
              <a:lnSpc>
                <a:spcPct val="100000"/>
              </a:lnSpc>
              <a:spcBef>
                <a:spcPts val="400"/>
              </a:spcBef>
              <a:spcAft>
                <a:spcPts val="0"/>
              </a:spcAft>
              <a:buClr>
                <a:schemeClr val="dk1"/>
              </a:buClr>
              <a:buSzPts val="2000"/>
              <a:buFont typeface="Arial"/>
              <a:buNone/>
              <a:defRPr/>
            </a:lvl7pPr>
            <a:lvl8pPr lvl="7" algn="ctr">
              <a:lnSpc>
                <a:spcPct val="100000"/>
              </a:lnSpc>
              <a:spcBef>
                <a:spcPts val="400"/>
              </a:spcBef>
              <a:spcAft>
                <a:spcPts val="0"/>
              </a:spcAft>
              <a:buClr>
                <a:schemeClr val="dk1"/>
              </a:buClr>
              <a:buSzPts val="2000"/>
              <a:buFont typeface="Arial"/>
              <a:buNone/>
              <a:defRPr/>
            </a:lvl8pPr>
            <a:lvl9pPr lvl="8" algn="ctr">
              <a:lnSpc>
                <a:spcPct val="100000"/>
              </a:lnSpc>
              <a:spcBef>
                <a:spcPts val="400"/>
              </a:spcBef>
              <a:spcAft>
                <a:spcPts val="0"/>
              </a:spcAft>
              <a:buClr>
                <a:schemeClr val="dk1"/>
              </a:buClr>
              <a:buSzPts val="2000"/>
              <a:buFont typeface="Arial"/>
              <a:buNone/>
              <a:defRPr/>
            </a:lvl9pPr>
          </a:lstStyle>
          <a:p/>
        </p:txBody>
      </p:sp>
      <p:sp>
        <p:nvSpPr>
          <p:cNvPr id="81" name="Google Shape;81;p5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2"/>
                </a:solidFill>
                <a:latin typeface="Arial"/>
                <a:ea typeface="Arial"/>
                <a:cs typeface="Arial"/>
                <a:sym typeface="Arial"/>
              </a:defRPr>
            </a:lvl9pPr>
          </a:lstStyle>
          <a:p/>
        </p:txBody>
      </p:sp>
      <p:sp>
        <p:nvSpPr>
          <p:cNvPr id="11" name="Google Shape;11;p4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4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4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4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4.png"/><Relationship Id="rId7"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vmlDrawing" Target="../drawings/vmlDrawing1.vml"/><Relationship Id="rId4" Type="http://schemas.openxmlformats.org/officeDocument/2006/relationships/oleObject" Target="../embeddings/Microsoft_Office_Word_97_-_2003_Document1.doc"/><Relationship Id="rId5" Type="http://schemas.openxmlformats.org/officeDocument/2006/relationships/oleObject" Target="../embeddings/Microsoft_Office_Word_97_-_2003_Document1.doc"/><Relationship Id="rId6"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8.pn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4.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89" name="Google Shape;89;p1"/>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0" name="Google Shape;90;p1"/>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91" name="Google Shape;91;p1"/>
          <p:cNvSpPr txBox="1"/>
          <p:nvPr>
            <p:ph idx="4294967295"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1" i="0" lang="en-US" sz="4400" u="none" cap="none" strike="noStrike">
                <a:solidFill>
                  <a:schemeClr val="dk2"/>
                </a:solidFill>
                <a:latin typeface="Arial"/>
                <a:ea typeface="Arial"/>
                <a:cs typeface="Arial"/>
                <a:sym typeface="Arial"/>
              </a:rPr>
              <a:t>Set Theory</a:t>
            </a:r>
            <a:endParaRPr b="0" i="0" sz="4400" u="none" cap="none" strike="noStrike">
              <a:solidFill>
                <a:schemeClr val="dk2"/>
              </a:solidFill>
              <a:latin typeface="Arial"/>
              <a:ea typeface="Arial"/>
              <a:cs typeface="Arial"/>
              <a:sym typeface="Arial"/>
            </a:endParaRPr>
          </a:p>
        </p:txBody>
      </p:sp>
      <p:sp>
        <p:nvSpPr>
          <p:cNvPr id="92" name="Google Shape;92;p1"/>
          <p:cNvSpPr txBox="1"/>
          <p:nvPr>
            <p:ph idx="4294967295" type="subTitle"/>
          </p:nvPr>
        </p:nvSpPr>
        <p:spPr>
          <a:xfrm>
            <a:off x="1182687" y="4030662"/>
            <a:ext cx="6778625" cy="838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CSE-103: Discrete Mathematics</a:t>
            </a:r>
            <a:endParaRPr b="1" i="0" sz="32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9" name="Google Shape;99;p2"/>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00" name="Google Shape;100;p2"/>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Introduction to Set Theory</a:t>
            </a:r>
            <a:endParaRPr/>
          </a:p>
        </p:txBody>
      </p:sp>
      <p:sp>
        <p:nvSpPr>
          <p:cNvPr id="101" name="Google Shape;101;p2"/>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A </a:t>
            </a:r>
            <a:r>
              <a:rPr b="0" i="1" lang="en-US" sz="2800" u="none" cap="none" strike="noStrike">
                <a:solidFill>
                  <a:schemeClr val="dk1"/>
                </a:solidFill>
                <a:latin typeface="Arial"/>
                <a:ea typeface="Arial"/>
                <a:cs typeface="Arial"/>
                <a:sym typeface="Arial"/>
              </a:rPr>
              <a:t>set</a:t>
            </a:r>
            <a:r>
              <a:rPr b="0" i="0" lang="en-US" sz="2800" u="none" cap="none" strike="noStrike">
                <a:solidFill>
                  <a:schemeClr val="dk1"/>
                </a:solidFill>
                <a:latin typeface="Arial"/>
                <a:ea typeface="Arial"/>
                <a:cs typeface="Arial"/>
                <a:sym typeface="Arial"/>
              </a:rPr>
              <a:t> is a structure, representing an </a:t>
            </a:r>
            <a:r>
              <a:rPr b="0" i="1" lang="en-US" sz="2800" u="sng" cap="none" strike="noStrike">
                <a:solidFill>
                  <a:schemeClr val="dk1"/>
                </a:solidFill>
                <a:latin typeface="Arial"/>
                <a:ea typeface="Arial"/>
                <a:cs typeface="Arial"/>
                <a:sym typeface="Arial"/>
              </a:rPr>
              <a:t>unordered</a:t>
            </a:r>
            <a:r>
              <a:rPr b="0" i="1" lang="en-US" sz="2800" u="none" cap="none" strike="noStrike">
                <a:solidFill>
                  <a:schemeClr val="dk1"/>
                </a:solidFill>
                <a:latin typeface="Arial"/>
                <a:ea typeface="Arial"/>
                <a:cs typeface="Arial"/>
                <a:sym typeface="Arial"/>
              </a:rPr>
              <a:t> </a:t>
            </a:r>
            <a:r>
              <a:rPr b="0" i="0" lang="en-US" sz="2800" u="none" cap="none" strike="noStrike">
                <a:solidFill>
                  <a:schemeClr val="dk1"/>
                </a:solidFill>
                <a:latin typeface="Arial"/>
                <a:ea typeface="Arial"/>
                <a:cs typeface="Arial"/>
                <a:sym typeface="Arial"/>
              </a:rPr>
              <a:t>collection (group, plurality) of zero or more </a:t>
            </a:r>
            <a:r>
              <a:rPr b="0" i="1" lang="en-US" sz="2800" u="sng" cap="none" strike="noStrike">
                <a:solidFill>
                  <a:schemeClr val="dk1"/>
                </a:solidFill>
                <a:latin typeface="Arial"/>
                <a:ea typeface="Arial"/>
                <a:cs typeface="Arial"/>
                <a:sym typeface="Arial"/>
              </a:rPr>
              <a:t>distinct</a:t>
            </a:r>
            <a:r>
              <a:rPr b="0" i="1" lang="en-US" sz="2800" u="none" cap="none" strike="noStrike">
                <a:solidFill>
                  <a:schemeClr val="dk1"/>
                </a:solidFill>
                <a:latin typeface="Arial"/>
                <a:ea typeface="Arial"/>
                <a:cs typeface="Arial"/>
                <a:sym typeface="Arial"/>
              </a:rPr>
              <a:t> </a:t>
            </a:r>
            <a:r>
              <a:rPr b="0" i="0" lang="en-US" sz="2800" u="none" cap="none" strike="noStrike">
                <a:solidFill>
                  <a:schemeClr val="dk1"/>
                </a:solidFill>
                <a:latin typeface="Arial"/>
                <a:ea typeface="Arial"/>
                <a:cs typeface="Arial"/>
                <a:sym typeface="Arial"/>
              </a:rPr>
              <a:t>(different) objects.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Set theory deals with operations between, relations among, and statements about sets.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The </a:t>
            </a:r>
            <a:r>
              <a:rPr b="0" i="1" lang="en-US" sz="2800" u="none" cap="none" strike="noStrike">
                <a:solidFill>
                  <a:schemeClr val="dk1"/>
                </a:solidFill>
                <a:latin typeface="Arial"/>
                <a:ea typeface="Arial"/>
                <a:cs typeface="Arial"/>
                <a:sym typeface="Arial"/>
              </a:rPr>
              <a:t>objects </a:t>
            </a:r>
            <a:r>
              <a:rPr b="0" i="0" lang="en-US" sz="2800" u="none" cap="none" strike="noStrike">
                <a:solidFill>
                  <a:schemeClr val="dk1"/>
                </a:solidFill>
                <a:latin typeface="Arial"/>
                <a:ea typeface="Arial"/>
                <a:cs typeface="Arial"/>
                <a:sym typeface="Arial"/>
              </a:rPr>
              <a:t>in a set are called the </a:t>
            </a:r>
            <a:r>
              <a:rPr b="0" i="1" lang="en-US" sz="2800" u="sng" cap="none" strike="noStrike">
                <a:solidFill>
                  <a:schemeClr val="dk1"/>
                </a:solidFill>
                <a:latin typeface="Arial"/>
                <a:ea typeface="Arial"/>
                <a:cs typeface="Arial"/>
                <a:sym typeface="Arial"/>
              </a:rPr>
              <a:t>elements </a:t>
            </a:r>
            <a:r>
              <a:rPr b="0" i="0" lang="en-US" sz="2800" u="none" cap="none" strike="noStrike">
                <a:solidFill>
                  <a:schemeClr val="dk1"/>
                </a:solidFill>
                <a:latin typeface="Arial"/>
                <a:ea typeface="Arial"/>
                <a:cs typeface="Arial"/>
                <a:sym typeface="Arial"/>
              </a:rPr>
              <a:t>or </a:t>
            </a:r>
            <a:r>
              <a:rPr b="0" i="1" lang="en-US" sz="2800" u="sng" cap="none" strike="noStrike">
                <a:solidFill>
                  <a:schemeClr val="dk1"/>
                </a:solidFill>
                <a:latin typeface="Arial"/>
                <a:ea typeface="Arial"/>
                <a:cs typeface="Arial"/>
                <a:sym typeface="Arial"/>
              </a:rPr>
              <a:t>members </a:t>
            </a:r>
            <a:r>
              <a:rPr b="0" i="0" lang="en-US" sz="2800" u="none" cap="none" strike="noStrike">
                <a:solidFill>
                  <a:schemeClr val="dk1"/>
                </a:solidFill>
                <a:latin typeface="Arial"/>
                <a:ea typeface="Arial"/>
                <a:cs typeface="Arial"/>
                <a:sym typeface="Arial"/>
              </a:rPr>
              <a:t>of that set.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11" name="Google Shape;111;p3"/>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2" name="Google Shape;112;p3"/>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13" name="Google Shape;113;p3"/>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Basic notations for sets</a:t>
            </a:r>
            <a:endParaRPr/>
          </a:p>
        </p:txBody>
      </p:sp>
      <p:sp>
        <p:nvSpPr>
          <p:cNvPr id="114" name="Google Shape;114;p3"/>
          <p:cNvSpPr txBox="1"/>
          <p:nvPr>
            <p:ph idx="4294967295" type="body"/>
          </p:nvPr>
        </p:nvSpPr>
        <p:spPr>
          <a:xfrm>
            <a:off x="685800" y="1981200"/>
            <a:ext cx="7772400" cy="4343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For sets, we’ll use variables </a:t>
            </a:r>
            <a:r>
              <a:rPr b="0" i="1" lang="en-US" sz="2800" u="none" cap="none" strike="noStrike">
                <a:solidFill>
                  <a:schemeClr val="dk1"/>
                </a:solidFill>
                <a:latin typeface="Arial"/>
                <a:ea typeface="Arial"/>
                <a:cs typeface="Arial"/>
                <a:sym typeface="Arial"/>
              </a:rPr>
              <a:t>S</a:t>
            </a:r>
            <a:r>
              <a:rPr b="0" i="0" lang="en-US" sz="2800" u="none" cap="none" strike="noStrike">
                <a:solidFill>
                  <a:schemeClr val="dk1"/>
                </a:solidFill>
                <a:latin typeface="Arial"/>
                <a:ea typeface="Arial"/>
                <a:cs typeface="Arial"/>
                <a:sym typeface="Arial"/>
              </a:rPr>
              <a:t>, </a:t>
            </a:r>
            <a:r>
              <a:rPr b="0" i="1" lang="en-US" sz="2800" u="none" cap="none" strike="noStrike">
                <a:solidFill>
                  <a:schemeClr val="dk1"/>
                </a:solidFill>
                <a:latin typeface="Arial"/>
                <a:ea typeface="Arial"/>
                <a:cs typeface="Arial"/>
                <a:sym typeface="Arial"/>
              </a:rPr>
              <a:t>T</a:t>
            </a:r>
            <a:r>
              <a:rPr b="0" i="0" lang="en-US" sz="2800" u="none" cap="none" strike="noStrike">
                <a:solidFill>
                  <a:schemeClr val="dk1"/>
                </a:solidFill>
                <a:latin typeface="Arial"/>
                <a:ea typeface="Arial"/>
                <a:cs typeface="Arial"/>
                <a:sym typeface="Arial"/>
              </a:rPr>
              <a:t>, </a:t>
            </a:r>
            <a:r>
              <a:rPr b="0" i="1" lang="en-US" sz="2800" u="none" cap="none" strike="noStrike">
                <a:solidFill>
                  <a:schemeClr val="dk1"/>
                </a:solidFill>
                <a:latin typeface="Arial"/>
                <a:ea typeface="Arial"/>
                <a:cs typeface="Arial"/>
                <a:sym typeface="Arial"/>
              </a:rPr>
              <a:t>U</a:t>
            </a:r>
            <a:r>
              <a:rPr b="0" i="0" lang="en-US" sz="2800" u="none" cap="none" strike="noStrike">
                <a:solidFill>
                  <a:schemeClr val="dk1"/>
                </a:solidFill>
                <a:latin typeface="Arial"/>
                <a:ea typeface="Arial"/>
                <a:cs typeface="Arial"/>
                <a:sym typeface="Arial"/>
              </a:rPr>
              <a:t>, …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We can denote a set </a:t>
            </a:r>
            <a:r>
              <a:rPr b="0" i="1" lang="en-US" sz="2800" u="none" cap="none" strike="noStrike">
                <a:solidFill>
                  <a:schemeClr val="dk1"/>
                </a:solidFill>
                <a:latin typeface="Arial"/>
                <a:ea typeface="Arial"/>
                <a:cs typeface="Arial"/>
                <a:sym typeface="Arial"/>
              </a:rPr>
              <a:t>S</a:t>
            </a:r>
            <a:r>
              <a:rPr b="0" i="0" lang="en-US" sz="2800" u="none" cap="none" strike="noStrike">
                <a:solidFill>
                  <a:schemeClr val="dk1"/>
                </a:solidFill>
                <a:latin typeface="Arial"/>
                <a:ea typeface="Arial"/>
                <a:cs typeface="Arial"/>
                <a:sym typeface="Arial"/>
              </a:rPr>
              <a:t> in writing by listing all of its elements in curly braces: </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 b, c} is the set of whatever 3 objects are denoted by a, b, c.</a:t>
            </a:r>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cap="none" strike="noStrike">
                <a:solidFill>
                  <a:schemeClr val="dk1"/>
                </a:solidFill>
                <a:latin typeface="Arial"/>
                <a:ea typeface="Arial"/>
                <a:cs typeface="Arial"/>
                <a:sym typeface="Arial"/>
              </a:rPr>
              <a:t>Set</a:t>
            </a:r>
            <a:r>
              <a:rPr b="0" i="0" lang="en-US" sz="2800" u="none" cap="none" strike="noStrike">
                <a:solidFill>
                  <a:schemeClr val="dk1"/>
                </a:solidFill>
                <a:latin typeface="Arial"/>
                <a:ea typeface="Arial"/>
                <a:cs typeface="Arial"/>
                <a:sym typeface="Arial"/>
              </a:rPr>
              <a:t> </a:t>
            </a:r>
            <a:r>
              <a:rPr b="0" i="1" lang="en-US" sz="2800" u="none" cap="none" strike="noStrike">
                <a:solidFill>
                  <a:schemeClr val="dk1"/>
                </a:solidFill>
                <a:latin typeface="Arial"/>
                <a:ea typeface="Arial"/>
                <a:cs typeface="Arial"/>
                <a:sym typeface="Arial"/>
              </a:rPr>
              <a:t>builder notation</a:t>
            </a:r>
            <a:r>
              <a:rPr b="0" i="0" lang="en-US" sz="2800" u="none" cap="none" strike="noStrike">
                <a:solidFill>
                  <a:schemeClr val="dk1"/>
                </a:solidFill>
                <a:latin typeface="Arial"/>
                <a:ea typeface="Arial"/>
                <a:cs typeface="Arial"/>
                <a:sym typeface="Arial"/>
              </a:rPr>
              <a:t>: For any proposition </a:t>
            </a:r>
            <a:r>
              <a:rPr b="0" i="1" lang="en-US" sz="2800" u="none" cap="none" strike="noStrike">
                <a:solidFill>
                  <a:schemeClr val="dk1"/>
                </a:solidFill>
                <a:latin typeface="Arial"/>
                <a:ea typeface="Arial"/>
                <a:cs typeface="Arial"/>
                <a:sym typeface="Arial"/>
              </a:rPr>
              <a:t>P</a:t>
            </a:r>
            <a:r>
              <a:rPr b="0" i="0" lang="en-US" sz="2800" u="none" cap="none" strike="noStrike">
                <a:solidFill>
                  <a:schemeClr val="dk1"/>
                </a:solidFill>
                <a:latin typeface="Arial"/>
                <a:ea typeface="Arial"/>
                <a:cs typeface="Arial"/>
                <a:sym typeface="Arial"/>
              </a:rPr>
              <a:t>(</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 over any universe of discourse, {</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a:t>
            </a:r>
            <a:r>
              <a:rPr b="0" i="1" lang="en-US" sz="2800" u="none" cap="none" strike="noStrike">
                <a:solidFill>
                  <a:schemeClr val="dk1"/>
                </a:solidFill>
                <a:latin typeface="Arial"/>
                <a:ea typeface="Arial"/>
                <a:cs typeface="Arial"/>
                <a:sym typeface="Arial"/>
              </a:rPr>
              <a:t>P</a:t>
            </a:r>
            <a:r>
              <a:rPr b="0" i="0" lang="en-US" sz="2800" u="none" cap="none" strike="noStrike">
                <a:solidFill>
                  <a:schemeClr val="dk1"/>
                </a:solidFill>
                <a:latin typeface="Arial"/>
                <a:ea typeface="Arial"/>
                <a:cs typeface="Arial"/>
                <a:sym typeface="Arial"/>
              </a:rPr>
              <a:t>(</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 is </a:t>
            </a:r>
            <a:r>
              <a:rPr b="0" i="1" lang="en-US" sz="2800" u="none" cap="none" strike="noStrike">
                <a:solidFill>
                  <a:schemeClr val="dk1"/>
                </a:solidFill>
                <a:latin typeface="Arial"/>
                <a:ea typeface="Arial"/>
                <a:cs typeface="Arial"/>
                <a:sym typeface="Arial"/>
              </a:rPr>
              <a:t>the set of all x such that P(x).</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e.g., {</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 | </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 is an integer where </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&gt;0 and </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&lt;5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20" name="Google Shape;120;p4"/>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1" name="Google Shape;121;p4"/>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2" name="Google Shape;122;p4"/>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Basic properties of sets</a:t>
            </a:r>
            <a:endParaRPr/>
          </a:p>
        </p:txBody>
      </p:sp>
      <p:sp>
        <p:nvSpPr>
          <p:cNvPr id="123" name="Google Shape;123;p4"/>
          <p:cNvSpPr txBox="1"/>
          <p:nvPr>
            <p:ph idx="4294967295" type="body"/>
          </p:nvPr>
        </p:nvSpPr>
        <p:spPr>
          <a:xfrm>
            <a:off x="685800" y="1981200"/>
            <a:ext cx="77724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Sets are inherently </a:t>
            </a:r>
            <a:r>
              <a:rPr b="0" i="1" lang="en-US" sz="3200" u="sng" cap="none" strike="noStrike">
                <a:solidFill>
                  <a:schemeClr val="dk1"/>
                </a:solidFill>
                <a:latin typeface="Arial"/>
                <a:ea typeface="Arial"/>
                <a:cs typeface="Arial"/>
                <a:sym typeface="Arial"/>
              </a:rPr>
              <a:t>unordered</a:t>
            </a:r>
            <a:r>
              <a:rPr b="0" i="0" lang="en-US" sz="3200" u="none" cap="none" strike="noStrike">
                <a:solidFill>
                  <a:schemeClr val="dk1"/>
                </a:solidFill>
                <a:latin typeface="Arial"/>
                <a:ea typeface="Arial"/>
                <a:cs typeface="Arial"/>
                <a:sym typeface="Arial"/>
              </a:rPr>
              <a:t>:</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No matter what objects a, b, and c denote, </a:t>
            </a: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{a, b, c} = {a, c, b} = {b, a, c} =</a:t>
            </a: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{b, c, a} = {c, a, b} = {c, b, a}.</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All elements are </a:t>
            </a:r>
            <a:r>
              <a:rPr b="0" i="1" lang="en-US" sz="3200" u="sng" cap="none" strike="noStrike">
                <a:solidFill>
                  <a:schemeClr val="dk1"/>
                </a:solidFill>
                <a:latin typeface="Arial"/>
                <a:ea typeface="Arial"/>
                <a:cs typeface="Arial"/>
                <a:sym typeface="Arial"/>
              </a:rPr>
              <a:t>distinct</a:t>
            </a:r>
            <a:r>
              <a:rPr b="0" i="0" lang="en-US" sz="3200" u="none" cap="none" strike="noStrike">
                <a:solidFill>
                  <a:schemeClr val="dk1"/>
                </a:solidFill>
                <a:latin typeface="Arial"/>
                <a:ea typeface="Arial"/>
                <a:cs typeface="Arial"/>
                <a:sym typeface="Arial"/>
              </a:rPr>
              <a:t> (unequal);</a:t>
            </a:r>
            <a:br>
              <a:rPr b="0" i="0" lang="en-US" sz="3200" u="none" cap="none" strike="noStrike">
                <a:solidFill>
                  <a:schemeClr val="dk1"/>
                </a:solidFill>
                <a:latin typeface="Arial"/>
                <a:ea typeface="Arial"/>
                <a:cs typeface="Arial"/>
                <a:sym typeface="Arial"/>
              </a:rPr>
            </a:br>
            <a:r>
              <a:rPr b="0" i="0" lang="en-US" sz="3200" u="none" cap="none" strike="noStrike">
                <a:solidFill>
                  <a:schemeClr val="dk1"/>
                </a:solidFill>
                <a:latin typeface="Arial"/>
                <a:ea typeface="Arial"/>
                <a:cs typeface="Arial"/>
                <a:sym typeface="Arial"/>
              </a:rPr>
              <a:t>multiple listings make no difference!</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{a, b, c} = {a, a, b, a, b, c, c, c, c}. </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This set contains at most 3 elements!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29" name="Google Shape;129;p5"/>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0" name="Google Shape;130;p5"/>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31" name="Google Shape;131;p5"/>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Definition of Set Equality</a:t>
            </a:r>
            <a:endParaRPr/>
          </a:p>
        </p:txBody>
      </p:sp>
      <p:sp>
        <p:nvSpPr>
          <p:cNvPr id="132" name="Google Shape;132;p5"/>
          <p:cNvSpPr txBox="1"/>
          <p:nvPr>
            <p:ph idx="4294967295" type="body"/>
          </p:nvPr>
        </p:nvSpPr>
        <p:spPr>
          <a:xfrm>
            <a:off x="685800" y="1981200"/>
            <a:ext cx="7772400" cy="4267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Two sets are declared to be equal </a:t>
            </a:r>
            <a:r>
              <a:rPr b="0" i="1" lang="en-US" sz="2400" u="none" cap="none" strike="noStrike">
                <a:solidFill>
                  <a:schemeClr val="dk1"/>
                </a:solidFill>
                <a:latin typeface="Arial"/>
                <a:ea typeface="Arial"/>
                <a:cs typeface="Arial"/>
                <a:sym typeface="Arial"/>
              </a:rPr>
              <a:t>if and only if</a:t>
            </a:r>
            <a:r>
              <a:rPr b="0" i="0" lang="en-US" sz="2400" u="none" cap="none" strike="noStrike">
                <a:solidFill>
                  <a:schemeClr val="dk1"/>
                </a:solidFill>
                <a:latin typeface="Arial"/>
                <a:ea typeface="Arial"/>
                <a:cs typeface="Arial"/>
                <a:sym typeface="Arial"/>
              </a:rPr>
              <a:t> they contain </a:t>
            </a:r>
            <a:r>
              <a:rPr b="0" i="0" lang="en-US" sz="2400" u="sng" cap="none" strike="noStrike">
                <a:solidFill>
                  <a:schemeClr val="dk1"/>
                </a:solidFill>
                <a:latin typeface="Arial"/>
                <a:ea typeface="Arial"/>
                <a:cs typeface="Arial"/>
                <a:sym typeface="Arial"/>
              </a:rPr>
              <a:t>exactly the same</a:t>
            </a:r>
            <a:r>
              <a:rPr b="0" i="0" lang="en-US" sz="2400" u="none" cap="none" strike="noStrike">
                <a:solidFill>
                  <a:schemeClr val="dk1"/>
                </a:solidFill>
                <a:latin typeface="Arial"/>
                <a:ea typeface="Arial"/>
                <a:cs typeface="Arial"/>
                <a:sym typeface="Arial"/>
              </a:rPr>
              <a:t> elements.</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Two sets A and B are equal if and only if ∀x(x ϵ A ↔ x ϵ B) i.e. A=B.</a:t>
            </a:r>
            <a:endParaRPr b="0" i="0" sz="2000" u="none" cap="none" strike="noStrike">
              <a:solidFill>
                <a:schemeClr val="dk1"/>
              </a:solidFill>
              <a:latin typeface="Arial"/>
              <a:ea typeface="Arial"/>
              <a:cs typeface="Arial"/>
              <a:sym typeface="Arial"/>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 particular, it does not matter </a:t>
            </a:r>
            <a:r>
              <a:rPr b="0" i="1" lang="en-US" sz="2400" u="none" cap="none" strike="noStrike">
                <a:solidFill>
                  <a:schemeClr val="dk1"/>
                </a:solidFill>
                <a:latin typeface="Arial"/>
                <a:ea typeface="Arial"/>
                <a:cs typeface="Arial"/>
                <a:sym typeface="Arial"/>
              </a:rPr>
              <a:t>how the set is defined or denoted.</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For example: The set {1, 2, 3, 4} = </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 is an integer where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&gt;0 and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&lt;5 } = </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 is a positive integer whose square</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               is  &gt;0 and &lt;25}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6"/>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38" name="Google Shape;138;p6"/>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9" name="Google Shape;139;p6"/>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40" name="Google Shape;140;p6"/>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Infinite Sets</a:t>
            </a:r>
            <a:endParaRPr/>
          </a:p>
        </p:txBody>
      </p:sp>
      <p:sp>
        <p:nvSpPr>
          <p:cNvPr id="141" name="Google Shape;141;p6"/>
          <p:cNvSpPr txBox="1"/>
          <p:nvPr>
            <p:ph idx="4294967295" type="body"/>
          </p:nvPr>
        </p:nvSpPr>
        <p:spPr>
          <a:xfrm>
            <a:off x="685800" y="1981200"/>
            <a:ext cx="7772400" cy="4267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Conceptually, sets may be </a:t>
            </a:r>
            <a:r>
              <a:rPr b="0" i="1" lang="en-US" sz="2800" u="none" cap="none" strike="noStrike">
                <a:solidFill>
                  <a:schemeClr val="dk1"/>
                </a:solidFill>
                <a:latin typeface="Arial"/>
                <a:ea typeface="Arial"/>
                <a:cs typeface="Arial"/>
                <a:sym typeface="Arial"/>
              </a:rPr>
              <a:t>infinite</a:t>
            </a:r>
            <a:r>
              <a:rPr b="0" i="0" lang="en-US" sz="2800" u="none" cap="none" strike="noStrike">
                <a:solidFill>
                  <a:schemeClr val="dk1"/>
                </a:solidFill>
                <a:latin typeface="Arial"/>
                <a:ea typeface="Arial"/>
                <a:cs typeface="Arial"/>
                <a:sym typeface="Arial"/>
              </a:rPr>
              <a:t> (</a:t>
            </a:r>
            <a:r>
              <a:rPr b="0" i="1" lang="en-US" sz="2800" u="none" cap="none" strike="noStrike">
                <a:solidFill>
                  <a:schemeClr val="dk1"/>
                </a:solidFill>
                <a:latin typeface="Arial"/>
                <a:ea typeface="Arial"/>
                <a:cs typeface="Arial"/>
                <a:sym typeface="Arial"/>
              </a:rPr>
              <a:t>i.e., </a:t>
            </a:r>
            <a:r>
              <a:rPr b="0" i="0" lang="en-US" sz="2800" u="none" cap="none" strike="noStrike">
                <a:solidFill>
                  <a:schemeClr val="dk1"/>
                </a:solidFill>
                <a:latin typeface="Arial"/>
                <a:ea typeface="Arial"/>
                <a:cs typeface="Arial"/>
                <a:sym typeface="Arial"/>
              </a:rPr>
              <a:t>not </a:t>
            </a:r>
            <a:r>
              <a:rPr b="0" i="1" lang="en-US" sz="2800" u="none" cap="none" strike="noStrike">
                <a:solidFill>
                  <a:schemeClr val="dk1"/>
                </a:solidFill>
                <a:latin typeface="Arial"/>
                <a:ea typeface="Arial"/>
                <a:cs typeface="Arial"/>
                <a:sym typeface="Arial"/>
              </a:rPr>
              <a:t>finite</a:t>
            </a:r>
            <a:r>
              <a:rPr b="0" i="0" lang="en-US" sz="2800" u="none" cap="none" strike="noStrike">
                <a:solidFill>
                  <a:schemeClr val="dk1"/>
                </a:solidFill>
                <a:latin typeface="Arial"/>
                <a:ea typeface="Arial"/>
                <a:cs typeface="Arial"/>
                <a:sym typeface="Arial"/>
              </a:rPr>
              <a:t>, without end, unending).</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Symbols for some special infinite sets:</a:t>
            </a:r>
            <a:br>
              <a:rPr b="0" i="0" lang="en-US" sz="28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N</a:t>
            </a:r>
            <a:r>
              <a:rPr b="0" i="0" lang="en-US" sz="2800" u="none" cap="none" strike="noStrike">
                <a:solidFill>
                  <a:schemeClr val="dk1"/>
                </a:solidFill>
                <a:latin typeface="Arial"/>
                <a:ea typeface="Arial"/>
                <a:cs typeface="Arial"/>
                <a:sym typeface="Arial"/>
              </a:rPr>
              <a:t> = {0, 1, 2, …}    The </a:t>
            </a:r>
            <a:r>
              <a:rPr b="1" i="0" lang="en-US" sz="2800" u="none" cap="none" strike="noStrike">
                <a:solidFill>
                  <a:schemeClr val="dk1"/>
                </a:solidFill>
                <a:latin typeface="Arial"/>
                <a:ea typeface="Arial"/>
                <a:cs typeface="Arial"/>
                <a:sym typeface="Arial"/>
              </a:rPr>
              <a:t>n</a:t>
            </a:r>
            <a:r>
              <a:rPr b="0" i="0" lang="en-US" sz="2800" u="none" cap="none" strike="noStrike">
                <a:solidFill>
                  <a:schemeClr val="dk1"/>
                </a:solidFill>
                <a:latin typeface="Arial"/>
                <a:ea typeface="Arial"/>
                <a:cs typeface="Arial"/>
                <a:sym typeface="Arial"/>
              </a:rPr>
              <a:t>atural numbers.</a:t>
            </a:r>
            <a:br>
              <a:rPr b="0" i="0" lang="en-US" sz="28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Z</a:t>
            </a:r>
            <a:r>
              <a:rPr b="0" i="0" lang="en-US" sz="2800" u="none" cap="none" strike="noStrike">
                <a:solidFill>
                  <a:schemeClr val="dk1"/>
                </a:solidFill>
                <a:latin typeface="Arial"/>
                <a:ea typeface="Arial"/>
                <a:cs typeface="Arial"/>
                <a:sym typeface="Arial"/>
              </a:rPr>
              <a:t> = {…, -2, -1, 0, 1, 2, …}  The integers.</a:t>
            </a:r>
            <a:br>
              <a:rPr b="0" i="0" lang="en-US" sz="28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R</a:t>
            </a:r>
            <a:r>
              <a:rPr b="0" i="0" lang="en-US" sz="2800" u="none" cap="none" strike="noStrike">
                <a:solidFill>
                  <a:schemeClr val="dk1"/>
                </a:solidFill>
                <a:latin typeface="Arial"/>
                <a:ea typeface="Arial"/>
                <a:cs typeface="Arial"/>
                <a:sym typeface="Arial"/>
              </a:rPr>
              <a:t> = The “</a:t>
            </a:r>
            <a:r>
              <a:rPr b="1" i="0" lang="en-US" sz="2800" u="none" cap="none" strike="noStrike">
                <a:solidFill>
                  <a:schemeClr val="dk1"/>
                </a:solidFill>
                <a:latin typeface="Arial"/>
                <a:ea typeface="Arial"/>
                <a:cs typeface="Arial"/>
                <a:sym typeface="Arial"/>
              </a:rPr>
              <a:t>r</a:t>
            </a:r>
            <a:r>
              <a:rPr b="0" i="0" lang="en-US" sz="2800" u="none" cap="none" strike="noStrike">
                <a:solidFill>
                  <a:schemeClr val="dk1"/>
                </a:solidFill>
                <a:latin typeface="Arial"/>
                <a:ea typeface="Arial"/>
                <a:cs typeface="Arial"/>
                <a:sym typeface="Arial"/>
              </a:rPr>
              <a:t>eal” numbers, such as 374.1828471929498181917281943125…</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Infinite sets come in different sizes!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47" name="Google Shape;147;p7"/>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8" name="Google Shape;148;p7"/>
          <p:cNvSpPr txBox="1"/>
          <p:nvPr>
            <p:ph idx="4294967295" type="title"/>
          </p:nvPr>
        </p:nvSpPr>
        <p:spPr>
          <a:xfrm>
            <a:off x="685800" y="4572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Venn Diagram</a:t>
            </a:r>
            <a:endParaRPr/>
          </a:p>
        </p:txBody>
      </p:sp>
      <p:sp>
        <p:nvSpPr>
          <p:cNvPr id="149" name="Google Shape;149;p7"/>
          <p:cNvSpPr txBox="1"/>
          <p:nvPr>
            <p:ph idx="4294967295" type="body"/>
          </p:nvPr>
        </p:nvSpPr>
        <p:spPr>
          <a:xfrm>
            <a:off x="685800" y="1752600"/>
            <a:ext cx="7772400"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Used to represent sets graphically.</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Universal set consist of all elements of interest. Then the set is drawn as a circle or other geometrical shape with its all members within the rectangle.</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Sometimes points are used to represent elements of the set. </a:t>
            </a:r>
            <a:endParaRPr/>
          </a:p>
        </p:txBody>
      </p:sp>
      <p:sp>
        <p:nvSpPr>
          <p:cNvPr id="150" name="Google Shape;150;p7"/>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51" name="Google Shape;151;p7"/>
          <p:cNvSpPr txBox="1"/>
          <p:nvPr/>
        </p:nvSpPr>
        <p:spPr>
          <a:xfrm>
            <a:off x="1981200" y="4495800"/>
            <a:ext cx="3886200" cy="2209800"/>
          </a:xfrm>
          <a:prstGeom prst="rect">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U(All 26 alphabets)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152" name="Google Shape;152;p7"/>
          <p:cNvGrpSpPr/>
          <p:nvPr/>
        </p:nvGrpSpPr>
        <p:grpSpPr>
          <a:xfrm>
            <a:off x="3124200" y="4953000"/>
            <a:ext cx="1676400" cy="1524000"/>
            <a:chOff x="3124200" y="4953000"/>
            <a:chExt cx="1676400" cy="1524000"/>
          </a:xfrm>
        </p:grpSpPr>
        <p:sp>
          <p:nvSpPr>
            <p:cNvPr id="153" name="Google Shape;153;p7"/>
            <p:cNvSpPr/>
            <p:nvPr/>
          </p:nvSpPr>
          <p:spPr>
            <a:xfrm>
              <a:off x="3124200" y="4953000"/>
              <a:ext cx="1676400" cy="1524000"/>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V</a:t>
              </a:r>
              <a:endParaRPr b="0" i="0" sz="1400" u="none" cap="none" strike="noStrike">
                <a:solidFill>
                  <a:srgbClr val="000000"/>
                </a:solidFill>
                <a:latin typeface="Arial"/>
                <a:ea typeface="Arial"/>
                <a:cs typeface="Arial"/>
                <a:sym typeface="Arial"/>
              </a:endParaRPr>
            </a:p>
          </p:txBody>
        </p:sp>
        <p:sp>
          <p:nvSpPr>
            <p:cNvPr id="154" name="Google Shape;154;p7"/>
            <p:cNvSpPr/>
            <p:nvPr/>
          </p:nvSpPr>
          <p:spPr>
            <a:xfrm>
              <a:off x="4343400" y="5257800"/>
              <a:ext cx="76200" cy="762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5" name="Google Shape;155;p7"/>
            <p:cNvSpPr/>
            <p:nvPr/>
          </p:nvSpPr>
          <p:spPr>
            <a:xfrm>
              <a:off x="4495800" y="5791200"/>
              <a:ext cx="76200" cy="762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6" name="Google Shape;156;p7"/>
            <p:cNvSpPr/>
            <p:nvPr/>
          </p:nvSpPr>
          <p:spPr>
            <a:xfrm>
              <a:off x="3962400" y="6248400"/>
              <a:ext cx="76200" cy="762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7" name="Google Shape;157;p7"/>
            <p:cNvSpPr/>
            <p:nvPr/>
          </p:nvSpPr>
          <p:spPr>
            <a:xfrm>
              <a:off x="3657600" y="5181600"/>
              <a:ext cx="76200" cy="762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8" name="Google Shape;158;p7"/>
            <p:cNvSpPr/>
            <p:nvPr/>
          </p:nvSpPr>
          <p:spPr>
            <a:xfrm>
              <a:off x="3352800" y="5791200"/>
              <a:ext cx="76200" cy="762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9" name="Google Shape;159;p7"/>
            <p:cNvSpPr txBox="1"/>
            <p:nvPr/>
          </p:nvSpPr>
          <p:spPr>
            <a:xfrm>
              <a:off x="4191000" y="4995446"/>
              <a:ext cx="2286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sp>
          <p:nvSpPr>
            <p:cNvPr id="160" name="Google Shape;160;p7"/>
            <p:cNvSpPr txBox="1"/>
            <p:nvPr/>
          </p:nvSpPr>
          <p:spPr>
            <a:xfrm>
              <a:off x="4495800" y="5528846"/>
              <a:ext cx="2286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sp>
          <p:nvSpPr>
            <p:cNvPr id="161" name="Google Shape;161;p7"/>
            <p:cNvSpPr txBox="1"/>
            <p:nvPr/>
          </p:nvSpPr>
          <p:spPr>
            <a:xfrm>
              <a:off x="3962400" y="5986046"/>
              <a:ext cx="2286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p:txBody>
        </p:sp>
        <p:sp>
          <p:nvSpPr>
            <p:cNvPr id="162" name="Google Shape;162;p7"/>
            <p:cNvSpPr txBox="1"/>
            <p:nvPr/>
          </p:nvSpPr>
          <p:spPr>
            <a:xfrm>
              <a:off x="3276600" y="5528846"/>
              <a:ext cx="2286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o</a:t>
              </a:r>
              <a:endParaRPr b="0" i="0" sz="1400" u="none" cap="none" strike="noStrike">
                <a:solidFill>
                  <a:srgbClr val="000000"/>
                </a:solidFill>
                <a:latin typeface="Arial"/>
                <a:ea typeface="Arial"/>
                <a:cs typeface="Arial"/>
                <a:sym typeface="Arial"/>
              </a:endParaRPr>
            </a:p>
          </p:txBody>
        </p:sp>
        <p:sp>
          <p:nvSpPr>
            <p:cNvPr id="163" name="Google Shape;163;p7"/>
            <p:cNvSpPr txBox="1"/>
            <p:nvPr/>
          </p:nvSpPr>
          <p:spPr>
            <a:xfrm>
              <a:off x="3429000" y="5147846"/>
              <a:ext cx="2286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u</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1"/>
                                        </p:tgtEl>
                                        <p:attrNameLst>
                                          <p:attrName>style.visibility</p:attrName>
                                        </p:attrNameLst>
                                      </p:cBhvr>
                                      <p:to>
                                        <p:strVal val="visible"/>
                                      </p:to>
                                    </p:set>
                                    <p:anim calcmode="lin" valueType="num">
                                      <p:cBhvr additive="base">
                                        <p:cTn dur="500"/>
                                        <p:tgtEl>
                                          <p:spTgt spid="15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3" name="Google Shape;173;p8"/>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4" name="Google Shape;174;p8"/>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75" name="Google Shape;175;p8"/>
          <p:cNvSpPr txBox="1"/>
          <p:nvPr>
            <p:ph idx="4294967295" type="title"/>
          </p:nvPr>
        </p:nvSpPr>
        <p:spPr>
          <a:xfrm>
            <a:off x="685800" y="38100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Venn Diagrams</a:t>
            </a:r>
            <a:endParaRPr/>
          </a:p>
        </p:txBody>
      </p:sp>
      <p:sp>
        <p:nvSpPr>
          <p:cNvPr id="176" name="Google Shape;176;p8"/>
          <p:cNvSpPr/>
          <p:nvPr/>
        </p:nvSpPr>
        <p:spPr>
          <a:xfrm>
            <a:off x="1447800" y="29718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0 </a:t>
            </a:r>
          </a:p>
        </p:txBody>
      </p:sp>
      <p:sp>
        <p:nvSpPr>
          <p:cNvPr id="177" name="Google Shape;177;p8"/>
          <p:cNvSpPr/>
          <p:nvPr/>
        </p:nvSpPr>
        <p:spPr>
          <a:xfrm>
            <a:off x="914400" y="36576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-1 </a:t>
            </a:r>
          </a:p>
        </p:txBody>
      </p:sp>
      <p:sp>
        <p:nvSpPr>
          <p:cNvPr id="178" name="Google Shape;178;p8"/>
          <p:cNvSpPr/>
          <p:nvPr/>
        </p:nvSpPr>
        <p:spPr>
          <a:xfrm>
            <a:off x="2590800" y="36576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1 </a:t>
            </a:r>
          </a:p>
        </p:txBody>
      </p:sp>
      <p:sp>
        <p:nvSpPr>
          <p:cNvPr id="179" name="Google Shape;179;p8"/>
          <p:cNvSpPr/>
          <p:nvPr/>
        </p:nvSpPr>
        <p:spPr>
          <a:xfrm>
            <a:off x="4267200" y="28956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2 </a:t>
            </a:r>
          </a:p>
        </p:txBody>
      </p:sp>
      <p:sp>
        <p:nvSpPr>
          <p:cNvPr id="180" name="Google Shape;180;p8"/>
          <p:cNvSpPr/>
          <p:nvPr/>
        </p:nvSpPr>
        <p:spPr>
          <a:xfrm>
            <a:off x="3657600" y="41148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3 </a:t>
            </a:r>
          </a:p>
        </p:txBody>
      </p:sp>
      <p:sp>
        <p:nvSpPr>
          <p:cNvPr id="181" name="Google Shape;181;p8"/>
          <p:cNvSpPr/>
          <p:nvPr/>
        </p:nvSpPr>
        <p:spPr>
          <a:xfrm>
            <a:off x="5715000" y="31242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4 </a:t>
            </a:r>
          </a:p>
        </p:txBody>
      </p:sp>
      <p:sp>
        <p:nvSpPr>
          <p:cNvPr id="182" name="Google Shape;182;p8"/>
          <p:cNvSpPr/>
          <p:nvPr/>
        </p:nvSpPr>
        <p:spPr>
          <a:xfrm>
            <a:off x="4343400" y="41148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5 </a:t>
            </a:r>
          </a:p>
        </p:txBody>
      </p:sp>
      <p:sp>
        <p:nvSpPr>
          <p:cNvPr id="183" name="Google Shape;183;p8"/>
          <p:cNvSpPr/>
          <p:nvPr/>
        </p:nvSpPr>
        <p:spPr>
          <a:xfrm>
            <a:off x="6324600" y="33528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6 </a:t>
            </a:r>
          </a:p>
        </p:txBody>
      </p:sp>
      <p:sp>
        <p:nvSpPr>
          <p:cNvPr id="184" name="Google Shape;184;p8"/>
          <p:cNvSpPr/>
          <p:nvPr/>
        </p:nvSpPr>
        <p:spPr>
          <a:xfrm>
            <a:off x="4953000" y="43434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7 </a:t>
            </a:r>
          </a:p>
        </p:txBody>
      </p:sp>
      <p:sp>
        <p:nvSpPr>
          <p:cNvPr id="185" name="Google Shape;185;p8"/>
          <p:cNvSpPr/>
          <p:nvPr/>
        </p:nvSpPr>
        <p:spPr>
          <a:xfrm>
            <a:off x="7010400" y="35814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8 </a:t>
            </a:r>
          </a:p>
        </p:txBody>
      </p:sp>
      <p:sp>
        <p:nvSpPr>
          <p:cNvPr id="186" name="Google Shape;186;p8"/>
          <p:cNvSpPr/>
          <p:nvPr/>
        </p:nvSpPr>
        <p:spPr>
          <a:xfrm>
            <a:off x="6248400" y="4572000"/>
            <a:ext cx="247650" cy="571500"/>
          </a:xfrm>
          <a:prstGeom prst="rect">
            <a:avLst/>
          </a:prstGeom>
        </p:spPr>
        <p:txBody>
          <a:bodyPr>
            <a:prstTxWarp prst="textPlain"/>
          </a:bodyPr>
          <a:lstStyle/>
          <a:p>
            <a:pPr lvl="0" algn="l"/>
            <a:r>
              <a:rPr b="0" i="0">
                <a:ln cap="flat" cmpd="sng" w="19050">
                  <a:solidFill>
                    <a:srgbClr val="99CCFF"/>
                  </a:solidFill>
                  <a:prstDash val="solid"/>
                  <a:miter lim="800000"/>
                  <a:headEnd len="sm" w="sm" type="none"/>
                  <a:tailEnd len="sm" w="sm" type="none"/>
                </a:ln>
                <a:solidFill>
                  <a:srgbClr val="0066CC"/>
                </a:solidFill>
                <a:latin typeface="Arial"/>
              </a:rPr>
              <a:t>9 </a:t>
            </a:r>
          </a:p>
        </p:txBody>
      </p:sp>
      <p:sp>
        <p:nvSpPr>
          <p:cNvPr id="187" name="Google Shape;187;p8"/>
          <p:cNvSpPr/>
          <p:nvPr/>
        </p:nvSpPr>
        <p:spPr>
          <a:xfrm>
            <a:off x="533400" y="1905000"/>
            <a:ext cx="8077200" cy="4191000"/>
          </a:xfrm>
          <a:prstGeom prst="ellipse">
            <a:avLst/>
          </a:prstGeom>
          <a:no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8" name="Google Shape;188;p8"/>
          <p:cNvSpPr/>
          <p:nvPr/>
        </p:nvSpPr>
        <p:spPr>
          <a:xfrm>
            <a:off x="2133600" y="2133600"/>
            <a:ext cx="6096000" cy="3581400"/>
          </a:xfrm>
          <a:prstGeom prst="ellipse">
            <a:avLst/>
          </a:prstGeom>
          <a:no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9" name="Google Shape;189;p8"/>
          <p:cNvSpPr/>
          <p:nvPr/>
        </p:nvSpPr>
        <p:spPr>
          <a:xfrm>
            <a:off x="3352800" y="2286000"/>
            <a:ext cx="2209800" cy="3200400"/>
          </a:xfrm>
          <a:prstGeom prst="ellipse">
            <a:avLst/>
          </a:prstGeom>
          <a:no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0" name="Google Shape;190;p8"/>
          <p:cNvSpPr/>
          <p:nvPr/>
        </p:nvSpPr>
        <p:spPr>
          <a:xfrm rot="720000">
            <a:off x="2286000" y="3733800"/>
            <a:ext cx="4495800" cy="1295400"/>
          </a:xfrm>
          <a:prstGeom prst="ellipse">
            <a:avLst/>
          </a:prstGeom>
          <a:no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1" name="Google Shape;191;p8"/>
          <p:cNvSpPr/>
          <p:nvPr/>
        </p:nvSpPr>
        <p:spPr>
          <a:xfrm rot="720000">
            <a:off x="3505200" y="2743200"/>
            <a:ext cx="4495800" cy="1295400"/>
          </a:xfrm>
          <a:prstGeom prst="ellipse">
            <a:avLst/>
          </a:prstGeom>
          <a:no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descr="Narrow vertical" id="192" name="Google Shape;192;p8"/>
          <p:cNvSpPr/>
          <p:nvPr/>
        </p:nvSpPr>
        <p:spPr>
          <a:xfrm>
            <a:off x="2286000" y="5486400"/>
            <a:ext cx="5400675" cy="1084262"/>
          </a:xfrm>
          <a:prstGeom prst="rect">
            <a:avLst/>
          </a:prstGeom>
        </p:spPr>
        <p:txBody>
          <a:bodyPr>
            <a:prstTxWarp prst="textPlain"/>
          </a:bodyPr>
          <a:lstStyle/>
          <a:p>
            <a:pPr lvl="0" algn="l"/>
            <a:r>
              <a:rPr b="0" i="0">
                <a:ln cap="flat" cmpd="sng" w="12700">
                  <a:solidFill>
                    <a:srgbClr val="000000"/>
                  </a:solidFill>
                  <a:prstDash val="solid"/>
                  <a:miter lim="800000"/>
                  <a:headEnd len="sm" w="sm" type="none"/>
                  <a:tailEnd len="sm" w="sm" type="none"/>
                </a:ln>
                <a:solidFill>
                  <a:srgbClr val="FFFF00"/>
                </a:solidFill>
                <a:latin typeface="Arial Black"/>
              </a:rPr>
              <a:t>Integers from -1 to 9 </a:t>
            </a:r>
          </a:p>
        </p:txBody>
      </p:sp>
      <p:sp>
        <p:nvSpPr>
          <p:cNvPr descr="Narrow vertical" id="193" name="Google Shape;193;p8"/>
          <p:cNvSpPr/>
          <p:nvPr/>
        </p:nvSpPr>
        <p:spPr>
          <a:xfrm>
            <a:off x="3657600" y="5029200"/>
            <a:ext cx="3505200" cy="914400"/>
          </a:xfrm>
          <a:prstGeom prst="rect">
            <a:avLst/>
          </a:prstGeom>
        </p:spPr>
        <p:txBody>
          <a:bodyPr>
            <a:prstTxWarp prst="textPlain"/>
          </a:bodyPr>
          <a:lstStyle/>
          <a:p>
            <a:pPr lvl="0" algn="l"/>
            <a:r>
              <a:rPr b="0" i="0">
                <a:ln cap="flat" cmpd="sng" w="12700">
                  <a:solidFill>
                    <a:srgbClr val="000000"/>
                  </a:solidFill>
                  <a:prstDash val="solid"/>
                  <a:miter lim="800000"/>
                  <a:headEnd len="sm" w="sm" type="none"/>
                  <a:tailEnd len="sm" w="sm" type="none"/>
                </a:ln>
                <a:solidFill>
                  <a:srgbClr val="FFFF00"/>
                </a:solidFill>
                <a:latin typeface="Arial Black"/>
              </a:rPr>
              <a:t>Positive integers less than 10 </a:t>
            </a:r>
          </a:p>
        </p:txBody>
      </p:sp>
      <p:sp>
        <p:nvSpPr>
          <p:cNvPr descr="Narrow vertical" id="194" name="Google Shape;194;p8"/>
          <p:cNvSpPr/>
          <p:nvPr/>
        </p:nvSpPr>
        <p:spPr>
          <a:xfrm>
            <a:off x="5486400" y="3657600"/>
            <a:ext cx="2743200" cy="762000"/>
          </a:xfrm>
          <a:prstGeom prst="rect">
            <a:avLst/>
          </a:prstGeom>
        </p:spPr>
        <p:txBody>
          <a:bodyPr>
            <a:prstTxWarp prst="textPlain"/>
          </a:bodyPr>
          <a:lstStyle/>
          <a:p>
            <a:pPr lvl="0" algn="l"/>
            <a:r>
              <a:rPr b="0" i="0">
                <a:ln cap="flat" cmpd="sng" w="12700">
                  <a:solidFill>
                    <a:srgbClr val="000000"/>
                  </a:solidFill>
                  <a:prstDash val="solid"/>
                  <a:miter lim="800000"/>
                  <a:headEnd len="sm" w="sm" type="none"/>
                  <a:tailEnd len="sm" w="sm" type="none"/>
                </a:ln>
                <a:solidFill>
                  <a:srgbClr val="FFFF00"/>
                </a:solidFill>
                <a:latin typeface="Arial Black"/>
              </a:rPr>
              <a:t>Even integers from 2 to 9 </a:t>
            </a:r>
          </a:p>
        </p:txBody>
      </p:sp>
      <p:sp>
        <p:nvSpPr>
          <p:cNvPr descr="Narrow vertical" id="195" name="Google Shape;195;p8"/>
          <p:cNvSpPr/>
          <p:nvPr/>
        </p:nvSpPr>
        <p:spPr>
          <a:xfrm>
            <a:off x="4191000" y="4876800"/>
            <a:ext cx="2819400" cy="381000"/>
          </a:xfrm>
          <a:prstGeom prst="rect">
            <a:avLst/>
          </a:prstGeom>
        </p:spPr>
        <p:txBody>
          <a:bodyPr>
            <a:prstTxWarp prst="textPlain"/>
          </a:bodyPr>
          <a:lstStyle/>
          <a:p>
            <a:pPr lvl="0" algn="l"/>
            <a:r>
              <a:rPr b="0" i="0">
                <a:ln cap="flat" cmpd="sng" w="12700">
                  <a:solidFill>
                    <a:srgbClr val="000000"/>
                  </a:solidFill>
                  <a:prstDash val="solid"/>
                  <a:miter lim="800000"/>
                  <a:headEnd len="sm" w="sm" type="none"/>
                  <a:tailEnd len="sm" w="sm" type="none"/>
                </a:ln>
                <a:solidFill>
                  <a:srgbClr val="FFFF00"/>
                </a:solidFill>
                <a:latin typeface="Arial Black"/>
              </a:rPr>
              <a:t>Odd integers from 1 to 9 </a:t>
            </a:r>
          </a:p>
        </p:txBody>
      </p:sp>
      <p:sp>
        <p:nvSpPr>
          <p:cNvPr descr="Narrow vertical" id="196" name="Google Shape;196;p8"/>
          <p:cNvSpPr/>
          <p:nvPr/>
        </p:nvSpPr>
        <p:spPr>
          <a:xfrm>
            <a:off x="3886200" y="5105400"/>
            <a:ext cx="1143000" cy="457200"/>
          </a:xfrm>
          <a:prstGeom prst="rect">
            <a:avLst/>
          </a:prstGeom>
        </p:spPr>
        <p:txBody>
          <a:bodyPr>
            <a:prstTxWarp prst="textPlain"/>
          </a:bodyPr>
          <a:lstStyle/>
          <a:p>
            <a:pPr lvl="0" algn="l"/>
            <a:r>
              <a:rPr b="0" i="0">
                <a:ln cap="flat" cmpd="sng" w="12700">
                  <a:solidFill>
                    <a:srgbClr val="000000"/>
                  </a:solidFill>
                  <a:prstDash val="solid"/>
                  <a:miter lim="800000"/>
                  <a:headEnd len="sm" w="sm" type="none"/>
                  <a:tailEnd len="sm" w="sm" type="none"/>
                </a:ln>
                <a:solidFill>
                  <a:srgbClr val="FFFF00"/>
                </a:solidFill>
                <a:latin typeface="Arial Black"/>
              </a:rPr>
              <a:t>Primes &lt;10 </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9"/>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02" name="Google Shape;202;p9"/>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3" name="Google Shape;203;p9"/>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04" name="Google Shape;204;p9"/>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Basic Set Relations: Member of</a:t>
            </a:r>
            <a:endParaRPr/>
          </a:p>
        </p:txBody>
      </p:sp>
      <p:sp>
        <p:nvSpPr>
          <p:cNvPr id="205" name="Google Shape;205;p9"/>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S </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 is in </a:t>
            </a:r>
            <a:r>
              <a:rPr b="0" i="1" lang="en-US" sz="2400" u="none" cap="none" strike="noStrike">
                <a:solidFill>
                  <a:schemeClr val="dk1"/>
                </a:solidFill>
                <a:latin typeface="Arial"/>
                <a:ea typeface="Arial"/>
                <a:cs typeface="Arial"/>
                <a:sym typeface="Arial"/>
              </a:rPr>
              <a:t>S</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is the proposition that object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 is an </a:t>
            </a:r>
            <a:r>
              <a:rPr b="0" i="1" lang="en-US" sz="2400" u="none" cap="none" strike="noStrike">
                <a:solidFill>
                  <a:schemeClr val="dk1"/>
                </a:solidFill>
                <a:latin typeface="Arial"/>
                <a:ea typeface="Arial"/>
                <a:cs typeface="Arial"/>
                <a:sym typeface="Arial"/>
              </a:rPr>
              <a:t>∈lement</a:t>
            </a:r>
            <a:r>
              <a:rPr b="0" i="0" lang="en-US" sz="2400" u="none" cap="none" strike="noStrike">
                <a:solidFill>
                  <a:schemeClr val="dk1"/>
                </a:solidFill>
                <a:latin typeface="Arial"/>
                <a:ea typeface="Arial"/>
                <a:cs typeface="Arial"/>
                <a:sym typeface="Arial"/>
              </a:rPr>
              <a:t> or </a:t>
            </a:r>
            <a:r>
              <a:rPr b="0" i="1" lang="en-US" sz="2400" u="none" cap="none" strike="noStrike">
                <a:solidFill>
                  <a:schemeClr val="dk1"/>
                </a:solidFill>
                <a:latin typeface="Arial"/>
                <a:ea typeface="Arial"/>
                <a:cs typeface="Arial"/>
                <a:sym typeface="Arial"/>
              </a:rPr>
              <a:t>member</a:t>
            </a:r>
            <a:r>
              <a:rPr b="0" i="0" lang="en-US" sz="2400" u="none" cap="none" strike="noStrike">
                <a:solidFill>
                  <a:schemeClr val="dk1"/>
                </a:solidFill>
                <a:latin typeface="Arial"/>
                <a:ea typeface="Arial"/>
                <a:cs typeface="Arial"/>
                <a:sym typeface="Arial"/>
              </a:rPr>
              <a:t> of set </a:t>
            </a:r>
            <a:r>
              <a:rPr b="0" i="1" lang="en-US" sz="2400" u="none" cap="none" strike="noStrike">
                <a:solidFill>
                  <a:schemeClr val="dk1"/>
                </a:solidFill>
                <a:latin typeface="Arial"/>
                <a:ea typeface="Arial"/>
                <a:cs typeface="Arial"/>
                <a:sym typeface="Arial"/>
              </a:rPr>
              <a:t>S</a:t>
            </a:r>
            <a:r>
              <a:rPr b="0" i="0" lang="en-US" sz="2400" u="none" cap="none" strike="noStrike">
                <a:solidFill>
                  <a:schemeClr val="dk1"/>
                </a:solidFill>
                <a:latin typeface="Arial"/>
                <a:ea typeface="Arial"/>
                <a:cs typeface="Arial"/>
                <a:sym typeface="Arial"/>
              </a:rPr>
              <a:t>.</a:t>
            </a:r>
            <a:endParaRPr/>
          </a:p>
          <a:p>
            <a:pPr indent="-285750" lvl="1" marL="742950" marR="0" rtl="0" algn="l">
              <a:lnSpc>
                <a:spcPct val="100000"/>
              </a:lnSpc>
              <a:spcBef>
                <a:spcPts val="40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e.g.</a:t>
            </a:r>
            <a:r>
              <a:rPr b="0" i="0" lang="en-US" sz="2000" u="none" cap="none" strike="noStrike">
                <a:solidFill>
                  <a:schemeClr val="dk1"/>
                </a:solidFill>
                <a:latin typeface="Arial"/>
                <a:ea typeface="Arial"/>
                <a:cs typeface="Arial"/>
                <a:sym typeface="Arial"/>
              </a:rPr>
              <a:t> 3∈</a:t>
            </a:r>
            <a:r>
              <a:rPr b="1" i="0" lang="en-US" sz="2000" u="none" cap="none" strike="noStrike">
                <a:solidFill>
                  <a:schemeClr val="dk1"/>
                </a:solidFill>
                <a:latin typeface="Arial"/>
                <a:ea typeface="Arial"/>
                <a:cs typeface="Arial"/>
                <a:sym typeface="Arial"/>
              </a:rPr>
              <a:t>N</a:t>
            </a:r>
            <a:r>
              <a:rPr b="1" i="1" lang="en-US" sz="2000" u="none" cap="none" strike="noStrike">
                <a:solidFill>
                  <a:schemeClr val="dk1"/>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“a”∈{</a:t>
            </a:r>
            <a:r>
              <a:rPr b="0" i="1" lang="en-US" sz="2000" u="none" cap="none" strike="noStrike">
                <a:solidFill>
                  <a:schemeClr val="dk1"/>
                </a:solidFill>
                <a:latin typeface="Arial"/>
                <a:ea typeface="Arial"/>
                <a:cs typeface="Arial"/>
                <a:sym typeface="Arial"/>
              </a:rPr>
              <a:t>x </a:t>
            </a:r>
            <a:r>
              <a:rPr b="0" i="0" lang="en-US" sz="2000" u="none" cap="none" strike="noStrike">
                <a:solidFill>
                  <a:schemeClr val="dk1"/>
                </a:solidFill>
                <a:latin typeface="Arial"/>
                <a:ea typeface="Arial"/>
                <a:cs typeface="Arial"/>
                <a:sym typeface="Arial"/>
              </a:rPr>
              <a:t>| </a:t>
            </a:r>
            <a:r>
              <a:rPr b="0" i="1" lang="en-US" sz="2000" u="none" cap="none" strike="noStrike">
                <a:solidFill>
                  <a:schemeClr val="dk1"/>
                </a:solidFill>
                <a:latin typeface="Arial"/>
                <a:ea typeface="Arial"/>
                <a:cs typeface="Arial"/>
                <a:sym typeface="Arial"/>
              </a:rPr>
              <a:t>x</a:t>
            </a:r>
            <a:r>
              <a:rPr b="0" i="0" lang="en-US" sz="2000" u="none" cap="none" strike="noStrike">
                <a:solidFill>
                  <a:schemeClr val="dk1"/>
                </a:solidFill>
                <a:latin typeface="Arial"/>
                <a:ea typeface="Arial"/>
                <a:cs typeface="Arial"/>
                <a:sym typeface="Arial"/>
              </a:rPr>
              <a:t> is a letter of the alphabet}</a:t>
            </a:r>
            <a:endParaRPr b="1" i="0" sz="2000" u="none" cap="none" strike="noStrike">
              <a:solidFill>
                <a:schemeClr val="dk1"/>
              </a:solidFill>
              <a:latin typeface="Arial"/>
              <a:ea typeface="Arial"/>
              <a:cs typeface="Arial"/>
              <a:sym typeface="Arial"/>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Can define </a:t>
            </a:r>
            <a:r>
              <a:rPr b="0" i="0" lang="en-US" sz="2400" u="sng" cap="none" strike="noStrike">
                <a:solidFill>
                  <a:schemeClr val="dk1"/>
                </a:solidFill>
                <a:latin typeface="Arial"/>
                <a:ea typeface="Arial"/>
                <a:cs typeface="Arial"/>
                <a:sym typeface="Arial"/>
              </a:rPr>
              <a:t>set equality</a:t>
            </a:r>
            <a:r>
              <a:rPr b="0" i="0" lang="en-US" sz="2400" u="none" cap="none" strike="noStrike">
                <a:solidFill>
                  <a:schemeClr val="dk1"/>
                </a:solidFill>
                <a:latin typeface="Arial"/>
                <a:ea typeface="Arial"/>
                <a:cs typeface="Arial"/>
                <a:sym typeface="Arial"/>
              </a:rPr>
              <a:t> in terms of ∈ relation:</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S</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T</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S</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T </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S</a:t>
            </a:r>
            <a:r>
              <a:rPr b="0" i="0" lang="en-US" sz="2400" u="none" cap="none" strike="noStrike">
                <a:solidFill>
                  <a:schemeClr val="dk1"/>
                </a:solidFill>
                <a:latin typeface="Arial"/>
                <a:ea typeface="Arial"/>
                <a:cs typeface="Arial"/>
                <a:sym typeface="Arial"/>
              </a:rPr>
              <a:t> ↔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T</a:t>
            </a:r>
            <a:r>
              <a:rPr b="0" i="0" lang="en-US" sz="2400" u="none" cap="none" strike="noStrike">
                <a:solidFill>
                  <a:schemeClr val="dk1"/>
                </a:solidFill>
                <a:latin typeface="Arial"/>
                <a:ea typeface="Arial"/>
                <a:cs typeface="Arial"/>
                <a:sym typeface="Arial"/>
              </a:rPr>
              <a:t>)</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“Two sets are equal </a:t>
            </a:r>
            <a:r>
              <a:rPr b="1" i="0" lang="en-US" sz="2400" u="none" cap="none" strike="noStrike">
                <a:solidFill>
                  <a:schemeClr val="dk1"/>
                </a:solidFill>
                <a:latin typeface="Arial"/>
                <a:ea typeface="Arial"/>
                <a:cs typeface="Arial"/>
                <a:sym typeface="Arial"/>
              </a:rPr>
              <a:t>iff</a:t>
            </a:r>
            <a:r>
              <a:rPr b="0" i="0" lang="en-US" sz="2400" u="none" cap="none" strike="noStrike">
                <a:solidFill>
                  <a:schemeClr val="dk1"/>
                </a:solidFill>
                <a:latin typeface="Arial"/>
                <a:ea typeface="Arial"/>
                <a:cs typeface="Arial"/>
                <a:sym typeface="Arial"/>
              </a:rPr>
              <a:t> they have all the same members.”</a:t>
            </a:r>
            <a:endParaRPr/>
          </a:p>
          <a:p>
            <a:pPr indent="-342900" lvl="0" marL="34290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S </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a:t>
            </a:r>
            <a:r>
              <a:rPr b="0" i="1" lang="en-US" sz="2400" u="none" cap="none" strike="noStrike">
                <a:solidFill>
                  <a:schemeClr val="dk1"/>
                </a:solidFill>
                <a:latin typeface="Arial"/>
                <a:ea typeface="Arial"/>
                <a:cs typeface="Arial"/>
                <a:sym typeface="Arial"/>
              </a:rPr>
              <a:t>S</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x</a:t>
            </a:r>
            <a:r>
              <a:rPr b="0" i="0" lang="en-US" sz="2400" u="none" cap="none" strike="noStrike">
                <a:solidFill>
                  <a:schemeClr val="dk1"/>
                </a:solidFill>
                <a:latin typeface="Arial"/>
                <a:ea typeface="Arial"/>
                <a:cs typeface="Arial"/>
                <a:sym typeface="Arial"/>
              </a:rPr>
              <a:t> is not in </a:t>
            </a:r>
            <a:r>
              <a:rPr b="0" i="1" lang="en-US" sz="2400" u="none" cap="none" strike="noStrike">
                <a:solidFill>
                  <a:schemeClr val="dk1"/>
                </a:solidFill>
                <a:latin typeface="Arial"/>
                <a:ea typeface="Arial"/>
                <a:cs typeface="Arial"/>
                <a:sym typeface="Arial"/>
              </a:rPr>
              <a:t>S</a:t>
            </a:r>
            <a:r>
              <a:rPr b="0" i="0" lang="en-US" sz="2400" u="none" cap="none" strike="noStrike">
                <a:solidFill>
                  <a:schemeClr val="dk1"/>
                </a:solidFill>
                <a:latin typeface="Arial"/>
                <a:ea typeface="Arial"/>
                <a:cs typeface="Arial"/>
                <a:sym typeface="Arial"/>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0"/>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11" name="Google Shape;211;p10"/>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2" name="Google Shape;212;p10"/>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13" name="Google Shape;213;p10"/>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The Empty Set</a:t>
            </a:r>
            <a:endParaRPr/>
          </a:p>
        </p:txBody>
      </p:sp>
      <p:sp>
        <p:nvSpPr>
          <p:cNvPr id="214" name="Google Shape;214;p10"/>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(“null”, “the empty set”) is the unique set that contains no elements whatsoever.</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 {} = {</a:t>
            </a:r>
            <a:r>
              <a:rPr b="0" i="1" lang="en-US" sz="2800" u="none" cap="none" strike="noStrike">
                <a:solidFill>
                  <a:schemeClr val="dk1"/>
                </a:solidFill>
                <a:latin typeface="Arial"/>
                <a:ea typeface="Arial"/>
                <a:cs typeface="Arial"/>
                <a:sym typeface="Arial"/>
              </a:rPr>
              <a:t>x|</a:t>
            </a:r>
            <a:r>
              <a:rPr b="1" i="0" lang="en-US" sz="2800" u="none" cap="none" strike="noStrike">
                <a:solidFill>
                  <a:schemeClr val="dk1"/>
                </a:solidFill>
                <a:latin typeface="Arial"/>
                <a:ea typeface="Arial"/>
                <a:cs typeface="Arial"/>
                <a:sym typeface="Arial"/>
              </a:rPr>
              <a:t>False</a:t>
            </a:r>
            <a:r>
              <a:rPr b="0" i="0" lang="en-US" sz="2800" u="none" cap="none" strike="noStrik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No matter the domain of discourse,</a:t>
            </a: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we have the axiom </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 </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a:t>
            </a:r>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1"/>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24" name="Google Shape;224;p11"/>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25" name="Google Shape;225;p11"/>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26" name="Google Shape;226;p11"/>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Subset and Superset Relations</a:t>
            </a:r>
            <a:endParaRPr/>
          </a:p>
        </p:txBody>
      </p:sp>
      <p:sp>
        <p:nvSpPr>
          <p:cNvPr id="227" name="Google Shape;227;p11"/>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is a subset of </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 means that every element of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is also an element of </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x </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S.</a:t>
            </a:r>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is a superset of </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 means </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Note </a:t>
            </a:r>
            <a:r>
              <a:rPr b="0" i="1" lang="en-US" sz="2800" u="none">
                <a:solidFill>
                  <a:schemeClr val="dk1"/>
                </a:solidFill>
                <a:latin typeface="Arial"/>
                <a:ea typeface="Arial"/>
                <a:cs typeface="Arial"/>
                <a:sym typeface="Arial"/>
              </a:rPr>
              <a:t>S=T</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a:t>
            </a:r>
            <a:endParaRPr b="0" i="0" sz="2800" u="none">
              <a:solidFill>
                <a:schemeClr val="dk1"/>
              </a:solidFill>
              <a:latin typeface="Arial"/>
              <a:ea typeface="Arial"/>
              <a:cs typeface="Arial"/>
              <a:sym typeface="Arial"/>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means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i.e.</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a:t>
            </a:r>
            <a:endParaRPr/>
          </a:p>
        </p:txBody>
      </p:sp>
      <p:pic>
        <p:nvPicPr>
          <p:cNvPr id="228" name="Google Shape;228;p11"/>
          <p:cNvPicPr preferRelativeResize="0"/>
          <p:nvPr/>
        </p:nvPicPr>
        <p:blipFill rotWithShape="1">
          <a:blip r:embed="rId3">
            <a:alphaModFix/>
          </a:blip>
          <a:srcRect b="0" l="0" r="0" t="0"/>
          <a:stretch/>
        </p:blipFill>
        <p:spPr>
          <a:xfrm>
            <a:off x="914400" y="5029200"/>
            <a:ext cx="1143000" cy="536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2"/>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38" name="Google Shape;238;p12"/>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39" name="Google Shape;239;p12"/>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40" name="Google Shape;240;p12"/>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000"/>
              <a:buFont typeface="Arial"/>
              <a:buNone/>
            </a:pPr>
            <a:r>
              <a:rPr b="0" i="0" lang="en-US" sz="4000" u="none" cap="none" strike="noStrike">
                <a:solidFill>
                  <a:schemeClr val="dk2"/>
                </a:solidFill>
                <a:latin typeface="Arial"/>
                <a:ea typeface="Arial"/>
                <a:cs typeface="Arial"/>
                <a:sym typeface="Arial"/>
              </a:rPr>
              <a:t>Proper (Strict) Subsets &amp; Supersets</a:t>
            </a:r>
            <a:endParaRPr/>
          </a:p>
        </p:txBody>
      </p:sp>
      <p:sp>
        <p:nvSpPr>
          <p:cNvPr id="241" name="Google Shape;241;p12"/>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 </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is a proper subset of </a:t>
            </a:r>
            <a:r>
              <a:rPr b="0" i="1" lang="en-US" sz="2800" u="none">
                <a:solidFill>
                  <a:schemeClr val="dk1"/>
                </a:solidFill>
                <a:latin typeface="Arial"/>
                <a:ea typeface="Arial"/>
                <a:cs typeface="Arial"/>
                <a:sym typeface="Arial"/>
              </a:rPr>
              <a:t>T</a:t>
            </a:r>
            <a:r>
              <a:rPr b="0" i="0" lang="en-US" sz="2800" u="none">
                <a:solidFill>
                  <a:schemeClr val="dk1"/>
                </a:solidFill>
                <a:latin typeface="Arial"/>
                <a:ea typeface="Arial"/>
                <a:cs typeface="Arial"/>
                <a:sym typeface="Arial"/>
              </a:rPr>
              <a:t>”) means that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 </a:t>
            </a:r>
            <a:r>
              <a:rPr b="0" i="0" lang="en-US" sz="2800" u="none">
                <a:solidFill>
                  <a:schemeClr val="dk1"/>
                </a:solidFill>
                <a:latin typeface="Arial"/>
                <a:ea typeface="Arial"/>
                <a:cs typeface="Arial"/>
                <a:sym typeface="Arial"/>
              </a:rPr>
              <a:t>but</a:t>
            </a:r>
            <a:r>
              <a:rPr b="0" i="1" lang="en-US" sz="2800" u="none">
                <a:solidFill>
                  <a:schemeClr val="dk1"/>
                </a:solidFill>
                <a:latin typeface="Arial"/>
                <a:ea typeface="Arial"/>
                <a:cs typeface="Arial"/>
                <a:sym typeface="Arial"/>
              </a:rPr>
              <a:t>           .  </a:t>
            </a:r>
            <a:r>
              <a:rPr b="0" i="0" lang="en-US" sz="2800" u="none">
                <a:solidFill>
                  <a:schemeClr val="dk1"/>
                </a:solidFill>
                <a:latin typeface="Arial"/>
                <a:ea typeface="Arial"/>
                <a:cs typeface="Arial"/>
                <a:sym typeface="Arial"/>
              </a:rPr>
              <a:t>Similar for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T.</a:t>
            </a:r>
            <a:endParaRPr/>
          </a:p>
        </p:txBody>
      </p:sp>
      <p:pic>
        <p:nvPicPr>
          <p:cNvPr id="242" name="Google Shape;242;p12"/>
          <p:cNvPicPr preferRelativeResize="0"/>
          <p:nvPr/>
        </p:nvPicPr>
        <p:blipFill rotWithShape="1">
          <a:blip r:embed="rId3">
            <a:alphaModFix/>
          </a:blip>
          <a:srcRect b="0" l="0" r="0" t="0"/>
          <a:stretch/>
        </p:blipFill>
        <p:spPr>
          <a:xfrm>
            <a:off x="1676400" y="2438400"/>
            <a:ext cx="990600" cy="509587"/>
          </a:xfrm>
          <a:prstGeom prst="rect">
            <a:avLst/>
          </a:prstGeom>
          <a:noFill/>
          <a:ln>
            <a:noFill/>
          </a:ln>
        </p:spPr>
      </p:pic>
      <p:sp>
        <p:nvSpPr>
          <p:cNvPr id="243" name="Google Shape;243;p12"/>
          <p:cNvSpPr/>
          <p:nvPr/>
        </p:nvSpPr>
        <p:spPr>
          <a:xfrm>
            <a:off x="1981200" y="3276600"/>
            <a:ext cx="4419600" cy="2133600"/>
          </a:xfrm>
          <a:prstGeom prst="ellipse">
            <a:avLst/>
          </a:prstGeom>
          <a:solidFill>
            <a:schemeClr val="accen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4" name="Google Shape;244;p12"/>
          <p:cNvSpPr/>
          <p:nvPr/>
        </p:nvSpPr>
        <p:spPr>
          <a:xfrm>
            <a:off x="2438400" y="3733800"/>
            <a:ext cx="1828800" cy="1295400"/>
          </a:xfrm>
          <a:prstGeom prst="ellipse">
            <a:avLst/>
          </a:prstGeom>
          <a:solidFill>
            <a:srgbClr val="FF9900"/>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5" name="Google Shape;245;p12"/>
          <p:cNvSpPr txBox="1"/>
          <p:nvPr/>
        </p:nvSpPr>
        <p:spPr>
          <a:xfrm>
            <a:off x="3124200" y="4419600"/>
            <a:ext cx="7620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000"/>
              <a:buFont typeface="Times New Roman"/>
              <a:buNone/>
            </a:pPr>
            <a:r>
              <a:rPr b="0" i="1" lang="en-US" sz="4000" u="none" cap="none" strike="noStrike">
                <a:solidFill>
                  <a:schemeClr val="dk1"/>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p:txBody>
      </p:sp>
      <p:sp>
        <p:nvSpPr>
          <p:cNvPr id="246" name="Google Shape;246;p12"/>
          <p:cNvSpPr txBox="1"/>
          <p:nvPr/>
        </p:nvSpPr>
        <p:spPr>
          <a:xfrm>
            <a:off x="4038600" y="4800600"/>
            <a:ext cx="7620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000"/>
              <a:buFont typeface="Times New Roman"/>
              <a:buNone/>
            </a:pPr>
            <a:r>
              <a:rPr b="0" i="1" lang="en-US" sz="40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247" name="Google Shape;247;p12"/>
          <p:cNvSpPr txBox="1"/>
          <p:nvPr/>
        </p:nvSpPr>
        <p:spPr>
          <a:xfrm>
            <a:off x="2057400" y="5410200"/>
            <a:ext cx="4495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Venn Diagram equivalent of </a:t>
            </a:r>
            <a:r>
              <a:rPr b="0" i="1" lang="en-US" sz="2400" u="none" cap="none" strike="noStrike">
                <a:solidFill>
                  <a:schemeClr val="dk1"/>
                </a:solidFill>
                <a:latin typeface="Times New Roman"/>
                <a:ea typeface="Times New Roman"/>
                <a:cs typeface="Times New Roman"/>
                <a:sym typeface="Times New Roman"/>
              </a:rPr>
              <a:t>S</a:t>
            </a:r>
            <a:r>
              <a:rPr b="0" i="0" lang="en-US" sz="2400" u="none" cap="none" strike="noStrike">
                <a:solidFill>
                  <a:schemeClr val="dk1"/>
                </a:solidFill>
                <a:latin typeface="Times New Roman"/>
                <a:ea typeface="Times New Roman"/>
                <a:cs typeface="Times New Roman"/>
                <a:sym typeface="Times New Roman"/>
              </a:rPr>
              <a:t>⊂</a:t>
            </a:r>
            <a:r>
              <a:rPr b="0" i="1"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248" name="Google Shape;248;p12"/>
          <p:cNvSpPr txBox="1"/>
          <p:nvPr/>
        </p:nvSpPr>
        <p:spPr>
          <a:xfrm>
            <a:off x="6553200" y="3352800"/>
            <a:ext cx="15240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Example:</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{1,2} ⊂</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{1,2,3}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3"/>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58" name="Google Shape;258;p13"/>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59" name="Google Shape;259;p13"/>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60" name="Google Shape;260;p13"/>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Sets Are Objects, Too!</a:t>
            </a:r>
            <a:endParaRPr/>
          </a:p>
        </p:txBody>
      </p:sp>
      <p:sp>
        <p:nvSpPr>
          <p:cNvPr id="261" name="Google Shape;261;p13"/>
          <p:cNvSpPr txBox="1"/>
          <p:nvPr>
            <p:ph idx="4294967295" type="body"/>
          </p:nvPr>
        </p:nvSpPr>
        <p:spPr>
          <a:xfrm>
            <a:off x="685800" y="1981200"/>
            <a:ext cx="7772400" cy="4191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The objects that are elements of a set may </a:t>
            </a:r>
            <a:r>
              <a:rPr b="0" i="1" lang="en-US" sz="2800" u="none">
                <a:solidFill>
                  <a:schemeClr val="dk1"/>
                </a:solidFill>
                <a:latin typeface="Arial"/>
                <a:ea typeface="Arial"/>
                <a:cs typeface="Arial"/>
                <a:sym typeface="Arial"/>
              </a:rPr>
              <a:t>themselves</a:t>
            </a:r>
            <a:r>
              <a:rPr b="0" i="0" lang="en-US" sz="2800" u="none">
                <a:solidFill>
                  <a:schemeClr val="dk1"/>
                </a:solidFill>
                <a:latin typeface="Arial"/>
                <a:ea typeface="Arial"/>
                <a:cs typeface="Arial"/>
                <a:sym typeface="Arial"/>
              </a:rPr>
              <a:t> be sets.</a:t>
            </a:r>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E.g. </a:t>
            </a:r>
            <a:r>
              <a:rPr b="0" i="0" lang="en-US" sz="2800" u="none">
                <a:solidFill>
                  <a:schemeClr val="dk1"/>
                </a:solidFill>
                <a:latin typeface="Arial"/>
                <a:ea typeface="Arial"/>
                <a:cs typeface="Arial"/>
                <a:sym typeface="Arial"/>
              </a:rPr>
              <a:t>let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x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x </a:t>
            </a:r>
            <a:r>
              <a:rPr b="0" i="0" lang="en-US" sz="2800" u="none">
                <a:solidFill>
                  <a:schemeClr val="dk1"/>
                </a:solidFill>
                <a:latin typeface="Arial"/>
                <a:ea typeface="Arial"/>
                <a:cs typeface="Arial"/>
                <a:sym typeface="Arial"/>
              </a:rPr>
              <a:t>⊆ {1,2,3}}</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then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{1}, {2}, {3},</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{1,2}, {1,3}, {2,3},</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{1,2,3}}</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Note that 1 ≠ {1} ≠ {{1}} !!!!</a:t>
            </a:r>
            <a:endParaRPr/>
          </a:p>
        </p:txBody>
      </p:sp>
      <p:sp>
        <p:nvSpPr>
          <p:cNvPr id="262" name="Google Shape;262;p13"/>
          <p:cNvSpPr txBox="1"/>
          <p:nvPr/>
        </p:nvSpPr>
        <p:spPr>
          <a:xfrm>
            <a:off x="5562600" y="4953000"/>
            <a:ext cx="3048000" cy="16764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3" name="Google Shape;263;p13"/>
          <p:cNvSpPr/>
          <p:nvPr/>
        </p:nvSpPr>
        <p:spPr>
          <a:xfrm>
            <a:off x="5791200" y="5105400"/>
            <a:ext cx="2590800" cy="1371600"/>
          </a:xfrm>
          <a:prstGeom prst="rect">
            <a:avLst/>
          </a:prstGeom>
        </p:spPr>
        <p:txBody>
          <a:bodyPr>
            <a:prstTxWarp prst="textPlain"/>
          </a:bodyPr>
          <a:lstStyle/>
          <a:p>
            <a:pPr lvl="0" algn="l"/>
            <a:r>
              <a:rPr b="0" i="0">
                <a:ln>
                  <a:noFill/>
                </a:ln>
                <a:gradFill>
                  <a:gsLst>
                    <a:gs pos="0">
                      <a:srgbClr val="FFFF00"/>
                    </a:gs>
                    <a:gs pos="100000">
                      <a:srgbClr val="FF9933"/>
                    </a:gs>
                  </a:gsLst>
                  <a:path path="circle">
                    <a:fillToRect b="50%" l="50%" r="50%" t="50%"/>
                  </a:path>
                  <a:tileRect/>
                </a:gradFill>
                <a:latin typeface="Impact"/>
              </a:rPr>
              <a:t>Very Important! </a:t>
            </a:r>
          </a:p>
        </p:txBody>
      </p:sp>
      <p:cxnSp>
        <p:nvCxnSpPr>
          <p:cNvPr id="264" name="Google Shape;264;p13"/>
          <p:cNvCxnSpPr/>
          <p:nvPr/>
        </p:nvCxnSpPr>
        <p:spPr>
          <a:xfrm rot="10800000">
            <a:off x="5410200" y="5486400"/>
            <a:ext cx="1600200" cy="304800"/>
          </a:xfrm>
          <a:prstGeom prst="straightConnector1">
            <a:avLst/>
          </a:prstGeom>
          <a:noFill/>
          <a:ln cap="flat" cmpd="sng" w="76200">
            <a:solidFill>
              <a:srgbClr val="FF0000"/>
            </a:solidFill>
            <a:prstDash val="solid"/>
            <a:miter lim="800000"/>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4"/>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70" name="Google Shape;270;p14"/>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1" name="Google Shape;271;p14"/>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72" name="Google Shape;272;p14"/>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Cardinality and Finiteness</a:t>
            </a:r>
            <a:endParaRPr/>
          </a:p>
        </p:txBody>
      </p:sp>
      <p:sp>
        <p:nvSpPr>
          <p:cNvPr id="273" name="Google Shape;273;p14"/>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(read “the </a:t>
            </a:r>
            <a:r>
              <a:rPr b="0" i="1" lang="en-US" sz="2800" u="none">
                <a:solidFill>
                  <a:schemeClr val="dk1"/>
                </a:solidFill>
                <a:latin typeface="Arial"/>
                <a:ea typeface="Arial"/>
                <a:cs typeface="Arial"/>
                <a:sym typeface="Arial"/>
              </a:rPr>
              <a:t>cardinality</a:t>
            </a:r>
            <a:r>
              <a:rPr b="0" i="0" lang="en-US" sz="2800" u="none">
                <a:solidFill>
                  <a:schemeClr val="dk1"/>
                </a:solidFill>
                <a:latin typeface="Arial"/>
                <a:ea typeface="Arial"/>
                <a:cs typeface="Arial"/>
                <a:sym typeface="Arial"/>
              </a:rPr>
              <a:t> of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is a measure of how many different elements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has.</a:t>
            </a:r>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E.g.</a:t>
            </a:r>
            <a:r>
              <a:rPr b="0" i="0" lang="en-US" sz="2800" u="none">
                <a:solidFill>
                  <a:schemeClr val="dk1"/>
                </a:solidFill>
                <a:latin typeface="Arial"/>
                <a:ea typeface="Arial"/>
                <a:cs typeface="Arial"/>
                <a:sym typeface="Arial"/>
              </a:rPr>
              <a:t>, |∅|=0,    |{1,2,3}| = 3,   |{a,b}| = 2,</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|{{1,2,3},{4,5}}| = ____</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We say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is </a:t>
            </a:r>
            <a:r>
              <a:rPr b="0" i="1" lang="en-US" sz="2800" u="none">
                <a:solidFill>
                  <a:schemeClr val="dk1"/>
                </a:solidFill>
                <a:latin typeface="Arial"/>
                <a:ea typeface="Arial"/>
                <a:cs typeface="Arial"/>
                <a:sym typeface="Arial"/>
              </a:rPr>
              <a:t>infinite</a:t>
            </a:r>
            <a:r>
              <a:rPr b="0" i="0" lang="en-US" sz="2800" u="none">
                <a:solidFill>
                  <a:schemeClr val="dk1"/>
                </a:solidFill>
                <a:latin typeface="Arial"/>
                <a:ea typeface="Arial"/>
                <a:cs typeface="Arial"/>
                <a:sym typeface="Arial"/>
              </a:rPr>
              <a:t>  if it is not </a:t>
            </a:r>
            <a:r>
              <a:rPr b="0" i="1" lang="en-US" sz="2800" u="none">
                <a:solidFill>
                  <a:schemeClr val="dk1"/>
                </a:solidFill>
                <a:latin typeface="Arial"/>
                <a:ea typeface="Arial"/>
                <a:cs typeface="Arial"/>
                <a:sym typeface="Arial"/>
              </a:rPr>
              <a:t>finite</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What are some infinite sets we’ve seen?</a:t>
            </a:r>
            <a:endParaRPr/>
          </a:p>
        </p:txBody>
      </p:sp>
      <p:sp>
        <p:nvSpPr>
          <p:cNvPr id="274" name="Google Shape;274;p14"/>
          <p:cNvSpPr/>
          <p:nvPr/>
        </p:nvSpPr>
        <p:spPr>
          <a:xfrm>
            <a:off x="4705875" y="3124200"/>
            <a:ext cx="3810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gradFill>
                  <a:gsLst>
                    <a:gs pos="0">
                      <a:srgbClr val="CBCBCB"/>
                    </a:gs>
                    <a:gs pos="13000">
                      <a:srgbClr val="5F5F5F"/>
                    </a:gs>
                    <a:gs pos="21000">
                      <a:srgbClr val="5F5F5F"/>
                    </a:gs>
                    <a:gs pos="63000">
                      <a:srgbClr val="FFFFFF"/>
                    </a:gs>
                    <a:gs pos="66999">
                      <a:srgbClr val="B2B2B2"/>
                    </a:gs>
                    <a:gs pos="69000">
                      <a:srgbClr val="292929"/>
                    </a:gs>
                    <a:gs pos="82000">
                      <a:srgbClr val="777777"/>
                    </a:gs>
                    <a:gs pos="100000">
                      <a:srgbClr val="EAEAEA"/>
                    </a:gs>
                  </a:gsLst>
                  <a:lin ang="5400000" scaled="0"/>
                </a:gradFill>
                <a:latin typeface="Arial"/>
              </a:rPr>
              <a:t>2 </a:t>
            </a:r>
          </a:p>
        </p:txBody>
      </p:sp>
      <p:sp>
        <p:nvSpPr>
          <p:cNvPr id="275" name="Google Shape;275;p14"/>
          <p:cNvSpPr/>
          <p:nvPr/>
        </p:nvSpPr>
        <p:spPr>
          <a:xfrm>
            <a:off x="1600200" y="5105400"/>
            <a:ext cx="533400" cy="647700"/>
          </a:xfrm>
          <a:prstGeom prst="rect">
            <a:avLst/>
          </a:prstGeom>
        </p:spPr>
        <p:txBody>
          <a:bodyPr>
            <a:prstTxWarp prst="textPlain"/>
          </a:bodyPr>
          <a:lstStyle/>
          <a:p>
            <a:pPr lvl="0" algn="l"/>
            <a:r>
              <a:rPr b="0" i="0">
                <a:ln cap="flat" cmpd="sng" w="76200">
                  <a:solidFill>
                    <a:srgbClr val="000000"/>
                  </a:solidFill>
                  <a:prstDash val="solid"/>
                  <a:miter lim="800000"/>
                  <a:headEnd len="sm" w="sm" type="none"/>
                  <a:tailEnd len="sm" w="sm" type="none"/>
                </a:ln>
                <a:solidFill>
                  <a:srgbClr val="FFFFFF"/>
                </a:solidFill>
                <a:latin typeface="Arial Black"/>
              </a:rPr>
              <a:t>N </a:t>
            </a:r>
          </a:p>
        </p:txBody>
      </p:sp>
      <p:sp>
        <p:nvSpPr>
          <p:cNvPr id="276" name="Google Shape;276;p14"/>
          <p:cNvSpPr/>
          <p:nvPr/>
        </p:nvSpPr>
        <p:spPr>
          <a:xfrm>
            <a:off x="2438400" y="5105400"/>
            <a:ext cx="609600" cy="647700"/>
          </a:xfrm>
          <a:prstGeom prst="rect">
            <a:avLst/>
          </a:prstGeom>
        </p:spPr>
        <p:txBody>
          <a:bodyPr>
            <a:prstTxWarp prst="textPlain"/>
          </a:bodyPr>
          <a:lstStyle/>
          <a:p>
            <a:pPr lvl="0" algn="l"/>
            <a:r>
              <a:rPr b="0" i="0">
                <a:ln cap="flat" cmpd="sng" w="76200">
                  <a:solidFill>
                    <a:srgbClr val="000000"/>
                  </a:solidFill>
                  <a:prstDash val="solid"/>
                  <a:miter lim="800000"/>
                  <a:headEnd len="sm" w="sm" type="none"/>
                  <a:tailEnd len="sm" w="sm" type="none"/>
                </a:ln>
                <a:solidFill>
                  <a:srgbClr val="FFFFFF"/>
                </a:solidFill>
                <a:latin typeface="Arial Black"/>
              </a:rPr>
              <a:t>Z </a:t>
            </a:r>
          </a:p>
        </p:txBody>
      </p:sp>
      <p:sp>
        <p:nvSpPr>
          <p:cNvPr id="277" name="Google Shape;277;p14"/>
          <p:cNvSpPr/>
          <p:nvPr/>
        </p:nvSpPr>
        <p:spPr>
          <a:xfrm>
            <a:off x="3429000" y="5105400"/>
            <a:ext cx="685800" cy="647700"/>
          </a:xfrm>
          <a:prstGeom prst="rect">
            <a:avLst/>
          </a:prstGeom>
        </p:spPr>
        <p:txBody>
          <a:bodyPr>
            <a:prstTxWarp prst="textPlain"/>
          </a:bodyPr>
          <a:lstStyle/>
          <a:p>
            <a:pPr lvl="0" algn="l"/>
            <a:r>
              <a:rPr b="0" i="0">
                <a:ln cap="flat" cmpd="sng" w="76200">
                  <a:solidFill>
                    <a:srgbClr val="000000"/>
                  </a:solidFill>
                  <a:prstDash val="solid"/>
                  <a:miter lim="800000"/>
                  <a:headEnd len="sm" w="sm" type="none"/>
                  <a:tailEnd len="sm" w="sm" type="none"/>
                </a:ln>
                <a:solidFill>
                  <a:srgbClr val="FFFFFF"/>
                </a:solidFill>
                <a:latin typeface="Arial Black"/>
              </a:rPr>
              <a:t>R </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ppt_w</p:attrName>
                                        </p:attrNameLst>
                                      </p:cBhvr>
                                      <p:tavLst>
                                        <p:tav fmla="" tm="0">
                                          <p:val>
                                            <p:strVal val="0"/>
                                          </p:val>
                                        </p:tav>
                                        <p:tav fmla="" tm="100000">
                                          <p:val>
                                            <p:strVal val="#ppt_w"/>
                                          </p:val>
                                        </p:tav>
                                      </p:tavLst>
                                    </p:anim>
                                    <p:anim calcmode="lin" valueType="num">
                                      <p:cBhvr additive="base">
                                        <p:cTn dur="500"/>
                                        <p:tgtEl>
                                          <p:spTgt spid="2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75"/>
                                        </p:tgtEl>
                                        <p:attrNameLst>
                                          <p:attrName>style.visibility</p:attrName>
                                        </p:attrNameLst>
                                      </p:cBhvr>
                                      <p:to>
                                        <p:strVal val="visible"/>
                                      </p:to>
                                    </p:set>
                                    <p:anim calcmode="lin" valueType="num">
                                      <p:cBhvr additive="base">
                                        <p:cTn dur="500"/>
                                        <p:tgtEl>
                                          <p:spTgt spid="27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500"/>
                                        <p:tgtEl>
                                          <p:spTgt spid="27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77"/>
                                        </p:tgtEl>
                                        <p:attrNameLst>
                                          <p:attrName>style.visibility</p:attrName>
                                        </p:attrNameLst>
                                      </p:cBhvr>
                                      <p:to>
                                        <p:strVal val="visible"/>
                                      </p:to>
                                    </p:set>
                                    <p:anim calcmode="lin" valueType="num">
                                      <p:cBhvr additive="base">
                                        <p:cTn dur="500"/>
                                        <p:tgtEl>
                                          <p:spTgt spid="27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5"/>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87" name="Google Shape;287;p15"/>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88" name="Google Shape;288;p15"/>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89" name="Google Shape;289;p15"/>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The </a:t>
            </a:r>
            <a:r>
              <a:rPr b="0" i="1" lang="en-US" sz="4400" u="none" cap="none" strike="noStrike">
                <a:solidFill>
                  <a:schemeClr val="dk2"/>
                </a:solidFill>
                <a:latin typeface="Arial"/>
                <a:ea typeface="Arial"/>
                <a:cs typeface="Arial"/>
                <a:sym typeface="Arial"/>
              </a:rPr>
              <a:t>Power Set</a:t>
            </a:r>
            <a:r>
              <a:rPr b="0" i="0" lang="en-US" sz="4400" u="none" cap="none" strike="noStrike">
                <a:solidFill>
                  <a:schemeClr val="dk2"/>
                </a:solidFill>
                <a:latin typeface="Arial"/>
                <a:ea typeface="Arial"/>
                <a:cs typeface="Arial"/>
                <a:sym typeface="Arial"/>
              </a:rPr>
              <a:t> Operation</a:t>
            </a:r>
            <a:endParaRPr/>
          </a:p>
        </p:txBody>
      </p:sp>
      <p:sp>
        <p:nvSpPr>
          <p:cNvPr id="290" name="Google Shape;290;p15"/>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The </a:t>
            </a:r>
            <a:r>
              <a:rPr b="0" i="1" lang="en-US" sz="2800" u="none">
                <a:solidFill>
                  <a:schemeClr val="dk1"/>
                </a:solidFill>
                <a:latin typeface="Arial"/>
                <a:ea typeface="Arial"/>
                <a:cs typeface="Arial"/>
                <a:sym typeface="Arial"/>
              </a:rPr>
              <a:t>power set</a:t>
            </a:r>
            <a:r>
              <a:rPr b="0" i="0" lang="en-US" sz="2800" u="none">
                <a:solidFill>
                  <a:schemeClr val="dk1"/>
                </a:solidFill>
                <a:latin typeface="Arial"/>
                <a:ea typeface="Arial"/>
                <a:cs typeface="Arial"/>
                <a:sym typeface="Arial"/>
              </a:rPr>
              <a:t> P(</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of a set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is the set of all subsets of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P(</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x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E</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g.</a:t>
            </a:r>
            <a:r>
              <a:rPr b="0" i="0" lang="en-US" sz="2800" u="none">
                <a:solidFill>
                  <a:schemeClr val="dk1"/>
                </a:solidFill>
                <a:latin typeface="Arial"/>
                <a:ea typeface="Arial"/>
                <a:cs typeface="Arial"/>
                <a:sym typeface="Arial"/>
              </a:rPr>
              <a:t> P({a,b}) = {∅, {a}, {b}, {a,b}}.</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Sometimes P(</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is written </a:t>
            </a:r>
            <a:r>
              <a:rPr b="1" i="0" lang="en-US" sz="2800" u="none">
                <a:solidFill>
                  <a:schemeClr val="dk1"/>
                </a:solidFill>
                <a:latin typeface="Arial"/>
                <a:ea typeface="Arial"/>
                <a:cs typeface="Arial"/>
                <a:sym typeface="Arial"/>
              </a:rPr>
              <a:t>2</a:t>
            </a:r>
            <a:r>
              <a:rPr b="0" baseline="30000" i="1" lang="en-US" sz="2800" u="none">
                <a:solidFill>
                  <a:schemeClr val="dk1"/>
                </a:solidFill>
                <a:latin typeface="Arial"/>
                <a:ea typeface="Arial"/>
                <a:cs typeface="Arial"/>
                <a:sym typeface="Arial"/>
              </a:rPr>
              <a:t>S</a:t>
            </a:r>
            <a:r>
              <a:rPr b="0" i="1" lang="en-US" sz="2800" u="none">
                <a:solidFill>
                  <a:schemeClr val="dk1"/>
                </a:solidFill>
                <a:latin typeface="Arial"/>
                <a:ea typeface="Arial"/>
                <a:cs typeface="Arial"/>
                <a:sym typeface="Arial"/>
              </a:rPr>
              <a:t>.</a:t>
            </a:r>
            <a:br>
              <a:rPr b="0" i="1"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Note that for finite </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|P(</a:t>
            </a:r>
            <a:r>
              <a:rPr b="0" i="1" lang="en-US" sz="2800" u="none">
                <a:solidFill>
                  <a:schemeClr val="dk1"/>
                </a:solidFill>
                <a:latin typeface="Arial"/>
                <a:ea typeface="Arial"/>
                <a:cs typeface="Arial"/>
                <a:sym typeface="Arial"/>
              </a:rPr>
              <a:t>S</a:t>
            </a:r>
            <a:r>
              <a:rPr b="0" i="0" lang="en-US" sz="2800" u="none">
                <a:solidFill>
                  <a:schemeClr val="dk1"/>
                </a:solidFill>
                <a:latin typeface="Arial"/>
                <a:ea typeface="Arial"/>
                <a:cs typeface="Arial"/>
                <a:sym typeface="Arial"/>
              </a:rPr>
              <a:t>)| = 2</a:t>
            </a:r>
            <a:r>
              <a:rPr b="0" baseline="30000" i="0" lang="en-US" sz="2800" u="none">
                <a:solidFill>
                  <a:schemeClr val="dk1"/>
                </a:solidFill>
                <a:latin typeface="Arial"/>
                <a:ea typeface="Arial"/>
                <a:cs typeface="Arial"/>
                <a:sym typeface="Arial"/>
              </a:rPr>
              <a:t>|</a:t>
            </a:r>
            <a:r>
              <a:rPr b="0" baseline="30000" i="1" lang="en-US" sz="2800" u="none">
                <a:solidFill>
                  <a:schemeClr val="dk1"/>
                </a:solidFill>
                <a:latin typeface="Arial"/>
                <a:ea typeface="Arial"/>
                <a:cs typeface="Arial"/>
                <a:sym typeface="Arial"/>
              </a:rPr>
              <a:t>S</a:t>
            </a:r>
            <a:r>
              <a:rPr b="0" baseline="30000" i="0"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It turns out that |P(</a:t>
            </a:r>
            <a:r>
              <a:rPr b="1" i="0"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 &gt; |</a:t>
            </a:r>
            <a:r>
              <a:rPr b="1" i="0"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a:t>
            </a:r>
            <a:br>
              <a:rPr b="0" i="1" lang="en-US" sz="2800" u="none">
                <a:solidFill>
                  <a:schemeClr val="dk1"/>
                </a:solidFill>
                <a:latin typeface="Arial"/>
                <a:ea typeface="Arial"/>
                <a:cs typeface="Arial"/>
                <a:sym typeface="Arial"/>
              </a:rPr>
            </a:br>
            <a:r>
              <a:rPr b="0" i="1" lang="en-US" sz="2800" u="none">
                <a:solidFill>
                  <a:schemeClr val="dk1"/>
                </a:solidFill>
                <a:latin typeface="Arial"/>
                <a:ea typeface="Arial"/>
                <a:cs typeface="Arial"/>
                <a:sym typeface="Arial"/>
              </a:rPr>
              <a:t>There are different sizes of infinite sets</a:t>
            </a: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00" name="Google Shape;300;p16"/>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01" name="Google Shape;301;p16"/>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02" name="Google Shape;302;p16"/>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Ordered </a:t>
            </a:r>
            <a:r>
              <a:rPr b="0" i="1" lang="en-US" sz="4400" u="none" cap="none" strike="noStrike">
                <a:solidFill>
                  <a:schemeClr val="dk2"/>
                </a:solidFill>
                <a:latin typeface="Arial"/>
                <a:ea typeface="Arial"/>
                <a:cs typeface="Arial"/>
                <a:sym typeface="Arial"/>
              </a:rPr>
              <a:t>n</a:t>
            </a:r>
            <a:r>
              <a:rPr b="0" i="0" lang="en-US" sz="4400" u="none" cap="none" strike="noStrike">
                <a:solidFill>
                  <a:schemeClr val="dk2"/>
                </a:solidFill>
                <a:latin typeface="Arial"/>
                <a:ea typeface="Arial"/>
                <a:cs typeface="Arial"/>
                <a:sym typeface="Arial"/>
              </a:rPr>
              <a:t>-tuples</a:t>
            </a:r>
            <a:endParaRPr/>
          </a:p>
        </p:txBody>
      </p:sp>
      <p:sp>
        <p:nvSpPr>
          <p:cNvPr id="303" name="Google Shape;303;p16"/>
          <p:cNvSpPr txBox="1"/>
          <p:nvPr>
            <p:ph idx="4294967295" type="body"/>
          </p:nvPr>
        </p:nvSpPr>
        <p:spPr>
          <a:xfrm>
            <a:off x="685800" y="1981200"/>
            <a:ext cx="7772400" cy="4343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For </a:t>
            </a:r>
            <a:r>
              <a:rPr b="0" i="1" lang="en-US" sz="2400" u="none">
                <a:solidFill>
                  <a:schemeClr val="dk1"/>
                </a:solidFill>
                <a:latin typeface="Arial"/>
                <a:ea typeface="Arial"/>
                <a:cs typeface="Arial"/>
                <a:sym typeface="Arial"/>
              </a:rPr>
              <a:t>n</a:t>
            </a:r>
            <a:r>
              <a:rPr b="0" i="0" lang="en-US" sz="2400" u="none">
                <a:solidFill>
                  <a:schemeClr val="dk1"/>
                </a:solidFill>
                <a:latin typeface="Arial"/>
                <a:ea typeface="Arial"/>
                <a:cs typeface="Arial"/>
                <a:sym typeface="Arial"/>
              </a:rPr>
              <a:t>∈</a:t>
            </a:r>
            <a:r>
              <a:rPr b="1" i="0" lang="en-US" sz="2400" u="none">
                <a:solidFill>
                  <a:schemeClr val="dk1"/>
                </a:solidFill>
                <a:latin typeface="Arial"/>
                <a:ea typeface="Arial"/>
                <a:cs typeface="Arial"/>
                <a:sym typeface="Arial"/>
              </a:rPr>
              <a:t>N</a:t>
            </a:r>
            <a:r>
              <a:rPr b="0" i="0" lang="en-US" sz="2400" u="none">
                <a:solidFill>
                  <a:schemeClr val="dk1"/>
                </a:solidFill>
                <a:latin typeface="Arial"/>
                <a:ea typeface="Arial"/>
                <a:cs typeface="Arial"/>
                <a:sym typeface="Arial"/>
              </a:rPr>
              <a:t>, an </a:t>
            </a:r>
            <a:r>
              <a:rPr b="0" i="1" lang="en-US" sz="2400" u="none">
                <a:solidFill>
                  <a:schemeClr val="dk1"/>
                </a:solidFill>
                <a:latin typeface="Arial"/>
                <a:ea typeface="Arial"/>
                <a:cs typeface="Arial"/>
                <a:sym typeface="Arial"/>
              </a:rPr>
              <a:t>ordered n-tuple</a:t>
            </a:r>
            <a:r>
              <a:rPr b="0" i="0" lang="en-US" sz="2400" u="none">
                <a:solidFill>
                  <a:schemeClr val="dk1"/>
                </a:solidFill>
                <a:latin typeface="Arial"/>
                <a:ea typeface="Arial"/>
                <a:cs typeface="Arial"/>
                <a:sym typeface="Arial"/>
              </a:rPr>
              <a:t> or a </a:t>
            </a:r>
            <a:r>
              <a:rPr b="0" i="1" lang="en-US" sz="2400" u="sng">
                <a:solidFill>
                  <a:schemeClr val="dk1"/>
                </a:solidFill>
                <a:latin typeface="Arial"/>
                <a:ea typeface="Arial"/>
                <a:cs typeface="Arial"/>
                <a:sym typeface="Arial"/>
              </a:rPr>
              <a:t>sequence</a:t>
            </a:r>
            <a:r>
              <a:rPr b="0" i="0" lang="en-US" sz="2400" u="sng">
                <a:solidFill>
                  <a:schemeClr val="dk1"/>
                </a:solidFill>
                <a:latin typeface="Arial"/>
                <a:ea typeface="Arial"/>
                <a:cs typeface="Arial"/>
                <a:sym typeface="Arial"/>
              </a:rPr>
              <a:t> </a:t>
            </a:r>
            <a:r>
              <a:rPr b="0" i="1" lang="en-US" sz="2400" u="sng">
                <a:solidFill>
                  <a:schemeClr val="dk1"/>
                </a:solidFill>
                <a:latin typeface="Arial"/>
                <a:ea typeface="Arial"/>
                <a:cs typeface="Arial"/>
                <a:sym typeface="Arial"/>
              </a:rPr>
              <a:t>of</a:t>
            </a:r>
            <a:r>
              <a:rPr b="0" i="0" lang="en-US" sz="2400" u="sng">
                <a:solidFill>
                  <a:schemeClr val="dk1"/>
                </a:solidFill>
                <a:latin typeface="Arial"/>
                <a:ea typeface="Arial"/>
                <a:cs typeface="Arial"/>
                <a:sym typeface="Arial"/>
              </a:rPr>
              <a:t> </a:t>
            </a:r>
            <a:r>
              <a:rPr b="0" i="1" lang="en-US" sz="2400" u="sng">
                <a:solidFill>
                  <a:schemeClr val="dk1"/>
                </a:solidFill>
                <a:latin typeface="Arial"/>
                <a:ea typeface="Arial"/>
                <a:cs typeface="Arial"/>
                <a:sym typeface="Arial"/>
              </a:rPr>
              <a:t>length n</a:t>
            </a:r>
            <a:r>
              <a:rPr b="0" i="0" lang="en-US" sz="2400" u="none">
                <a:solidFill>
                  <a:schemeClr val="dk1"/>
                </a:solidFill>
                <a:latin typeface="Arial"/>
                <a:ea typeface="Arial"/>
                <a:cs typeface="Arial"/>
                <a:sym typeface="Arial"/>
              </a:rPr>
              <a:t> is written (</a:t>
            </a:r>
            <a:r>
              <a:rPr b="0" i="1" lang="en-US" sz="2400" u="none">
                <a:solidFill>
                  <a:schemeClr val="dk1"/>
                </a:solidFill>
                <a:latin typeface="Arial"/>
                <a:ea typeface="Arial"/>
                <a:cs typeface="Arial"/>
                <a:sym typeface="Arial"/>
              </a:rPr>
              <a:t>a</a:t>
            </a:r>
            <a:r>
              <a:rPr b="0" baseline="-25000" i="0" lang="en-US" sz="2400" u="none">
                <a:solidFill>
                  <a:schemeClr val="dk1"/>
                </a:solidFill>
                <a:latin typeface="Arial"/>
                <a:ea typeface="Arial"/>
                <a:cs typeface="Arial"/>
                <a:sym typeface="Arial"/>
              </a:rPr>
              <a:t>1</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a</a:t>
            </a:r>
            <a:r>
              <a:rPr b="0" baseline="-25000" i="0" lang="en-US" sz="2400" u="none">
                <a:solidFill>
                  <a:schemeClr val="dk1"/>
                </a:solidFill>
                <a:latin typeface="Arial"/>
                <a:ea typeface="Arial"/>
                <a:cs typeface="Arial"/>
                <a:sym typeface="Arial"/>
              </a:rPr>
              <a:t>2</a:t>
            </a:r>
            <a:r>
              <a:rPr b="0" i="0" lang="en-US" sz="2400" u="none">
                <a:solidFill>
                  <a:schemeClr val="dk1"/>
                </a:solidFill>
                <a:latin typeface="Arial"/>
                <a:ea typeface="Arial"/>
                <a:cs typeface="Arial"/>
                <a:sym typeface="Arial"/>
              </a:rPr>
              <a:t>, …, </a:t>
            </a:r>
            <a:r>
              <a:rPr b="0" i="1" lang="en-US" sz="2400" u="none">
                <a:solidFill>
                  <a:schemeClr val="dk1"/>
                </a:solidFill>
                <a:latin typeface="Arial"/>
                <a:ea typeface="Arial"/>
                <a:cs typeface="Arial"/>
                <a:sym typeface="Arial"/>
              </a:rPr>
              <a:t>a</a:t>
            </a:r>
            <a:r>
              <a:rPr b="0" baseline="-25000" i="1" lang="en-US" sz="2400" u="none">
                <a:solidFill>
                  <a:schemeClr val="dk1"/>
                </a:solidFill>
                <a:latin typeface="Arial"/>
                <a:ea typeface="Arial"/>
                <a:cs typeface="Arial"/>
                <a:sym typeface="Arial"/>
              </a:rPr>
              <a:t>n</a:t>
            </a:r>
            <a:r>
              <a:rPr b="0" i="0" lang="en-US" sz="2400" u="none">
                <a:solidFill>
                  <a:schemeClr val="dk1"/>
                </a:solidFill>
                <a:latin typeface="Arial"/>
                <a:ea typeface="Arial"/>
                <a:cs typeface="Arial"/>
                <a:sym typeface="Arial"/>
              </a:rPr>
              <a:t>). The </a:t>
            </a:r>
            <a:r>
              <a:rPr b="0" i="1" lang="en-US" sz="2400" u="none">
                <a:solidFill>
                  <a:schemeClr val="dk1"/>
                </a:solidFill>
                <a:latin typeface="Arial"/>
                <a:ea typeface="Arial"/>
                <a:cs typeface="Arial"/>
                <a:sym typeface="Arial"/>
              </a:rPr>
              <a:t>first</a:t>
            </a:r>
            <a:r>
              <a:rPr b="0" i="0" lang="en-US" sz="2400" u="none">
                <a:solidFill>
                  <a:schemeClr val="dk1"/>
                </a:solidFill>
                <a:latin typeface="Arial"/>
                <a:ea typeface="Arial"/>
                <a:cs typeface="Arial"/>
                <a:sym typeface="Arial"/>
              </a:rPr>
              <a:t> element is </a:t>
            </a:r>
            <a:r>
              <a:rPr b="0" i="1" lang="en-US" sz="2400" u="none">
                <a:solidFill>
                  <a:schemeClr val="dk1"/>
                </a:solidFill>
                <a:latin typeface="Arial"/>
                <a:ea typeface="Arial"/>
                <a:cs typeface="Arial"/>
                <a:sym typeface="Arial"/>
              </a:rPr>
              <a:t>a</a:t>
            </a:r>
            <a:r>
              <a:rPr b="0" baseline="-25000" i="0" lang="en-US" sz="2400" u="none">
                <a:solidFill>
                  <a:schemeClr val="dk1"/>
                </a:solidFill>
                <a:latin typeface="Arial"/>
                <a:ea typeface="Arial"/>
                <a:cs typeface="Arial"/>
                <a:sym typeface="Arial"/>
              </a:rPr>
              <a:t>1</a:t>
            </a:r>
            <a:r>
              <a:rPr b="0" i="0" lang="en-US" sz="2400" u="none">
                <a:solidFill>
                  <a:schemeClr val="dk1"/>
                </a:solidFill>
                <a:latin typeface="Arial"/>
                <a:ea typeface="Arial"/>
                <a:cs typeface="Arial"/>
                <a:sym typeface="Arial"/>
              </a:rPr>
              <a:t>, </a:t>
            </a:r>
            <a:r>
              <a:rPr b="0" i="1" lang="en-US" sz="2400" u="none">
                <a:solidFill>
                  <a:schemeClr val="dk1"/>
                </a:solidFill>
                <a:latin typeface="Arial"/>
                <a:ea typeface="Arial"/>
                <a:cs typeface="Arial"/>
                <a:sym typeface="Arial"/>
              </a:rPr>
              <a:t>etc.</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These are like sets, except that duplicates matter, and the order makes a difference.</a:t>
            </a:r>
            <a:endParaRPr b="0" i="1" sz="2400" u="none">
              <a:solidFill>
                <a:schemeClr val="dk1"/>
              </a:solidFill>
              <a:latin typeface="Arial"/>
              <a:ea typeface="Arial"/>
              <a:cs typeface="Arial"/>
              <a:sym typeface="Arial"/>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Note (1, 2) ≠ (2, 1) ≠ (2, 1, 1).</a:t>
            </a:r>
            <a:endParaRPr b="0" i="1" sz="2400" u="none">
              <a:solidFill>
                <a:schemeClr val="dk1"/>
              </a:solidFill>
              <a:latin typeface="Arial"/>
              <a:ea typeface="Arial"/>
              <a:cs typeface="Arial"/>
              <a:sym typeface="Arial"/>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Empty sequence, singlets, pairs, triples, quadruples, quin</a:t>
            </a:r>
            <a:r>
              <a:rPr b="0" i="0" lang="en-US" sz="2400" u="sng">
                <a:solidFill>
                  <a:schemeClr val="dk1"/>
                </a:solidFill>
                <a:latin typeface="Arial"/>
                <a:ea typeface="Arial"/>
                <a:cs typeface="Arial"/>
                <a:sym typeface="Arial"/>
              </a:rPr>
              <a:t>tuples</a:t>
            </a:r>
            <a:r>
              <a:rPr b="0" i="0" lang="en-US" sz="2400" u="none">
                <a:solidFill>
                  <a:schemeClr val="dk1"/>
                </a:solidFill>
                <a:latin typeface="Arial"/>
                <a:ea typeface="Arial"/>
                <a:cs typeface="Arial"/>
                <a:sym typeface="Arial"/>
              </a:rPr>
              <a:t>, …,  </a:t>
            </a:r>
            <a:r>
              <a:rPr b="0" i="1" lang="en-US" sz="2400" u="none">
                <a:solidFill>
                  <a:schemeClr val="dk1"/>
                </a:solidFill>
                <a:latin typeface="Arial"/>
                <a:ea typeface="Arial"/>
                <a:cs typeface="Arial"/>
                <a:sym typeface="Arial"/>
              </a:rPr>
              <a:t>n</a:t>
            </a:r>
            <a:r>
              <a:rPr b="0" i="0" lang="en-US" sz="2400" u="none">
                <a:solidFill>
                  <a:schemeClr val="dk1"/>
                </a:solidFill>
                <a:latin typeface="Arial"/>
                <a:ea typeface="Arial"/>
                <a:cs typeface="Arial"/>
                <a:sym typeface="Arial"/>
              </a:rPr>
              <a:t>-tuples.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7"/>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13" name="Google Shape;313;p17"/>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14" name="Google Shape;314;p17"/>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15" name="Google Shape;315;p17"/>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Cartesian Products of Sets</a:t>
            </a:r>
            <a:endParaRPr/>
          </a:p>
        </p:txBody>
      </p:sp>
      <p:sp>
        <p:nvSpPr>
          <p:cNvPr id="316" name="Google Shape;316;p17"/>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 sets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their </a:t>
            </a:r>
            <a:r>
              <a:rPr b="0" i="1" lang="en-US" sz="2800" u="none">
                <a:solidFill>
                  <a:schemeClr val="dk1"/>
                </a:solidFill>
                <a:latin typeface="Arial"/>
                <a:ea typeface="Arial"/>
                <a:cs typeface="Arial"/>
                <a:sym typeface="Arial"/>
              </a:rPr>
              <a:t>Cartesian product</a:t>
            </a:r>
            <a:br>
              <a:rPr b="0" i="1" lang="en-US" sz="2800" u="none">
                <a:solidFill>
                  <a:schemeClr val="dk1"/>
                </a:solidFill>
                <a:latin typeface="Arial"/>
                <a:ea typeface="Arial"/>
                <a:cs typeface="Arial"/>
                <a:sym typeface="Arial"/>
              </a:rPr>
            </a:b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E.g.</a:t>
            </a:r>
            <a:r>
              <a:rPr b="0" i="0" lang="en-US" sz="2800" u="none">
                <a:solidFill>
                  <a:schemeClr val="dk1"/>
                </a:solidFill>
                <a:latin typeface="Arial"/>
                <a:ea typeface="Arial"/>
                <a:cs typeface="Arial"/>
                <a:sym typeface="Arial"/>
              </a:rPr>
              <a:t> {a,b}×{1,2} = {(a,1),(a,2),(b,1),(b,2)}</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Note that for finite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Note that the Cartesian product is </a:t>
            </a:r>
            <a:r>
              <a:rPr b="1" i="1" lang="en-US" sz="2800" u="none">
                <a:solidFill>
                  <a:schemeClr val="dk1"/>
                </a:solidFill>
                <a:latin typeface="Arial"/>
                <a:ea typeface="Arial"/>
                <a:cs typeface="Arial"/>
                <a:sym typeface="Arial"/>
              </a:rPr>
              <a:t>not</a:t>
            </a:r>
            <a:r>
              <a:rPr b="0" i="0" lang="en-US" sz="2800" u="none">
                <a:solidFill>
                  <a:schemeClr val="dk1"/>
                </a:solidFill>
                <a:latin typeface="Arial"/>
                <a:ea typeface="Arial"/>
                <a:cs typeface="Arial"/>
                <a:sym typeface="Arial"/>
              </a:rPr>
              <a:t> commutative: ¬∀</a:t>
            </a:r>
            <a:r>
              <a:rPr b="0" i="1" lang="en-US" sz="2800" u="none">
                <a:solidFill>
                  <a:schemeClr val="dk1"/>
                </a:solidFill>
                <a:latin typeface="Arial"/>
                <a:ea typeface="Arial"/>
                <a:cs typeface="Arial"/>
                <a:sym typeface="Arial"/>
              </a:rPr>
              <a:t>AB</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Extends to </a:t>
            </a:r>
            <a:r>
              <a:rPr b="0" i="1" lang="en-US" sz="2800" u="none">
                <a:solidFill>
                  <a:schemeClr val="dk1"/>
                </a:solidFill>
                <a:latin typeface="Arial"/>
                <a:ea typeface="Arial"/>
                <a:cs typeface="Arial"/>
                <a:sym typeface="Arial"/>
              </a:rPr>
              <a:t>A</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A</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 … × </a:t>
            </a:r>
            <a:r>
              <a:rPr b="0" i="1" lang="en-US" sz="2800" u="none">
                <a:solidFill>
                  <a:schemeClr val="dk1"/>
                </a:solidFill>
                <a:latin typeface="Arial"/>
                <a:ea typeface="Arial"/>
                <a:cs typeface="Arial"/>
                <a:sym typeface="Arial"/>
              </a:rPr>
              <a:t>A</a:t>
            </a:r>
            <a:r>
              <a:rPr b="0" baseline="-25000" i="1"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8"/>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22" name="Google Shape;322;p18"/>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23" name="Google Shape;323;p18"/>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24" name="Google Shape;324;p18"/>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The Union Operator</a:t>
            </a:r>
            <a:endParaRPr/>
          </a:p>
        </p:txBody>
      </p:sp>
      <p:sp>
        <p:nvSpPr>
          <p:cNvPr id="325" name="Google Shape;325;p18"/>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 sets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their</a:t>
            </a:r>
            <a:r>
              <a:rPr b="0" i="1" lang="en-US" sz="2800" u="none">
                <a:solidFill>
                  <a:schemeClr val="dk1"/>
                </a:solidFill>
                <a:latin typeface="Arial"/>
                <a:ea typeface="Arial"/>
                <a:cs typeface="Arial"/>
                <a:sym typeface="Arial"/>
              </a:rPr>
              <a:t> union</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is the set containing all elements that are either in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or</a:t>
            </a:r>
            <a:r>
              <a:rPr b="0" i="0" lang="en-US" sz="2800" u="none">
                <a:solidFill>
                  <a:schemeClr val="dk1"/>
                </a:solidFill>
                <a:latin typeface="Arial"/>
                <a:ea typeface="Arial"/>
                <a:cs typeface="Arial"/>
                <a:sym typeface="Arial"/>
              </a:rPr>
              <a:t> (“∨”) in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(or, of course, in both).</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Formally,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x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Note that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contains all the elements of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and</a:t>
            </a:r>
            <a:r>
              <a:rPr b="0" i="0" lang="en-US" sz="2800" u="none">
                <a:solidFill>
                  <a:schemeClr val="dk1"/>
                </a:solidFill>
                <a:latin typeface="Arial"/>
                <a:ea typeface="Arial"/>
                <a:cs typeface="Arial"/>
                <a:sym typeface="Arial"/>
              </a:rPr>
              <a:t> it contains all the elements of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9"/>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31" name="Google Shape;331;p19"/>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32" name="Google Shape;332;p19"/>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33" name="Google Shape;333;p19"/>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{a,b,c}∪{2,3} = {a,b,c,2,3}</a:t>
            </a:r>
            <a:endParaRPr/>
          </a:p>
          <a:p>
            <a:pPr indent="-342900" lvl="0" marL="342900" marR="0" rtl="0" algn="l">
              <a:lnSpc>
                <a:spcPct val="100000"/>
              </a:lnSpc>
              <a:spcBef>
                <a:spcPts val="640"/>
              </a:spcBef>
              <a:spcAft>
                <a:spcPts val="0"/>
              </a:spcAft>
              <a:buClr>
                <a:schemeClr val="accent2"/>
              </a:buClr>
              <a:buSzPts val="3200"/>
              <a:buFont typeface="Arial"/>
              <a:buChar char="•"/>
            </a:pPr>
            <a:r>
              <a:rPr b="0" i="0" lang="en-US" sz="3200" u="none">
                <a:solidFill>
                  <a:schemeClr val="accent2"/>
                </a:solidFill>
                <a:latin typeface="Arial"/>
                <a:ea typeface="Arial"/>
                <a:cs typeface="Arial"/>
                <a:sym typeface="Arial"/>
              </a:rPr>
              <a:t>{2,3,5}</a:t>
            </a:r>
            <a:r>
              <a:rPr b="0" i="0" lang="en-US" sz="3200" u="none">
                <a:solidFill>
                  <a:schemeClr val="dk1"/>
                </a:solidFill>
                <a:latin typeface="Arial"/>
                <a:ea typeface="Arial"/>
                <a:cs typeface="Arial"/>
                <a:sym typeface="Arial"/>
              </a:rPr>
              <a:t>∪</a:t>
            </a:r>
            <a:r>
              <a:rPr b="0" i="0" lang="en-US" sz="3200" u="none">
                <a:solidFill>
                  <a:srgbClr val="FF0000"/>
                </a:solidFill>
                <a:latin typeface="Arial"/>
                <a:ea typeface="Arial"/>
                <a:cs typeface="Arial"/>
                <a:sym typeface="Arial"/>
              </a:rPr>
              <a:t>{3,5,7}</a:t>
            </a:r>
            <a:r>
              <a:rPr b="0" i="0" lang="en-US" sz="3200" u="none">
                <a:solidFill>
                  <a:schemeClr val="dk1"/>
                </a:solidFill>
                <a:latin typeface="Arial"/>
                <a:ea typeface="Arial"/>
                <a:cs typeface="Arial"/>
                <a:sym typeface="Arial"/>
              </a:rPr>
              <a:t> = {</a:t>
            </a:r>
            <a:r>
              <a:rPr b="0" i="0" lang="en-US" sz="3200" u="none">
                <a:solidFill>
                  <a:schemeClr val="accent2"/>
                </a:solidFill>
                <a:latin typeface="Arial"/>
                <a:ea typeface="Arial"/>
                <a:cs typeface="Arial"/>
                <a:sym typeface="Arial"/>
              </a:rPr>
              <a:t>2,3,5</a:t>
            </a:r>
            <a:r>
              <a:rPr b="0" i="0" lang="en-US" sz="3200" u="none">
                <a:solidFill>
                  <a:schemeClr val="dk1"/>
                </a:solidFill>
                <a:latin typeface="Arial"/>
                <a:ea typeface="Arial"/>
                <a:cs typeface="Arial"/>
                <a:sym typeface="Arial"/>
              </a:rPr>
              <a:t>,</a:t>
            </a:r>
            <a:r>
              <a:rPr b="0" i="0" lang="en-US" sz="3200" u="none">
                <a:solidFill>
                  <a:srgbClr val="FF0000"/>
                </a:solidFill>
                <a:latin typeface="Arial"/>
                <a:ea typeface="Arial"/>
                <a:cs typeface="Arial"/>
                <a:sym typeface="Arial"/>
              </a:rPr>
              <a:t>3,5,7</a:t>
            </a:r>
            <a:r>
              <a:rPr b="0" i="0" lang="en-US" sz="3200" u="none">
                <a:solidFill>
                  <a:schemeClr val="dk1"/>
                </a:solidFill>
                <a:latin typeface="Arial"/>
                <a:ea typeface="Arial"/>
                <a:cs typeface="Arial"/>
                <a:sym typeface="Arial"/>
              </a:rPr>
              <a:t>} =</a:t>
            </a:r>
            <a:r>
              <a:rPr b="0" i="0" lang="en-US" sz="3200" u="none">
                <a:solidFill>
                  <a:srgbClr val="006600"/>
                </a:solidFill>
                <a:latin typeface="Arial"/>
                <a:ea typeface="Arial"/>
                <a:cs typeface="Arial"/>
                <a:sym typeface="Arial"/>
              </a:rPr>
              <a:t>{2,3,5,7} </a:t>
            </a:r>
            <a:endParaRPr/>
          </a:p>
        </p:txBody>
      </p:sp>
      <p:grpSp>
        <p:nvGrpSpPr>
          <p:cNvPr id="334" name="Google Shape;334;p19"/>
          <p:cNvGrpSpPr/>
          <p:nvPr/>
        </p:nvGrpSpPr>
        <p:grpSpPr>
          <a:xfrm>
            <a:off x="1219200" y="3505200"/>
            <a:ext cx="3505200" cy="1981200"/>
            <a:chOff x="624" y="2400"/>
            <a:chExt cx="2208" cy="1248"/>
          </a:xfrm>
        </p:grpSpPr>
        <p:sp>
          <p:nvSpPr>
            <p:cNvPr id="335" name="Google Shape;335;p19"/>
            <p:cNvSpPr/>
            <p:nvPr/>
          </p:nvSpPr>
          <p:spPr>
            <a:xfrm>
              <a:off x="624" y="2400"/>
              <a:ext cx="1680" cy="960"/>
            </a:xfrm>
            <a:prstGeom prst="ellipse">
              <a:avLst/>
            </a:prstGeom>
            <a:solidFill>
              <a:srgbClr val="008000">
                <a:alpha val="49411"/>
              </a:srgbClr>
            </a:solidFill>
            <a:ln cap="flat" cmpd="sng" w="9525">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6" name="Google Shape;336;p19"/>
            <p:cNvSpPr/>
            <p:nvPr/>
          </p:nvSpPr>
          <p:spPr>
            <a:xfrm>
              <a:off x="1104" y="2736"/>
              <a:ext cx="1728" cy="912"/>
            </a:xfrm>
            <a:prstGeom prst="ellipse">
              <a:avLst/>
            </a:prstGeom>
            <a:solidFill>
              <a:srgbClr val="008000">
                <a:alpha val="49411"/>
              </a:srgbClr>
            </a:solidFill>
            <a:ln cap="flat" cmpd="sng" w="9525">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37" name="Google Shape;337;p19"/>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Union Examples</a:t>
            </a:r>
            <a:endParaRPr/>
          </a:p>
        </p:txBody>
      </p:sp>
      <p:grpSp>
        <p:nvGrpSpPr>
          <p:cNvPr id="338" name="Google Shape;338;p19"/>
          <p:cNvGrpSpPr/>
          <p:nvPr/>
        </p:nvGrpSpPr>
        <p:grpSpPr>
          <a:xfrm>
            <a:off x="6096000" y="2057400"/>
            <a:ext cx="2743200" cy="1219200"/>
            <a:chOff x="3840" y="1296"/>
            <a:chExt cx="1728" cy="768"/>
          </a:xfrm>
        </p:grpSpPr>
        <p:sp>
          <p:nvSpPr>
            <p:cNvPr id="339" name="Google Shape;339;p19"/>
            <p:cNvSpPr/>
            <p:nvPr/>
          </p:nvSpPr>
          <p:spPr>
            <a:xfrm>
              <a:off x="4176" y="1632"/>
              <a:ext cx="1104" cy="432"/>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0" name="Google Shape;340;p19"/>
            <p:cNvSpPr/>
            <p:nvPr/>
          </p:nvSpPr>
          <p:spPr>
            <a:xfrm>
              <a:off x="3840" y="1296"/>
              <a:ext cx="1728" cy="360"/>
            </a:xfrm>
            <a:prstGeom prst="rect">
              <a:avLst/>
            </a:prstGeom>
          </p:spPr>
          <p:txBody>
            <a:bodyPr>
              <a:prstTxWarp prst="textPlain"/>
            </a:bodyPr>
            <a:lstStyle/>
            <a:p>
              <a:pPr lvl="0" algn="l"/>
              <a:r>
                <a:rPr b="0" i="0">
                  <a:ln>
                    <a:noFill/>
                  </a:ln>
                  <a:gradFill>
                    <a:gsLst>
                      <a:gs pos="0">
                        <a:srgbClr val="FFFF00"/>
                      </a:gs>
                      <a:gs pos="100000">
                        <a:srgbClr val="FF9933"/>
                      </a:gs>
                    </a:gsLst>
                    <a:path path="circle">
                      <a:fillToRect b="50%" l="50%" r="50%" t="50%"/>
                    </a:path>
                    <a:tileRect/>
                  </a:gradFill>
                  <a:latin typeface="Impact"/>
                </a:rPr>
                <a:t>Required Form </a:t>
              </a:r>
            </a:p>
          </p:txBody>
        </p:sp>
      </p:grpSp>
      <p:grpSp>
        <p:nvGrpSpPr>
          <p:cNvPr id="341" name="Google Shape;341;p19"/>
          <p:cNvGrpSpPr/>
          <p:nvPr/>
        </p:nvGrpSpPr>
        <p:grpSpPr>
          <a:xfrm>
            <a:off x="1219200" y="3505200"/>
            <a:ext cx="3505200" cy="1981200"/>
            <a:chOff x="624" y="2400"/>
            <a:chExt cx="2208" cy="1248"/>
          </a:xfrm>
        </p:grpSpPr>
        <p:sp>
          <p:nvSpPr>
            <p:cNvPr id="342" name="Google Shape;342;p19"/>
            <p:cNvSpPr/>
            <p:nvPr/>
          </p:nvSpPr>
          <p:spPr>
            <a:xfrm>
              <a:off x="624" y="2400"/>
              <a:ext cx="1680" cy="960"/>
            </a:xfrm>
            <a:prstGeom prst="ellipse">
              <a:avLst/>
            </a:prstGeom>
            <a:noFill/>
            <a:ln cap="flat" cmpd="sng" w="381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3" name="Google Shape;343;p19"/>
            <p:cNvSpPr/>
            <p:nvPr/>
          </p:nvSpPr>
          <p:spPr>
            <a:xfrm>
              <a:off x="1104" y="2736"/>
              <a:ext cx="1728" cy="912"/>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4" name="Google Shape;344;p19"/>
            <p:cNvSpPr/>
            <p:nvPr/>
          </p:nvSpPr>
          <p:spPr>
            <a:xfrm>
              <a:off x="1008" y="2640"/>
              <a:ext cx="144" cy="24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000000"/>
                  </a:solidFill>
                  <a:latin typeface="Arial"/>
                </a:rPr>
                <a:t>2 </a:t>
              </a:r>
            </a:p>
          </p:txBody>
        </p:sp>
        <p:sp>
          <p:nvSpPr>
            <p:cNvPr id="345" name="Google Shape;345;p19"/>
            <p:cNvSpPr/>
            <p:nvPr/>
          </p:nvSpPr>
          <p:spPr>
            <a:xfrm>
              <a:off x="1392" y="2976"/>
              <a:ext cx="144" cy="24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000000"/>
                  </a:solidFill>
                  <a:latin typeface="Arial"/>
                </a:rPr>
                <a:t>3 </a:t>
              </a:r>
            </a:p>
          </p:txBody>
        </p:sp>
        <p:sp>
          <p:nvSpPr>
            <p:cNvPr id="346" name="Google Shape;346;p19"/>
            <p:cNvSpPr/>
            <p:nvPr/>
          </p:nvSpPr>
          <p:spPr>
            <a:xfrm>
              <a:off x="1872" y="2880"/>
              <a:ext cx="144" cy="24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000000"/>
                  </a:solidFill>
                  <a:latin typeface="Arial"/>
                </a:rPr>
                <a:t>5 </a:t>
              </a:r>
            </a:p>
          </p:txBody>
        </p:sp>
        <p:sp>
          <p:nvSpPr>
            <p:cNvPr id="347" name="Google Shape;347;p19"/>
            <p:cNvSpPr/>
            <p:nvPr/>
          </p:nvSpPr>
          <p:spPr>
            <a:xfrm>
              <a:off x="2400" y="3120"/>
              <a:ext cx="144" cy="24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000000"/>
                  </a:solidFill>
                  <a:latin typeface="Arial"/>
                </a:rPr>
                <a:t>7 </a:t>
              </a: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0"/>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53" name="Google Shape;353;p20"/>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54" name="Google Shape;354;p20"/>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55" name="Google Shape;355;p20"/>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The Intersection Operator</a:t>
            </a:r>
            <a:endParaRPr/>
          </a:p>
        </p:txBody>
      </p:sp>
      <p:sp>
        <p:nvSpPr>
          <p:cNvPr id="356" name="Google Shape;356;p20"/>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 sets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their </a:t>
            </a:r>
            <a:r>
              <a:rPr b="0" i="1" lang="en-US" sz="2800" u="none">
                <a:solidFill>
                  <a:schemeClr val="dk1"/>
                </a:solidFill>
                <a:latin typeface="Arial"/>
                <a:ea typeface="Arial"/>
                <a:cs typeface="Arial"/>
                <a:sym typeface="Arial"/>
              </a:rPr>
              <a:t>intersection</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is the set containing all elements that are simultaneously in </a:t>
            </a:r>
            <a:r>
              <a:rPr b="0" i="1" lang="en-US" sz="2800" u="none">
                <a:solidFill>
                  <a:schemeClr val="dk1"/>
                </a:solidFill>
                <a:latin typeface="Arial"/>
                <a:ea typeface="Arial"/>
                <a:cs typeface="Arial"/>
                <a:sym typeface="Arial"/>
              </a:rPr>
              <a:t>A </a:t>
            </a:r>
            <a:r>
              <a:rPr b="1" i="0" lang="en-US" sz="2800" u="none">
                <a:solidFill>
                  <a:schemeClr val="dk1"/>
                </a:solidFill>
                <a:latin typeface="Arial"/>
                <a:ea typeface="Arial"/>
                <a:cs typeface="Arial"/>
                <a:sym typeface="Arial"/>
              </a:rPr>
              <a:t>and</a:t>
            </a:r>
            <a:r>
              <a:rPr b="0" i="0" lang="en-US" sz="2800" u="none">
                <a:solidFill>
                  <a:schemeClr val="dk1"/>
                </a:solidFill>
                <a:latin typeface="Arial"/>
                <a:ea typeface="Arial"/>
                <a:cs typeface="Arial"/>
                <a:sym typeface="Arial"/>
              </a:rPr>
              <a:t> (“∧”) in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Formally,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x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Note that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is a subset of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and</a:t>
            </a:r>
            <a:r>
              <a:rPr b="0" i="0" lang="en-US" sz="2800" u="none">
                <a:solidFill>
                  <a:schemeClr val="dk1"/>
                </a:solidFill>
                <a:latin typeface="Arial"/>
                <a:ea typeface="Arial"/>
                <a:cs typeface="Arial"/>
                <a:sym typeface="Arial"/>
              </a:rPr>
              <a:t> it is a subset of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 </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1"/>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62" name="Google Shape;362;p21"/>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63" name="Google Shape;363;p21"/>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64" name="Google Shape;364;p21"/>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{a,b,c}∩{2,3} = ___</a:t>
            </a:r>
            <a:endParaRPr/>
          </a:p>
          <a:p>
            <a:pPr indent="-342900" lvl="0" marL="342900" marR="0" rtl="0" algn="l">
              <a:lnSpc>
                <a:spcPct val="100000"/>
              </a:lnSpc>
              <a:spcBef>
                <a:spcPts val="640"/>
              </a:spcBef>
              <a:spcAft>
                <a:spcPts val="0"/>
              </a:spcAft>
              <a:buClr>
                <a:schemeClr val="accent2"/>
              </a:buClr>
              <a:buSzPts val="3200"/>
              <a:buFont typeface="Arial"/>
              <a:buChar char="•"/>
            </a:pPr>
            <a:r>
              <a:rPr b="0" i="0" lang="en-US" sz="3200" u="none">
                <a:solidFill>
                  <a:schemeClr val="accent2"/>
                </a:solidFill>
                <a:latin typeface="Arial"/>
                <a:ea typeface="Arial"/>
                <a:cs typeface="Arial"/>
                <a:sym typeface="Arial"/>
              </a:rPr>
              <a:t>{2,4,6}</a:t>
            </a:r>
            <a:r>
              <a:rPr b="0" i="0" lang="en-US" sz="3200" u="none">
                <a:solidFill>
                  <a:schemeClr val="dk1"/>
                </a:solidFill>
                <a:latin typeface="Arial"/>
                <a:ea typeface="Arial"/>
                <a:cs typeface="Arial"/>
                <a:sym typeface="Arial"/>
              </a:rPr>
              <a:t>∩</a:t>
            </a:r>
            <a:r>
              <a:rPr b="0" i="0" lang="en-US" sz="3200" u="none">
                <a:solidFill>
                  <a:srgbClr val="FF0000"/>
                </a:solidFill>
                <a:latin typeface="Arial"/>
                <a:ea typeface="Arial"/>
                <a:cs typeface="Arial"/>
                <a:sym typeface="Arial"/>
              </a:rPr>
              <a:t>{3,4,5}</a:t>
            </a:r>
            <a:r>
              <a:rPr b="0" i="0" lang="en-US" sz="3200" u="none">
                <a:solidFill>
                  <a:schemeClr val="dk1"/>
                </a:solidFill>
                <a:latin typeface="Arial"/>
                <a:ea typeface="Arial"/>
                <a:cs typeface="Arial"/>
                <a:sym typeface="Arial"/>
              </a:rPr>
              <a:t> = ______</a:t>
            </a:r>
            <a:endParaRPr/>
          </a:p>
        </p:txBody>
      </p:sp>
      <p:sp>
        <p:nvSpPr>
          <p:cNvPr id="365" name="Google Shape;365;p21"/>
          <p:cNvSpPr/>
          <p:nvPr/>
        </p:nvSpPr>
        <p:spPr>
          <a:xfrm>
            <a:off x="2424112" y="4114800"/>
            <a:ext cx="968375" cy="939800"/>
          </a:xfrm>
          <a:custGeom>
            <a:rect b="b" l="l" r="r" t="t"/>
            <a:pathLst>
              <a:path extrusionOk="0" h="592" w="610">
                <a:moveTo>
                  <a:pt x="41" y="569"/>
                </a:moveTo>
                <a:cubicBezTo>
                  <a:pt x="9" y="471"/>
                  <a:pt x="0" y="372"/>
                  <a:pt x="14" y="270"/>
                </a:cubicBezTo>
                <a:cubicBezTo>
                  <a:pt x="7" y="210"/>
                  <a:pt x="23" y="130"/>
                  <a:pt x="25" y="74"/>
                </a:cubicBezTo>
                <a:cubicBezTo>
                  <a:pt x="26" y="57"/>
                  <a:pt x="25" y="31"/>
                  <a:pt x="41" y="26"/>
                </a:cubicBezTo>
                <a:cubicBezTo>
                  <a:pt x="86" y="11"/>
                  <a:pt x="57" y="19"/>
                  <a:pt x="130" y="10"/>
                </a:cubicBezTo>
                <a:cubicBezTo>
                  <a:pt x="165" y="0"/>
                  <a:pt x="208" y="17"/>
                  <a:pt x="244" y="10"/>
                </a:cubicBezTo>
                <a:cubicBezTo>
                  <a:pt x="355" y="13"/>
                  <a:pt x="438" y="10"/>
                  <a:pt x="576" y="26"/>
                </a:cubicBezTo>
                <a:cubicBezTo>
                  <a:pt x="590" y="68"/>
                  <a:pt x="565" y="84"/>
                  <a:pt x="573" y="140"/>
                </a:cubicBezTo>
                <a:cubicBezTo>
                  <a:pt x="577" y="162"/>
                  <a:pt x="608" y="265"/>
                  <a:pt x="608" y="285"/>
                </a:cubicBezTo>
                <a:cubicBezTo>
                  <a:pt x="608" y="394"/>
                  <a:pt x="610" y="484"/>
                  <a:pt x="576" y="585"/>
                </a:cubicBezTo>
                <a:cubicBezTo>
                  <a:pt x="574" y="592"/>
                  <a:pt x="431" y="559"/>
                  <a:pt x="422" y="561"/>
                </a:cubicBezTo>
                <a:cubicBezTo>
                  <a:pt x="315" y="583"/>
                  <a:pt x="288" y="568"/>
                  <a:pt x="179" y="577"/>
                </a:cubicBezTo>
                <a:cubicBezTo>
                  <a:pt x="140" y="564"/>
                  <a:pt x="98" y="586"/>
                  <a:pt x="81" y="569"/>
                </a:cubicBezTo>
              </a:path>
            </a:pathLst>
          </a:custGeom>
          <a:solidFill>
            <a:srgbClr val="008000">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6" name="Google Shape;366;p21"/>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Intersection Examples</a:t>
            </a:r>
            <a:endParaRPr/>
          </a:p>
        </p:txBody>
      </p:sp>
      <p:grpSp>
        <p:nvGrpSpPr>
          <p:cNvPr id="367" name="Google Shape;367;p21"/>
          <p:cNvGrpSpPr/>
          <p:nvPr/>
        </p:nvGrpSpPr>
        <p:grpSpPr>
          <a:xfrm>
            <a:off x="1219200" y="3276600"/>
            <a:ext cx="3352800" cy="2590800"/>
            <a:chOff x="768" y="2064"/>
            <a:chExt cx="2112" cy="1632"/>
          </a:xfrm>
        </p:grpSpPr>
        <p:sp>
          <p:nvSpPr>
            <p:cNvPr id="368" name="Google Shape;368;p21"/>
            <p:cNvSpPr/>
            <p:nvPr/>
          </p:nvSpPr>
          <p:spPr>
            <a:xfrm>
              <a:off x="768" y="2592"/>
              <a:ext cx="2112" cy="576"/>
            </a:xfrm>
            <a:prstGeom prst="ellipse">
              <a:avLst/>
            </a:prstGeom>
            <a:noFill/>
            <a:ln cap="flat" cmpd="sng" w="381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9" name="Google Shape;369;p21"/>
            <p:cNvSpPr/>
            <p:nvPr/>
          </p:nvSpPr>
          <p:spPr>
            <a:xfrm>
              <a:off x="1536" y="2064"/>
              <a:ext cx="576" cy="1632"/>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0" name="Google Shape;370;p21"/>
            <p:cNvSpPr/>
            <p:nvPr/>
          </p:nvSpPr>
          <p:spPr>
            <a:xfrm>
              <a:off x="1200" y="2736"/>
              <a:ext cx="144" cy="24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000000"/>
                  </a:solidFill>
                  <a:latin typeface="Arial"/>
                </a:rPr>
                <a:t>2 </a:t>
              </a:r>
            </a:p>
          </p:txBody>
        </p:sp>
        <p:sp>
          <p:nvSpPr>
            <p:cNvPr id="371" name="Google Shape;371;p21"/>
            <p:cNvSpPr/>
            <p:nvPr/>
          </p:nvSpPr>
          <p:spPr>
            <a:xfrm>
              <a:off x="1776" y="2208"/>
              <a:ext cx="144" cy="24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000000"/>
                  </a:solidFill>
                  <a:latin typeface="Arial"/>
                </a:rPr>
                <a:t>3 </a:t>
              </a:r>
            </a:p>
          </p:txBody>
        </p:sp>
        <p:sp>
          <p:nvSpPr>
            <p:cNvPr id="372" name="Google Shape;372;p21"/>
            <p:cNvSpPr/>
            <p:nvPr/>
          </p:nvSpPr>
          <p:spPr>
            <a:xfrm>
              <a:off x="1728" y="3264"/>
              <a:ext cx="144" cy="24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000000"/>
                  </a:solidFill>
                  <a:latin typeface="Arial"/>
                </a:rPr>
                <a:t>5 </a:t>
              </a:r>
            </a:p>
          </p:txBody>
        </p:sp>
        <p:sp>
          <p:nvSpPr>
            <p:cNvPr id="373" name="Google Shape;373;p21"/>
            <p:cNvSpPr/>
            <p:nvPr/>
          </p:nvSpPr>
          <p:spPr>
            <a:xfrm>
              <a:off x="2304" y="2784"/>
              <a:ext cx="144" cy="24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000000"/>
                  </a:solidFill>
                  <a:latin typeface="Arial"/>
                </a:rPr>
                <a:t>6 </a:t>
              </a:r>
            </a:p>
          </p:txBody>
        </p:sp>
        <p:sp>
          <p:nvSpPr>
            <p:cNvPr id="374" name="Google Shape;374;p21"/>
            <p:cNvSpPr/>
            <p:nvPr/>
          </p:nvSpPr>
          <p:spPr>
            <a:xfrm>
              <a:off x="1728" y="2784"/>
              <a:ext cx="144" cy="24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rgbClr val="000000"/>
                  </a:solidFill>
                  <a:latin typeface="Arial"/>
                </a:rPr>
                <a:t>4 </a:t>
              </a:r>
            </a:p>
          </p:txBody>
        </p:sp>
      </p:grpSp>
      <p:sp>
        <p:nvSpPr>
          <p:cNvPr id="375" name="Google Shape;375;p21"/>
          <p:cNvSpPr txBox="1"/>
          <p:nvPr/>
        </p:nvSpPr>
        <p:spPr>
          <a:xfrm>
            <a:off x="3962400" y="2057400"/>
            <a:ext cx="5334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376" name="Google Shape;376;p21"/>
          <p:cNvSpPr txBox="1"/>
          <p:nvPr/>
        </p:nvSpPr>
        <p:spPr>
          <a:xfrm>
            <a:off x="4495800" y="2590800"/>
            <a:ext cx="8382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600"/>
              </a:buClr>
              <a:buSzPts val="3200"/>
              <a:buFont typeface="Times New Roman"/>
              <a:buNone/>
            </a:pPr>
            <a:r>
              <a:rPr b="0" i="0" lang="en-US" sz="3200" u="none" cap="none" strike="noStrike">
                <a:solidFill>
                  <a:srgbClr val="006600"/>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75"/>
                                        </p:tgtEl>
                                        <p:attrNameLst>
                                          <p:attrName>style.visibility</p:attrName>
                                        </p:attrNameLst>
                                      </p:cBhvr>
                                      <p:to>
                                        <p:strVal val="visible"/>
                                      </p:to>
                                    </p:set>
                                    <p:anim calcmode="lin" valueType="num">
                                      <p:cBhvr additive="base">
                                        <p:cTn dur="500"/>
                                        <p:tgtEl>
                                          <p:spTgt spid="375"/>
                                        </p:tgtEl>
                                        <p:attrNameLst>
                                          <p:attrName>ppt_w</p:attrName>
                                        </p:attrNameLst>
                                      </p:cBhvr>
                                      <p:tavLst>
                                        <p:tav fmla="" tm="0">
                                          <p:val>
                                            <p:strVal val="0"/>
                                          </p:val>
                                        </p:tav>
                                        <p:tav fmla="" tm="100000">
                                          <p:val>
                                            <p:strVal val="#ppt_w"/>
                                          </p:val>
                                        </p:tav>
                                      </p:tavLst>
                                    </p:anim>
                                    <p:anim calcmode="lin" valueType="num">
                                      <p:cBhvr additive="base">
                                        <p:cTn dur="500"/>
                                        <p:tgtEl>
                                          <p:spTgt spid="37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76"/>
                                        </p:tgtEl>
                                        <p:attrNameLst>
                                          <p:attrName>style.visibility</p:attrName>
                                        </p:attrNameLst>
                                      </p:cBhvr>
                                      <p:to>
                                        <p:strVal val="visible"/>
                                      </p:to>
                                    </p:set>
                                    <p:anim calcmode="lin" valueType="num">
                                      <p:cBhvr additive="base">
                                        <p:cTn dur="500"/>
                                        <p:tgtEl>
                                          <p:spTgt spid="376"/>
                                        </p:tgtEl>
                                        <p:attrNameLst>
                                          <p:attrName>ppt_w</p:attrName>
                                        </p:attrNameLst>
                                      </p:cBhvr>
                                      <p:tavLst>
                                        <p:tav fmla="" tm="0">
                                          <p:val>
                                            <p:strVal val="0"/>
                                          </p:val>
                                        </p:tav>
                                        <p:tav fmla="" tm="100000">
                                          <p:val>
                                            <p:strVal val="#ppt_w"/>
                                          </p:val>
                                        </p:tav>
                                      </p:tavLst>
                                    </p:anim>
                                    <p:anim calcmode="lin" valueType="num">
                                      <p:cBhvr additive="base">
                                        <p:cTn dur="500"/>
                                        <p:tgtEl>
                                          <p:spTgt spid="37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2"/>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82" name="Google Shape;382;p22"/>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83" name="Google Shape;383;p22"/>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84" name="Google Shape;384;p22"/>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Disjointedness</a:t>
            </a:r>
            <a:endParaRPr/>
          </a:p>
        </p:txBody>
      </p:sp>
      <p:sp>
        <p:nvSpPr>
          <p:cNvPr id="385" name="Google Shape;385;p22"/>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Two sets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are called</a:t>
            </a:r>
            <a:br>
              <a:rPr b="0" i="0" lang="en-US" sz="2800" u="none">
                <a:solidFill>
                  <a:schemeClr val="dk1"/>
                </a:solidFill>
                <a:latin typeface="Arial"/>
                <a:ea typeface="Arial"/>
                <a:cs typeface="Arial"/>
                <a:sym typeface="Arial"/>
              </a:rPr>
            </a:br>
            <a:r>
              <a:rPr b="0" i="1" lang="en-US" sz="2800" u="none">
                <a:solidFill>
                  <a:schemeClr val="dk1"/>
                </a:solidFill>
                <a:latin typeface="Arial"/>
                <a:ea typeface="Arial"/>
                <a:cs typeface="Arial"/>
                <a:sym typeface="Arial"/>
              </a:rPr>
              <a:t>disjoint</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i.e.</a:t>
            </a:r>
            <a:r>
              <a:rPr b="0" i="0" lang="en-US" sz="2800" u="none">
                <a:solidFill>
                  <a:schemeClr val="dk1"/>
                </a:solidFill>
                <a:latin typeface="Arial"/>
                <a:ea typeface="Arial"/>
                <a:cs typeface="Arial"/>
                <a:sym typeface="Arial"/>
              </a:rPr>
              <a:t>, unjoined)</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iff their intersection is</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empty.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Example: the set of even</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integers is disjoint with</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the set of odd integers.</a:t>
            </a:r>
            <a:endParaRPr/>
          </a:p>
        </p:txBody>
      </p:sp>
      <p:grpSp>
        <p:nvGrpSpPr>
          <p:cNvPr id="386" name="Google Shape;386;p22"/>
          <p:cNvGrpSpPr/>
          <p:nvPr/>
        </p:nvGrpSpPr>
        <p:grpSpPr>
          <a:xfrm>
            <a:off x="5334000" y="1600200"/>
            <a:ext cx="3429000" cy="3886200"/>
            <a:chOff x="3360" y="1008"/>
            <a:chExt cx="2160" cy="2448"/>
          </a:xfrm>
        </p:grpSpPr>
        <p:cxnSp>
          <p:nvCxnSpPr>
            <p:cNvPr id="387" name="Google Shape;387;p22"/>
            <p:cNvCxnSpPr/>
            <p:nvPr/>
          </p:nvCxnSpPr>
          <p:spPr>
            <a:xfrm flipH="1">
              <a:off x="3792" y="2976"/>
              <a:ext cx="144" cy="480"/>
            </a:xfrm>
            <a:prstGeom prst="straightConnector1">
              <a:avLst/>
            </a:prstGeom>
            <a:noFill/>
            <a:ln cap="flat" cmpd="sng" w="38100">
              <a:solidFill>
                <a:schemeClr val="dk1"/>
              </a:solidFill>
              <a:prstDash val="solid"/>
              <a:miter lim="800000"/>
              <a:headEnd len="med" w="med" type="oval"/>
              <a:tailEnd len="med" w="med" type="oval"/>
            </a:ln>
          </p:spPr>
        </p:cxnSp>
        <p:cxnSp>
          <p:nvCxnSpPr>
            <p:cNvPr id="388" name="Google Shape;388;p22"/>
            <p:cNvCxnSpPr/>
            <p:nvPr/>
          </p:nvCxnSpPr>
          <p:spPr>
            <a:xfrm>
              <a:off x="4224" y="2976"/>
              <a:ext cx="192" cy="480"/>
            </a:xfrm>
            <a:prstGeom prst="straightConnector1">
              <a:avLst/>
            </a:prstGeom>
            <a:noFill/>
            <a:ln cap="flat" cmpd="sng" w="38100">
              <a:solidFill>
                <a:schemeClr val="dk1"/>
              </a:solidFill>
              <a:prstDash val="solid"/>
              <a:miter lim="800000"/>
              <a:headEnd len="med" w="med" type="oval"/>
              <a:tailEnd len="med" w="med" type="oval"/>
            </a:ln>
          </p:spPr>
        </p:cxnSp>
        <p:cxnSp>
          <p:nvCxnSpPr>
            <p:cNvPr id="389" name="Google Shape;389;p22"/>
            <p:cNvCxnSpPr/>
            <p:nvPr/>
          </p:nvCxnSpPr>
          <p:spPr>
            <a:xfrm>
              <a:off x="4080" y="2352"/>
              <a:ext cx="0" cy="480"/>
            </a:xfrm>
            <a:prstGeom prst="straightConnector1">
              <a:avLst/>
            </a:prstGeom>
            <a:noFill/>
            <a:ln cap="flat" cmpd="sng" w="38100">
              <a:solidFill>
                <a:schemeClr val="dk1"/>
              </a:solidFill>
              <a:prstDash val="solid"/>
              <a:miter lim="800000"/>
              <a:headEnd len="med" w="med" type="oval"/>
              <a:tailEnd len="med" w="med" type="oval"/>
            </a:ln>
          </p:spPr>
        </p:cxnSp>
        <p:cxnSp>
          <p:nvCxnSpPr>
            <p:cNvPr id="390" name="Google Shape;390;p22"/>
            <p:cNvCxnSpPr/>
            <p:nvPr/>
          </p:nvCxnSpPr>
          <p:spPr>
            <a:xfrm>
              <a:off x="3360" y="2160"/>
              <a:ext cx="528" cy="48"/>
            </a:xfrm>
            <a:prstGeom prst="straightConnector1">
              <a:avLst/>
            </a:prstGeom>
            <a:noFill/>
            <a:ln cap="flat" cmpd="sng" w="38100">
              <a:solidFill>
                <a:schemeClr val="dk1"/>
              </a:solidFill>
              <a:prstDash val="solid"/>
              <a:miter lim="800000"/>
              <a:headEnd len="med" w="med" type="oval"/>
              <a:tailEnd len="med" w="med" type="oval"/>
            </a:ln>
          </p:spPr>
        </p:cxnSp>
        <p:cxnSp>
          <p:nvCxnSpPr>
            <p:cNvPr id="391" name="Google Shape;391;p22"/>
            <p:cNvCxnSpPr/>
            <p:nvPr/>
          </p:nvCxnSpPr>
          <p:spPr>
            <a:xfrm flipH="1" rot="10800000">
              <a:off x="4320" y="2064"/>
              <a:ext cx="576" cy="144"/>
            </a:xfrm>
            <a:prstGeom prst="straightConnector1">
              <a:avLst/>
            </a:prstGeom>
            <a:noFill/>
            <a:ln cap="flat" cmpd="sng" w="38100">
              <a:solidFill>
                <a:schemeClr val="dk1"/>
              </a:solidFill>
              <a:prstDash val="solid"/>
              <a:miter lim="800000"/>
              <a:headEnd len="med" w="med" type="oval"/>
              <a:tailEnd len="med" w="med" type="oval"/>
            </a:ln>
          </p:spPr>
        </p:cxnSp>
        <p:sp>
          <p:nvSpPr>
            <p:cNvPr id="392" name="Google Shape;392;p22"/>
            <p:cNvSpPr/>
            <p:nvPr/>
          </p:nvSpPr>
          <p:spPr>
            <a:xfrm>
              <a:off x="3888" y="1824"/>
              <a:ext cx="384" cy="384"/>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3" name="Google Shape;393;p22"/>
            <p:cNvSpPr/>
            <p:nvPr/>
          </p:nvSpPr>
          <p:spPr>
            <a:xfrm>
              <a:off x="3984" y="1920"/>
              <a:ext cx="48" cy="48"/>
            </a:xfrm>
            <a:prstGeom prst="ellipse">
              <a:avLst/>
            </a:prstGeom>
            <a:solidFill>
              <a:schemeClr val="accent1"/>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4" name="Google Shape;394;p22"/>
            <p:cNvSpPr/>
            <p:nvPr/>
          </p:nvSpPr>
          <p:spPr>
            <a:xfrm>
              <a:off x="4128" y="1920"/>
              <a:ext cx="48" cy="48"/>
            </a:xfrm>
            <a:prstGeom prst="ellipse">
              <a:avLst/>
            </a:prstGeom>
            <a:solidFill>
              <a:schemeClr val="accent1"/>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5" name="Google Shape;395;p22"/>
            <p:cNvSpPr/>
            <p:nvPr/>
          </p:nvSpPr>
          <p:spPr>
            <a:xfrm rot="5460000">
              <a:off x="4032" y="1968"/>
              <a:ext cx="96" cy="192"/>
            </a:xfrm>
            <a:prstGeom prst="moon">
              <a:avLst>
                <a:gd fmla="val 50000" name="adj"/>
              </a:avLst>
            </a:prstGeom>
            <a:solidFill>
              <a:schemeClr val="accent1"/>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6" name="Google Shape;396;p22"/>
            <p:cNvSpPr/>
            <p:nvPr/>
          </p:nvSpPr>
          <p:spPr>
            <a:xfrm>
              <a:off x="4320" y="1008"/>
              <a:ext cx="1200" cy="816"/>
            </a:xfrm>
            <a:prstGeom prst="wedgeEllipseCallout">
              <a:avLst>
                <a:gd fmla="val 1080" name="adj1"/>
                <a:gd fmla="val 22871" name="adj2"/>
              </a:avLst>
            </a:prstGeom>
            <a:solidFill>
              <a:schemeClr val="hlink"/>
            </a:solidFill>
            <a:ln cap="flat" cmpd="sng" w="5715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Help, I’ve</a:t>
              </a:r>
              <a:br>
                <a:rPr b="0" i="0" lang="en-US" sz="2000" u="none" cap="none" strike="noStrike">
                  <a:solidFill>
                    <a:schemeClr val="dk1"/>
                  </a:solidFill>
                  <a:latin typeface="Times New Roman"/>
                  <a:ea typeface="Times New Roman"/>
                  <a:cs typeface="Times New Roman"/>
                  <a:sym typeface="Times New Roman"/>
                </a:rPr>
              </a:br>
              <a:r>
                <a:rPr b="0" i="0" lang="en-US" sz="2000" u="none" cap="none" strike="noStrike">
                  <a:solidFill>
                    <a:schemeClr val="dk1"/>
                  </a:solidFill>
                  <a:latin typeface="Times New Roman"/>
                  <a:ea typeface="Times New Roman"/>
                  <a:cs typeface="Times New Roman"/>
                  <a:sym typeface="Times New Roman"/>
                </a:rPr>
                <a:t>been</a:t>
              </a:r>
              <a:br>
                <a:rPr b="0" i="0" lang="en-US" sz="2000" u="none" cap="none" strike="noStrike">
                  <a:solidFill>
                    <a:schemeClr val="dk1"/>
                  </a:solidFill>
                  <a:latin typeface="Times New Roman"/>
                  <a:ea typeface="Times New Roman"/>
                  <a:cs typeface="Times New Roman"/>
                  <a:sym typeface="Times New Roman"/>
                </a:rPr>
              </a:br>
              <a:r>
                <a:rPr b="0" i="0" lang="en-US" sz="2000" u="none" cap="none" strike="noStrike">
                  <a:solidFill>
                    <a:schemeClr val="dk1"/>
                  </a:solidFill>
                  <a:latin typeface="Times New Roman"/>
                  <a:ea typeface="Times New Roman"/>
                  <a:cs typeface="Times New Roman"/>
                  <a:sym typeface="Times New Roman"/>
                </a:rPr>
                <a:t>disjointed!</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3"/>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06" name="Google Shape;406;p23"/>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07" name="Google Shape;407;p23"/>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08" name="Google Shape;408;p23"/>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Inclusion-Exclusion Principle</a:t>
            </a:r>
            <a:endParaRPr/>
          </a:p>
        </p:txBody>
      </p:sp>
      <p:sp>
        <p:nvSpPr>
          <p:cNvPr id="409" name="Google Shape;409;p23"/>
          <p:cNvSpPr txBox="1"/>
          <p:nvPr>
            <p:ph idx="4294967295" type="body"/>
          </p:nvPr>
        </p:nvSpPr>
        <p:spPr>
          <a:xfrm>
            <a:off x="685800" y="1981200"/>
            <a:ext cx="7772400" cy="4267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How many elements are in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 = |A| </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 |B|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Example: </a:t>
            </a:r>
            <a:endParaRPr/>
          </a:p>
          <a:p>
            <a:pPr indent="-342900" lvl="0" marL="342900" marR="0" rtl="0" algn="l">
              <a:lnSpc>
                <a:spcPct val="100000"/>
              </a:lnSpc>
              <a:spcBef>
                <a:spcPts val="560"/>
              </a:spcBef>
              <a:spcAft>
                <a:spcPts val="0"/>
              </a:spcAft>
              <a:buClr>
                <a:schemeClr val="accent2"/>
              </a:buClr>
              <a:buSzPts val="2800"/>
              <a:buFont typeface="Arial"/>
              <a:buNone/>
            </a:pPr>
            <a:r>
              <a:rPr b="0" i="0" lang="en-US" sz="2800" u="none">
                <a:solidFill>
                  <a:schemeClr val="accent2"/>
                </a:solidFill>
                <a:latin typeface="Arial"/>
                <a:ea typeface="Arial"/>
                <a:cs typeface="Arial"/>
                <a:sym typeface="Arial"/>
              </a:rPr>
              <a:t>{2,3,5}</a:t>
            </a:r>
            <a:r>
              <a:rPr b="0" i="0" lang="en-US" sz="2800" u="none">
                <a:solidFill>
                  <a:schemeClr val="dk1"/>
                </a:solidFill>
                <a:latin typeface="Arial"/>
                <a:ea typeface="Arial"/>
                <a:cs typeface="Arial"/>
                <a:sym typeface="Arial"/>
              </a:rPr>
              <a:t>∪</a:t>
            </a:r>
            <a:r>
              <a:rPr b="0" i="0" lang="en-US" sz="2800" u="none">
                <a:solidFill>
                  <a:srgbClr val="FF0000"/>
                </a:solidFill>
                <a:latin typeface="Arial"/>
                <a:ea typeface="Arial"/>
                <a:cs typeface="Arial"/>
                <a:sym typeface="Arial"/>
              </a:rPr>
              <a:t>{3,5,7}</a:t>
            </a:r>
            <a:r>
              <a:rPr b="0" i="0" lang="en-US" sz="2800" u="none">
                <a:solidFill>
                  <a:schemeClr val="dk1"/>
                </a:solidFill>
                <a:latin typeface="Arial"/>
                <a:ea typeface="Arial"/>
                <a:cs typeface="Arial"/>
                <a:sym typeface="Arial"/>
              </a:rPr>
              <a:t> = {</a:t>
            </a:r>
            <a:r>
              <a:rPr b="0" i="0" lang="en-US" sz="2800" u="none">
                <a:solidFill>
                  <a:schemeClr val="accent2"/>
                </a:solidFill>
                <a:latin typeface="Arial"/>
                <a:ea typeface="Arial"/>
                <a:cs typeface="Arial"/>
                <a:sym typeface="Arial"/>
              </a:rPr>
              <a:t>2,3,5</a:t>
            </a:r>
            <a:r>
              <a:rPr b="0" i="0" lang="en-US" sz="2800" u="none">
                <a:solidFill>
                  <a:schemeClr val="dk1"/>
                </a:solidFill>
                <a:latin typeface="Arial"/>
                <a:ea typeface="Arial"/>
                <a:cs typeface="Arial"/>
                <a:sym typeface="Arial"/>
              </a:rPr>
              <a:t>,</a:t>
            </a:r>
            <a:r>
              <a:rPr b="0" i="0" lang="en-US" sz="2800" u="none">
                <a:solidFill>
                  <a:srgbClr val="FF0000"/>
                </a:solidFill>
                <a:latin typeface="Arial"/>
                <a:ea typeface="Arial"/>
                <a:cs typeface="Arial"/>
                <a:sym typeface="Arial"/>
              </a:rPr>
              <a:t>3,5,7</a:t>
            </a:r>
            <a:r>
              <a:rPr b="0" i="0" lang="en-US" sz="2800" u="none">
                <a:solidFill>
                  <a:schemeClr val="dk1"/>
                </a:solidFill>
                <a:latin typeface="Arial"/>
                <a:ea typeface="Arial"/>
                <a:cs typeface="Arial"/>
                <a:sym typeface="Arial"/>
              </a:rPr>
              <a:t>} =</a:t>
            </a:r>
            <a:r>
              <a:rPr b="0" i="0" lang="en-US" sz="2800" u="none">
                <a:solidFill>
                  <a:srgbClr val="006600"/>
                </a:solidFill>
                <a:latin typeface="Arial"/>
                <a:ea typeface="Arial"/>
                <a:cs typeface="Arial"/>
                <a:sym typeface="Arial"/>
              </a:rPr>
              <a:t>{2,3,5,7}</a:t>
            </a:r>
            <a:endParaRPr/>
          </a:p>
          <a:p>
            <a:pPr indent="-342900" lvl="0" marL="342900" marR="0" rtl="0" algn="l">
              <a:lnSpc>
                <a:spcPct val="100000"/>
              </a:lnSpc>
              <a:spcBef>
                <a:spcPts val="560"/>
              </a:spcBef>
              <a:spcAft>
                <a:spcPts val="0"/>
              </a:spcAft>
              <a:buClr>
                <a:schemeClr val="accent2"/>
              </a:buClr>
              <a:buSzPts val="2800"/>
              <a:buFont typeface="Arial"/>
              <a:buNone/>
            </a:pPr>
            <a:r>
              <a:rPr b="0" i="0" lang="en-US" sz="2800" u="none">
                <a:solidFill>
                  <a:schemeClr val="accent2"/>
                </a:solidFill>
                <a:latin typeface="Arial"/>
                <a:ea typeface="Arial"/>
                <a:cs typeface="Arial"/>
                <a:sym typeface="Arial"/>
              </a:rPr>
              <a:t>{2,3,5}</a:t>
            </a:r>
            <a:r>
              <a:rPr lang="en-US" sz="3100"/>
              <a:t>∩</a:t>
            </a:r>
            <a:r>
              <a:rPr b="0" i="0" lang="en-US" sz="2800" u="none">
                <a:solidFill>
                  <a:srgbClr val="FF0000"/>
                </a:solidFill>
                <a:latin typeface="Arial"/>
                <a:ea typeface="Arial"/>
                <a:cs typeface="Arial"/>
                <a:sym typeface="Arial"/>
              </a:rPr>
              <a:t>{3,5,7} </a:t>
            </a:r>
            <a:r>
              <a:rPr b="0" i="0" lang="en-US" sz="2800" u="none">
                <a:solidFill>
                  <a:schemeClr val="dk1"/>
                </a:solidFill>
                <a:latin typeface="Arial"/>
                <a:ea typeface="Arial"/>
                <a:cs typeface="Arial"/>
                <a:sym typeface="Arial"/>
              </a:rPr>
              <a:t>= </a:t>
            </a:r>
            <a:r>
              <a:rPr b="0" i="0" lang="en-US" sz="2800" u="none">
                <a:solidFill>
                  <a:srgbClr val="00B050"/>
                </a:solidFill>
                <a:latin typeface="Arial"/>
                <a:ea typeface="Arial"/>
                <a:cs typeface="Arial"/>
                <a:sym typeface="Arial"/>
              </a:rPr>
              <a:t>{3, 5}</a:t>
            </a:r>
            <a:endParaRPr/>
          </a:p>
          <a:p>
            <a:pPr indent="-342900" lvl="0" marL="342900" marR="0" rtl="0" algn="l">
              <a:lnSpc>
                <a:spcPct val="100000"/>
              </a:lnSpc>
              <a:spcBef>
                <a:spcPts val="560"/>
              </a:spcBef>
              <a:spcAft>
                <a:spcPts val="0"/>
              </a:spcAft>
              <a:buClr>
                <a:srgbClr val="006600"/>
              </a:buClr>
              <a:buSzPts val="2800"/>
              <a:buFont typeface="Arial"/>
              <a:buNone/>
            </a:pPr>
            <a:r>
              <a:rPr b="0" i="0" lang="en-US" sz="2800" u="none">
                <a:solidFill>
                  <a:srgbClr val="006600"/>
                </a:solidFill>
                <a:latin typeface="Arial"/>
                <a:ea typeface="Arial"/>
                <a:cs typeface="Arial"/>
                <a:sym typeface="Arial"/>
              </a:rPr>
              <a:t> </a:t>
            </a:r>
            <a:endParaRPr/>
          </a:p>
        </p:txBody>
      </p:sp>
      <p:grpSp>
        <p:nvGrpSpPr>
          <p:cNvPr id="410" name="Google Shape;410;p23"/>
          <p:cNvGrpSpPr/>
          <p:nvPr/>
        </p:nvGrpSpPr>
        <p:grpSpPr>
          <a:xfrm>
            <a:off x="4724400" y="3048000"/>
            <a:ext cx="3505200" cy="3005137"/>
            <a:chOff x="4724400" y="3048000"/>
            <a:chExt cx="3505200" cy="3005792"/>
          </a:xfrm>
        </p:grpSpPr>
        <p:sp>
          <p:nvSpPr>
            <p:cNvPr id="411" name="Google Shape;411;p23"/>
            <p:cNvSpPr txBox="1"/>
            <p:nvPr/>
          </p:nvSpPr>
          <p:spPr>
            <a:xfrm>
              <a:off x="5486400" y="4114800"/>
              <a:ext cx="2743200" cy="1938992"/>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00"/>
                </a:buClr>
                <a:buSzPts val="2400"/>
                <a:buFont typeface="Times New Roman"/>
                <a:buNone/>
              </a:pPr>
              <a:r>
                <a:rPr b="0" i="0" lang="en-US" sz="2400" u="none" cap="none" strike="noStrike">
                  <a:solidFill>
                    <a:srgbClr val="006600"/>
                  </a:solidFill>
                  <a:latin typeface="Times New Roman"/>
                  <a:ea typeface="Times New Roman"/>
                  <a:cs typeface="Times New Roman"/>
                  <a:sym typeface="Times New Roman"/>
                </a:rPr>
                <a:t>Subtract out items in intersection, to compensate for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6600"/>
                </a:buClr>
                <a:buSzPts val="2400"/>
                <a:buFont typeface="Times New Roman"/>
                <a:buNone/>
              </a:pPr>
              <a:r>
                <a:rPr b="0" i="0" lang="en-US" sz="2400" u="none" cap="none" strike="noStrike">
                  <a:solidFill>
                    <a:srgbClr val="006600"/>
                  </a:solidFill>
                  <a:latin typeface="Times New Roman"/>
                  <a:ea typeface="Times New Roman"/>
                  <a:cs typeface="Times New Roman"/>
                  <a:sym typeface="Times New Roman"/>
                </a:rPr>
                <a:t>double-counting them!</a:t>
              </a:r>
              <a:endParaRPr b="0" i="0" sz="1400" u="none" cap="none" strike="noStrike">
                <a:solidFill>
                  <a:srgbClr val="000000"/>
                </a:solidFill>
                <a:latin typeface="Arial"/>
                <a:ea typeface="Arial"/>
                <a:cs typeface="Arial"/>
                <a:sym typeface="Arial"/>
              </a:endParaRPr>
            </a:p>
          </p:txBody>
        </p:sp>
        <p:cxnSp>
          <p:nvCxnSpPr>
            <p:cNvPr id="412" name="Google Shape;412;p23"/>
            <p:cNvCxnSpPr/>
            <p:nvPr/>
          </p:nvCxnSpPr>
          <p:spPr>
            <a:xfrm flipH="1" rot="5400000">
              <a:off x="4343400" y="3429000"/>
              <a:ext cx="1828800" cy="1066800"/>
            </a:xfrm>
            <a:prstGeom prst="straightConnector1">
              <a:avLst/>
            </a:prstGeom>
            <a:noFill/>
            <a:ln cap="flat" cmpd="sng" w="38100">
              <a:solidFill>
                <a:srgbClr val="FF0000"/>
              </a:solidFill>
              <a:prstDash val="solid"/>
              <a:miter lim="800000"/>
              <a:headEnd len="sm" w="sm" type="none"/>
              <a:tailEnd len="med" w="med" type="triangle"/>
            </a:ln>
          </p:spPr>
        </p:cxn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4"/>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22" name="Google Shape;422;p24"/>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23" name="Google Shape;423;p24"/>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24" name="Google Shape;424;p24"/>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Set Difference</a:t>
            </a:r>
            <a:endParaRPr/>
          </a:p>
        </p:txBody>
      </p:sp>
      <p:sp>
        <p:nvSpPr>
          <p:cNvPr id="425" name="Google Shape;425;p24"/>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For sets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the </a:t>
            </a:r>
            <a:r>
              <a:rPr b="0" i="1" lang="en-US" sz="2800" u="none">
                <a:solidFill>
                  <a:schemeClr val="dk1"/>
                </a:solidFill>
                <a:latin typeface="Arial"/>
                <a:ea typeface="Arial"/>
                <a:cs typeface="Arial"/>
                <a:sym typeface="Arial"/>
              </a:rPr>
              <a:t>difference</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of A and B</a:t>
            </a:r>
            <a:r>
              <a:rPr b="0" i="0" lang="en-US" sz="2800" u="none">
                <a:solidFill>
                  <a:schemeClr val="dk1"/>
                </a:solidFill>
                <a:latin typeface="Arial"/>
                <a:ea typeface="Arial"/>
                <a:cs typeface="Arial"/>
                <a:sym typeface="Arial"/>
              </a:rPr>
              <a:t>, written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is the set of all elements that are in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but not </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A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B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x </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 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 </a:t>
            </a:r>
            <a:r>
              <a:rPr b="0" i="0" lang="en-US" sz="2800" u="none">
                <a:solidFill>
                  <a:schemeClr val="dk1"/>
                </a:solidFill>
                <a:latin typeface="Arial"/>
                <a:ea typeface="Arial"/>
                <a:cs typeface="Arial"/>
                <a:sym typeface="Arial"/>
              </a:rPr>
              <a:t>∧ x∉</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 | ¬(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Also called: </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The </a:t>
            </a:r>
            <a:r>
              <a:rPr b="0" i="1" lang="en-US" sz="2800" u="sng">
                <a:solidFill>
                  <a:schemeClr val="dk1"/>
                </a:solidFill>
                <a:latin typeface="Arial"/>
                <a:ea typeface="Arial"/>
                <a:cs typeface="Arial"/>
                <a:sym typeface="Arial"/>
              </a:rPr>
              <a:t>complement</a:t>
            </a:r>
            <a:r>
              <a:rPr b="0" i="0" lang="en-US" sz="2800" u="sng">
                <a:solidFill>
                  <a:schemeClr val="dk1"/>
                </a:solidFill>
                <a:latin typeface="Arial"/>
                <a:ea typeface="Arial"/>
                <a:cs typeface="Arial"/>
                <a:sym typeface="Arial"/>
              </a:rPr>
              <a:t> </a:t>
            </a:r>
            <a:r>
              <a:rPr b="0" i="1" lang="en-US" sz="2800" u="sng">
                <a:solidFill>
                  <a:schemeClr val="dk1"/>
                </a:solidFill>
                <a:latin typeface="Arial"/>
                <a:ea typeface="Arial"/>
                <a:cs typeface="Arial"/>
                <a:sym typeface="Arial"/>
              </a:rPr>
              <a:t>of</a:t>
            </a:r>
            <a:r>
              <a:rPr b="0" i="0" lang="en-US" sz="2800" u="sng">
                <a:solidFill>
                  <a:schemeClr val="dk1"/>
                </a:solidFill>
                <a:latin typeface="Arial"/>
                <a:ea typeface="Arial"/>
                <a:cs typeface="Arial"/>
                <a:sym typeface="Arial"/>
              </a:rPr>
              <a:t> </a:t>
            </a:r>
            <a:r>
              <a:rPr b="0" i="1" lang="en-US" sz="2800" u="sng">
                <a:solidFill>
                  <a:schemeClr val="dk1"/>
                </a:solidFill>
                <a:latin typeface="Arial"/>
                <a:ea typeface="Arial"/>
                <a:cs typeface="Arial"/>
                <a:sym typeface="Arial"/>
              </a:rPr>
              <a:t>B</a:t>
            </a:r>
            <a:r>
              <a:rPr b="0" i="0" lang="en-US" sz="2800" u="sng">
                <a:solidFill>
                  <a:schemeClr val="dk1"/>
                </a:solidFill>
                <a:latin typeface="Arial"/>
                <a:ea typeface="Arial"/>
                <a:cs typeface="Arial"/>
                <a:sym typeface="Arial"/>
              </a:rPr>
              <a:t> </a:t>
            </a:r>
            <a:r>
              <a:rPr b="0" i="1" lang="en-US" sz="2800" u="sng">
                <a:solidFill>
                  <a:schemeClr val="dk1"/>
                </a:solidFill>
                <a:latin typeface="Arial"/>
                <a:ea typeface="Arial"/>
                <a:cs typeface="Arial"/>
                <a:sym typeface="Arial"/>
              </a:rPr>
              <a:t>with respect to</a:t>
            </a:r>
            <a:r>
              <a:rPr b="0" i="0" lang="en-US" sz="2800" u="sng">
                <a:solidFill>
                  <a:schemeClr val="dk1"/>
                </a:solidFill>
                <a:latin typeface="Arial"/>
                <a:ea typeface="Arial"/>
                <a:cs typeface="Arial"/>
                <a:sym typeface="Arial"/>
              </a:rPr>
              <a:t> </a:t>
            </a:r>
            <a:r>
              <a:rPr b="0" i="1" lang="en-US" sz="2800" u="sng">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5"/>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31" name="Google Shape;431;p25"/>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32" name="Google Shape;432;p25"/>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33" name="Google Shape;433;p25"/>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Set Difference Examples</a:t>
            </a:r>
            <a:endParaRPr/>
          </a:p>
        </p:txBody>
      </p:sp>
      <p:sp>
        <p:nvSpPr>
          <p:cNvPr id="434" name="Google Shape;434;p25"/>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{1,2,3,4,5,6} − {2,3,5,7,9,11} =</a:t>
            </a:r>
            <a:br>
              <a:rPr b="0" i="0" lang="en-US" sz="3200" u="none">
                <a:solidFill>
                  <a:schemeClr val="dk1"/>
                </a:solidFill>
                <a:latin typeface="Arial"/>
                <a:ea typeface="Arial"/>
                <a:cs typeface="Arial"/>
                <a:sym typeface="Arial"/>
              </a:rPr>
            </a:br>
            <a:r>
              <a:rPr b="0" i="0" lang="en-US" sz="3200" u="none">
                <a:solidFill>
                  <a:schemeClr val="dk1"/>
                </a:solidFill>
                <a:latin typeface="Arial"/>
                <a:ea typeface="Arial"/>
                <a:cs typeface="Arial"/>
                <a:sym typeface="Arial"/>
              </a:rPr>
              <a:t>          ___________</a:t>
            </a:r>
            <a:endParaRPr b="1" i="0" sz="3200" u="none">
              <a:solidFill>
                <a:schemeClr val="dk1"/>
              </a:solidFill>
              <a:latin typeface="Arial"/>
              <a:ea typeface="Arial"/>
              <a:cs typeface="Arial"/>
              <a:sym typeface="Arial"/>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Z </a:t>
            </a:r>
            <a:r>
              <a:rPr b="0" i="0" lang="en-US" sz="2800" u="none">
                <a:solidFill>
                  <a:schemeClr val="dk1"/>
                </a:solidFill>
                <a:latin typeface="Arial"/>
                <a:ea typeface="Arial"/>
                <a:cs typeface="Arial"/>
                <a:sym typeface="Arial"/>
              </a:rPr>
              <a:t>− </a:t>
            </a:r>
            <a:r>
              <a:rPr b="1" i="0" lang="en-US" sz="2800" u="none">
                <a:solidFill>
                  <a:schemeClr val="dk1"/>
                </a:solidFill>
                <a:latin typeface="Arial"/>
                <a:ea typeface="Arial"/>
                <a:cs typeface="Arial"/>
                <a:sym typeface="Arial"/>
              </a:rPr>
              <a:t>N </a:t>
            </a:r>
            <a:r>
              <a:rPr b="0" i="0" lang="en-US" sz="2800" u="none">
                <a:solidFill>
                  <a:schemeClr val="dk1"/>
                </a:solidFill>
                <a:latin typeface="Arial"/>
                <a:ea typeface="Arial"/>
                <a:cs typeface="Arial"/>
                <a:sym typeface="Arial"/>
              </a:rPr>
              <a:t>= {… , -1, 0, 1, 2, … } − {0, 1, … }</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x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 is an integer but not a nat. #}</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x</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 x</a:t>
            </a:r>
            <a:r>
              <a:rPr b="0" i="0" lang="en-US" sz="2800" u="none">
                <a:solidFill>
                  <a:schemeClr val="dk1"/>
                </a:solidFill>
                <a:latin typeface="Arial"/>
                <a:ea typeface="Arial"/>
                <a:cs typeface="Arial"/>
                <a:sym typeface="Arial"/>
              </a:rPr>
              <a:t> is a negative integer}</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           = {… , -3, -2, -1}</a:t>
            </a:r>
            <a:endParaRPr/>
          </a:p>
        </p:txBody>
      </p:sp>
      <p:sp>
        <p:nvSpPr>
          <p:cNvPr id="435" name="Google Shape;435;p25"/>
          <p:cNvSpPr txBox="1"/>
          <p:nvPr/>
        </p:nvSpPr>
        <p:spPr>
          <a:xfrm>
            <a:off x="2590800" y="2514600"/>
            <a:ext cx="14478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600"/>
              </a:buClr>
              <a:buSzPts val="3200"/>
              <a:buFont typeface="Times New Roman"/>
              <a:buNone/>
            </a:pPr>
            <a:r>
              <a:rPr b="0" i="0" lang="en-US" sz="3200" u="none" cap="none" strike="noStrike">
                <a:solidFill>
                  <a:srgbClr val="006600"/>
                </a:solidFill>
                <a:latin typeface="Times New Roman"/>
                <a:ea typeface="Times New Roman"/>
                <a:cs typeface="Times New Roman"/>
                <a:sym typeface="Times New Roman"/>
              </a:rPr>
              <a:t>{1,4,6}</a:t>
            </a:r>
            <a:endParaRPr b="0" i="0" sz="1400" u="none" cap="none" strike="noStrike">
              <a:solidFill>
                <a:srgbClr val="000000"/>
              </a:solidFill>
              <a:latin typeface="Arial"/>
              <a:ea typeface="Arial"/>
              <a:cs typeface="Arial"/>
              <a:sym typeface="Arial"/>
            </a:endParaRPr>
          </a:p>
        </p:txBody>
      </p:sp>
      <p:cxnSp>
        <p:nvCxnSpPr>
          <p:cNvPr id="436" name="Google Shape;436;p25"/>
          <p:cNvCxnSpPr/>
          <p:nvPr/>
        </p:nvCxnSpPr>
        <p:spPr>
          <a:xfrm flipH="1">
            <a:off x="1676400" y="2133600"/>
            <a:ext cx="152400" cy="457200"/>
          </a:xfrm>
          <a:prstGeom prst="straightConnector1">
            <a:avLst/>
          </a:prstGeom>
          <a:noFill/>
          <a:ln cap="flat" cmpd="sng" w="57150">
            <a:solidFill>
              <a:srgbClr val="FF0000"/>
            </a:solidFill>
            <a:prstDash val="solid"/>
            <a:miter lim="800000"/>
            <a:headEnd len="sm" w="sm" type="none"/>
            <a:tailEnd len="sm" w="sm" type="none"/>
          </a:ln>
        </p:spPr>
      </p:cxnSp>
      <p:cxnSp>
        <p:nvCxnSpPr>
          <p:cNvPr id="437" name="Google Shape;437;p25"/>
          <p:cNvCxnSpPr/>
          <p:nvPr/>
        </p:nvCxnSpPr>
        <p:spPr>
          <a:xfrm flipH="1">
            <a:off x="1981200" y="2133600"/>
            <a:ext cx="152400" cy="457200"/>
          </a:xfrm>
          <a:prstGeom prst="straightConnector1">
            <a:avLst/>
          </a:prstGeom>
          <a:noFill/>
          <a:ln cap="flat" cmpd="sng" w="57150">
            <a:solidFill>
              <a:srgbClr val="FF0000"/>
            </a:solidFill>
            <a:prstDash val="solid"/>
            <a:miter lim="800000"/>
            <a:headEnd len="sm" w="sm" type="none"/>
            <a:tailEnd len="sm" w="sm" type="none"/>
          </a:ln>
        </p:spPr>
      </p:cxnSp>
      <p:cxnSp>
        <p:nvCxnSpPr>
          <p:cNvPr id="438" name="Google Shape;438;p25"/>
          <p:cNvCxnSpPr/>
          <p:nvPr/>
        </p:nvCxnSpPr>
        <p:spPr>
          <a:xfrm flipH="1">
            <a:off x="2590800" y="2133600"/>
            <a:ext cx="152400" cy="457200"/>
          </a:xfrm>
          <a:prstGeom prst="straightConnector1">
            <a:avLst/>
          </a:prstGeom>
          <a:noFill/>
          <a:ln cap="flat" cmpd="sng" w="57150">
            <a:solidFill>
              <a:srgbClr val="FF0000"/>
            </a:solidFill>
            <a:prstDash val="solid"/>
            <a:miter lim="800000"/>
            <a:headEnd len="sm" w="sm" type="none"/>
            <a:tailEnd len="sm" w="sm" type="none"/>
          </a:ln>
        </p:spPr>
      </p:cxnSp>
      <p:sp>
        <p:nvSpPr>
          <p:cNvPr id="439" name="Google Shape;439;p25"/>
          <p:cNvSpPr/>
          <p:nvPr/>
        </p:nvSpPr>
        <p:spPr>
          <a:xfrm>
            <a:off x="1828800" y="1600200"/>
            <a:ext cx="2057400" cy="533400"/>
          </a:xfrm>
          <a:custGeom>
            <a:rect b="b" l="l" r="r" t="t"/>
            <a:pathLst>
              <a:path extrusionOk="0" h="336" w="1392">
                <a:moveTo>
                  <a:pt x="1392" y="336"/>
                </a:moveTo>
                <a:cubicBezTo>
                  <a:pt x="1148" y="168"/>
                  <a:pt x="904" y="0"/>
                  <a:pt x="672" y="0"/>
                </a:cubicBezTo>
                <a:cubicBezTo>
                  <a:pt x="440" y="0"/>
                  <a:pt x="112" y="280"/>
                  <a:pt x="0" y="336"/>
                </a:cubicBezTo>
              </a:path>
            </a:pathLst>
          </a:custGeom>
          <a:noFill/>
          <a:ln cap="flat" cmpd="sng" w="38100">
            <a:solidFill>
              <a:srgbClr val="FF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0" name="Google Shape;440;p25"/>
          <p:cNvSpPr/>
          <p:nvPr/>
        </p:nvSpPr>
        <p:spPr>
          <a:xfrm>
            <a:off x="2133600" y="1600200"/>
            <a:ext cx="2057400" cy="533400"/>
          </a:xfrm>
          <a:custGeom>
            <a:rect b="b" l="l" r="r" t="t"/>
            <a:pathLst>
              <a:path extrusionOk="0" h="336" w="1392">
                <a:moveTo>
                  <a:pt x="1392" y="336"/>
                </a:moveTo>
                <a:cubicBezTo>
                  <a:pt x="1148" y="168"/>
                  <a:pt x="904" y="0"/>
                  <a:pt x="672" y="0"/>
                </a:cubicBezTo>
                <a:cubicBezTo>
                  <a:pt x="440" y="0"/>
                  <a:pt x="112" y="280"/>
                  <a:pt x="0" y="336"/>
                </a:cubicBezTo>
              </a:path>
            </a:pathLst>
          </a:custGeom>
          <a:noFill/>
          <a:ln cap="flat" cmpd="sng" w="38100">
            <a:solidFill>
              <a:srgbClr val="FF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1" name="Google Shape;441;p25"/>
          <p:cNvSpPr/>
          <p:nvPr/>
        </p:nvSpPr>
        <p:spPr>
          <a:xfrm>
            <a:off x="2743200" y="1600200"/>
            <a:ext cx="1828800" cy="533400"/>
          </a:xfrm>
          <a:custGeom>
            <a:rect b="b" l="l" r="r" t="t"/>
            <a:pathLst>
              <a:path extrusionOk="0" h="336" w="1392">
                <a:moveTo>
                  <a:pt x="1392" y="336"/>
                </a:moveTo>
                <a:cubicBezTo>
                  <a:pt x="1148" y="168"/>
                  <a:pt x="904" y="0"/>
                  <a:pt x="672" y="0"/>
                </a:cubicBezTo>
                <a:cubicBezTo>
                  <a:pt x="440" y="0"/>
                  <a:pt x="112" y="280"/>
                  <a:pt x="0" y="336"/>
                </a:cubicBezTo>
              </a:path>
            </a:pathLst>
          </a:custGeom>
          <a:noFill/>
          <a:ln cap="flat" cmpd="sng" w="38100">
            <a:solidFill>
              <a:srgbClr val="FF66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2" name="Google Shape;442;p25"/>
          <p:cNvSpPr/>
          <p:nvPr/>
        </p:nvSpPr>
        <p:spPr>
          <a:xfrm>
            <a:off x="1295400" y="2057400"/>
            <a:ext cx="304800" cy="533400"/>
          </a:xfrm>
          <a:prstGeom prst="ellipse">
            <a:avLst/>
          </a:prstGeom>
          <a:noFill/>
          <a:ln cap="flat" cmpd="sng" w="57150">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3" name="Google Shape;443;p25"/>
          <p:cNvSpPr/>
          <p:nvPr/>
        </p:nvSpPr>
        <p:spPr>
          <a:xfrm>
            <a:off x="2209800" y="2057400"/>
            <a:ext cx="304800" cy="533400"/>
          </a:xfrm>
          <a:prstGeom prst="ellipse">
            <a:avLst/>
          </a:prstGeom>
          <a:noFill/>
          <a:ln cap="flat" cmpd="sng" w="57150">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4" name="Google Shape;444;p25"/>
          <p:cNvSpPr/>
          <p:nvPr/>
        </p:nvSpPr>
        <p:spPr>
          <a:xfrm>
            <a:off x="2819400" y="2057400"/>
            <a:ext cx="304800" cy="533400"/>
          </a:xfrm>
          <a:prstGeom prst="ellipse">
            <a:avLst/>
          </a:prstGeom>
          <a:noFill/>
          <a:ln cap="flat" cmpd="sng" w="57150">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500"/>
                                        <p:tgtEl>
                                          <p:spTgt spid="4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2"/>
                                        </p:tgtEl>
                                        <p:attrNameLst>
                                          <p:attrName>style.visibility</p:attrName>
                                        </p:attrNameLst>
                                      </p:cBhvr>
                                      <p:to>
                                        <p:strVal val="visible"/>
                                      </p:to>
                                    </p:set>
                                    <p:anim calcmode="lin" valueType="num">
                                      <p:cBhvr additive="base">
                                        <p:cTn dur="500"/>
                                        <p:tgtEl>
                                          <p:spTgt spid="442"/>
                                        </p:tgtEl>
                                        <p:attrNameLst>
                                          <p:attrName>ppt_w</p:attrName>
                                        </p:attrNameLst>
                                      </p:cBhvr>
                                      <p:tavLst>
                                        <p:tav fmla="" tm="0">
                                          <p:val>
                                            <p:strVal val="0"/>
                                          </p:val>
                                        </p:tav>
                                        <p:tav fmla="" tm="100000">
                                          <p:val>
                                            <p:strVal val="#ppt_w"/>
                                          </p:val>
                                        </p:tav>
                                      </p:tavLst>
                                    </p:anim>
                                    <p:anim calcmode="lin" valueType="num">
                                      <p:cBhvr additive="base">
                                        <p:cTn dur="500"/>
                                        <p:tgtEl>
                                          <p:spTgt spid="44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3"/>
                                        </p:tgtEl>
                                        <p:attrNameLst>
                                          <p:attrName>style.visibility</p:attrName>
                                        </p:attrNameLst>
                                      </p:cBhvr>
                                      <p:to>
                                        <p:strVal val="visible"/>
                                      </p:to>
                                    </p:set>
                                    <p:anim calcmode="lin" valueType="num">
                                      <p:cBhvr additive="base">
                                        <p:cTn dur="500"/>
                                        <p:tgtEl>
                                          <p:spTgt spid="443"/>
                                        </p:tgtEl>
                                        <p:attrNameLst>
                                          <p:attrName>ppt_w</p:attrName>
                                        </p:attrNameLst>
                                      </p:cBhvr>
                                      <p:tavLst>
                                        <p:tav fmla="" tm="0">
                                          <p:val>
                                            <p:strVal val="0"/>
                                          </p:val>
                                        </p:tav>
                                        <p:tav fmla="" tm="100000">
                                          <p:val>
                                            <p:strVal val="#ppt_w"/>
                                          </p:val>
                                        </p:tav>
                                      </p:tavLst>
                                    </p:anim>
                                    <p:anim calcmode="lin" valueType="num">
                                      <p:cBhvr additive="base">
                                        <p:cTn dur="500"/>
                                        <p:tgtEl>
                                          <p:spTgt spid="44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4"/>
                                        </p:tgtEl>
                                        <p:attrNameLst>
                                          <p:attrName>style.visibility</p:attrName>
                                        </p:attrNameLst>
                                      </p:cBhvr>
                                      <p:to>
                                        <p:strVal val="visible"/>
                                      </p:to>
                                    </p:set>
                                    <p:anim calcmode="lin" valueType="num">
                                      <p:cBhvr additive="base">
                                        <p:cTn dur="500"/>
                                        <p:tgtEl>
                                          <p:spTgt spid="444"/>
                                        </p:tgtEl>
                                        <p:attrNameLst>
                                          <p:attrName>ppt_w</p:attrName>
                                        </p:attrNameLst>
                                      </p:cBhvr>
                                      <p:tavLst>
                                        <p:tav fmla="" tm="0">
                                          <p:val>
                                            <p:strVal val="0"/>
                                          </p:val>
                                        </p:tav>
                                        <p:tav fmla="" tm="100000">
                                          <p:val>
                                            <p:strVal val="#ppt_w"/>
                                          </p:val>
                                        </p:tav>
                                      </p:tavLst>
                                    </p:anim>
                                    <p:anim calcmode="lin" valueType="num">
                                      <p:cBhvr additive="base">
                                        <p:cTn dur="500"/>
                                        <p:tgtEl>
                                          <p:spTgt spid="44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35"/>
                                        </p:tgtEl>
                                        <p:attrNameLst>
                                          <p:attrName>style.visibility</p:attrName>
                                        </p:attrNameLst>
                                      </p:cBhvr>
                                      <p:to>
                                        <p:strVal val="visible"/>
                                      </p:to>
                                    </p:set>
                                    <p:anim calcmode="lin" valueType="num">
                                      <p:cBhvr additive="base">
                                        <p:cTn dur="500"/>
                                        <p:tgtEl>
                                          <p:spTgt spid="435"/>
                                        </p:tgtEl>
                                        <p:attrNameLst>
                                          <p:attrName>ppt_w</p:attrName>
                                        </p:attrNameLst>
                                      </p:cBhvr>
                                      <p:tavLst>
                                        <p:tav fmla="" tm="0">
                                          <p:val>
                                            <p:strVal val="0"/>
                                          </p:val>
                                        </p:tav>
                                        <p:tav fmla="" tm="100000">
                                          <p:val>
                                            <p:strVal val="#ppt_w"/>
                                          </p:val>
                                        </p:tav>
                                      </p:tavLst>
                                    </p:anim>
                                    <p:anim calcmode="lin" valueType="num">
                                      <p:cBhvr additive="base">
                                        <p:cTn dur="500"/>
                                        <p:tgtEl>
                                          <p:spTgt spid="43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6"/>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50" name="Google Shape;450;p26"/>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51" name="Google Shape;451;p26"/>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52" name="Google Shape;452;p26"/>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Set Difference - Venn Diagram</a:t>
            </a:r>
            <a:endParaRPr/>
          </a:p>
        </p:txBody>
      </p:sp>
      <p:sp>
        <p:nvSpPr>
          <p:cNvPr id="453" name="Google Shape;453;p26"/>
          <p:cNvSpPr txBox="1"/>
          <p:nvPr>
            <p:ph idx="4294967295" type="body"/>
          </p:nvPr>
        </p:nvSpPr>
        <p:spPr>
          <a:xfrm>
            <a:off x="685800" y="20574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 is what’s left after </a:t>
            </a:r>
            <a:r>
              <a:rPr b="0" i="1" lang="en-US" sz="2800" u="none">
                <a:solidFill>
                  <a:schemeClr val="dk1"/>
                </a:solidFill>
                <a:latin typeface="Arial"/>
                <a:ea typeface="Arial"/>
                <a:cs typeface="Arial"/>
                <a:sym typeface="Arial"/>
              </a:rPr>
              <a:t>B</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“takes a bite out of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endParaRPr/>
          </a:p>
        </p:txBody>
      </p:sp>
      <p:sp>
        <p:nvSpPr>
          <p:cNvPr id="454" name="Google Shape;454;p26"/>
          <p:cNvSpPr/>
          <p:nvPr/>
        </p:nvSpPr>
        <p:spPr>
          <a:xfrm>
            <a:off x="1371600" y="3124200"/>
            <a:ext cx="3200400" cy="2057400"/>
          </a:xfrm>
          <a:prstGeom prst="ellipse">
            <a:avLst/>
          </a:prstGeom>
          <a:solidFill>
            <a:srgbClr val="FFCC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5" name="Google Shape;455;p26"/>
          <p:cNvSpPr txBox="1"/>
          <p:nvPr/>
        </p:nvSpPr>
        <p:spPr>
          <a:xfrm>
            <a:off x="2286000" y="5105400"/>
            <a:ext cx="14478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000"/>
              <a:buFont typeface="Times New Roman"/>
              <a:buNone/>
            </a:pPr>
            <a:r>
              <a:rPr b="0" i="0" lang="en-US" sz="4000" u="none" cap="none" strike="noStrike">
                <a:solidFill>
                  <a:schemeClr val="dk1"/>
                </a:solidFill>
                <a:latin typeface="Times New Roman"/>
                <a:ea typeface="Times New Roman"/>
                <a:cs typeface="Times New Roman"/>
                <a:sym typeface="Times New Roman"/>
              </a:rPr>
              <a:t>Set </a:t>
            </a:r>
            <a:r>
              <a:rPr b="0" i="1" lang="en-US" sz="40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sp>
        <p:nvSpPr>
          <p:cNvPr id="456" name="Google Shape;456;p26"/>
          <p:cNvSpPr/>
          <p:nvPr/>
        </p:nvSpPr>
        <p:spPr>
          <a:xfrm>
            <a:off x="3429000" y="3200400"/>
            <a:ext cx="3276600" cy="2057400"/>
          </a:xfrm>
          <a:prstGeom prst="ellipse">
            <a:avLst/>
          </a:prstGeom>
          <a:solidFill>
            <a:srgbClr val="0000FF">
              <a:alpha val="49411"/>
            </a:srgb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7" name="Google Shape;457;p26"/>
          <p:cNvSpPr txBox="1"/>
          <p:nvPr/>
        </p:nvSpPr>
        <p:spPr>
          <a:xfrm>
            <a:off x="4419600" y="5181600"/>
            <a:ext cx="14478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000"/>
              <a:buFont typeface="Times New Roman"/>
              <a:buNone/>
            </a:pPr>
            <a:r>
              <a:rPr b="0" i="0" lang="en-US" sz="4000" u="none" cap="none" strike="noStrike">
                <a:solidFill>
                  <a:schemeClr val="dk1"/>
                </a:solidFill>
                <a:latin typeface="Times New Roman"/>
                <a:ea typeface="Times New Roman"/>
                <a:cs typeface="Times New Roman"/>
                <a:sym typeface="Times New Roman"/>
              </a:rPr>
              <a:t>Set </a:t>
            </a:r>
            <a:r>
              <a:rPr b="0" i="1" lang="en-US" sz="40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nvGrpSpPr>
          <p:cNvPr id="458" name="Google Shape;458;p26"/>
          <p:cNvGrpSpPr/>
          <p:nvPr/>
        </p:nvGrpSpPr>
        <p:grpSpPr>
          <a:xfrm>
            <a:off x="1397000" y="3140075"/>
            <a:ext cx="2695575" cy="2046287"/>
            <a:chOff x="880" y="1978"/>
            <a:chExt cx="1698" cy="1289"/>
          </a:xfrm>
        </p:grpSpPr>
        <p:sp>
          <p:nvSpPr>
            <p:cNvPr id="459" name="Google Shape;459;p26"/>
            <p:cNvSpPr/>
            <p:nvPr/>
          </p:nvSpPr>
          <p:spPr>
            <a:xfrm>
              <a:off x="880" y="1978"/>
              <a:ext cx="1698" cy="1289"/>
            </a:xfrm>
            <a:custGeom>
              <a:rect b="b" l="l" r="r" t="t"/>
              <a:pathLst>
                <a:path extrusionOk="0" h="1289" w="1698">
                  <a:moveTo>
                    <a:pt x="466" y="1176"/>
                  </a:moveTo>
                  <a:cubicBezTo>
                    <a:pt x="416" y="1160"/>
                    <a:pt x="366" y="1144"/>
                    <a:pt x="320" y="1119"/>
                  </a:cubicBezTo>
                  <a:cubicBezTo>
                    <a:pt x="303" y="1110"/>
                    <a:pt x="271" y="1087"/>
                    <a:pt x="271" y="1087"/>
                  </a:cubicBezTo>
                  <a:cubicBezTo>
                    <a:pt x="260" y="1051"/>
                    <a:pt x="227" y="1029"/>
                    <a:pt x="198" y="1006"/>
                  </a:cubicBezTo>
                  <a:cubicBezTo>
                    <a:pt x="163" y="978"/>
                    <a:pt x="202" y="1001"/>
                    <a:pt x="166" y="965"/>
                  </a:cubicBezTo>
                  <a:cubicBezTo>
                    <a:pt x="154" y="953"/>
                    <a:pt x="138" y="945"/>
                    <a:pt x="125" y="933"/>
                  </a:cubicBezTo>
                  <a:cubicBezTo>
                    <a:pt x="117" y="909"/>
                    <a:pt x="106" y="881"/>
                    <a:pt x="93" y="860"/>
                  </a:cubicBezTo>
                  <a:cubicBezTo>
                    <a:pt x="65" y="812"/>
                    <a:pt x="88" y="880"/>
                    <a:pt x="61" y="819"/>
                  </a:cubicBezTo>
                  <a:cubicBezTo>
                    <a:pt x="58" y="812"/>
                    <a:pt x="41" y="762"/>
                    <a:pt x="36" y="746"/>
                  </a:cubicBezTo>
                  <a:cubicBezTo>
                    <a:pt x="33" y="738"/>
                    <a:pt x="28" y="722"/>
                    <a:pt x="28" y="722"/>
                  </a:cubicBezTo>
                  <a:cubicBezTo>
                    <a:pt x="38" y="622"/>
                    <a:pt x="0" y="610"/>
                    <a:pt x="20" y="511"/>
                  </a:cubicBezTo>
                  <a:cubicBezTo>
                    <a:pt x="22" y="499"/>
                    <a:pt x="64" y="402"/>
                    <a:pt x="69" y="398"/>
                  </a:cubicBezTo>
                  <a:cubicBezTo>
                    <a:pt x="85" y="387"/>
                    <a:pt x="82" y="339"/>
                    <a:pt x="101" y="333"/>
                  </a:cubicBezTo>
                  <a:cubicBezTo>
                    <a:pt x="117" y="328"/>
                    <a:pt x="144" y="285"/>
                    <a:pt x="158" y="276"/>
                  </a:cubicBezTo>
                  <a:cubicBezTo>
                    <a:pt x="214" y="239"/>
                    <a:pt x="188" y="241"/>
                    <a:pt x="231" y="227"/>
                  </a:cubicBezTo>
                  <a:cubicBezTo>
                    <a:pt x="274" y="164"/>
                    <a:pt x="226" y="243"/>
                    <a:pt x="312" y="162"/>
                  </a:cubicBezTo>
                  <a:cubicBezTo>
                    <a:pt x="332" y="144"/>
                    <a:pt x="423" y="117"/>
                    <a:pt x="450" y="106"/>
                  </a:cubicBezTo>
                  <a:cubicBezTo>
                    <a:pt x="511" y="80"/>
                    <a:pt x="637" y="37"/>
                    <a:pt x="701" y="25"/>
                  </a:cubicBezTo>
                  <a:cubicBezTo>
                    <a:pt x="831" y="1"/>
                    <a:pt x="903" y="18"/>
                    <a:pt x="1034" y="0"/>
                  </a:cubicBezTo>
                  <a:cubicBezTo>
                    <a:pt x="1185" y="14"/>
                    <a:pt x="1278" y="27"/>
                    <a:pt x="1423" y="73"/>
                  </a:cubicBezTo>
                  <a:cubicBezTo>
                    <a:pt x="1450" y="91"/>
                    <a:pt x="1546" y="112"/>
                    <a:pt x="1577" y="122"/>
                  </a:cubicBezTo>
                  <a:cubicBezTo>
                    <a:pt x="1582" y="128"/>
                    <a:pt x="1685" y="166"/>
                    <a:pt x="1691" y="171"/>
                  </a:cubicBezTo>
                  <a:cubicBezTo>
                    <a:pt x="1698" y="177"/>
                    <a:pt x="1609" y="185"/>
                    <a:pt x="1609" y="195"/>
                  </a:cubicBezTo>
                  <a:cubicBezTo>
                    <a:pt x="1609" y="199"/>
                    <a:pt x="1543" y="229"/>
                    <a:pt x="1536" y="235"/>
                  </a:cubicBezTo>
                  <a:cubicBezTo>
                    <a:pt x="1512" y="254"/>
                    <a:pt x="1482" y="276"/>
                    <a:pt x="1455" y="292"/>
                  </a:cubicBezTo>
                  <a:cubicBezTo>
                    <a:pt x="1401" y="324"/>
                    <a:pt x="1494" y="281"/>
                    <a:pt x="1439" y="325"/>
                  </a:cubicBezTo>
                  <a:cubicBezTo>
                    <a:pt x="1412" y="347"/>
                    <a:pt x="1398" y="363"/>
                    <a:pt x="1374" y="389"/>
                  </a:cubicBezTo>
                  <a:cubicBezTo>
                    <a:pt x="1358" y="437"/>
                    <a:pt x="1379" y="391"/>
                    <a:pt x="1342" y="438"/>
                  </a:cubicBezTo>
                  <a:cubicBezTo>
                    <a:pt x="1319" y="468"/>
                    <a:pt x="1314" y="487"/>
                    <a:pt x="1293" y="519"/>
                  </a:cubicBezTo>
                  <a:cubicBezTo>
                    <a:pt x="1283" y="533"/>
                    <a:pt x="1283" y="568"/>
                    <a:pt x="1277" y="584"/>
                  </a:cubicBezTo>
                  <a:cubicBezTo>
                    <a:pt x="1274" y="592"/>
                    <a:pt x="1269" y="633"/>
                    <a:pt x="1269" y="633"/>
                  </a:cubicBezTo>
                  <a:cubicBezTo>
                    <a:pt x="1287" y="746"/>
                    <a:pt x="1249" y="743"/>
                    <a:pt x="1285" y="852"/>
                  </a:cubicBezTo>
                  <a:cubicBezTo>
                    <a:pt x="1291" y="870"/>
                    <a:pt x="1388" y="1030"/>
                    <a:pt x="1399" y="1046"/>
                  </a:cubicBezTo>
                  <a:cubicBezTo>
                    <a:pt x="1445" y="1115"/>
                    <a:pt x="1575" y="1091"/>
                    <a:pt x="1601" y="1168"/>
                  </a:cubicBezTo>
                  <a:cubicBezTo>
                    <a:pt x="1514" y="1197"/>
                    <a:pt x="1389" y="1268"/>
                    <a:pt x="1285" y="1273"/>
                  </a:cubicBezTo>
                  <a:cubicBezTo>
                    <a:pt x="1217" y="1282"/>
                    <a:pt x="1052" y="1276"/>
                    <a:pt x="985" y="1289"/>
                  </a:cubicBezTo>
                  <a:cubicBezTo>
                    <a:pt x="861" y="1274"/>
                    <a:pt x="810" y="1268"/>
                    <a:pt x="685" y="1257"/>
                  </a:cubicBezTo>
                  <a:cubicBezTo>
                    <a:pt x="656" y="1251"/>
                    <a:pt x="591" y="1210"/>
                    <a:pt x="555" y="1200"/>
                  </a:cubicBezTo>
                  <a:cubicBezTo>
                    <a:pt x="527" y="1192"/>
                    <a:pt x="495" y="1176"/>
                    <a:pt x="466" y="1176"/>
                  </a:cubicBezTo>
                  <a:close/>
                </a:path>
              </a:pathLst>
            </a:custGeom>
            <a:noFill/>
            <a:ln cap="flat" cmpd="sng" w="1016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0" name="Google Shape;460;p26"/>
            <p:cNvSpPr txBox="1"/>
            <p:nvPr/>
          </p:nvSpPr>
          <p:spPr>
            <a:xfrm>
              <a:off x="1200" y="2160"/>
              <a:ext cx="912" cy="8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4000"/>
                <a:buFont typeface="Times New Roman"/>
                <a:buNone/>
              </a:pPr>
              <a:r>
                <a:rPr b="1" i="0" lang="en-US" sz="4000" u="none" cap="none" strike="noStrike">
                  <a:solidFill>
                    <a:srgbClr val="FF0000"/>
                  </a:solidFill>
                  <a:latin typeface="Times New Roman"/>
                  <a:ea typeface="Times New Roman"/>
                  <a:cs typeface="Times New Roman"/>
                  <a:sym typeface="Times New Roman"/>
                </a:rPr>
                <a:t> Set</a:t>
              </a:r>
              <a:br>
                <a:rPr b="1" i="0" lang="en-US" sz="4000" u="none" cap="none" strike="noStrike">
                  <a:solidFill>
                    <a:srgbClr val="FF0000"/>
                  </a:solidFill>
                  <a:latin typeface="Times New Roman"/>
                  <a:ea typeface="Times New Roman"/>
                  <a:cs typeface="Times New Roman"/>
                  <a:sym typeface="Times New Roman"/>
                </a:rPr>
              </a:br>
              <a:r>
                <a:rPr b="1" i="1" lang="en-US" sz="4000" u="none" cap="none" strike="noStrike">
                  <a:solidFill>
                    <a:srgbClr val="FF0000"/>
                  </a:solidFill>
                  <a:latin typeface="Times New Roman"/>
                  <a:ea typeface="Times New Roman"/>
                  <a:cs typeface="Times New Roman"/>
                  <a:sym typeface="Times New Roman"/>
                </a:rPr>
                <a:t>A</a:t>
              </a:r>
              <a:r>
                <a:rPr b="0" i="0" lang="en-US" sz="4000" u="none" cap="none" strike="noStrike">
                  <a:solidFill>
                    <a:srgbClr val="FF0000"/>
                  </a:solidFill>
                  <a:latin typeface="Times New Roman"/>
                  <a:ea typeface="Times New Roman"/>
                  <a:cs typeface="Times New Roman"/>
                  <a:sym typeface="Times New Roman"/>
                </a:rPr>
                <a:t>−</a:t>
              </a:r>
              <a:r>
                <a:rPr b="1" i="1" lang="en-US" sz="4000" u="none" cap="none" strike="noStrike">
                  <a:solidFill>
                    <a:srgbClr val="FF0000"/>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grpSp>
        <p:nvGrpSpPr>
          <p:cNvPr id="461" name="Google Shape;461;p26"/>
          <p:cNvGrpSpPr/>
          <p:nvPr/>
        </p:nvGrpSpPr>
        <p:grpSpPr>
          <a:xfrm>
            <a:off x="3594083" y="2514600"/>
            <a:ext cx="5245117" cy="2644884"/>
            <a:chOff x="2264" y="1536"/>
            <a:chExt cx="3304" cy="1667"/>
          </a:xfrm>
        </p:grpSpPr>
        <p:sp>
          <p:nvSpPr>
            <p:cNvPr id="462" name="Google Shape;462;p26"/>
            <p:cNvSpPr/>
            <p:nvPr/>
          </p:nvSpPr>
          <p:spPr>
            <a:xfrm>
              <a:off x="4272" y="1536"/>
              <a:ext cx="1296" cy="864"/>
            </a:xfrm>
            <a:prstGeom prst="wedgeEllipseCallout">
              <a:avLst>
                <a:gd fmla="val -1900" name="adj1"/>
                <a:gd fmla="val 18625"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0"/>
                <a:buFont typeface="Arial"/>
                <a:buNone/>
              </a:pPr>
              <a:r>
                <a:rPr b="0" i="0" lang="en-US" sz="4000" u="none" cap="none" strike="noStrike">
                  <a:solidFill>
                    <a:schemeClr val="dk1"/>
                  </a:solidFill>
                  <a:latin typeface="Arial"/>
                  <a:ea typeface="Arial"/>
                  <a:cs typeface="Arial"/>
                  <a:sym typeface="Arial"/>
                </a:rPr>
                <a:t>Chomp!</a:t>
              </a:r>
              <a:endParaRPr b="0" i="0" sz="1400" u="none" cap="none" strike="noStrike">
                <a:solidFill>
                  <a:srgbClr val="000000"/>
                </a:solidFill>
                <a:latin typeface="Arial"/>
                <a:ea typeface="Arial"/>
                <a:cs typeface="Arial"/>
                <a:sym typeface="Arial"/>
              </a:endParaRPr>
            </a:p>
          </p:txBody>
        </p:sp>
        <p:grpSp>
          <p:nvGrpSpPr>
            <p:cNvPr id="463" name="Google Shape;463;p26"/>
            <p:cNvGrpSpPr/>
            <p:nvPr/>
          </p:nvGrpSpPr>
          <p:grpSpPr>
            <a:xfrm rot="240000">
              <a:off x="2286" y="2532"/>
              <a:ext cx="660" cy="649"/>
              <a:chOff x="2862" y="2484"/>
              <a:chExt cx="660" cy="649"/>
            </a:xfrm>
          </p:grpSpPr>
          <p:sp>
            <p:nvSpPr>
              <p:cNvPr id="464" name="Google Shape;464;p26"/>
              <p:cNvSpPr/>
              <p:nvPr/>
            </p:nvSpPr>
            <p:spPr>
              <a:xfrm rot="-3000000">
                <a:off x="2928" y="2880"/>
                <a:ext cx="144" cy="24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5" name="Google Shape;465;p26"/>
              <p:cNvSpPr/>
              <p:nvPr/>
            </p:nvSpPr>
            <p:spPr>
              <a:xfrm rot="-3000000">
                <a:off x="3120" y="2688"/>
                <a:ext cx="144" cy="24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6" name="Google Shape;466;p26"/>
              <p:cNvSpPr/>
              <p:nvPr/>
            </p:nvSpPr>
            <p:spPr>
              <a:xfrm rot="-3000000">
                <a:off x="3024" y="2784"/>
                <a:ext cx="144" cy="24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7" name="Google Shape;467;p26"/>
              <p:cNvSpPr/>
              <p:nvPr/>
            </p:nvSpPr>
            <p:spPr>
              <a:xfrm rot="-3000000">
                <a:off x="3312" y="2496"/>
                <a:ext cx="144" cy="24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8" name="Google Shape;468;p26"/>
              <p:cNvSpPr/>
              <p:nvPr/>
            </p:nvSpPr>
            <p:spPr>
              <a:xfrm rot="-3000000">
                <a:off x="3216" y="2592"/>
                <a:ext cx="144" cy="24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69" name="Google Shape;469;p26"/>
            <p:cNvGrpSpPr/>
            <p:nvPr/>
          </p:nvGrpSpPr>
          <p:grpSpPr>
            <a:xfrm flipH="1" rot="10800000">
              <a:off x="2382" y="2101"/>
              <a:ext cx="660" cy="649"/>
              <a:chOff x="2862" y="2484"/>
              <a:chExt cx="660" cy="649"/>
            </a:xfrm>
          </p:grpSpPr>
          <p:sp>
            <p:nvSpPr>
              <p:cNvPr id="470" name="Google Shape;470;p26"/>
              <p:cNvSpPr/>
              <p:nvPr/>
            </p:nvSpPr>
            <p:spPr>
              <a:xfrm rot="-3000000">
                <a:off x="2928" y="2880"/>
                <a:ext cx="144" cy="24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1" name="Google Shape;471;p26"/>
              <p:cNvSpPr/>
              <p:nvPr/>
            </p:nvSpPr>
            <p:spPr>
              <a:xfrm rot="-3000000">
                <a:off x="3120" y="2688"/>
                <a:ext cx="144" cy="24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2" name="Google Shape;472;p26"/>
              <p:cNvSpPr/>
              <p:nvPr/>
            </p:nvSpPr>
            <p:spPr>
              <a:xfrm rot="-3000000">
                <a:off x="3024" y="2784"/>
                <a:ext cx="144" cy="24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3" name="Google Shape;473;p26"/>
              <p:cNvSpPr/>
              <p:nvPr/>
            </p:nvSpPr>
            <p:spPr>
              <a:xfrm rot="-3000000">
                <a:off x="3312" y="2496"/>
                <a:ext cx="144" cy="24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4" name="Google Shape;474;p26"/>
              <p:cNvSpPr/>
              <p:nvPr/>
            </p:nvSpPr>
            <p:spPr>
              <a:xfrm rot="-3000000">
                <a:off x="3216" y="2592"/>
                <a:ext cx="144" cy="240"/>
              </a:xfrm>
              <a:prstGeom prst="triangl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7"/>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80" name="Google Shape;480;p27"/>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81" name="Google Shape;481;p27"/>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82" name="Google Shape;482;p27"/>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Set Complements</a:t>
            </a:r>
            <a:endParaRPr/>
          </a:p>
        </p:txBody>
      </p:sp>
      <p:sp>
        <p:nvSpPr>
          <p:cNvPr id="483" name="Google Shape;483;p27"/>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The </a:t>
            </a:r>
            <a:r>
              <a:rPr b="0" i="1" lang="en-US" sz="2800" u="none">
                <a:solidFill>
                  <a:schemeClr val="dk1"/>
                </a:solidFill>
                <a:latin typeface="Arial"/>
                <a:ea typeface="Arial"/>
                <a:cs typeface="Arial"/>
                <a:sym typeface="Arial"/>
              </a:rPr>
              <a:t>universe of discourse</a:t>
            </a:r>
            <a:r>
              <a:rPr b="0" i="0" lang="en-US" sz="2800" u="none">
                <a:solidFill>
                  <a:schemeClr val="dk1"/>
                </a:solidFill>
                <a:latin typeface="Arial"/>
                <a:ea typeface="Arial"/>
                <a:cs typeface="Arial"/>
                <a:sym typeface="Arial"/>
              </a:rPr>
              <a:t> can itself be considered a set, call it </a:t>
            </a:r>
            <a:r>
              <a:rPr b="0" i="1" lang="en-US" sz="2800" u="none">
                <a:solidFill>
                  <a:schemeClr val="dk1"/>
                </a:solidFill>
                <a:latin typeface="Arial"/>
                <a:ea typeface="Arial"/>
                <a:cs typeface="Arial"/>
                <a:sym typeface="Arial"/>
              </a:rPr>
              <a:t>U</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The </a:t>
            </a:r>
            <a:r>
              <a:rPr b="0" i="1" lang="en-US" sz="2800" u="none">
                <a:solidFill>
                  <a:schemeClr val="dk1"/>
                </a:solidFill>
                <a:latin typeface="Arial"/>
                <a:ea typeface="Arial"/>
                <a:cs typeface="Arial"/>
                <a:sym typeface="Arial"/>
              </a:rPr>
              <a:t>complement</a:t>
            </a:r>
            <a:r>
              <a:rPr b="0" i="0" lang="en-US" sz="2800" u="none">
                <a:solidFill>
                  <a:schemeClr val="dk1"/>
                </a:solidFill>
                <a:latin typeface="Arial"/>
                <a:ea typeface="Arial"/>
                <a:cs typeface="Arial"/>
                <a:sym typeface="Arial"/>
              </a:rPr>
              <a:t> of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written    , is the complement of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w.r.t. </a:t>
            </a:r>
            <a:r>
              <a:rPr b="0" i="1" lang="en-US" sz="2800" u="none">
                <a:solidFill>
                  <a:schemeClr val="dk1"/>
                </a:solidFill>
                <a:latin typeface="Arial"/>
                <a:ea typeface="Arial"/>
                <a:cs typeface="Arial"/>
                <a:sym typeface="Arial"/>
              </a:rPr>
              <a:t>U</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i.e.</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it is </a:t>
            </a:r>
            <a:r>
              <a:rPr b="0" i="1" lang="en-US" sz="2800" u="none">
                <a:solidFill>
                  <a:schemeClr val="dk1"/>
                </a:solidFill>
                <a:latin typeface="Arial"/>
                <a:ea typeface="Arial"/>
                <a:cs typeface="Arial"/>
                <a:sym typeface="Arial"/>
              </a:rPr>
              <a:t>U</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E.g., </a:t>
            </a:r>
            <a:r>
              <a:rPr b="0" i="0" lang="en-US" sz="2800" u="none">
                <a:solidFill>
                  <a:schemeClr val="dk1"/>
                </a:solidFill>
                <a:latin typeface="Arial"/>
                <a:ea typeface="Arial"/>
                <a:cs typeface="Arial"/>
                <a:sym typeface="Arial"/>
              </a:rPr>
              <a:t>If </a:t>
            </a:r>
            <a:r>
              <a:rPr b="0" i="1" lang="en-US" sz="2800" u="none">
                <a:solidFill>
                  <a:schemeClr val="dk1"/>
                </a:solidFill>
                <a:latin typeface="Arial"/>
                <a:ea typeface="Arial"/>
                <a:cs typeface="Arial"/>
                <a:sym typeface="Arial"/>
              </a:rPr>
              <a:t>U</a:t>
            </a:r>
            <a:r>
              <a:rPr b="0" i="0" lang="en-US" sz="2800" u="none">
                <a:solidFill>
                  <a:schemeClr val="dk1"/>
                </a:solidFill>
                <a:latin typeface="Arial"/>
                <a:ea typeface="Arial"/>
                <a:cs typeface="Arial"/>
                <a:sym typeface="Arial"/>
              </a:rPr>
              <a:t>=</a:t>
            </a:r>
            <a:r>
              <a:rPr b="1" i="0"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 </a:t>
            </a:r>
            <a:endParaRPr/>
          </a:p>
        </p:txBody>
      </p:sp>
      <p:pic>
        <p:nvPicPr>
          <p:cNvPr id="484" name="Google Shape;484;p27"/>
          <p:cNvPicPr preferRelativeResize="0"/>
          <p:nvPr/>
        </p:nvPicPr>
        <p:blipFill rotWithShape="1">
          <a:blip r:embed="rId3">
            <a:alphaModFix/>
          </a:blip>
          <a:srcRect b="0" l="0" r="0" t="0"/>
          <a:stretch/>
        </p:blipFill>
        <p:spPr>
          <a:xfrm>
            <a:off x="5562600" y="2514600"/>
            <a:ext cx="533400" cy="457200"/>
          </a:xfrm>
          <a:prstGeom prst="rect">
            <a:avLst/>
          </a:prstGeom>
          <a:noFill/>
          <a:ln>
            <a:noFill/>
          </a:ln>
        </p:spPr>
      </p:pic>
      <p:pic>
        <p:nvPicPr>
          <p:cNvPr id="485" name="Google Shape;485;p27"/>
          <p:cNvPicPr preferRelativeResize="0"/>
          <p:nvPr/>
        </p:nvPicPr>
        <p:blipFill rotWithShape="1">
          <a:blip r:embed="rId4">
            <a:alphaModFix/>
          </a:blip>
          <a:srcRect b="0" l="0" r="0" t="0"/>
          <a:stretch/>
        </p:blipFill>
        <p:spPr>
          <a:xfrm>
            <a:off x="2438400" y="4572000"/>
            <a:ext cx="4279900" cy="749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8"/>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95" name="Google Shape;495;p28"/>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96" name="Google Shape;496;p28"/>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97" name="Google Shape;497;p28"/>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More on Set Complements</a:t>
            </a:r>
            <a:endParaRPr/>
          </a:p>
        </p:txBody>
      </p:sp>
      <p:sp>
        <p:nvSpPr>
          <p:cNvPr id="498" name="Google Shape;498;p28"/>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An equivalent definition, when </a:t>
            </a:r>
            <a:r>
              <a:rPr b="0" i="1" lang="en-US" sz="2800" u="none">
                <a:solidFill>
                  <a:schemeClr val="dk1"/>
                </a:solidFill>
                <a:latin typeface="Arial"/>
                <a:ea typeface="Arial"/>
                <a:cs typeface="Arial"/>
                <a:sym typeface="Arial"/>
              </a:rPr>
              <a:t>U</a:t>
            </a:r>
            <a:r>
              <a:rPr b="0" i="0" lang="en-US" sz="2800" u="none">
                <a:solidFill>
                  <a:schemeClr val="dk1"/>
                </a:solidFill>
                <a:latin typeface="Arial"/>
                <a:ea typeface="Arial"/>
                <a:cs typeface="Arial"/>
                <a:sym typeface="Arial"/>
              </a:rPr>
              <a:t> is clear:</a:t>
            </a:r>
            <a:br>
              <a:rPr b="0" i="0" lang="en-US" sz="2800" u="none">
                <a:solidFill>
                  <a:schemeClr val="dk1"/>
                </a:solidFill>
                <a:latin typeface="Arial"/>
                <a:ea typeface="Arial"/>
                <a:cs typeface="Arial"/>
                <a:sym typeface="Arial"/>
              </a:rPr>
            </a:br>
            <a:endParaRPr/>
          </a:p>
        </p:txBody>
      </p:sp>
      <p:pic>
        <p:nvPicPr>
          <p:cNvPr id="499" name="Google Shape;499;p28"/>
          <p:cNvPicPr preferRelativeResize="0"/>
          <p:nvPr/>
        </p:nvPicPr>
        <p:blipFill rotWithShape="1">
          <a:blip r:embed="rId3">
            <a:alphaModFix/>
          </a:blip>
          <a:srcRect b="0" l="0" r="0" t="0"/>
          <a:stretch/>
        </p:blipFill>
        <p:spPr>
          <a:xfrm>
            <a:off x="1295400" y="2514600"/>
            <a:ext cx="2895600" cy="723900"/>
          </a:xfrm>
          <a:prstGeom prst="rect">
            <a:avLst/>
          </a:prstGeom>
          <a:noFill/>
          <a:ln>
            <a:noFill/>
          </a:ln>
        </p:spPr>
      </p:pic>
      <p:sp>
        <p:nvSpPr>
          <p:cNvPr id="500" name="Google Shape;500;p28"/>
          <p:cNvSpPr txBox="1"/>
          <p:nvPr/>
        </p:nvSpPr>
        <p:spPr>
          <a:xfrm>
            <a:off x="1371600" y="3505200"/>
            <a:ext cx="2819400" cy="2133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1" name="Google Shape;501;p28"/>
          <p:cNvSpPr/>
          <p:nvPr/>
        </p:nvSpPr>
        <p:spPr>
          <a:xfrm>
            <a:off x="1828800" y="4191000"/>
            <a:ext cx="1447800" cy="1143000"/>
          </a:xfrm>
          <a:prstGeom prst="ellipse">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2" name="Google Shape;502;p28"/>
          <p:cNvSpPr txBox="1"/>
          <p:nvPr/>
        </p:nvSpPr>
        <p:spPr>
          <a:xfrm>
            <a:off x="2286000" y="4419600"/>
            <a:ext cx="8382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000"/>
              <a:buFont typeface="Times New Roman"/>
              <a:buNone/>
            </a:pPr>
            <a:r>
              <a:rPr b="0" i="1" lang="en-US" sz="40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sp>
        <p:nvSpPr>
          <p:cNvPr id="503" name="Google Shape;503;p28"/>
          <p:cNvSpPr txBox="1"/>
          <p:nvPr/>
        </p:nvSpPr>
        <p:spPr>
          <a:xfrm>
            <a:off x="838200" y="5105400"/>
            <a:ext cx="83820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000"/>
              <a:buFont typeface="Times New Roman"/>
              <a:buNone/>
            </a:pPr>
            <a:r>
              <a:rPr b="0" i="1" lang="en-US" sz="4000" u="none" cap="none" strike="noStrike">
                <a:solidFill>
                  <a:schemeClr val="dk1"/>
                </a:solidFill>
                <a:latin typeface="Times New Roman"/>
                <a:ea typeface="Times New Roman"/>
                <a:cs typeface="Times New Roman"/>
                <a:sym typeface="Times New Roman"/>
              </a:rPr>
              <a:t>U</a:t>
            </a:r>
            <a:endParaRPr b="0" i="0" sz="1400" u="none" cap="none" strike="noStrike">
              <a:solidFill>
                <a:srgbClr val="000000"/>
              </a:solidFill>
              <a:latin typeface="Arial"/>
              <a:ea typeface="Arial"/>
              <a:cs typeface="Arial"/>
              <a:sym typeface="Arial"/>
            </a:endParaRPr>
          </a:p>
        </p:txBody>
      </p:sp>
      <p:sp>
        <p:nvSpPr>
          <p:cNvPr id="504" name="Google Shape;504;p28"/>
          <p:cNvSpPr txBox="1"/>
          <p:nvPr/>
        </p:nvSpPr>
        <p:spPr>
          <a:xfrm>
            <a:off x="4724400" y="3505200"/>
            <a:ext cx="2819400" cy="2133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5" name="Google Shape;505;p28"/>
          <p:cNvSpPr/>
          <p:nvPr/>
        </p:nvSpPr>
        <p:spPr>
          <a:xfrm>
            <a:off x="5181600" y="4191000"/>
            <a:ext cx="1447800" cy="1143000"/>
          </a:xfrm>
          <a:prstGeom prst="ellips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506" name="Google Shape;506;p28"/>
          <p:cNvPicPr preferRelativeResize="0"/>
          <p:nvPr/>
        </p:nvPicPr>
        <p:blipFill rotWithShape="1">
          <a:blip r:embed="rId4">
            <a:alphaModFix/>
          </a:blip>
          <a:srcRect b="0" l="0" r="0" t="0"/>
          <a:stretch/>
        </p:blipFill>
        <p:spPr>
          <a:xfrm>
            <a:off x="6629400" y="3657600"/>
            <a:ext cx="719137" cy="838200"/>
          </a:xfrm>
          <a:prstGeom prst="rect">
            <a:avLst/>
          </a:prstGeom>
          <a:noFill/>
          <a:ln>
            <a:noFill/>
          </a:ln>
        </p:spPr>
      </p:pic>
      <p:grpSp>
        <p:nvGrpSpPr>
          <p:cNvPr id="507" name="Google Shape;507;p28"/>
          <p:cNvGrpSpPr/>
          <p:nvPr/>
        </p:nvGrpSpPr>
        <p:grpSpPr>
          <a:xfrm>
            <a:off x="5141561" y="2881546"/>
            <a:ext cx="1176128" cy="3981782"/>
            <a:chOff x="3239" y="1815"/>
            <a:chExt cx="740" cy="2508"/>
          </a:xfrm>
        </p:grpSpPr>
        <p:sp>
          <p:nvSpPr>
            <p:cNvPr id="508" name="Google Shape;508;p28"/>
            <p:cNvSpPr/>
            <p:nvPr/>
          </p:nvSpPr>
          <p:spPr>
            <a:xfrm rot="-4560000">
              <a:off x="2933" y="2487"/>
              <a:ext cx="1535" cy="192"/>
            </a:xfrm>
            <a:prstGeom prst="doubleWave">
              <a:avLst>
                <a:gd fmla="val 2229" name="adj1"/>
                <a:gd fmla="val 10654" name="adj2"/>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9" name="Google Shape;509;p28"/>
            <p:cNvSpPr/>
            <p:nvPr/>
          </p:nvSpPr>
          <p:spPr>
            <a:xfrm rot="-4560000">
              <a:off x="3023" y="3832"/>
              <a:ext cx="791" cy="173"/>
            </a:xfrm>
            <a:prstGeom prst="doubleWave">
              <a:avLst>
                <a:gd fmla="val 2229" name="adj1"/>
                <a:gd fmla="val 11276" name="adj2"/>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29"/>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15" name="Google Shape;515;p29"/>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16" name="Google Shape;516;p29"/>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17" name="Google Shape;517;p29"/>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Set Identities</a:t>
            </a:r>
            <a:endParaRPr/>
          </a:p>
        </p:txBody>
      </p:sp>
      <p:sp>
        <p:nvSpPr>
          <p:cNvPr id="518" name="Google Shape;518;p29"/>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Identity: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U</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Domination: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U=U    A</a:t>
            </a:r>
            <a:r>
              <a:rPr b="0" i="0" lang="en-US" sz="2800" u="none">
                <a:solidFill>
                  <a:schemeClr val="dk1"/>
                </a:solidFill>
                <a:latin typeface="Arial"/>
                <a:ea typeface="Arial"/>
                <a:cs typeface="Arial"/>
                <a:sym typeface="Arial"/>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Idempotent: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A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Double complement: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Commutative: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   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Associative: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C</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C</a:t>
            </a:r>
            <a:br>
              <a:rPr b="0" i="1" lang="en-US" sz="2800" u="none">
                <a:solidFill>
                  <a:schemeClr val="dk1"/>
                </a:solidFill>
                <a:latin typeface="Arial"/>
                <a:ea typeface="Arial"/>
                <a:cs typeface="Arial"/>
                <a:sym typeface="Arial"/>
              </a:rPr>
            </a:br>
            <a:r>
              <a:rPr b="0" i="1" lang="en-US" sz="2800" u="none">
                <a:solidFill>
                  <a:schemeClr val="dk1"/>
                </a:solidFill>
                <a:latin typeface="Arial"/>
                <a:ea typeface="Arial"/>
                <a:cs typeface="Arial"/>
                <a:sym typeface="Arial"/>
              </a:rPr>
              <a:t>                        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C</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C</a:t>
            </a:r>
            <a:endParaRPr/>
          </a:p>
        </p:txBody>
      </p:sp>
      <p:pic>
        <p:nvPicPr>
          <p:cNvPr id="519" name="Google Shape;519;p29"/>
          <p:cNvPicPr preferRelativeResize="0"/>
          <p:nvPr/>
        </p:nvPicPr>
        <p:blipFill rotWithShape="1">
          <a:blip r:embed="rId3">
            <a:alphaModFix/>
          </a:blip>
          <a:srcRect b="0" l="0" r="0" t="0"/>
          <a:stretch/>
        </p:blipFill>
        <p:spPr>
          <a:xfrm>
            <a:off x="4191000" y="3124200"/>
            <a:ext cx="1417637" cy="533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0"/>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25" name="Google Shape;525;p30"/>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26" name="Google Shape;526;p30"/>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Set Identities</a:t>
            </a:r>
            <a:endParaRPr/>
          </a:p>
        </p:txBody>
      </p:sp>
      <p:sp>
        <p:nvSpPr>
          <p:cNvPr id="527" name="Google Shape;527;p30"/>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Distributed: A∩(B∪C) = (A ∩ B)∪(A ∩ C)</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		              A∪(B ∩ C) = (A ∪ B)∩(A ∪ C)</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Absorption: A∪(A∩B) = A	   A∩(A ∪B) = A</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Complement:                                             ∅ 	</a:t>
            </a:r>
            <a:endParaRPr/>
          </a:p>
        </p:txBody>
      </p:sp>
      <p:sp>
        <p:nvSpPr>
          <p:cNvPr id="528" name="Google Shape;528;p30"/>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id="529" name="Google Shape;529;p30"/>
          <p:cNvPicPr preferRelativeResize="0"/>
          <p:nvPr/>
        </p:nvPicPr>
        <p:blipFill rotWithShape="1">
          <a:blip r:embed="rId3">
            <a:alphaModFix/>
          </a:blip>
          <a:srcRect b="0" l="0" r="0" t="0"/>
          <a:stretch/>
        </p:blipFill>
        <p:spPr>
          <a:xfrm>
            <a:off x="3124200" y="3124200"/>
            <a:ext cx="3817937" cy="533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1"/>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35" name="Google Shape;535;p31"/>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36" name="Google Shape;536;p31"/>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37" name="Google Shape;537;p31"/>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DeMorgan’s Law for Sets</a:t>
            </a:r>
            <a:endParaRPr/>
          </a:p>
        </p:txBody>
      </p:sp>
      <p:sp>
        <p:nvSpPr>
          <p:cNvPr id="538" name="Google Shape;538;p31"/>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Exactly analogous to (and derivable from) DeMorgan’s Law for propositions.</a:t>
            </a:r>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pic>
        <p:nvPicPr>
          <p:cNvPr id="539" name="Google Shape;539;p31"/>
          <p:cNvPicPr preferRelativeResize="0"/>
          <p:nvPr/>
        </p:nvPicPr>
        <p:blipFill rotWithShape="1">
          <a:blip r:embed="rId3">
            <a:alphaModFix/>
          </a:blip>
          <a:srcRect b="0" l="0" r="0" t="0"/>
          <a:stretch/>
        </p:blipFill>
        <p:spPr>
          <a:xfrm>
            <a:off x="2397125" y="3430587"/>
            <a:ext cx="3241675" cy="153511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2"/>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49" name="Google Shape;549;p32"/>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50" name="Google Shape;550;p32"/>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51" name="Google Shape;551;p32"/>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Proving Set Identities</a:t>
            </a:r>
            <a:endParaRPr/>
          </a:p>
        </p:txBody>
      </p:sp>
      <p:sp>
        <p:nvSpPr>
          <p:cNvPr id="552" name="Google Shape;552;p32"/>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To prove statements about sets, of the form </a:t>
            </a:r>
            <a:br>
              <a:rPr b="0" i="0" lang="en-US" sz="2800" u="none">
                <a:solidFill>
                  <a:schemeClr val="dk1"/>
                </a:solidFill>
                <a:latin typeface="Arial"/>
                <a:ea typeface="Arial"/>
                <a:cs typeface="Arial"/>
                <a:sym typeface="Arial"/>
              </a:rPr>
            </a:br>
            <a:r>
              <a:rPr b="0" i="1" lang="en-US" sz="2800" u="none">
                <a:solidFill>
                  <a:schemeClr val="dk1"/>
                </a:solidFill>
                <a:latin typeface="Arial"/>
                <a:ea typeface="Arial"/>
                <a:cs typeface="Arial"/>
                <a:sym typeface="Arial"/>
              </a:rPr>
              <a:t>E</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E</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(where </a:t>
            </a:r>
            <a:r>
              <a:rPr b="0" i="1" lang="en-US" sz="2800" u="none">
                <a:solidFill>
                  <a:schemeClr val="dk1"/>
                </a:solidFill>
                <a:latin typeface="Arial"/>
                <a:ea typeface="Arial"/>
                <a:cs typeface="Arial"/>
                <a:sym typeface="Arial"/>
              </a:rPr>
              <a:t>E</a:t>
            </a:r>
            <a:r>
              <a:rPr b="0" i="0" lang="en-US" sz="2800" u="none">
                <a:solidFill>
                  <a:schemeClr val="dk1"/>
                </a:solidFill>
                <a:latin typeface="Arial"/>
                <a:ea typeface="Arial"/>
                <a:cs typeface="Arial"/>
                <a:sym typeface="Arial"/>
              </a:rPr>
              <a:t>s are set expressions), here are three useful techniques: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Prove </a:t>
            </a:r>
            <a:r>
              <a:rPr b="0" i="1" lang="en-US" sz="2800" u="none">
                <a:solidFill>
                  <a:schemeClr val="dk1"/>
                </a:solidFill>
                <a:latin typeface="Arial"/>
                <a:ea typeface="Arial"/>
                <a:cs typeface="Arial"/>
                <a:sym typeface="Arial"/>
              </a:rPr>
              <a:t>E</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E</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and</a:t>
            </a:r>
            <a:r>
              <a:rPr b="0" baseline="-2500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E</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E</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separately.</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Use logical equivalences.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Use a </a:t>
            </a:r>
            <a:r>
              <a:rPr b="0" i="1" lang="en-US" sz="2800" u="none">
                <a:solidFill>
                  <a:schemeClr val="dk1"/>
                </a:solidFill>
                <a:latin typeface="Arial"/>
                <a:ea typeface="Arial"/>
                <a:cs typeface="Arial"/>
                <a:sym typeface="Arial"/>
              </a:rPr>
              <a:t>membership table</a:t>
            </a:r>
            <a:r>
              <a:rPr b="0" i="0" lang="en-US" sz="2800" u="none">
                <a:solidFill>
                  <a:schemeClr val="dk1"/>
                </a:solidFill>
                <a:latin typeface="Arial"/>
                <a:ea typeface="Arial"/>
                <a:cs typeface="Arial"/>
                <a:sym typeface="Arial"/>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33"/>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58" name="Google Shape;558;p33"/>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59" name="Google Shape;559;p33"/>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60" name="Google Shape;560;p33"/>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Method 1: Mutual subsets</a:t>
            </a:r>
            <a:endParaRPr/>
          </a:p>
        </p:txBody>
      </p:sp>
      <p:sp>
        <p:nvSpPr>
          <p:cNvPr id="561" name="Google Shape;561;p33"/>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Example: Show </a:t>
            </a:r>
            <a:r>
              <a:rPr b="0" i="1" lang="en-US" sz="2400" u="none">
                <a:solidFill>
                  <a:schemeClr val="dk1"/>
                </a:solidFill>
                <a:latin typeface="Arial"/>
                <a:ea typeface="Arial"/>
                <a:cs typeface="Arial"/>
                <a:sym typeface="Arial"/>
              </a:rPr>
              <a:t>A</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B</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C</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A</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B</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A</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C</a:t>
            </a:r>
            <a:r>
              <a:rPr b="0" i="0" lang="en-US" sz="2400" u="none">
                <a:solidFill>
                  <a:schemeClr val="dk1"/>
                </a:solidFill>
                <a:latin typeface="Arial"/>
                <a:ea typeface="Arial"/>
                <a:cs typeface="Arial"/>
                <a:sym typeface="Arial"/>
              </a:rPr>
              <a:t>).</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Show </a:t>
            </a:r>
            <a:r>
              <a:rPr b="0" i="1" lang="en-US" sz="2400" u="none">
                <a:solidFill>
                  <a:schemeClr val="dk1"/>
                </a:solidFill>
                <a:latin typeface="Arial"/>
                <a:ea typeface="Arial"/>
                <a:cs typeface="Arial"/>
                <a:sym typeface="Arial"/>
              </a:rPr>
              <a:t>A</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B</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C</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A</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B</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A</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C</a:t>
            </a:r>
            <a:r>
              <a:rPr b="0" i="0" lang="en-US" sz="2400" u="none">
                <a:solidFill>
                  <a:schemeClr val="dk1"/>
                </a:solidFill>
                <a:latin typeface="Arial"/>
                <a:ea typeface="Arial"/>
                <a:cs typeface="Arial"/>
                <a:sym typeface="Arial"/>
              </a:rPr>
              <a:t>).</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Assume </a:t>
            </a:r>
            <a:r>
              <a:rPr b="0" i="1" lang="en-US" sz="2000" u="none" cap="none" strike="noStrike">
                <a:solidFill>
                  <a:schemeClr val="dk1"/>
                </a:solidFill>
                <a:latin typeface="Arial"/>
                <a:ea typeface="Arial"/>
                <a:cs typeface="Arial"/>
                <a:sym typeface="Arial"/>
              </a:rPr>
              <a:t>x</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A</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B</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C</a:t>
            </a:r>
            <a:r>
              <a:rPr b="0" i="0" lang="en-US" sz="2000" u="none" cap="none" strike="noStrike">
                <a:solidFill>
                  <a:schemeClr val="dk1"/>
                </a:solidFill>
                <a:latin typeface="Arial"/>
                <a:ea typeface="Arial"/>
                <a:cs typeface="Arial"/>
                <a:sym typeface="Arial"/>
              </a:rPr>
              <a:t>), &amp; show </a:t>
            </a:r>
            <a:r>
              <a:rPr b="0" i="1" lang="en-US" sz="2000" u="none" cap="none" strike="noStrike">
                <a:solidFill>
                  <a:schemeClr val="dk1"/>
                </a:solidFill>
                <a:latin typeface="Arial"/>
                <a:ea typeface="Arial"/>
                <a:cs typeface="Arial"/>
                <a:sym typeface="Arial"/>
              </a:rPr>
              <a:t>x</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A</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B</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A</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C</a:t>
            </a:r>
            <a:r>
              <a:rPr b="0" i="0" lang="en-US" sz="2000" u="none" cap="none" strike="noStrike">
                <a:solidFill>
                  <a:schemeClr val="dk1"/>
                </a:solidFill>
                <a:latin typeface="Arial"/>
                <a:ea typeface="Arial"/>
                <a:cs typeface="Arial"/>
                <a:sym typeface="Arial"/>
              </a:rPr>
              <a:t>).</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We know that </a:t>
            </a:r>
            <a:r>
              <a:rPr b="0" i="1" lang="en-US" sz="2000" u="none" cap="none" strike="noStrike">
                <a:solidFill>
                  <a:schemeClr val="dk1"/>
                </a:solidFill>
                <a:latin typeface="Arial"/>
                <a:ea typeface="Arial"/>
                <a:cs typeface="Arial"/>
                <a:sym typeface="Arial"/>
              </a:rPr>
              <a:t>x</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A</a:t>
            </a:r>
            <a:r>
              <a:rPr b="0" i="0" lang="en-US" sz="2000" u="none" cap="none" strike="noStrike">
                <a:solidFill>
                  <a:schemeClr val="dk1"/>
                </a:solidFill>
                <a:latin typeface="Arial"/>
                <a:ea typeface="Arial"/>
                <a:cs typeface="Arial"/>
                <a:sym typeface="Arial"/>
              </a:rPr>
              <a:t>, and either </a:t>
            </a:r>
            <a:r>
              <a:rPr b="0" i="1" lang="en-US" sz="2000" u="none" cap="none" strike="noStrike">
                <a:solidFill>
                  <a:schemeClr val="dk1"/>
                </a:solidFill>
                <a:latin typeface="Arial"/>
                <a:ea typeface="Arial"/>
                <a:cs typeface="Arial"/>
                <a:sym typeface="Arial"/>
              </a:rPr>
              <a:t>x</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B</a:t>
            </a:r>
            <a:r>
              <a:rPr b="0" i="0" lang="en-US" sz="2000" u="none" cap="none" strike="noStrike">
                <a:solidFill>
                  <a:schemeClr val="dk1"/>
                </a:solidFill>
                <a:latin typeface="Arial"/>
                <a:ea typeface="Arial"/>
                <a:cs typeface="Arial"/>
                <a:sym typeface="Arial"/>
              </a:rPr>
              <a:t> or </a:t>
            </a:r>
            <a:r>
              <a:rPr b="0" i="1" lang="en-US" sz="2000" u="none" cap="none" strike="noStrike">
                <a:solidFill>
                  <a:schemeClr val="dk1"/>
                </a:solidFill>
                <a:latin typeface="Arial"/>
                <a:ea typeface="Arial"/>
                <a:cs typeface="Arial"/>
                <a:sym typeface="Arial"/>
              </a:rPr>
              <a:t>x</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C.</a:t>
            </a:r>
            <a:endParaRPr/>
          </a:p>
          <a:p>
            <a:pPr indent="-228600" lvl="2" marL="1143000" marR="0" rtl="0" algn="l">
              <a:lnSpc>
                <a:spcPct val="100000"/>
              </a:lnSpc>
              <a:spcBef>
                <a:spcPts val="36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Case 1: </a:t>
            </a:r>
            <a:r>
              <a:rPr b="0" i="1" lang="en-US" sz="1800" u="none" cap="none" strike="noStrike">
                <a:solidFill>
                  <a:schemeClr val="dk1"/>
                </a:solidFill>
                <a:latin typeface="Arial"/>
                <a:ea typeface="Arial"/>
                <a:cs typeface="Arial"/>
                <a:sym typeface="Arial"/>
              </a:rPr>
              <a:t>x</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B</a:t>
            </a:r>
            <a:r>
              <a:rPr b="0" i="0" lang="en-US" sz="1800" u="none" cap="none" strike="noStrike">
                <a:solidFill>
                  <a:schemeClr val="dk1"/>
                </a:solidFill>
                <a:latin typeface="Arial"/>
                <a:ea typeface="Arial"/>
                <a:cs typeface="Arial"/>
                <a:sym typeface="Arial"/>
              </a:rPr>
              <a:t>.  Then </a:t>
            </a:r>
            <a:r>
              <a:rPr b="0" i="1" lang="en-US" sz="1800" u="none" cap="none" strike="noStrike">
                <a:solidFill>
                  <a:schemeClr val="dk1"/>
                </a:solidFill>
                <a:latin typeface="Arial"/>
                <a:ea typeface="Arial"/>
                <a:cs typeface="Arial"/>
                <a:sym typeface="Arial"/>
              </a:rPr>
              <a:t>x</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A</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B</a:t>
            </a:r>
            <a:r>
              <a:rPr b="0" i="0" lang="en-US" sz="1800" u="none" cap="none" strike="noStrike">
                <a:solidFill>
                  <a:schemeClr val="dk1"/>
                </a:solidFill>
                <a:latin typeface="Arial"/>
                <a:ea typeface="Arial"/>
                <a:cs typeface="Arial"/>
                <a:sym typeface="Arial"/>
              </a:rPr>
              <a:t>, so </a:t>
            </a:r>
            <a:r>
              <a:rPr b="0" i="1" lang="en-US" sz="1800" u="none" cap="none" strike="noStrike">
                <a:solidFill>
                  <a:schemeClr val="dk1"/>
                </a:solidFill>
                <a:latin typeface="Arial"/>
                <a:ea typeface="Arial"/>
                <a:cs typeface="Arial"/>
                <a:sym typeface="Arial"/>
              </a:rPr>
              <a:t>x</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A</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B</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A</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C</a:t>
            </a:r>
            <a:r>
              <a:rPr b="0" i="0" lang="en-US" sz="1800" u="none" cap="none" strike="noStrike">
                <a:solidFill>
                  <a:schemeClr val="dk1"/>
                </a:solidFill>
                <a:latin typeface="Arial"/>
                <a:ea typeface="Arial"/>
                <a:cs typeface="Arial"/>
                <a:sym typeface="Arial"/>
              </a:rPr>
              <a:t>).</a:t>
            </a:r>
            <a:endParaRPr/>
          </a:p>
          <a:p>
            <a:pPr indent="-228600" lvl="2" marL="1143000" marR="0" rtl="0" algn="l">
              <a:lnSpc>
                <a:spcPct val="100000"/>
              </a:lnSpc>
              <a:spcBef>
                <a:spcPts val="36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Case 2: </a:t>
            </a:r>
            <a:r>
              <a:rPr b="0" i="1" lang="en-US" sz="1800" u="none" cap="none" strike="noStrike">
                <a:solidFill>
                  <a:schemeClr val="dk1"/>
                </a:solidFill>
                <a:latin typeface="Arial"/>
                <a:ea typeface="Arial"/>
                <a:cs typeface="Arial"/>
                <a:sym typeface="Arial"/>
              </a:rPr>
              <a:t>x</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C. </a:t>
            </a:r>
            <a:r>
              <a:rPr b="0" i="0" lang="en-US" sz="1800" u="none" cap="none" strike="noStrike">
                <a:solidFill>
                  <a:schemeClr val="dk1"/>
                </a:solidFill>
                <a:latin typeface="Arial"/>
                <a:ea typeface="Arial"/>
                <a:cs typeface="Arial"/>
                <a:sym typeface="Arial"/>
              </a:rPr>
              <a:t>Then </a:t>
            </a:r>
            <a:r>
              <a:rPr b="0" i="1" lang="en-US" sz="1800" u="none" cap="none" strike="noStrike">
                <a:solidFill>
                  <a:schemeClr val="dk1"/>
                </a:solidFill>
                <a:latin typeface="Arial"/>
                <a:ea typeface="Arial"/>
                <a:cs typeface="Arial"/>
                <a:sym typeface="Arial"/>
              </a:rPr>
              <a:t>x</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A</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C </a:t>
            </a:r>
            <a:r>
              <a:rPr b="0" i="0" lang="en-US" sz="1800" u="none" cap="none" strike="noStrike">
                <a:solidFill>
                  <a:schemeClr val="dk1"/>
                </a:solidFill>
                <a:latin typeface="Arial"/>
                <a:ea typeface="Arial"/>
                <a:cs typeface="Arial"/>
                <a:sym typeface="Arial"/>
              </a:rPr>
              <a:t>, so </a:t>
            </a:r>
            <a:r>
              <a:rPr b="0" i="1" lang="en-US" sz="1800" u="none" cap="none" strike="noStrike">
                <a:solidFill>
                  <a:schemeClr val="dk1"/>
                </a:solidFill>
                <a:latin typeface="Arial"/>
                <a:ea typeface="Arial"/>
                <a:cs typeface="Arial"/>
                <a:sym typeface="Arial"/>
              </a:rPr>
              <a:t>x</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A</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B</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A</a:t>
            </a:r>
            <a:r>
              <a:rPr b="0" i="0" lang="en-US" sz="1800" u="none" cap="none" strike="noStrike">
                <a:solidFill>
                  <a:schemeClr val="dk1"/>
                </a:solidFill>
                <a:latin typeface="Arial"/>
                <a:ea typeface="Arial"/>
                <a:cs typeface="Arial"/>
                <a:sym typeface="Arial"/>
              </a:rPr>
              <a:t>∩</a:t>
            </a:r>
            <a:r>
              <a:rPr b="0" i="1" lang="en-US" sz="1800" u="none" cap="none" strike="noStrike">
                <a:solidFill>
                  <a:schemeClr val="dk1"/>
                </a:solidFill>
                <a:latin typeface="Arial"/>
                <a:ea typeface="Arial"/>
                <a:cs typeface="Arial"/>
                <a:sym typeface="Arial"/>
              </a:rPr>
              <a:t>C</a:t>
            </a:r>
            <a:r>
              <a:rPr b="0" i="0" lang="en-US" sz="1800" u="none" cap="none" strike="noStrike">
                <a:solidFill>
                  <a:schemeClr val="dk1"/>
                </a:solidFill>
                <a:latin typeface="Arial"/>
                <a:ea typeface="Arial"/>
                <a:cs typeface="Arial"/>
                <a:sym typeface="Arial"/>
              </a:rPr>
              <a:t>).</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Therefore, </a:t>
            </a:r>
            <a:r>
              <a:rPr b="0" i="1" lang="en-US" sz="2000" u="none" cap="none" strike="noStrike">
                <a:solidFill>
                  <a:schemeClr val="dk1"/>
                </a:solidFill>
                <a:latin typeface="Arial"/>
                <a:ea typeface="Arial"/>
                <a:cs typeface="Arial"/>
                <a:sym typeface="Arial"/>
              </a:rPr>
              <a:t>x</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A</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B</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A</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C</a:t>
            </a:r>
            <a:r>
              <a:rPr b="0" i="0" lang="en-US" sz="2000" u="none" cap="none" strike="noStrike">
                <a:solidFill>
                  <a:schemeClr val="dk1"/>
                </a:solidFill>
                <a:latin typeface="Arial"/>
                <a:ea typeface="Arial"/>
                <a:cs typeface="Arial"/>
                <a:sym typeface="Arial"/>
              </a:rPr>
              <a:t>).</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Therefore, </a:t>
            </a:r>
            <a:r>
              <a:rPr b="0" i="1" lang="en-US" sz="2000" u="none" cap="none" strike="noStrike">
                <a:solidFill>
                  <a:schemeClr val="dk1"/>
                </a:solidFill>
                <a:latin typeface="Arial"/>
                <a:ea typeface="Arial"/>
                <a:cs typeface="Arial"/>
                <a:sym typeface="Arial"/>
              </a:rPr>
              <a:t>A</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B</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C</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A</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B</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A</a:t>
            </a:r>
            <a:r>
              <a:rPr b="0" i="0" lang="en-US" sz="2000" u="none" cap="none" strike="noStrike">
                <a:solidFill>
                  <a:schemeClr val="dk1"/>
                </a:solidFill>
                <a:latin typeface="Arial"/>
                <a:ea typeface="Arial"/>
                <a:cs typeface="Arial"/>
                <a:sym typeface="Arial"/>
              </a:rPr>
              <a:t>∩</a:t>
            </a:r>
            <a:r>
              <a:rPr b="0" i="1" lang="en-US" sz="2000" u="none" cap="none" strike="noStrike">
                <a:solidFill>
                  <a:schemeClr val="dk1"/>
                </a:solidFill>
                <a:latin typeface="Arial"/>
                <a:ea typeface="Arial"/>
                <a:cs typeface="Arial"/>
                <a:sym typeface="Arial"/>
              </a:rPr>
              <a:t>C</a:t>
            </a:r>
            <a:r>
              <a:rPr b="0" i="0" lang="en-US" sz="2000" u="none" cap="none" strike="noStrike">
                <a:solidFill>
                  <a:schemeClr val="dk1"/>
                </a:solidFill>
                <a:latin typeface="Arial"/>
                <a:ea typeface="Arial"/>
                <a:cs typeface="Arial"/>
                <a:sym typeface="Arial"/>
              </a:rPr>
              <a:t>).</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Show (</a:t>
            </a:r>
            <a:r>
              <a:rPr b="0" i="1" lang="en-US" sz="2400" u="none">
                <a:solidFill>
                  <a:schemeClr val="dk1"/>
                </a:solidFill>
                <a:latin typeface="Arial"/>
                <a:ea typeface="Arial"/>
                <a:cs typeface="Arial"/>
                <a:sym typeface="Arial"/>
              </a:rPr>
              <a:t>A</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B</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A</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C</a:t>
            </a:r>
            <a:r>
              <a:rPr b="0" i="0" lang="en-US" sz="2400" u="none">
                <a:solidFill>
                  <a:schemeClr val="dk1"/>
                </a:solidFill>
                <a:latin typeface="Arial"/>
                <a:ea typeface="Arial"/>
                <a:cs typeface="Arial"/>
                <a:sym typeface="Arial"/>
              </a:rPr>
              <a:t>) ⊆ </a:t>
            </a:r>
            <a:r>
              <a:rPr b="0" i="1" lang="en-US" sz="2400" u="none">
                <a:solidFill>
                  <a:schemeClr val="dk1"/>
                </a:solidFill>
                <a:latin typeface="Arial"/>
                <a:ea typeface="Arial"/>
                <a:cs typeface="Arial"/>
                <a:sym typeface="Arial"/>
              </a:rPr>
              <a:t>A</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B</a:t>
            </a:r>
            <a:r>
              <a:rPr b="0" i="0" lang="en-US" sz="2400" u="none">
                <a:solidFill>
                  <a:schemeClr val="dk1"/>
                </a:solidFill>
                <a:latin typeface="Arial"/>
                <a:ea typeface="Arial"/>
                <a:cs typeface="Arial"/>
                <a:sym typeface="Arial"/>
              </a:rPr>
              <a:t>∪</a:t>
            </a:r>
            <a:r>
              <a:rPr b="0" i="1" lang="en-US" sz="2400" u="none">
                <a:solidFill>
                  <a:schemeClr val="dk1"/>
                </a:solidFill>
                <a:latin typeface="Arial"/>
                <a:ea typeface="Arial"/>
                <a:cs typeface="Arial"/>
                <a:sym typeface="Arial"/>
              </a:rPr>
              <a:t>C</a:t>
            </a:r>
            <a:r>
              <a:rPr b="0" i="0" lang="en-US" sz="2400" u="none">
                <a:solidFill>
                  <a:schemeClr val="dk1"/>
                </a:solidFill>
                <a:latin typeface="Arial"/>
                <a:ea typeface="Arial"/>
                <a:cs typeface="Arial"/>
                <a:sym typeface="Arial"/>
              </a:rPr>
              <a:t>). …</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4"/>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67" name="Google Shape;567;p34"/>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68" name="Google Shape;568;p34"/>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Method 2: logical Equivalence </a:t>
            </a:r>
            <a:endParaRPr/>
          </a:p>
        </p:txBody>
      </p:sp>
      <p:sp>
        <p:nvSpPr>
          <p:cNvPr id="569" name="Google Shape;569;p34"/>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Prove that</a:t>
            </a:r>
            <a:endParaRPr/>
          </a:p>
          <a:p>
            <a:pPr indent="-285750" lvl="1" marL="742950" marR="0" rtl="0" algn="l">
              <a:lnSpc>
                <a:spcPct val="10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De Morgan's Law</a:t>
            </a:r>
            <a:endParaRPr/>
          </a:p>
          <a:p>
            <a:pPr indent="-285750" lvl="1" marL="742950" marR="0" rtl="0" algn="l">
              <a:lnSpc>
                <a:spcPct val="10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De Morgan's Law</a:t>
            </a:r>
            <a:endParaRPr/>
          </a:p>
          <a:p>
            <a:pPr indent="-285750" lvl="1" marL="742950" marR="0" rtl="0" algn="l">
              <a:lnSpc>
                <a:spcPct val="10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Commutative Law </a:t>
            </a:r>
            <a:endParaRPr/>
          </a:p>
          <a:p>
            <a:pPr indent="-285750" lvl="1" marL="742950" marR="0" rtl="0" algn="l">
              <a:lnSpc>
                <a:spcPct val="100000"/>
              </a:lnSpc>
              <a:spcBef>
                <a:spcPts val="12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                                              Commutative Law </a:t>
            </a:r>
            <a:endParaRPr/>
          </a:p>
        </p:txBody>
      </p:sp>
      <p:sp>
        <p:nvSpPr>
          <p:cNvPr id="570" name="Google Shape;570;p34"/>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id="571" name="Google Shape;571;p34"/>
          <p:cNvPicPr preferRelativeResize="0"/>
          <p:nvPr/>
        </p:nvPicPr>
        <p:blipFill rotWithShape="1">
          <a:blip r:embed="rId3">
            <a:alphaModFix/>
          </a:blip>
          <a:srcRect b="0" l="0" r="0" t="0"/>
          <a:stretch/>
        </p:blipFill>
        <p:spPr>
          <a:xfrm>
            <a:off x="2743200" y="1600200"/>
            <a:ext cx="2955925" cy="533400"/>
          </a:xfrm>
          <a:prstGeom prst="rect">
            <a:avLst/>
          </a:prstGeom>
          <a:noFill/>
          <a:ln>
            <a:noFill/>
          </a:ln>
        </p:spPr>
      </p:pic>
      <p:pic>
        <p:nvPicPr>
          <p:cNvPr id="572" name="Google Shape;572;p34"/>
          <p:cNvPicPr preferRelativeResize="0"/>
          <p:nvPr/>
        </p:nvPicPr>
        <p:blipFill rotWithShape="1">
          <a:blip r:embed="rId4">
            <a:alphaModFix/>
          </a:blip>
          <a:srcRect b="0" l="0" r="0" t="0"/>
          <a:stretch/>
        </p:blipFill>
        <p:spPr>
          <a:xfrm>
            <a:off x="1600200" y="2209800"/>
            <a:ext cx="3175000" cy="457200"/>
          </a:xfrm>
          <a:prstGeom prst="rect">
            <a:avLst/>
          </a:prstGeom>
          <a:noFill/>
          <a:ln>
            <a:noFill/>
          </a:ln>
        </p:spPr>
      </p:pic>
      <p:pic>
        <p:nvPicPr>
          <p:cNvPr id="573" name="Google Shape;573;p34"/>
          <p:cNvPicPr preferRelativeResize="0"/>
          <p:nvPr/>
        </p:nvPicPr>
        <p:blipFill rotWithShape="1">
          <a:blip r:embed="rId5">
            <a:alphaModFix/>
          </a:blip>
          <a:srcRect b="0" l="0" r="0" t="0"/>
          <a:stretch/>
        </p:blipFill>
        <p:spPr>
          <a:xfrm>
            <a:off x="2819400" y="2743200"/>
            <a:ext cx="1962150" cy="381000"/>
          </a:xfrm>
          <a:prstGeom prst="rect">
            <a:avLst/>
          </a:prstGeom>
          <a:noFill/>
          <a:ln>
            <a:noFill/>
          </a:ln>
        </p:spPr>
      </p:pic>
      <p:pic>
        <p:nvPicPr>
          <p:cNvPr id="574" name="Google Shape;574;p34"/>
          <p:cNvPicPr preferRelativeResize="0"/>
          <p:nvPr/>
        </p:nvPicPr>
        <p:blipFill rotWithShape="1">
          <a:blip r:embed="rId6">
            <a:alphaModFix/>
          </a:blip>
          <a:srcRect b="0" l="0" r="0" t="0"/>
          <a:stretch/>
        </p:blipFill>
        <p:spPr>
          <a:xfrm>
            <a:off x="3048000" y="3276600"/>
            <a:ext cx="1733550" cy="457200"/>
          </a:xfrm>
          <a:prstGeom prst="rect">
            <a:avLst/>
          </a:prstGeom>
          <a:noFill/>
          <a:ln>
            <a:noFill/>
          </a:ln>
        </p:spPr>
      </p:pic>
      <p:pic>
        <p:nvPicPr>
          <p:cNvPr id="575" name="Google Shape;575;p34"/>
          <p:cNvPicPr preferRelativeResize="0"/>
          <p:nvPr/>
        </p:nvPicPr>
        <p:blipFill rotWithShape="1">
          <a:blip r:embed="rId7">
            <a:alphaModFix/>
          </a:blip>
          <a:srcRect b="0" l="0" r="0" t="0"/>
          <a:stretch/>
        </p:blipFill>
        <p:spPr>
          <a:xfrm>
            <a:off x="3048000" y="3733800"/>
            <a:ext cx="1733550" cy="457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5"/>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81" name="Google Shape;581;p35"/>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82" name="Google Shape;582;p35"/>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83" name="Google Shape;583;p35"/>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Method 3: Membership Tables</a:t>
            </a:r>
            <a:endParaRPr/>
          </a:p>
        </p:txBody>
      </p:sp>
      <p:sp>
        <p:nvSpPr>
          <p:cNvPr id="584" name="Google Shape;584;p35"/>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Just like truth tables for propositional logic.</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Columns for different set expressions.</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Rows for all combinations of memberships in constituent sets.</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Use “1” to indicate membership in the derived set, “0” for non-membership.</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Prove equivalence with identical columns.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6"/>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590" name="Google Shape;590;p36"/>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91" name="Google Shape;591;p36"/>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92" name="Google Shape;592;p36"/>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Membership Table Example</a:t>
            </a:r>
            <a:endParaRPr/>
          </a:p>
        </p:txBody>
      </p:sp>
      <p:sp>
        <p:nvSpPr>
          <p:cNvPr id="593" name="Google Shape;593;p36"/>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Arial"/>
                <a:ea typeface="Arial"/>
                <a:cs typeface="Arial"/>
                <a:sym typeface="Arial"/>
              </a:rPr>
              <a:t>Prove (</a:t>
            </a:r>
            <a:r>
              <a:rPr b="0" i="1" lang="en-US" sz="3200" u="none">
                <a:solidFill>
                  <a:schemeClr val="dk1"/>
                </a:solidFill>
                <a:latin typeface="Arial"/>
                <a:ea typeface="Arial"/>
                <a:cs typeface="Arial"/>
                <a:sym typeface="Arial"/>
              </a:rPr>
              <a:t>A</a:t>
            </a:r>
            <a:r>
              <a:rPr b="0" i="0" lang="en-US" sz="3200" u="none">
                <a:solidFill>
                  <a:schemeClr val="dk1"/>
                </a:solidFill>
                <a:latin typeface="Arial"/>
                <a:ea typeface="Arial"/>
                <a:cs typeface="Arial"/>
                <a:sym typeface="Arial"/>
              </a:rPr>
              <a:t>∪</a:t>
            </a:r>
            <a:r>
              <a:rPr b="0" i="1" lang="en-US" sz="3200" u="none">
                <a:solidFill>
                  <a:schemeClr val="dk1"/>
                </a:solidFill>
                <a:latin typeface="Arial"/>
                <a:ea typeface="Arial"/>
                <a:cs typeface="Arial"/>
                <a:sym typeface="Arial"/>
              </a:rPr>
              <a:t>B</a:t>
            </a:r>
            <a:r>
              <a:rPr b="0" i="0" lang="en-US" sz="3200" u="none">
                <a:solidFill>
                  <a:schemeClr val="dk1"/>
                </a:solidFill>
                <a:latin typeface="Arial"/>
                <a:ea typeface="Arial"/>
                <a:cs typeface="Arial"/>
                <a:sym typeface="Arial"/>
              </a:rPr>
              <a:t>)−</a:t>
            </a:r>
            <a:r>
              <a:rPr b="0" i="1" lang="en-US" sz="3200" u="none">
                <a:solidFill>
                  <a:schemeClr val="dk1"/>
                </a:solidFill>
                <a:latin typeface="Arial"/>
                <a:ea typeface="Arial"/>
                <a:cs typeface="Arial"/>
                <a:sym typeface="Arial"/>
              </a:rPr>
              <a:t>B = A</a:t>
            </a:r>
            <a:r>
              <a:rPr b="0" i="0" lang="en-US" sz="3200" u="none">
                <a:solidFill>
                  <a:schemeClr val="dk1"/>
                </a:solidFill>
                <a:latin typeface="Arial"/>
                <a:ea typeface="Arial"/>
                <a:cs typeface="Arial"/>
                <a:sym typeface="Arial"/>
              </a:rPr>
              <a:t>−</a:t>
            </a:r>
            <a:r>
              <a:rPr b="0" i="1" lang="en-US" sz="3200" u="none">
                <a:solidFill>
                  <a:schemeClr val="dk1"/>
                </a:solidFill>
                <a:latin typeface="Arial"/>
                <a:ea typeface="Arial"/>
                <a:cs typeface="Arial"/>
                <a:sym typeface="Arial"/>
              </a:rPr>
              <a:t>B</a:t>
            </a:r>
            <a:r>
              <a:rPr b="0" i="0" lang="en-US" sz="3200" u="none">
                <a:solidFill>
                  <a:schemeClr val="dk1"/>
                </a:solidFill>
                <a:latin typeface="Arial"/>
                <a:ea typeface="Arial"/>
                <a:cs typeface="Arial"/>
                <a:sym typeface="Arial"/>
              </a:rPr>
              <a:t>.</a:t>
            </a:r>
            <a:endParaRPr/>
          </a:p>
        </p:txBody>
      </p:sp>
      <p:graphicFrame>
        <p:nvGraphicFramePr>
          <p:cNvPr id="594" name="Google Shape;594;p36"/>
          <p:cNvGraphicFramePr/>
          <p:nvPr/>
        </p:nvGraphicFramePr>
        <p:xfrm>
          <a:off x="1081087" y="2649537"/>
          <a:ext cx="6850062" cy="3192462"/>
        </p:xfrm>
        <a:graphic>
          <a:graphicData uri="http://schemas.openxmlformats.org/presentationml/2006/ole">
            <mc:AlternateContent>
              <mc:Choice Requires="v">
                <p:oleObj r:id="rId4" imgH="3192462" imgW="6850062" progId="Word.Document.8" spid="_x0000_s1">
                  <p:embed/>
                </p:oleObj>
              </mc:Choice>
              <mc:Fallback>
                <p:oleObj r:id="rId5" imgH="3192462" imgW="6850062" progId="Word.Document.8">
                  <p:embed/>
                  <p:pic>
                    <p:nvPicPr>
                      <p:cNvPr id="594" name="Google Shape;594;p36"/>
                      <p:cNvPicPr preferRelativeResize="0"/>
                      <p:nvPr/>
                    </p:nvPicPr>
                    <p:blipFill rotWithShape="1">
                      <a:blip r:embed="rId6">
                        <a:alphaModFix/>
                      </a:blip>
                      <a:srcRect b="0" l="0" r="0" t="0"/>
                      <a:stretch/>
                    </p:blipFill>
                    <p:spPr>
                      <a:xfrm>
                        <a:off x="1081087" y="2649537"/>
                        <a:ext cx="6850062" cy="3192462"/>
                      </a:xfrm>
                      <a:prstGeom prst="rect">
                        <a:avLst/>
                      </a:prstGeom>
                      <a:noFill/>
                      <a:ln>
                        <a:noFill/>
                      </a:ln>
                    </p:spPr>
                  </p:pic>
                </p:oleObj>
              </mc:Fallback>
            </mc:AlternateContent>
          </a:graphicData>
        </a:graphic>
      </p:graphicFrame>
      <p:sp>
        <p:nvSpPr>
          <p:cNvPr id="595" name="Google Shape;595;p36"/>
          <p:cNvSpPr/>
          <p:nvPr/>
        </p:nvSpPr>
        <p:spPr>
          <a:xfrm>
            <a:off x="4865687" y="3268662"/>
            <a:ext cx="695325" cy="2522537"/>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96" name="Google Shape;596;p36"/>
          <p:cNvSpPr/>
          <p:nvPr/>
        </p:nvSpPr>
        <p:spPr>
          <a:xfrm>
            <a:off x="6819900" y="3292475"/>
            <a:ext cx="695325" cy="2522537"/>
          </a:xfrm>
          <a:prstGeom prst="ellipse">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95"/>
                                        </p:tgtEl>
                                        <p:attrNameLst>
                                          <p:attrName>style.visibility</p:attrName>
                                        </p:attrNameLst>
                                      </p:cBhvr>
                                      <p:to>
                                        <p:strVal val="visible"/>
                                      </p:to>
                                    </p:set>
                                    <p:anim calcmode="lin" valueType="num">
                                      <p:cBhvr additive="base">
                                        <p:cTn dur="500"/>
                                        <p:tgtEl>
                                          <p:spTgt spid="595"/>
                                        </p:tgtEl>
                                        <p:attrNameLst>
                                          <p:attrName>ppt_w</p:attrName>
                                        </p:attrNameLst>
                                      </p:cBhvr>
                                      <p:tavLst>
                                        <p:tav fmla="" tm="0">
                                          <p:val>
                                            <p:strVal val="0"/>
                                          </p:val>
                                        </p:tav>
                                        <p:tav fmla="" tm="100000">
                                          <p:val>
                                            <p:strVal val="#ppt_w"/>
                                          </p:val>
                                        </p:tav>
                                      </p:tavLst>
                                    </p:anim>
                                    <p:anim calcmode="lin" valueType="num">
                                      <p:cBhvr additive="base">
                                        <p:cTn dur="500"/>
                                        <p:tgtEl>
                                          <p:spTgt spid="59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96"/>
                                        </p:tgtEl>
                                        <p:attrNameLst>
                                          <p:attrName>style.visibility</p:attrName>
                                        </p:attrNameLst>
                                      </p:cBhvr>
                                      <p:to>
                                        <p:strVal val="visible"/>
                                      </p:to>
                                    </p:set>
                                    <p:anim calcmode="lin" valueType="num">
                                      <p:cBhvr additive="base">
                                        <p:cTn dur="500"/>
                                        <p:tgtEl>
                                          <p:spTgt spid="596"/>
                                        </p:tgtEl>
                                        <p:attrNameLst>
                                          <p:attrName>ppt_w</p:attrName>
                                        </p:attrNameLst>
                                      </p:cBhvr>
                                      <p:tavLst>
                                        <p:tav fmla="" tm="0">
                                          <p:val>
                                            <p:strVal val="0"/>
                                          </p:val>
                                        </p:tav>
                                        <p:tav fmla="" tm="100000">
                                          <p:val>
                                            <p:strVal val="#ppt_w"/>
                                          </p:val>
                                        </p:tav>
                                      </p:tavLst>
                                    </p:anim>
                                    <p:anim calcmode="lin" valueType="num">
                                      <p:cBhvr additive="base">
                                        <p:cTn dur="500"/>
                                        <p:tgtEl>
                                          <p:spTgt spid="59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37"/>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02" name="Google Shape;602;p37"/>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03" name="Google Shape;603;p37"/>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04" name="Google Shape;604;p37"/>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Generalized Union</a:t>
            </a:r>
            <a:endParaRPr/>
          </a:p>
        </p:txBody>
      </p:sp>
      <p:sp>
        <p:nvSpPr>
          <p:cNvPr id="605" name="Google Shape;605;p37"/>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Binary union operator: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endParaRPr b="0" i="0" sz="2800" u="none">
              <a:solidFill>
                <a:schemeClr val="dk1"/>
              </a:solidFill>
              <a:latin typeface="Arial"/>
              <a:ea typeface="Arial"/>
              <a:cs typeface="Arial"/>
              <a:sym typeface="Arial"/>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-ary union:</a:t>
            </a:r>
            <a:br>
              <a:rPr b="0" i="0" lang="en-US" sz="2800" u="none">
                <a:solidFill>
                  <a:schemeClr val="dk1"/>
                </a:solidFill>
                <a:latin typeface="Arial"/>
                <a:ea typeface="Arial"/>
                <a:cs typeface="Arial"/>
                <a:sym typeface="Arial"/>
              </a:rPr>
            </a:b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baseline="-25000" i="1"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 :≡ ((…((</a:t>
            </a:r>
            <a:r>
              <a:rPr b="0" i="1" lang="en-US" sz="2800" u="none">
                <a:solidFill>
                  <a:schemeClr val="dk1"/>
                </a:solidFill>
                <a:latin typeface="Arial"/>
                <a:ea typeface="Arial"/>
                <a:cs typeface="Arial"/>
                <a:sym typeface="Arial"/>
              </a:rPr>
              <a:t>A</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a:t>
            </a:r>
            <a:r>
              <a:rPr b="0" baseline="-25000" i="0" lang="en-US" sz="2800" u="none">
                <a:solidFill>
                  <a:schemeClr val="dk1"/>
                </a:solidFill>
                <a:latin typeface="Arial"/>
                <a:ea typeface="Arial"/>
                <a:cs typeface="Arial"/>
                <a:sym typeface="Arial"/>
              </a:rPr>
              <a:t> </a:t>
            </a:r>
            <a:r>
              <a:rPr b="0" i="0" lang="en-US" sz="2800" u="none">
                <a:solidFill>
                  <a:schemeClr val="dk1"/>
                </a:solidFill>
                <a:latin typeface="Arial"/>
                <a:ea typeface="Arial"/>
                <a:cs typeface="Arial"/>
                <a:sym typeface="Arial"/>
              </a:rPr>
              <a:t>∪…)∪ </a:t>
            </a:r>
            <a:r>
              <a:rPr b="0" i="1" lang="en-US" sz="2800" u="none">
                <a:solidFill>
                  <a:schemeClr val="dk1"/>
                </a:solidFill>
                <a:latin typeface="Arial"/>
                <a:ea typeface="Arial"/>
                <a:cs typeface="Arial"/>
                <a:sym typeface="Arial"/>
              </a:rPr>
              <a:t>A</a:t>
            </a:r>
            <a:r>
              <a:rPr b="0" baseline="-25000" i="1"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(grouping &amp; order is irrelevant)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“Big U” notation:</a:t>
            </a:r>
            <a:br>
              <a:rPr b="0" i="0" lang="en-US" sz="2800" u="none">
                <a:solidFill>
                  <a:schemeClr val="dk1"/>
                </a:solidFill>
                <a:latin typeface="Arial"/>
                <a:ea typeface="Arial"/>
                <a:cs typeface="Arial"/>
                <a:sym typeface="Arial"/>
              </a:rPr>
            </a:b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Or for infinite sets of sets:</a:t>
            </a:r>
            <a:br>
              <a:rPr b="0" i="0" lang="en-US" sz="2800" u="none">
                <a:solidFill>
                  <a:schemeClr val="dk1"/>
                </a:solidFill>
                <a:latin typeface="Arial"/>
                <a:ea typeface="Arial"/>
                <a:cs typeface="Arial"/>
                <a:sym typeface="Arial"/>
              </a:rPr>
            </a:br>
            <a:endParaRPr/>
          </a:p>
        </p:txBody>
      </p:sp>
      <p:pic>
        <p:nvPicPr>
          <p:cNvPr id="606" name="Google Shape;606;p37"/>
          <p:cNvPicPr preferRelativeResize="0"/>
          <p:nvPr/>
        </p:nvPicPr>
        <p:blipFill rotWithShape="1">
          <a:blip r:embed="rId3">
            <a:alphaModFix/>
          </a:blip>
          <a:srcRect b="0" l="0" r="0" t="0"/>
          <a:stretch/>
        </p:blipFill>
        <p:spPr>
          <a:xfrm>
            <a:off x="3429000" y="3429000"/>
            <a:ext cx="1066800" cy="838200"/>
          </a:xfrm>
          <a:prstGeom prst="rect">
            <a:avLst/>
          </a:prstGeom>
          <a:noFill/>
          <a:ln>
            <a:noFill/>
          </a:ln>
        </p:spPr>
      </p:pic>
      <p:pic>
        <p:nvPicPr>
          <p:cNvPr id="607" name="Google Shape;607;p37"/>
          <p:cNvPicPr preferRelativeResize="0"/>
          <p:nvPr/>
        </p:nvPicPr>
        <p:blipFill rotWithShape="1">
          <a:blip r:embed="rId4">
            <a:alphaModFix/>
          </a:blip>
          <a:srcRect b="0" l="0" r="0" t="0"/>
          <a:stretch/>
        </p:blipFill>
        <p:spPr>
          <a:xfrm>
            <a:off x="4953000" y="4267200"/>
            <a:ext cx="1009650" cy="6858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38"/>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13" name="Google Shape;613;p38"/>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14" name="Google Shape;614;p38"/>
          <p:cNvSpPr txBox="1"/>
          <p:nvPr/>
        </p:nvSpPr>
        <p:spPr>
          <a:xfrm>
            <a:off x="7162800" y="6477000"/>
            <a:ext cx="1905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15" name="Google Shape;615;p38"/>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Generalized Intersection</a:t>
            </a:r>
            <a:endParaRPr/>
          </a:p>
        </p:txBody>
      </p:sp>
      <p:sp>
        <p:nvSpPr>
          <p:cNvPr id="616" name="Google Shape;616;p38"/>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Binary intersection operator: </a:t>
            </a: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B</a:t>
            </a:r>
            <a:endParaRPr b="0" i="0" sz="2800" u="none">
              <a:solidFill>
                <a:schemeClr val="dk1"/>
              </a:solidFill>
              <a:latin typeface="Arial"/>
              <a:ea typeface="Arial"/>
              <a:cs typeface="Arial"/>
              <a:sym typeface="Arial"/>
            </a:endParaRPr>
          </a:p>
          <a:p>
            <a:pPr indent="-342900" lvl="0" marL="342900" marR="0" rtl="0" algn="l">
              <a:lnSpc>
                <a:spcPct val="100000"/>
              </a:lnSpc>
              <a:spcBef>
                <a:spcPts val="560"/>
              </a:spcBef>
              <a:spcAft>
                <a:spcPts val="0"/>
              </a:spcAft>
              <a:buClr>
                <a:schemeClr val="dk1"/>
              </a:buClr>
              <a:buSzPts val="2800"/>
              <a:buFont typeface="Arial"/>
              <a:buChar char="•"/>
            </a:pPr>
            <a:r>
              <a:rPr b="0" i="1"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-ary intersection:</a:t>
            </a:r>
            <a:br>
              <a:rPr b="0" i="0" lang="en-US" sz="2800" u="none">
                <a:solidFill>
                  <a:schemeClr val="dk1"/>
                </a:solidFill>
                <a:latin typeface="Arial"/>
                <a:ea typeface="Arial"/>
                <a:cs typeface="Arial"/>
                <a:sym typeface="Arial"/>
              </a:rPr>
            </a:br>
            <a:r>
              <a:rPr b="0" i="1" lang="en-US" sz="2800" u="none">
                <a:solidFill>
                  <a:schemeClr val="dk1"/>
                </a:solidFill>
                <a:latin typeface="Arial"/>
                <a:ea typeface="Arial"/>
                <a:cs typeface="Arial"/>
                <a:sym typeface="Arial"/>
              </a:rPr>
              <a:t>A</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baseline="-25000" i="1"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baseline="-25000" i="0" lang="en-US" sz="2800" u="none">
                <a:solidFill>
                  <a:schemeClr val="dk1"/>
                </a:solidFill>
                <a:latin typeface="Arial"/>
                <a:ea typeface="Arial"/>
                <a:cs typeface="Arial"/>
                <a:sym typeface="Arial"/>
              </a:rPr>
              <a:t>1</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baseline="-25000" i="0" lang="en-US" sz="2800" u="none">
                <a:solidFill>
                  <a:schemeClr val="dk1"/>
                </a:solidFill>
                <a:latin typeface="Arial"/>
                <a:ea typeface="Arial"/>
                <a:cs typeface="Arial"/>
                <a:sym typeface="Arial"/>
              </a:rPr>
              <a:t>2</a:t>
            </a:r>
            <a:r>
              <a:rPr b="0" i="0" lang="en-US" sz="2800" u="none">
                <a:solidFill>
                  <a:schemeClr val="dk1"/>
                </a:solidFill>
                <a:latin typeface="Arial"/>
                <a:ea typeface="Arial"/>
                <a:cs typeface="Arial"/>
                <a:sym typeface="Arial"/>
              </a:rPr>
              <a:t>)∩…)∩</a:t>
            </a:r>
            <a:r>
              <a:rPr b="0" i="1" lang="en-US" sz="2800" u="none">
                <a:solidFill>
                  <a:schemeClr val="dk1"/>
                </a:solidFill>
                <a:latin typeface="Arial"/>
                <a:ea typeface="Arial"/>
                <a:cs typeface="Arial"/>
                <a:sym typeface="Arial"/>
              </a:rPr>
              <a:t>A</a:t>
            </a:r>
            <a:r>
              <a:rPr b="0" baseline="-25000" i="1" lang="en-US" sz="2800" u="none">
                <a:solidFill>
                  <a:schemeClr val="dk1"/>
                </a:solidFill>
                <a:latin typeface="Arial"/>
                <a:ea typeface="Arial"/>
                <a:cs typeface="Arial"/>
                <a:sym typeface="Arial"/>
              </a:rPr>
              <a:t>n</a:t>
            </a:r>
            <a:r>
              <a:rPr b="0" i="0" lang="en-US" sz="2800" u="none">
                <a:solidFill>
                  <a:schemeClr val="dk1"/>
                </a:solidFill>
                <a:latin typeface="Arial"/>
                <a:ea typeface="Arial"/>
                <a:cs typeface="Arial"/>
                <a:sym typeface="Arial"/>
              </a:rPr>
              <a:t>)</a:t>
            </a:r>
            <a:br>
              <a:rPr b="0" i="0" lang="en-US" sz="2800" u="none">
                <a:solidFill>
                  <a:schemeClr val="dk1"/>
                </a:solidFill>
                <a:latin typeface="Arial"/>
                <a:ea typeface="Arial"/>
                <a:cs typeface="Arial"/>
                <a:sym typeface="Arial"/>
              </a:rPr>
            </a:br>
            <a:r>
              <a:rPr b="0" i="0" lang="en-US" sz="2800" u="none">
                <a:solidFill>
                  <a:schemeClr val="dk1"/>
                </a:solidFill>
                <a:latin typeface="Arial"/>
                <a:ea typeface="Arial"/>
                <a:cs typeface="Arial"/>
                <a:sym typeface="Arial"/>
              </a:rPr>
              <a:t>(grouping &amp; order is irrelevant)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“Big Arch” notation:</a:t>
            </a:r>
            <a:br>
              <a:rPr b="0" i="0" lang="en-US" sz="2800" u="none">
                <a:solidFill>
                  <a:schemeClr val="dk1"/>
                </a:solidFill>
                <a:latin typeface="Arial"/>
                <a:ea typeface="Arial"/>
                <a:cs typeface="Arial"/>
                <a:sym typeface="Arial"/>
              </a:rPr>
            </a:b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Or for infinite sets of sets:</a:t>
            </a:r>
            <a:br>
              <a:rPr b="0" i="0" lang="en-US" sz="2800" u="none">
                <a:solidFill>
                  <a:schemeClr val="dk1"/>
                </a:solidFill>
                <a:latin typeface="Arial"/>
                <a:ea typeface="Arial"/>
                <a:cs typeface="Arial"/>
                <a:sym typeface="Arial"/>
              </a:rPr>
            </a:br>
            <a:endParaRPr/>
          </a:p>
        </p:txBody>
      </p:sp>
      <p:pic>
        <p:nvPicPr>
          <p:cNvPr id="617" name="Google Shape;617;p38"/>
          <p:cNvPicPr preferRelativeResize="0"/>
          <p:nvPr/>
        </p:nvPicPr>
        <p:blipFill rotWithShape="1">
          <a:blip r:embed="rId3">
            <a:alphaModFix/>
          </a:blip>
          <a:srcRect b="0" l="0" r="0" t="0"/>
          <a:stretch/>
        </p:blipFill>
        <p:spPr>
          <a:xfrm>
            <a:off x="3962400" y="3429000"/>
            <a:ext cx="1219200" cy="838200"/>
          </a:xfrm>
          <a:prstGeom prst="rect">
            <a:avLst/>
          </a:prstGeom>
          <a:noFill/>
          <a:ln>
            <a:noFill/>
          </a:ln>
        </p:spPr>
      </p:pic>
      <p:pic>
        <p:nvPicPr>
          <p:cNvPr id="618" name="Google Shape;618;p38"/>
          <p:cNvPicPr preferRelativeResize="0"/>
          <p:nvPr/>
        </p:nvPicPr>
        <p:blipFill rotWithShape="1">
          <a:blip r:embed="rId4">
            <a:alphaModFix/>
          </a:blip>
          <a:srcRect b="0" l="0" r="0" t="0"/>
          <a:stretch/>
        </p:blipFill>
        <p:spPr>
          <a:xfrm>
            <a:off x="4953000" y="4343400"/>
            <a:ext cx="1143000" cy="838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9"/>
          <p:cNvSpPr txBox="1"/>
          <p:nvPr/>
        </p:nvSpPr>
        <p:spPr>
          <a:xfrm>
            <a:off x="457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24" name="Google Shape;624;p39"/>
          <p:cNvSpPr txBox="1"/>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25" name="Google Shape;625;p39"/>
          <p:cNvSpPr txBox="1"/>
          <p:nvPr>
            <p:ph idx="4294967295"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Thank You</a:t>
            </a:r>
            <a:endParaRPr/>
          </a:p>
        </p:txBody>
      </p:sp>
      <p:sp>
        <p:nvSpPr>
          <p:cNvPr id="626" name="Google Shape;626;p39"/>
          <p:cNvSpPr txBox="1"/>
          <p:nvPr>
            <p:ph idx="4294967295"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Study all the solved problem from your text book.</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Try to solve related problems from exercise.</a:t>
            </a:r>
            <a:endParaRPr/>
          </a:p>
        </p:txBody>
      </p:sp>
      <p:sp>
        <p:nvSpPr>
          <p:cNvPr id="627" name="Google Shape;627;p39"/>
          <p:cNvSpPr txBox="1"/>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lt1"/>
              </a:buClr>
              <a:buSzPts val="1400"/>
              <a:buFont typeface="Times New Roman"/>
              <a:buNone/>
            </a:pPr>
            <a:fld id="{00000000-1234-1234-1234-123412341234}" type="slidenum">
              <a:rPr b="0" i="0" lang="en-US" sz="1400" u="none" cap="none" strike="noStrike">
                <a:solidFill>
                  <a:schemeClr val="lt1"/>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2001-01-08T01:48:20Z</dcterms:created>
  <dc:creator>Michael P. Frank</dc:creator>
</cp:coreProperties>
</file>