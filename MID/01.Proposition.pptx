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Lst>
  <p:notesMasterIdLst>
    <p:notesMasterId r:id="rId3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89"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Lst>
  <p:sldSz cx="9144000" cy="6858000" type="screen4x3"/>
  <p:notesSz cx="68580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iIzCjWm4AxG7VXJZygY0W0A67hP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97577B6-D47A-466E-84E6-29D3DF76FDB9}">
  <a:tblStyle styleId="{397577B6-D47A-466E-84E6-29D3DF76FDB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1474"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6513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65137"/>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416425"/>
            <a:ext cx="5486400" cy="4183062"/>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829675"/>
            <a:ext cx="2971800" cy="46513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829675"/>
            <a:ext cx="2971800" cy="46513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1:notes"/>
          <p:cNvSpPr>
            <a:spLocks noGrp="1" noRot="1" noChangeAspect="1"/>
          </p:cNvSpPr>
          <p:nvPr>
            <p:ph type="sldImg" idx="2"/>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2: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2:notes"/>
          <p:cNvSpPr>
            <a:spLocks noGrp="1" noRot="1" noChangeAspect="1"/>
          </p:cNvSpPr>
          <p:nvPr>
            <p:ph type="sldImg" idx="2"/>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3:notes"/>
          <p:cNvSpPr>
            <a:spLocks noGrp="1" noRot="1" noChangeAspect="1"/>
          </p:cNvSpPr>
          <p:nvPr>
            <p:ph type="sldImg" idx="2"/>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4: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4:notes"/>
          <p:cNvSpPr>
            <a:spLocks noGrp="1" noRot="1" noChangeAspect="1"/>
          </p:cNvSpPr>
          <p:nvPr>
            <p:ph type="sldImg" idx="2"/>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5:notes"/>
          <p:cNvSpPr>
            <a:spLocks noGrp="1" noRot="1" noChangeAspect="1"/>
          </p:cNvSpPr>
          <p:nvPr>
            <p:ph type="sldImg" idx="2"/>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6: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6:notes"/>
          <p:cNvSpPr>
            <a:spLocks noGrp="1" noRot="1" noChangeAspect="1"/>
          </p:cNvSpPr>
          <p:nvPr>
            <p:ph type="sldImg" idx="2"/>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7: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7:notes"/>
          <p:cNvSpPr>
            <a:spLocks noGrp="1" noRot="1" noChangeAspect="1"/>
          </p:cNvSpPr>
          <p:nvPr>
            <p:ph type="sldImg" idx="2"/>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8: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8:notes"/>
          <p:cNvSpPr>
            <a:spLocks noGrp="1" noRot="1" noChangeAspect="1"/>
          </p:cNvSpPr>
          <p:nvPr>
            <p:ph type="sldImg" idx="2"/>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9: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9:notes"/>
          <p:cNvSpPr>
            <a:spLocks noGrp="1" noRot="1" noChangeAspect="1"/>
          </p:cNvSpPr>
          <p:nvPr>
            <p:ph type="sldImg" idx="2"/>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0: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0:notes"/>
          <p:cNvSpPr>
            <a:spLocks noGrp="1" noRot="1" noChangeAspect="1"/>
          </p:cNvSpPr>
          <p:nvPr>
            <p:ph type="sldImg" idx="2"/>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1: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1:notes"/>
          <p:cNvSpPr>
            <a:spLocks noGrp="1" noRot="1" noChangeAspect="1"/>
          </p:cNvSpPr>
          <p:nvPr>
            <p:ph type="sldImg" idx="2"/>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0fa1579d88_0_2:notes"/>
          <p:cNvSpPr txBox="1">
            <a:spLocks noGrp="1"/>
          </p:cNvSpPr>
          <p:nvPr>
            <p:ph type="body" idx="1"/>
          </p:nvPr>
        </p:nvSpPr>
        <p:spPr>
          <a:xfrm>
            <a:off x="685800" y="4416425"/>
            <a:ext cx="5486400" cy="4183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g10fa1579d88_0_2:notes"/>
          <p:cNvSpPr>
            <a:spLocks noGrp="1" noRot="1" noChangeAspect="1"/>
          </p:cNvSpPr>
          <p:nvPr>
            <p:ph type="sldImg" idx="2"/>
          </p:nvPr>
        </p:nvSpPr>
        <p:spPr>
          <a:xfrm>
            <a:off x="1104900" y="696912"/>
            <a:ext cx="4648200" cy="348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a:extLst>
            <a:ext uri="{FF2B5EF4-FFF2-40B4-BE49-F238E27FC236}">
              <a16:creationId xmlns:a16="http://schemas.microsoft.com/office/drawing/2014/main" id="{9EA89788-A868-8EA2-7074-35D7BD611FF3}"/>
            </a:ext>
          </a:extLst>
        </p:cNvPr>
        <p:cNvGrpSpPr/>
        <p:nvPr/>
      </p:nvGrpSpPr>
      <p:grpSpPr>
        <a:xfrm>
          <a:off x="0" y="0"/>
          <a:ext cx="0" cy="0"/>
          <a:chOff x="0" y="0"/>
          <a:chExt cx="0" cy="0"/>
        </a:xfrm>
      </p:grpSpPr>
      <p:sp>
        <p:nvSpPr>
          <p:cNvPr id="236" name="Google Shape;236;g10fa1579d88_0_2:notes">
            <a:extLst>
              <a:ext uri="{FF2B5EF4-FFF2-40B4-BE49-F238E27FC236}">
                <a16:creationId xmlns:a16="http://schemas.microsoft.com/office/drawing/2014/main" id="{03EEAF19-61CD-7F4A-DDCF-6DFFF6C7219B}"/>
              </a:ext>
            </a:extLst>
          </p:cNvPr>
          <p:cNvSpPr txBox="1">
            <a:spLocks noGrp="1"/>
          </p:cNvSpPr>
          <p:nvPr>
            <p:ph type="body" idx="1"/>
          </p:nvPr>
        </p:nvSpPr>
        <p:spPr>
          <a:xfrm>
            <a:off x="685800" y="4416425"/>
            <a:ext cx="5486400" cy="4183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g10fa1579d88_0_2:notes">
            <a:extLst>
              <a:ext uri="{FF2B5EF4-FFF2-40B4-BE49-F238E27FC236}">
                <a16:creationId xmlns:a16="http://schemas.microsoft.com/office/drawing/2014/main" id="{B0E918E7-1AA7-67DA-51D5-3254EB0A3ADB}"/>
              </a:ext>
            </a:extLst>
          </p:cNvPr>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6038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2: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1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0fa1579d88_0_12:notes"/>
          <p:cNvSpPr txBox="1">
            <a:spLocks noGrp="1"/>
          </p:cNvSpPr>
          <p:nvPr>
            <p:ph type="body" idx="1"/>
          </p:nvPr>
        </p:nvSpPr>
        <p:spPr>
          <a:xfrm>
            <a:off x="685800" y="4416425"/>
            <a:ext cx="5486400" cy="4183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g10fa1579d88_0_1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3: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4: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5: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1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6: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1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7: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17:notes"/>
          <p:cNvSpPr>
            <a:spLocks noGrp="1" noRot="1" noChangeAspect="1"/>
          </p:cNvSpPr>
          <p:nvPr>
            <p:ph type="sldImg" idx="2"/>
          </p:nvPr>
        </p:nvSpPr>
        <p:spPr>
          <a:xfrm>
            <a:off x="1104900" y="696912"/>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8: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1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19: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1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0: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1: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2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2: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2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3: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2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4: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2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5: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2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6: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2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27: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2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28: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p2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9: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2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3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31:notes"/>
          <p:cNvSpPr txBox="1">
            <a:spLocks noGrp="1"/>
          </p:cNvSpPr>
          <p:nvPr>
            <p:ph type="body" idx="1"/>
          </p:nvPr>
        </p:nvSpPr>
        <p:spPr>
          <a:xfrm>
            <a:off x="685800" y="4416425"/>
            <a:ext cx="5486400" cy="418306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3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33"/>
          <p:cNvSpPr txBox="1">
            <a:spLocks noGrp="1"/>
          </p:cNvSpPr>
          <p:nvPr>
            <p:ph type="ctrTitle"/>
          </p:nvPr>
        </p:nvSpPr>
        <p:spPr>
          <a:xfrm>
            <a:off x="685800" y="1219200"/>
            <a:ext cx="7772400" cy="193357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sz="4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3"/>
          <p:cNvSpPr txBox="1">
            <a:spLocks noGrp="1"/>
          </p:cNvSpPr>
          <p:nvPr>
            <p:ph type="subTitle" idx="1"/>
          </p:nvPr>
        </p:nvSpPr>
        <p:spPr>
          <a:xfrm>
            <a:off x="2057400" y="3505200"/>
            <a:ext cx="6400800" cy="1752600"/>
          </a:xfrm>
          <a:prstGeom prst="rect">
            <a:avLst/>
          </a:prstGeom>
          <a:noFill/>
          <a:ln>
            <a:noFill/>
          </a:ln>
        </p:spPr>
        <p:txBody>
          <a:bodyPr spcFirstLastPara="1" wrap="square" lIns="91425" tIns="45700" rIns="91425" bIns="45700" anchor="t" anchorCtr="0">
            <a:noAutofit/>
          </a:bodyPr>
          <a:lstStyle>
            <a:lvl1pPr lvl="0" algn="r">
              <a:spcBef>
                <a:spcPts val="640"/>
              </a:spcBef>
              <a:spcAft>
                <a:spcPts val="0"/>
              </a:spcAft>
              <a:buSzPts val="3200"/>
              <a:buFont typeface="Noto Sans Symbols"/>
              <a:buNone/>
              <a:defRPr/>
            </a:lvl1pPr>
            <a:lvl2pPr lvl="1" algn="l">
              <a:spcBef>
                <a:spcPts val="360"/>
              </a:spcBef>
              <a:spcAft>
                <a:spcPts val="0"/>
              </a:spcAft>
              <a:buSzPts val="1800"/>
              <a:buChar char="⚪"/>
              <a:defRPr/>
            </a:lvl2pPr>
            <a:lvl3pPr lvl="2" algn="l">
              <a:spcBef>
                <a:spcPts val="360"/>
              </a:spcBef>
              <a:spcAft>
                <a:spcPts val="0"/>
              </a:spcAft>
              <a:buSzPts val="1800"/>
              <a:buChar char="●"/>
              <a:defRPr/>
            </a:lvl3pPr>
            <a:lvl4pPr lvl="3" algn="l">
              <a:spcBef>
                <a:spcPts val="360"/>
              </a:spcBef>
              <a:spcAft>
                <a:spcPts val="0"/>
              </a:spcAft>
              <a:buSzPts val="1800"/>
              <a:buChar char="•"/>
              <a:defRPr/>
            </a:lvl4pPr>
            <a:lvl5pPr lvl="4" algn="l">
              <a:spcBef>
                <a:spcPts val="360"/>
              </a:spcBef>
              <a:spcAft>
                <a:spcPts val="0"/>
              </a:spcAft>
              <a:buSzPts val="1800"/>
              <a:buChar char="•"/>
              <a:defRPr/>
            </a:lvl5pPr>
            <a:lvl6pPr lvl="5" algn="l">
              <a:spcBef>
                <a:spcPts val="360"/>
              </a:spcBef>
              <a:spcAft>
                <a:spcPts val="0"/>
              </a:spcAft>
              <a:buSzPts val="1800"/>
              <a:buChar char="•"/>
              <a:defRPr/>
            </a:lvl6pPr>
            <a:lvl7pPr lvl="6" algn="l">
              <a:spcBef>
                <a:spcPts val="360"/>
              </a:spcBef>
              <a:spcAft>
                <a:spcPts val="0"/>
              </a:spcAft>
              <a:buSzPts val="1800"/>
              <a:buChar char="•"/>
              <a:defRPr/>
            </a:lvl7pPr>
            <a:lvl8pPr lvl="7" algn="l">
              <a:spcBef>
                <a:spcPts val="360"/>
              </a:spcBef>
              <a:spcAft>
                <a:spcPts val="0"/>
              </a:spcAft>
              <a:buSzPts val="1800"/>
              <a:buChar char="•"/>
              <a:defRPr/>
            </a:lvl8pPr>
            <a:lvl9pPr lvl="8" algn="l">
              <a:spcBef>
                <a:spcPts val="360"/>
              </a:spcBef>
              <a:spcAft>
                <a:spcPts val="0"/>
              </a:spcAft>
              <a:buSzPts val="1800"/>
              <a:buChar char="•"/>
              <a:defRPr/>
            </a:lvl9pPr>
          </a:lstStyle>
          <a:p>
            <a:endParaRPr/>
          </a:p>
        </p:txBody>
      </p:sp>
      <p:sp>
        <p:nvSpPr>
          <p:cNvPr id="25" name="Google Shape;25;p33"/>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3"/>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0"/>
        <p:cNvGrpSpPr/>
        <p:nvPr/>
      </p:nvGrpSpPr>
      <p:grpSpPr>
        <a:xfrm>
          <a:off x="0" y="0"/>
          <a:ext cx="0" cy="0"/>
          <a:chOff x="0" y="0"/>
          <a:chExt cx="0" cy="0"/>
        </a:xfrm>
      </p:grpSpPr>
      <p:sp>
        <p:nvSpPr>
          <p:cNvPr id="41" name="Google Shape;41;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5"/>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3" name="Google Shape;43;p35"/>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5"/>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46"/>
        <p:cNvGrpSpPr/>
        <p:nvPr/>
      </p:nvGrpSpPr>
      <p:grpSpPr>
        <a:xfrm>
          <a:off x="0" y="0"/>
          <a:ext cx="0" cy="0"/>
          <a:chOff x="0" y="0"/>
          <a:chExt cx="0" cy="0"/>
        </a:xfrm>
      </p:grpSpPr>
      <p:sp>
        <p:nvSpPr>
          <p:cNvPr id="47" name="Google Shape;47;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6"/>
          <p:cNvSpPr txBox="1">
            <a:spLocks noGrp="1"/>
          </p:cNvSpPr>
          <p:nvPr>
            <p:ph type="body" idx="1"/>
          </p:nvPr>
        </p:nvSpPr>
        <p:spPr>
          <a:xfrm>
            <a:off x="457200" y="1600200"/>
            <a:ext cx="4038600" cy="4530725"/>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9" name="Google Shape;49;p36"/>
          <p:cNvSpPr txBox="1">
            <a:spLocks noGrp="1"/>
          </p:cNvSpPr>
          <p:nvPr>
            <p:ph type="body" idx="2"/>
          </p:nvPr>
        </p:nvSpPr>
        <p:spPr>
          <a:xfrm>
            <a:off x="4648200" y="1600200"/>
            <a:ext cx="4038600" cy="4530725"/>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0" name="Google Shape;50;p36"/>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6"/>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4 Content" type="fourObj">
  <p:cSld name="FOUR_OBJECTS">
    <p:spTree>
      <p:nvGrpSpPr>
        <p:cNvPr id="1" name="Shape 53"/>
        <p:cNvGrpSpPr/>
        <p:nvPr/>
      </p:nvGrpSpPr>
      <p:grpSpPr>
        <a:xfrm>
          <a:off x="0" y="0"/>
          <a:ext cx="0" cy="0"/>
          <a:chOff x="0" y="0"/>
          <a:chExt cx="0" cy="0"/>
        </a:xfrm>
      </p:grpSpPr>
      <p:sp>
        <p:nvSpPr>
          <p:cNvPr id="54" name="Google Shape;54;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37"/>
          <p:cNvSpPr txBox="1">
            <a:spLocks noGrp="1"/>
          </p:cNvSpPr>
          <p:nvPr>
            <p:ph type="body" idx="1"/>
          </p:nvPr>
        </p:nvSpPr>
        <p:spPr>
          <a:xfrm>
            <a:off x="457200" y="1600200"/>
            <a:ext cx="4038600" cy="21891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6" name="Google Shape;56;p37"/>
          <p:cNvSpPr txBox="1">
            <a:spLocks noGrp="1"/>
          </p:cNvSpPr>
          <p:nvPr>
            <p:ph type="body" idx="2"/>
          </p:nvPr>
        </p:nvSpPr>
        <p:spPr>
          <a:xfrm>
            <a:off x="4648200" y="1600200"/>
            <a:ext cx="4038600" cy="21891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7" name="Google Shape;57;p37"/>
          <p:cNvSpPr txBox="1">
            <a:spLocks noGrp="1"/>
          </p:cNvSpPr>
          <p:nvPr>
            <p:ph type="body" idx="3"/>
          </p:nvPr>
        </p:nvSpPr>
        <p:spPr>
          <a:xfrm>
            <a:off x="457200" y="3941763"/>
            <a:ext cx="4038600" cy="21891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8" name="Google Shape;58;p37"/>
          <p:cNvSpPr txBox="1">
            <a:spLocks noGrp="1"/>
          </p:cNvSpPr>
          <p:nvPr>
            <p:ph type="body" idx="4"/>
          </p:nvPr>
        </p:nvSpPr>
        <p:spPr>
          <a:xfrm>
            <a:off x="4648200" y="3941763"/>
            <a:ext cx="4038600" cy="21891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9" name="Google Shape;59;p37"/>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7"/>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38"/>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8"/>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66"/>
        <p:cNvGrpSpPr/>
        <p:nvPr/>
      </p:nvGrpSpPr>
      <p:grpSpPr>
        <a:xfrm>
          <a:off x="0" y="0"/>
          <a:ext cx="0" cy="0"/>
          <a:chOff x="0" y="0"/>
          <a:chExt cx="0" cy="0"/>
        </a:xfrm>
      </p:grpSpPr>
      <p:sp>
        <p:nvSpPr>
          <p:cNvPr id="67" name="Google Shape;67;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39"/>
          <p:cNvSpPr txBox="1">
            <a:spLocks noGrp="1"/>
          </p:cNvSpPr>
          <p:nvPr>
            <p:ph type="body" idx="1"/>
          </p:nvPr>
        </p:nvSpPr>
        <p:spPr>
          <a:xfrm>
            <a:off x="457200" y="1600200"/>
            <a:ext cx="4038600" cy="4530725"/>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9" name="Google Shape;69;p39"/>
          <p:cNvSpPr txBox="1">
            <a:spLocks noGrp="1"/>
          </p:cNvSpPr>
          <p:nvPr>
            <p:ph type="body" idx="2"/>
          </p:nvPr>
        </p:nvSpPr>
        <p:spPr>
          <a:xfrm>
            <a:off x="4648200" y="1600200"/>
            <a:ext cx="4038600" cy="21891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0" name="Google Shape;70;p39"/>
          <p:cNvSpPr txBox="1">
            <a:spLocks noGrp="1"/>
          </p:cNvSpPr>
          <p:nvPr>
            <p:ph type="body" idx="3"/>
          </p:nvPr>
        </p:nvSpPr>
        <p:spPr>
          <a:xfrm>
            <a:off x="4648200" y="3941763"/>
            <a:ext cx="4038600" cy="21891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1" name="Google Shape;71;p39"/>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9"/>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0"/>
          <p:cNvSpPr txBox="1">
            <a:spLocks noGrp="1"/>
          </p:cNvSpPr>
          <p:nvPr>
            <p:ph type="title"/>
          </p:nvPr>
        </p:nvSpPr>
        <p:spPr>
          <a:xfrm rot="5400000">
            <a:off x="4729957" y="2174082"/>
            <a:ext cx="5856287" cy="2057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0"/>
          <p:cNvSpPr txBox="1">
            <a:spLocks noGrp="1"/>
          </p:cNvSpPr>
          <p:nvPr>
            <p:ph type="body" idx="1"/>
          </p:nvPr>
        </p:nvSpPr>
        <p:spPr>
          <a:xfrm rot="5400000">
            <a:off x="538956" y="192881"/>
            <a:ext cx="5856287"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7" name="Google Shape;77;p40"/>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0"/>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0"/>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0"/>
        <p:cNvGrpSpPr/>
        <p:nvPr/>
      </p:nvGrpSpPr>
      <p:grpSpPr>
        <a:xfrm>
          <a:off x="0" y="0"/>
          <a:ext cx="0" cy="0"/>
          <a:chOff x="0" y="0"/>
          <a:chExt cx="0" cy="0"/>
        </a:xfrm>
      </p:grpSpPr>
      <p:sp>
        <p:nvSpPr>
          <p:cNvPr id="81" name="Google Shape;81;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1"/>
          <p:cNvSpPr txBox="1">
            <a:spLocks noGrp="1"/>
          </p:cNvSpPr>
          <p:nvPr>
            <p:ph type="body" idx="1"/>
          </p:nvPr>
        </p:nvSpPr>
        <p:spPr>
          <a:xfrm rot="5400000">
            <a:off x="2306638" y="-249237"/>
            <a:ext cx="4530725"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3" name="Google Shape;83;p41"/>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4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1"/>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6"/>
        <p:cNvGrpSpPr/>
        <p:nvPr/>
      </p:nvGrpSpPr>
      <p:grpSpPr>
        <a:xfrm>
          <a:off x="0" y="0"/>
          <a:ext cx="0" cy="0"/>
          <a:chOff x="0" y="0"/>
          <a:chExt cx="0" cy="0"/>
        </a:xfrm>
      </p:grpSpPr>
      <p:sp>
        <p:nvSpPr>
          <p:cNvPr id="87" name="Google Shape;87;p4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42"/>
          <p:cNvSpPr>
            <a:spLocks noGrp="1"/>
          </p:cNvSpPr>
          <p:nvPr>
            <p:ph type="pic" idx="2"/>
          </p:nvPr>
        </p:nvSpPr>
        <p:spPr>
          <a:xfrm>
            <a:off x="1792288" y="612775"/>
            <a:ext cx="5486400" cy="4114800"/>
          </a:xfrm>
          <a:prstGeom prst="rect">
            <a:avLst/>
          </a:prstGeom>
          <a:noFill/>
          <a:ln>
            <a:noFill/>
          </a:ln>
        </p:spPr>
      </p:sp>
      <p:sp>
        <p:nvSpPr>
          <p:cNvPr id="89" name="Google Shape;89;p4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Font typeface="Arial"/>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90" name="Google Shape;90;p42"/>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4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2"/>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3"/>
        <p:cNvGrpSpPr/>
        <p:nvPr/>
      </p:nvGrpSpPr>
      <p:grpSpPr>
        <a:xfrm>
          <a:off x="0" y="0"/>
          <a:ext cx="0" cy="0"/>
          <a:chOff x="0" y="0"/>
          <a:chExt cx="0" cy="0"/>
        </a:xfrm>
      </p:grpSpPr>
      <p:sp>
        <p:nvSpPr>
          <p:cNvPr id="94" name="Google Shape;94;p4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SzPts val="3200"/>
              <a:buChar char="●"/>
              <a:defRPr sz="3200"/>
            </a:lvl1pPr>
            <a:lvl2pPr marL="914400" lvl="1" indent="-406400" algn="l">
              <a:spcBef>
                <a:spcPts val="560"/>
              </a:spcBef>
              <a:spcAft>
                <a:spcPts val="0"/>
              </a:spcAft>
              <a:buSzPts val="2800"/>
              <a:buChar char="⚪"/>
              <a:defRPr sz="2800"/>
            </a:lvl2pPr>
            <a:lvl3pPr marL="1371600" lvl="2" indent="-381000" algn="l">
              <a:spcBef>
                <a:spcPts val="480"/>
              </a:spcBef>
              <a:spcAft>
                <a:spcPts val="0"/>
              </a:spcAft>
              <a:buSzPts val="2400"/>
              <a:buChar char="●"/>
              <a:defRPr sz="2400"/>
            </a:lvl3pPr>
            <a:lvl4pPr marL="1828800" lvl="3" indent="-355600" algn="l">
              <a:spcBef>
                <a:spcPts val="400"/>
              </a:spcBef>
              <a:spcAft>
                <a:spcPts val="0"/>
              </a:spcAft>
              <a:buSzPts val="2000"/>
              <a:buFont typeface="Arial"/>
              <a:buChar char="•"/>
              <a:defRPr sz="2000"/>
            </a:lvl4pPr>
            <a:lvl5pPr marL="2286000" lvl="4" indent="-355600" algn="l">
              <a:spcBef>
                <a:spcPts val="400"/>
              </a:spcBef>
              <a:spcAft>
                <a:spcPts val="0"/>
              </a:spcAft>
              <a:buSzPts val="2000"/>
              <a:buChar char="•"/>
              <a:defRPr sz="2000"/>
            </a:lvl5pPr>
            <a:lvl6pPr marL="2743200" lvl="5" indent="-355600" algn="l">
              <a:spcBef>
                <a:spcPts val="400"/>
              </a:spcBef>
              <a:spcAft>
                <a:spcPts val="0"/>
              </a:spcAft>
              <a:buSzPts val="2000"/>
              <a:buChar char="•"/>
              <a:defRPr sz="2000"/>
            </a:lvl6pPr>
            <a:lvl7pPr marL="3200400" lvl="6" indent="-355600" algn="l">
              <a:spcBef>
                <a:spcPts val="400"/>
              </a:spcBef>
              <a:spcAft>
                <a:spcPts val="0"/>
              </a:spcAft>
              <a:buSzPts val="2000"/>
              <a:buChar char="•"/>
              <a:defRPr sz="2000"/>
            </a:lvl7pPr>
            <a:lvl8pPr marL="3657600" lvl="7" indent="-355600" algn="l">
              <a:spcBef>
                <a:spcPts val="400"/>
              </a:spcBef>
              <a:spcAft>
                <a:spcPts val="0"/>
              </a:spcAft>
              <a:buSzPts val="2000"/>
              <a:buChar char="•"/>
              <a:defRPr sz="2000"/>
            </a:lvl8pPr>
            <a:lvl9pPr marL="4114800" lvl="8" indent="-355600" algn="l">
              <a:spcBef>
                <a:spcPts val="400"/>
              </a:spcBef>
              <a:spcAft>
                <a:spcPts val="0"/>
              </a:spcAft>
              <a:buSzPts val="2000"/>
              <a:buChar char="•"/>
              <a:defRPr sz="2000"/>
            </a:lvl9pPr>
          </a:lstStyle>
          <a:p>
            <a:endParaRPr/>
          </a:p>
        </p:txBody>
      </p:sp>
      <p:sp>
        <p:nvSpPr>
          <p:cNvPr id="96" name="Google Shape;96;p4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Font typeface="Arial"/>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97" name="Google Shape;97;p43"/>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4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43"/>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0"/>
        <p:cNvGrpSpPr/>
        <p:nvPr/>
      </p:nvGrpSpPr>
      <p:grpSpPr>
        <a:xfrm>
          <a:off x="0" y="0"/>
          <a:ext cx="0" cy="0"/>
          <a:chOff x="0" y="0"/>
          <a:chExt cx="0" cy="0"/>
        </a:xfrm>
      </p:grpSpPr>
      <p:sp>
        <p:nvSpPr>
          <p:cNvPr id="101" name="Google Shape;101;p4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44"/>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44"/>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5"/>
        <p:cNvGrpSpPr/>
        <p:nvPr/>
      </p:nvGrpSpPr>
      <p:grpSpPr>
        <a:xfrm>
          <a:off x="0" y="0"/>
          <a:ext cx="0" cy="0"/>
          <a:chOff x="0" y="0"/>
          <a:chExt cx="0" cy="0"/>
        </a:xfrm>
      </p:grpSpPr>
      <p:sp>
        <p:nvSpPr>
          <p:cNvPr id="106" name="Google Shape;106;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4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Font typeface="Arial"/>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108" name="Google Shape;108;p4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Font typeface="Arial"/>
              <a:buChar char="•"/>
              <a:defRPr sz="1600"/>
            </a:lvl4pPr>
            <a:lvl5pPr marL="2286000" lvl="4" indent="-330200" algn="l">
              <a:spcBef>
                <a:spcPts val="320"/>
              </a:spcBef>
              <a:spcAft>
                <a:spcPts val="0"/>
              </a:spcAft>
              <a:buSzPts val="1600"/>
              <a:buChar char="•"/>
              <a:defRPr sz="16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109" name="Google Shape;109;p4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Font typeface="Arial"/>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110" name="Google Shape;110;p4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Font typeface="Arial"/>
              <a:buChar char="•"/>
              <a:defRPr sz="1600"/>
            </a:lvl4pPr>
            <a:lvl5pPr marL="2286000" lvl="4" indent="-330200" algn="l">
              <a:spcBef>
                <a:spcPts val="320"/>
              </a:spcBef>
              <a:spcAft>
                <a:spcPts val="0"/>
              </a:spcAft>
              <a:buSzPts val="1600"/>
              <a:buChar char="•"/>
              <a:defRPr sz="16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111" name="Google Shape;111;p45"/>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4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45"/>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4"/>
        <p:cNvGrpSpPr/>
        <p:nvPr/>
      </p:nvGrpSpPr>
      <p:grpSpPr>
        <a:xfrm>
          <a:off x="0" y="0"/>
          <a:ext cx="0" cy="0"/>
          <a:chOff x="0" y="0"/>
          <a:chExt cx="0" cy="0"/>
        </a:xfrm>
      </p:grpSpPr>
      <p:sp>
        <p:nvSpPr>
          <p:cNvPr id="115" name="Google Shape;115;p4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46"/>
          <p:cNvSpPr txBox="1">
            <a:spLocks noGrp="1"/>
          </p:cNvSpPr>
          <p:nvPr>
            <p:ph type="body" idx="1"/>
          </p:nvPr>
        </p:nvSpPr>
        <p:spPr>
          <a:xfrm>
            <a:off x="457200" y="1600200"/>
            <a:ext cx="4038600" cy="4530725"/>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Font typeface="Arial"/>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117" name="Google Shape;117;p46"/>
          <p:cNvSpPr txBox="1">
            <a:spLocks noGrp="1"/>
          </p:cNvSpPr>
          <p:nvPr>
            <p:ph type="body" idx="2"/>
          </p:nvPr>
        </p:nvSpPr>
        <p:spPr>
          <a:xfrm>
            <a:off x="4648200" y="1600200"/>
            <a:ext cx="4038600" cy="4530725"/>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Font typeface="Arial"/>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118" name="Google Shape;118;p46"/>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4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46"/>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1"/>
        <p:cNvGrpSpPr/>
        <p:nvPr/>
      </p:nvGrpSpPr>
      <p:grpSpPr>
        <a:xfrm>
          <a:off x="0" y="0"/>
          <a:ext cx="0" cy="0"/>
          <a:chOff x="0" y="0"/>
          <a:chExt cx="0" cy="0"/>
        </a:xfrm>
      </p:grpSpPr>
      <p:sp>
        <p:nvSpPr>
          <p:cNvPr id="122" name="Google Shape;122;p4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4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2000"/>
              <a:buNone/>
              <a:defRPr sz="2000"/>
            </a:lvl1pPr>
            <a:lvl2pPr marL="914400" lvl="1" indent="-228600" algn="l">
              <a:spcBef>
                <a:spcPts val="360"/>
              </a:spcBef>
              <a:spcAft>
                <a:spcPts val="0"/>
              </a:spcAft>
              <a:buSzPts val="1800"/>
              <a:buNone/>
              <a:defRPr sz="1800"/>
            </a:lvl2pPr>
            <a:lvl3pPr marL="1371600" lvl="2" indent="-228600" algn="l">
              <a:spcBef>
                <a:spcPts val="320"/>
              </a:spcBef>
              <a:spcAft>
                <a:spcPts val="0"/>
              </a:spcAft>
              <a:buSzPts val="1600"/>
              <a:buNone/>
              <a:defRPr sz="1600"/>
            </a:lvl3pPr>
            <a:lvl4pPr marL="1828800" lvl="3" indent="-228600" algn="l">
              <a:spcBef>
                <a:spcPts val="280"/>
              </a:spcBef>
              <a:spcAft>
                <a:spcPts val="0"/>
              </a:spcAft>
              <a:buSzPts val="1400"/>
              <a:buFont typeface="Arial"/>
              <a:buNone/>
              <a:defRPr sz="1400"/>
            </a:lvl4pPr>
            <a:lvl5pPr marL="2286000" lvl="4" indent="-228600" algn="l">
              <a:spcBef>
                <a:spcPts val="280"/>
              </a:spcBef>
              <a:spcAft>
                <a:spcPts val="0"/>
              </a:spcAft>
              <a:buSzPts val="1400"/>
              <a:buNone/>
              <a:defRPr sz="1400"/>
            </a:lvl5pPr>
            <a:lvl6pPr marL="2743200" lvl="5" indent="-228600" algn="l">
              <a:spcBef>
                <a:spcPts val="280"/>
              </a:spcBef>
              <a:spcAft>
                <a:spcPts val="0"/>
              </a:spcAft>
              <a:buSzPts val="1400"/>
              <a:buNone/>
              <a:defRPr sz="1400"/>
            </a:lvl6pPr>
            <a:lvl7pPr marL="3200400" lvl="6" indent="-228600" algn="l">
              <a:spcBef>
                <a:spcPts val="280"/>
              </a:spcBef>
              <a:spcAft>
                <a:spcPts val="0"/>
              </a:spcAft>
              <a:buSzPts val="1400"/>
              <a:buNone/>
              <a:defRPr sz="1400"/>
            </a:lvl7pPr>
            <a:lvl8pPr marL="3657600" lvl="7" indent="-228600" algn="l">
              <a:spcBef>
                <a:spcPts val="280"/>
              </a:spcBef>
              <a:spcAft>
                <a:spcPts val="0"/>
              </a:spcAft>
              <a:buSzPts val="1400"/>
              <a:buNone/>
              <a:defRPr sz="1400"/>
            </a:lvl8pPr>
            <a:lvl9pPr marL="4114800" lvl="8" indent="-228600" algn="l">
              <a:spcBef>
                <a:spcPts val="280"/>
              </a:spcBef>
              <a:spcAft>
                <a:spcPts val="0"/>
              </a:spcAft>
              <a:buSzPts val="1400"/>
              <a:buNone/>
              <a:defRPr sz="1400"/>
            </a:lvl9pPr>
          </a:lstStyle>
          <a:p>
            <a:endParaRPr/>
          </a:p>
        </p:txBody>
      </p:sp>
      <p:sp>
        <p:nvSpPr>
          <p:cNvPr id="124" name="Google Shape;124;p47"/>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4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47"/>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32"/>
          <p:cNvGrpSpPr/>
          <p:nvPr/>
        </p:nvGrpSpPr>
        <p:grpSpPr>
          <a:xfrm>
            <a:off x="1658937" y="1600200"/>
            <a:ext cx="6837362" cy="3200400"/>
            <a:chOff x="1045" y="1008"/>
            <a:chExt cx="4307" cy="2016"/>
          </a:xfrm>
        </p:grpSpPr>
        <p:sp>
          <p:nvSpPr>
            <p:cNvPr id="11" name="Google Shape;11;p32"/>
            <p:cNvSpPr/>
            <p:nvPr/>
          </p:nvSpPr>
          <p:spPr>
            <a:xfrm flipH="1">
              <a:off x="4392" y="1008"/>
              <a:ext cx="960" cy="96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 name="Google Shape;12;p32"/>
            <p:cNvSpPr/>
            <p:nvPr/>
          </p:nvSpPr>
          <p:spPr>
            <a:xfrm flipH="1">
              <a:off x="3264" y="1008"/>
              <a:ext cx="960" cy="96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 name="Google Shape;13;p32"/>
            <p:cNvSpPr/>
            <p:nvPr/>
          </p:nvSpPr>
          <p:spPr>
            <a:xfrm flipH="1">
              <a:off x="2136" y="1008"/>
              <a:ext cx="960" cy="960"/>
            </a:xfrm>
            <a:prstGeom prst="ellipse">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4" name="Google Shape;14;p32"/>
            <p:cNvSpPr/>
            <p:nvPr/>
          </p:nvSpPr>
          <p:spPr>
            <a:xfrm flipH="1">
              <a:off x="2136" y="2064"/>
              <a:ext cx="960" cy="96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 name="Google Shape;15;p32"/>
            <p:cNvSpPr/>
            <p:nvPr/>
          </p:nvSpPr>
          <p:spPr>
            <a:xfrm flipH="1">
              <a:off x="1045" y="2064"/>
              <a:ext cx="960" cy="96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6" name="Google Shape;16;p32"/>
            <p:cNvSpPr/>
            <p:nvPr/>
          </p:nvSpPr>
          <p:spPr>
            <a:xfrm flipH="1">
              <a:off x="4392" y="2064"/>
              <a:ext cx="960" cy="960"/>
            </a:xfrm>
            <a:prstGeom prst="ellipse">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7" name="Google Shape;17;p32"/>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accent1"/>
              </a:buClr>
              <a:buSzPts val="3200"/>
              <a:buFont typeface="Noto Sans Symbols"/>
              <a:buChar char="●"/>
              <a:defRPr sz="3200" b="0" i="0" u="none" strike="noStrike" cap="none">
                <a:solidFill>
                  <a:schemeClr val="dk1"/>
                </a:solidFill>
                <a:latin typeface="Arial"/>
                <a:ea typeface="Arial"/>
                <a:cs typeface="Arial"/>
                <a:sym typeface="Arial"/>
              </a:defRPr>
            </a:lvl1pPr>
            <a:lvl2pPr marL="914400" marR="0" lvl="1" indent="-400050" algn="l" rtl="0">
              <a:spcBef>
                <a:spcPts val="540"/>
              </a:spcBef>
              <a:spcAft>
                <a:spcPts val="0"/>
              </a:spcAft>
              <a:buClr>
                <a:schemeClr val="accent1"/>
              </a:buClr>
              <a:buSzPts val="2700"/>
              <a:buFont typeface="Noto Sans Symbols"/>
              <a:buChar char="⚪"/>
              <a:defRPr sz="2700" b="0" i="0" u="none" strike="noStrike" cap="none">
                <a:solidFill>
                  <a:schemeClr val="dk1"/>
                </a:solidFill>
                <a:latin typeface="Arial"/>
                <a:ea typeface="Arial"/>
                <a:cs typeface="Arial"/>
                <a:sym typeface="Arial"/>
              </a:defRPr>
            </a:lvl2pPr>
            <a:lvl3pPr marL="1371600" marR="0" lvl="2" indent="-374650" algn="l" rtl="0">
              <a:spcBef>
                <a:spcPts val="460"/>
              </a:spcBef>
              <a:spcAft>
                <a:spcPts val="0"/>
              </a:spcAft>
              <a:buClr>
                <a:schemeClr val="accent1"/>
              </a:buClr>
              <a:buSzPts val="2300"/>
              <a:buFont typeface="Noto Sans Symbols"/>
              <a:buChar char="●"/>
              <a:defRPr sz="23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accent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18" name="Google Shape;18;p3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8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38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38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38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38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38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38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38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3800" b="0" i="0" u="none" strike="noStrike" cap="none">
                <a:solidFill>
                  <a:schemeClr val="dk2"/>
                </a:solidFill>
                <a:latin typeface="Arial"/>
                <a:ea typeface="Arial"/>
                <a:cs typeface="Arial"/>
                <a:sym typeface="Arial"/>
              </a:defRPr>
            </a:lvl9pPr>
          </a:lstStyle>
          <a:p>
            <a:endParaRPr/>
          </a:p>
        </p:txBody>
      </p:sp>
      <p:sp>
        <p:nvSpPr>
          <p:cNvPr id="19" name="Google Shape;19;p32"/>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0" name="Google Shape;20;p3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 name="Google Shape;21;p32"/>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
        <p:cNvGrpSpPr/>
        <p:nvPr/>
      </p:nvGrpSpPr>
      <p:grpSpPr>
        <a:xfrm>
          <a:off x="0" y="0"/>
          <a:ext cx="0" cy="0"/>
          <a:chOff x="0" y="0"/>
          <a:chExt cx="0" cy="0"/>
        </a:xfrm>
      </p:grpSpPr>
      <p:grpSp>
        <p:nvGrpSpPr>
          <p:cNvPr id="29" name="Google Shape;29;p34"/>
          <p:cNvGrpSpPr/>
          <p:nvPr/>
        </p:nvGrpSpPr>
        <p:grpSpPr>
          <a:xfrm>
            <a:off x="1071562" y="304800"/>
            <a:ext cx="7615237" cy="1106487"/>
            <a:chOff x="675" y="192"/>
            <a:chExt cx="4797" cy="697"/>
          </a:xfrm>
        </p:grpSpPr>
        <p:sp>
          <p:nvSpPr>
            <p:cNvPr id="30" name="Google Shape;30;p34"/>
            <p:cNvSpPr/>
            <p:nvPr/>
          </p:nvSpPr>
          <p:spPr>
            <a:xfrm flipH="1">
              <a:off x="3067" y="192"/>
              <a:ext cx="696" cy="696"/>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 name="Google Shape;31;p34"/>
            <p:cNvSpPr/>
            <p:nvPr/>
          </p:nvSpPr>
          <p:spPr>
            <a:xfrm flipH="1">
              <a:off x="4777" y="192"/>
              <a:ext cx="695" cy="696"/>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 name="Google Shape;32;p34"/>
            <p:cNvSpPr/>
            <p:nvPr/>
          </p:nvSpPr>
          <p:spPr>
            <a:xfrm flipH="1">
              <a:off x="675" y="193"/>
              <a:ext cx="695" cy="696"/>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3" name="Google Shape;33;p34"/>
            <p:cNvSpPr/>
            <p:nvPr/>
          </p:nvSpPr>
          <p:spPr>
            <a:xfrm flipH="1">
              <a:off x="3984" y="192"/>
              <a:ext cx="695" cy="696"/>
            </a:xfrm>
            <a:prstGeom prst="ellipse">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4" name="Google Shape;34;p34"/>
            <p:cNvSpPr/>
            <p:nvPr/>
          </p:nvSpPr>
          <p:spPr>
            <a:xfrm flipH="1">
              <a:off x="1486" y="192"/>
              <a:ext cx="695" cy="696"/>
            </a:xfrm>
            <a:prstGeom prst="ellipse">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5" name="Google Shape;35;p34"/>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accent1"/>
              </a:buClr>
              <a:buSzPts val="3200"/>
              <a:buFont typeface="Noto Sans Symbols"/>
              <a:buChar char="●"/>
              <a:defRPr sz="3200" b="0" i="0" u="none" strike="noStrike" cap="none">
                <a:solidFill>
                  <a:schemeClr val="dk1"/>
                </a:solidFill>
                <a:latin typeface="Arial"/>
                <a:ea typeface="Arial"/>
                <a:cs typeface="Arial"/>
                <a:sym typeface="Arial"/>
              </a:defRPr>
            </a:lvl1pPr>
            <a:lvl2pPr marL="914400" marR="0" lvl="1" indent="-400050" algn="l" rtl="0">
              <a:spcBef>
                <a:spcPts val="540"/>
              </a:spcBef>
              <a:spcAft>
                <a:spcPts val="0"/>
              </a:spcAft>
              <a:buClr>
                <a:schemeClr val="accent1"/>
              </a:buClr>
              <a:buSzPts val="2700"/>
              <a:buFont typeface="Noto Sans Symbols"/>
              <a:buChar char="⚪"/>
              <a:defRPr sz="2700" b="0" i="0" u="none" strike="noStrike" cap="none">
                <a:solidFill>
                  <a:schemeClr val="dk1"/>
                </a:solidFill>
                <a:latin typeface="Arial"/>
                <a:ea typeface="Arial"/>
                <a:cs typeface="Arial"/>
                <a:sym typeface="Arial"/>
              </a:defRPr>
            </a:lvl2pPr>
            <a:lvl3pPr marL="1371600" marR="0" lvl="2" indent="-374650" algn="l" rtl="0">
              <a:spcBef>
                <a:spcPts val="460"/>
              </a:spcBef>
              <a:spcAft>
                <a:spcPts val="0"/>
              </a:spcAft>
              <a:buClr>
                <a:schemeClr val="accent1"/>
              </a:buClr>
              <a:buSzPts val="2300"/>
              <a:buFont typeface="Noto Sans Symbols"/>
              <a:buChar char="●"/>
              <a:defRPr sz="23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accent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accent1"/>
              </a:buClr>
              <a:buSzPts val="2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36" name="Google Shape;36;p34"/>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7" name="Google Shape;37;p3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8" name="Google Shape;38;p34"/>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39" name="Google Shape;39;p3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8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38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38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38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38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38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38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38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3800" b="0"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
          <p:cNvSpPr txBox="1">
            <a:spLocks noGrp="1"/>
          </p:cNvSpPr>
          <p:nvPr>
            <p:ph type="subTitle" idx="1"/>
          </p:nvPr>
        </p:nvSpPr>
        <p:spPr>
          <a:xfrm>
            <a:off x="1676400" y="2667000"/>
            <a:ext cx="6400800" cy="17526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3200"/>
              <a:buNone/>
            </a:pPr>
            <a:r>
              <a:rPr lang="en-US" sz="3200" b="1" i="0" u="none">
                <a:solidFill>
                  <a:schemeClr val="dk1"/>
                </a:solidFill>
                <a:latin typeface="Arial"/>
                <a:ea typeface="Arial"/>
                <a:cs typeface="Arial"/>
                <a:sym typeface="Arial"/>
              </a:rPr>
              <a:t>CSE 103: Discrete Mathematics</a:t>
            </a:r>
            <a:endParaRPr/>
          </a:p>
          <a:p>
            <a:pPr marL="0" lvl="0" indent="0" algn="ctr" rtl="0">
              <a:lnSpc>
                <a:spcPct val="100000"/>
              </a:lnSpc>
              <a:spcBef>
                <a:spcPts val="640"/>
              </a:spcBef>
              <a:spcAft>
                <a:spcPts val="0"/>
              </a:spcAft>
              <a:buSzPts val="3200"/>
              <a:buNone/>
            </a:pPr>
            <a:r>
              <a:rPr lang="en-US" sz="3200" b="1" i="0" u="none">
                <a:solidFill>
                  <a:schemeClr val="dk1"/>
                </a:solidFill>
                <a:latin typeface="Arial"/>
                <a:ea typeface="Arial"/>
                <a:cs typeface="Arial"/>
                <a:sym typeface="Arial"/>
              </a:rPr>
              <a:t>Lecture-1-3</a:t>
            </a:r>
            <a:endParaRPr/>
          </a:p>
          <a:p>
            <a:pPr marL="0" lvl="0" indent="0" algn="ctr" rtl="0">
              <a:lnSpc>
                <a:spcPct val="100000"/>
              </a:lnSpc>
              <a:spcBef>
                <a:spcPts val="640"/>
              </a:spcBef>
              <a:spcAft>
                <a:spcPts val="0"/>
              </a:spcAft>
              <a:buSzPts val="3200"/>
              <a:buNone/>
            </a:pPr>
            <a:r>
              <a:rPr lang="en-US" sz="3200" b="1" i="0" u="none">
                <a:solidFill>
                  <a:schemeClr val="dk1"/>
                </a:solidFill>
                <a:latin typeface="Arial"/>
                <a:ea typeface="Arial"/>
                <a:cs typeface="Arial"/>
                <a:sym typeface="Arial"/>
              </a:rPr>
              <a:t>Propositional Logic</a:t>
            </a:r>
            <a:endParaRPr/>
          </a:p>
        </p:txBody>
      </p:sp>
      <p:sp>
        <p:nvSpPr>
          <p:cNvPr id="132" name="Google Shape;132;p1"/>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898989"/>
              </a:buClr>
              <a:buSzPts val="1000"/>
              <a:buFont typeface="Arial"/>
              <a:buNone/>
            </a:pPr>
            <a:fld id="{00000000-1234-1234-1234-123412341234}" type="slidenum">
              <a:rPr lang="en-US" sz="1000" b="0" i="0" u="none">
                <a:solidFill>
                  <a:srgbClr val="898989"/>
                </a:solidFill>
                <a:latin typeface="Arial"/>
                <a:ea typeface="Arial"/>
                <a:cs typeface="Arial"/>
                <a:sym typeface="Arial"/>
              </a:r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Reference Books</a:t>
            </a:r>
            <a:endParaRPr/>
          </a:p>
        </p:txBody>
      </p:sp>
      <p:sp>
        <p:nvSpPr>
          <p:cNvPr id="138" name="Google Shape;138;p2"/>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1"/>
              </a:buClr>
              <a:buSzPts val="3200"/>
              <a:buFont typeface="Arial"/>
              <a:buChar char="•"/>
            </a:pPr>
            <a:r>
              <a:rPr lang="en-US" sz="3200" b="0" i="1" u="none" strike="noStrike" cap="none">
                <a:solidFill>
                  <a:schemeClr val="dk1"/>
                </a:solidFill>
                <a:latin typeface="Arial"/>
                <a:ea typeface="Arial"/>
                <a:cs typeface="Arial"/>
                <a:sym typeface="Arial"/>
              </a:rPr>
              <a:t>“Discrete Mathematics and Its Applications”</a:t>
            </a:r>
            <a:r>
              <a:rPr lang="en-US" sz="3200" b="0" i="0" u="none" strike="noStrike" cap="none">
                <a:solidFill>
                  <a:schemeClr val="dk1"/>
                </a:solidFill>
                <a:latin typeface="Arial"/>
                <a:ea typeface="Arial"/>
                <a:cs typeface="Arial"/>
                <a:sym typeface="Arial"/>
              </a:rPr>
              <a:t>, 6</a:t>
            </a:r>
            <a:r>
              <a:rPr lang="en-US" sz="3200" b="0" i="0" u="none" strike="noStrike" cap="none" baseline="30000">
                <a:solidFill>
                  <a:schemeClr val="dk1"/>
                </a:solidFill>
                <a:latin typeface="Arial"/>
                <a:ea typeface="Arial"/>
                <a:cs typeface="Arial"/>
                <a:sym typeface="Arial"/>
              </a:rPr>
              <a:t>th</a:t>
            </a:r>
            <a:r>
              <a:rPr lang="en-US" sz="3200" b="0" i="0" u="none" strike="noStrike" cap="none">
                <a:solidFill>
                  <a:schemeClr val="dk1"/>
                </a:solidFill>
                <a:latin typeface="Arial"/>
                <a:ea typeface="Arial"/>
                <a:cs typeface="Arial"/>
                <a:sym typeface="Arial"/>
              </a:rPr>
              <a:t> Edition, by Kenneth H. Rosen, McGraw-Hill international. </a:t>
            </a:r>
            <a:endParaRPr/>
          </a:p>
          <a:p>
            <a:pPr marL="342900" marR="0" lvl="0" indent="-342900" algn="l" rtl="0">
              <a:lnSpc>
                <a:spcPct val="100000"/>
              </a:lnSpc>
              <a:spcBef>
                <a:spcPts val="640"/>
              </a:spcBef>
              <a:spcAft>
                <a:spcPts val="0"/>
              </a:spcAft>
              <a:buClr>
                <a:schemeClr val="accent1"/>
              </a:buClr>
              <a:buSzPts val="3200"/>
              <a:buFont typeface="Arial"/>
              <a:buChar char="•"/>
            </a:pPr>
            <a:r>
              <a:rPr lang="en-US" sz="3200" b="0" i="1" u="none" strike="noStrike" cap="none">
                <a:solidFill>
                  <a:schemeClr val="dk1"/>
                </a:solidFill>
                <a:latin typeface="Arial"/>
                <a:ea typeface="Arial"/>
                <a:cs typeface="Arial"/>
                <a:sym typeface="Arial"/>
              </a:rPr>
              <a:t>“Schaum’s Outline series: Discrete Mathematics”, </a:t>
            </a:r>
            <a:r>
              <a:rPr lang="en-US" sz="3200" b="0" i="0" u="none" strike="noStrike" cap="none">
                <a:solidFill>
                  <a:schemeClr val="dk1"/>
                </a:solidFill>
                <a:latin typeface="Arial"/>
                <a:ea typeface="Arial"/>
                <a:cs typeface="Arial"/>
                <a:sym typeface="Arial"/>
              </a:rPr>
              <a:t>2nd Edition, by Seymour Lipshutz &amp; Marc Lipson, Tata McGraw-Hill India, 2003</a:t>
            </a:r>
            <a:endParaRPr/>
          </a:p>
        </p:txBody>
      </p:sp>
      <p:sp>
        <p:nvSpPr>
          <p:cNvPr id="139" name="Google Shape;139;p2"/>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898989"/>
              </a:buClr>
              <a:buSzPts val="1000"/>
              <a:buFont typeface="Arial"/>
              <a:buNone/>
            </a:pPr>
            <a:fld id="{00000000-1234-1234-1234-123412341234}" type="slidenum">
              <a:rPr lang="en-US" sz="1000" b="0" i="0" u="none">
                <a:solidFill>
                  <a:srgbClr val="898989"/>
                </a:solidFill>
                <a:latin typeface="Arial"/>
                <a:ea typeface="Arial"/>
                <a:cs typeface="Arial"/>
                <a:sym typeface="Arial"/>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
          <p:cNvSpPr txBox="1">
            <a:spLocks noGrp="1"/>
          </p:cNvSpPr>
          <p:nvPr>
            <p:ph type="title"/>
          </p:nvPr>
        </p:nvSpPr>
        <p:spPr>
          <a:xfrm>
            <a:off x="457200" y="76200"/>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145" name="Google Shape;145;p3"/>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accent1"/>
              </a:buClr>
              <a:buSzPts val="3200"/>
              <a:buFont typeface="Noto Sans Symbols"/>
              <a:buChar char="●"/>
            </a:pPr>
            <a:r>
              <a:rPr lang="en-US" sz="3200" b="0" i="0" u="none">
                <a:solidFill>
                  <a:schemeClr val="dk1"/>
                </a:solidFill>
                <a:latin typeface="Arial"/>
                <a:ea typeface="Arial"/>
                <a:cs typeface="Arial"/>
                <a:sym typeface="Arial"/>
              </a:rPr>
              <a:t>A </a:t>
            </a:r>
            <a:r>
              <a:rPr lang="en-US" sz="3200" b="1" i="0" u="none">
                <a:solidFill>
                  <a:schemeClr val="hlink"/>
                </a:solidFill>
                <a:latin typeface="Arial"/>
                <a:ea typeface="Arial"/>
                <a:cs typeface="Arial"/>
                <a:sym typeface="Arial"/>
              </a:rPr>
              <a:t>proposition</a:t>
            </a:r>
            <a:r>
              <a:rPr lang="en-US" sz="3200" b="0" i="0" u="none">
                <a:solidFill>
                  <a:schemeClr val="dk1"/>
                </a:solidFill>
                <a:latin typeface="Arial"/>
                <a:ea typeface="Arial"/>
                <a:cs typeface="Arial"/>
                <a:sym typeface="Arial"/>
              </a:rPr>
              <a:t> is a </a:t>
            </a:r>
            <a:r>
              <a:rPr lang="en-US" sz="3200" b="0" i="0" u="none">
                <a:solidFill>
                  <a:srgbClr val="FF3300"/>
                </a:solidFill>
                <a:latin typeface="Arial"/>
                <a:ea typeface="Arial"/>
                <a:cs typeface="Arial"/>
                <a:sym typeface="Arial"/>
              </a:rPr>
              <a:t>declarative</a:t>
            </a:r>
            <a:r>
              <a:rPr lang="en-US" sz="3200" b="0" i="0" u="none">
                <a:solidFill>
                  <a:schemeClr val="dk1"/>
                </a:solidFill>
                <a:latin typeface="Arial"/>
                <a:ea typeface="Arial"/>
                <a:cs typeface="Arial"/>
                <a:sym typeface="Arial"/>
              </a:rPr>
              <a:t> sentence (a sentence that declares a fact) that is either </a:t>
            </a:r>
            <a:r>
              <a:rPr lang="en-US" sz="3200" b="0" i="0" u="none">
                <a:solidFill>
                  <a:srgbClr val="FF3300"/>
                </a:solidFill>
                <a:latin typeface="Arial"/>
                <a:ea typeface="Arial"/>
                <a:cs typeface="Arial"/>
                <a:sym typeface="Arial"/>
              </a:rPr>
              <a:t>true or false</a:t>
            </a:r>
            <a:r>
              <a:rPr lang="en-US" sz="3200" b="0" i="0" u="none">
                <a:solidFill>
                  <a:schemeClr val="dk1"/>
                </a:solidFill>
                <a:latin typeface="Arial"/>
                <a:ea typeface="Arial"/>
                <a:cs typeface="Arial"/>
                <a:sym typeface="Arial"/>
              </a:rPr>
              <a:t>, but not both.</a:t>
            </a:r>
            <a:endParaRPr/>
          </a:p>
          <a:p>
            <a:pPr marL="342900" lvl="0" indent="-342900" algn="l" rtl="0">
              <a:lnSpc>
                <a:spcPct val="90000"/>
              </a:lnSpc>
              <a:spcBef>
                <a:spcPts val="640"/>
              </a:spcBef>
              <a:spcAft>
                <a:spcPts val="0"/>
              </a:spcAft>
              <a:buClr>
                <a:schemeClr val="accent1"/>
              </a:buClr>
              <a:buSzPts val="3200"/>
              <a:buFont typeface="Noto Sans Symbols"/>
              <a:buChar char="●"/>
            </a:pPr>
            <a:r>
              <a:rPr lang="en-US" sz="3200" b="0" i="0" u="none">
                <a:solidFill>
                  <a:schemeClr val="dk1"/>
                </a:solidFill>
                <a:latin typeface="Arial"/>
                <a:ea typeface="Arial"/>
                <a:cs typeface="Arial"/>
                <a:sym typeface="Arial"/>
              </a:rPr>
              <a:t>Are the following sentences propositions?</a:t>
            </a:r>
            <a:endParaRPr/>
          </a:p>
          <a:p>
            <a:pPr marL="742950" lvl="1" indent="-285750" algn="l" rtl="0">
              <a:lnSpc>
                <a:spcPct val="90000"/>
              </a:lnSpc>
              <a:spcBef>
                <a:spcPts val="540"/>
              </a:spcBef>
              <a:spcAft>
                <a:spcPts val="0"/>
              </a:spcAft>
              <a:buClr>
                <a:schemeClr val="accent1"/>
              </a:buClr>
              <a:buSzPts val="2700"/>
              <a:buFont typeface="Noto Sans Symbols"/>
              <a:buChar char="⚪"/>
            </a:pPr>
            <a:r>
              <a:rPr lang="en-US" sz="2700" b="0" i="0" u="none">
                <a:solidFill>
                  <a:schemeClr val="dk1"/>
                </a:solidFill>
                <a:latin typeface="Arial"/>
                <a:ea typeface="Arial"/>
                <a:cs typeface="Arial"/>
                <a:sym typeface="Arial"/>
              </a:rPr>
              <a:t>Toronto is the capital of Canada. </a:t>
            </a:r>
            <a:endParaRPr/>
          </a:p>
          <a:p>
            <a:pPr marL="742950" lvl="1" indent="-285750" algn="l" rtl="0">
              <a:lnSpc>
                <a:spcPct val="90000"/>
              </a:lnSpc>
              <a:spcBef>
                <a:spcPts val="540"/>
              </a:spcBef>
              <a:spcAft>
                <a:spcPts val="0"/>
              </a:spcAft>
              <a:buClr>
                <a:schemeClr val="accent1"/>
              </a:buClr>
              <a:buSzPts val="2700"/>
              <a:buFont typeface="Noto Sans Symbols"/>
              <a:buChar char="⚪"/>
            </a:pPr>
            <a:r>
              <a:rPr lang="en-US" sz="2700" b="0" i="0" u="none">
                <a:solidFill>
                  <a:schemeClr val="dk1"/>
                </a:solidFill>
                <a:latin typeface="Arial"/>
                <a:ea typeface="Arial"/>
                <a:cs typeface="Arial"/>
                <a:sym typeface="Arial"/>
              </a:rPr>
              <a:t>Read this carefully. </a:t>
            </a:r>
            <a:endParaRPr/>
          </a:p>
          <a:p>
            <a:pPr marL="742950" lvl="1" indent="-285750" algn="l" rtl="0">
              <a:lnSpc>
                <a:spcPct val="90000"/>
              </a:lnSpc>
              <a:spcBef>
                <a:spcPts val="540"/>
              </a:spcBef>
              <a:spcAft>
                <a:spcPts val="0"/>
              </a:spcAft>
              <a:buClr>
                <a:schemeClr val="accent1"/>
              </a:buClr>
              <a:buSzPts val="2700"/>
              <a:buFont typeface="Noto Sans Symbols"/>
              <a:buChar char="⚪"/>
            </a:pPr>
            <a:r>
              <a:rPr lang="en-US" sz="2700" b="0" i="0" u="none">
                <a:solidFill>
                  <a:schemeClr val="dk1"/>
                </a:solidFill>
                <a:latin typeface="Arial"/>
                <a:ea typeface="Arial"/>
                <a:cs typeface="Arial"/>
                <a:sym typeface="Arial"/>
              </a:rPr>
              <a:t>1+2=3</a:t>
            </a:r>
            <a:endParaRPr/>
          </a:p>
          <a:p>
            <a:pPr marL="742950" lvl="1" indent="-285750" algn="l" rtl="0">
              <a:lnSpc>
                <a:spcPct val="90000"/>
              </a:lnSpc>
              <a:spcBef>
                <a:spcPts val="540"/>
              </a:spcBef>
              <a:spcAft>
                <a:spcPts val="0"/>
              </a:spcAft>
              <a:buClr>
                <a:schemeClr val="accent1"/>
              </a:buClr>
              <a:buSzPts val="2700"/>
              <a:buFont typeface="Noto Sans Symbols"/>
              <a:buChar char="⚪"/>
            </a:pPr>
            <a:r>
              <a:rPr lang="en-US" sz="2700" b="0" i="0" u="none">
                <a:solidFill>
                  <a:schemeClr val="dk1"/>
                </a:solidFill>
                <a:latin typeface="Arial"/>
                <a:ea typeface="Arial"/>
                <a:cs typeface="Arial"/>
                <a:sym typeface="Arial"/>
              </a:rPr>
              <a:t>x+1=2</a:t>
            </a:r>
            <a:endParaRPr/>
          </a:p>
          <a:p>
            <a:pPr marL="742950" lvl="1" indent="-285750" algn="l" rtl="0">
              <a:lnSpc>
                <a:spcPct val="90000"/>
              </a:lnSpc>
              <a:spcBef>
                <a:spcPts val="540"/>
              </a:spcBef>
              <a:spcAft>
                <a:spcPts val="0"/>
              </a:spcAft>
              <a:buClr>
                <a:schemeClr val="accent1"/>
              </a:buClr>
              <a:buSzPts val="2700"/>
              <a:buFont typeface="Noto Sans Symbols"/>
              <a:buChar char="⚪"/>
            </a:pPr>
            <a:r>
              <a:rPr lang="en-US" sz="2700" b="0" i="0" u="none">
                <a:solidFill>
                  <a:schemeClr val="dk1"/>
                </a:solidFill>
                <a:latin typeface="Arial"/>
                <a:ea typeface="Arial"/>
                <a:cs typeface="Arial"/>
                <a:sym typeface="Arial"/>
              </a:rPr>
              <a:t>What time is it? </a:t>
            </a:r>
            <a:endParaRPr/>
          </a:p>
          <a:p>
            <a:pPr marL="342900" lvl="0" indent="-171450" algn="l" rtl="0">
              <a:spcBef>
                <a:spcPts val="540"/>
              </a:spcBef>
              <a:spcAft>
                <a:spcPts val="0"/>
              </a:spcAft>
              <a:buSzPts val="2700"/>
              <a:buNone/>
            </a:pPr>
            <a:endParaRPr sz="2700" b="0" i="0" u="none">
              <a:solidFill>
                <a:schemeClr val="dk1"/>
              </a:solidFill>
              <a:latin typeface="Arial"/>
              <a:ea typeface="Arial"/>
              <a:cs typeface="Arial"/>
              <a:sym typeface="Arial"/>
            </a:endParaRPr>
          </a:p>
        </p:txBody>
      </p:sp>
      <p:sp>
        <p:nvSpPr>
          <p:cNvPr id="146" name="Google Shape;146;p3"/>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47" name="Google Shape;147;p3"/>
          <p:cNvSpPr txBox="1"/>
          <p:nvPr/>
        </p:nvSpPr>
        <p:spPr>
          <a:xfrm>
            <a:off x="4343400" y="3962400"/>
            <a:ext cx="9144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2400"/>
              <a:buFont typeface="Arial"/>
              <a:buNone/>
            </a:pPr>
            <a:r>
              <a:rPr lang="en-US" sz="2400" b="0" i="0" u="none">
                <a:solidFill>
                  <a:srgbClr val="FF3300"/>
                </a:solidFill>
                <a:latin typeface="Arial"/>
                <a:ea typeface="Arial"/>
                <a:cs typeface="Arial"/>
                <a:sym typeface="Arial"/>
              </a:rPr>
              <a:t>(No)</a:t>
            </a:r>
            <a:endParaRPr/>
          </a:p>
        </p:txBody>
      </p:sp>
      <p:sp>
        <p:nvSpPr>
          <p:cNvPr id="148" name="Google Shape;148;p3"/>
          <p:cNvSpPr txBox="1"/>
          <p:nvPr/>
        </p:nvSpPr>
        <p:spPr>
          <a:xfrm>
            <a:off x="2438400" y="4876800"/>
            <a:ext cx="9144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2400"/>
              <a:buFont typeface="Arial"/>
              <a:buNone/>
            </a:pPr>
            <a:r>
              <a:rPr lang="en-US" sz="2400" b="0" i="0" u="none">
                <a:solidFill>
                  <a:srgbClr val="FF3300"/>
                </a:solidFill>
                <a:latin typeface="Arial"/>
                <a:ea typeface="Arial"/>
                <a:cs typeface="Arial"/>
                <a:sym typeface="Arial"/>
              </a:rPr>
              <a:t>(No)</a:t>
            </a:r>
            <a:endParaRPr/>
          </a:p>
        </p:txBody>
      </p:sp>
      <p:sp>
        <p:nvSpPr>
          <p:cNvPr id="149" name="Google Shape;149;p3"/>
          <p:cNvSpPr txBox="1"/>
          <p:nvPr/>
        </p:nvSpPr>
        <p:spPr>
          <a:xfrm>
            <a:off x="3733800" y="5334000"/>
            <a:ext cx="9144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2400"/>
              <a:buFont typeface="Arial"/>
              <a:buNone/>
            </a:pPr>
            <a:r>
              <a:rPr lang="en-US" sz="2400" b="0" i="0" u="none">
                <a:solidFill>
                  <a:srgbClr val="FF3300"/>
                </a:solidFill>
                <a:latin typeface="Arial"/>
                <a:ea typeface="Arial"/>
                <a:cs typeface="Arial"/>
                <a:sym typeface="Arial"/>
              </a:rPr>
              <a:t>(No)</a:t>
            </a:r>
            <a:endParaRPr/>
          </a:p>
        </p:txBody>
      </p:sp>
      <p:sp>
        <p:nvSpPr>
          <p:cNvPr id="150" name="Google Shape;150;p3"/>
          <p:cNvSpPr txBox="1"/>
          <p:nvPr/>
        </p:nvSpPr>
        <p:spPr>
          <a:xfrm>
            <a:off x="6324600" y="3505200"/>
            <a:ext cx="9144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2400"/>
              <a:buFont typeface="Arial"/>
              <a:buNone/>
            </a:pPr>
            <a:r>
              <a:rPr lang="en-US" sz="2400" b="0" i="0" u="none">
                <a:solidFill>
                  <a:srgbClr val="FF3300"/>
                </a:solidFill>
                <a:latin typeface="Arial"/>
                <a:ea typeface="Arial"/>
                <a:cs typeface="Arial"/>
                <a:sym typeface="Arial"/>
              </a:rPr>
              <a:t>(Yes)</a:t>
            </a:r>
            <a:endParaRPr/>
          </a:p>
        </p:txBody>
      </p:sp>
      <p:sp>
        <p:nvSpPr>
          <p:cNvPr id="151" name="Google Shape;151;p3"/>
          <p:cNvSpPr txBox="1"/>
          <p:nvPr/>
        </p:nvSpPr>
        <p:spPr>
          <a:xfrm>
            <a:off x="2438400" y="4419600"/>
            <a:ext cx="9144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2400"/>
              <a:buFont typeface="Arial"/>
              <a:buNone/>
            </a:pPr>
            <a:r>
              <a:rPr lang="en-US" sz="2400" b="0" i="0" u="none">
                <a:solidFill>
                  <a:srgbClr val="FF3300"/>
                </a:solidFill>
                <a:latin typeface="Arial"/>
                <a:ea typeface="Arial"/>
                <a:cs typeface="Arial"/>
                <a:sym typeface="Arial"/>
              </a:rPr>
              <a:t>(Yes)</a:t>
            </a:r>
            <a:endParaRPr/>
          </a:p>
        </p:txBody>
      </p:sp>
      <p:sp>
        <p:nvSpPr>
          <p:cNvPr id="152" name="Google Shape;152;p3"/>
          <p:cNvSpPr txBox="1"/>
          <p:nvPr/>
        </p:nvSpPr>
        <p:spPr>
          <a:xfrm>
            <a:off x="2057400" y="914400"/>
            <a:ext cx="3886200" cy="519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39933"/>
              </a:buClr>
              <a:buSzPts val="2800"/>
              <a:buFont typeface="Arial"/>
              <a:buNone/>
            </a:pPr>
            <a:r>
              <a:rPr lang="en-US" sz="2800" b="0" i="0" u="sng">
                <a:solidFill>
                  <a:srgbClr val="339933"/>
                </a:solidFill>
                <a:latin typeface="Arial"/>
                <a:ea typeface="Arial"/>
                <a:cs typeface="Arial"/>
                <a:sym typeface="Arial"/>
              </a:rPr>
              <a:t>Introduction</a:t>
            </a:r>
            <a:endParaRPr/>
          </a:p>
        </p:txBody>
      </p:sp>
      <p:sp>
        <p:nvSpPr>
          <p:cNvPr id="153" name="Google Shape;153;p3"/>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anim calcmode="lin" valueType="num">
                                      <p:cBhvr additive="base">
                                        <p:cTn id="7" dur="500"/>
                                        <p:tgtEl>
                                          <p:spTgt spid="15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7"/>
                                        </p:tgtEl>
                                        <p:attrNameLst>
                                          <p:attrName>style.visibility</p:attrName>
                                        </p:attrNameLst>
                                      </p:cBhvr>
                                      <p:to>
                                        <p:strVal val="visible"/>
                                      </p:to>
                                    </p:set>
                                    <p:anim calcmode="lin" valueType="num">
                                      <p:cBhvr additive="base">
                                        <p:cTn id="12" dur="500"/>
                                        <p:tgtEl>
                                          <p:spTgt spid="147"/>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1"/>
                                        </p:tgtEl>
                                        <p:attrNameLst>
                                          <p:attrName>style.visibility</p:attrName>
                                        </p:attrNameLst>
                                      </p:cBhvr>
                                      <p:to>
                                        <p:strVal val="visible"/>
                                      </p:to>
                                    </p:set>
                                    <p:anim calcmode="lin" valueType="num">
                                      <p:cBhvr additive="base">
                                        <p:cTn id="17" dur="500"/>
                                        <p:tgtEl>
                                          <p:spTgt spid="151"/>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48"/>
                                        </p:tgtEl>
                                        <p:attrNameLst>
                                          <p:attrName>style.visibility</p:attrName>
                                        </p:attrNameLst>
                                      </p:cBhvr>
                                      <p:to>
                                        <p:strVal val="visible"/>
                                      </p:to>
                                    </p:set>
                                    <p:anim calcmode="lin" valueType="num">
                                      <p:cBhvr additive="base">
                                        <p:cTn id="22" dur="500"/>
                                        <p:tgtEl>
                                          <p:spTgt spid="14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9"/>
                                        </p:tgtEl>
                                        <p:attrNameLst>
                                          <p:attrName>style.visibility</p:attrName>
                                        </p:attrNameLst>
                                      </p:cBhvr>
                                      <p:to>
                                        <p:strVal val="visible"/>
                                      </p:to>
                                    </p:set>
                                    <p:anim calcmode="lin" valueType="num">
                                      <p:cBhvr additive="base">
                                        <p:cTn id="27" dur="500"/>
                                        <p:tgtEl>
                                          <p:spTgt spid="1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Propositions</a:t>
            </a:r>
            <a:endParaRPr/>
          </a:p>
        </p:txBody>
      </p:sp>
      <p:sp>
        <p:nvSpPr>
          <p:cNvPr id="159" name="Google Shape;159;p4"/>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accent1"/>
              </a:buClr>
              <a:buSzPts val="3200"/>
              <a:buFont typeface="Noto Sans Symbols"/>
              <a:buChar char="●"/>
            </a:pPr>
            <a:r>
              <a:rPr lang="en-US" sz="3200" b="0" i="0" u="none" strike="noStrike" cap="none">
                <a:solidFill>
                  <a:schemeClr val="hlink"/>
                </a:solidFill>
                <a:latin typeface="Arial"/>
                <a:ea typeface="Arial"/>
                <a:cs typeface="Arial"/>
                <a:sym typeface="Arial"/>
              </a:rPr>
              <a:t>Propositional Variables</a:t>
            </a:r>
            <a:r>
              <a:rPr lang="en-US" sz="3200" b="0" i="0" u="none" strike="noStrike" cap="none">
                <a:solidFill>
                  <a:schemeClr val="dk1"/>
                </a:solidFill>
                <a:latin typeface="Arial"/>
                <a:ea typeface="Arial"/>
                <a:cs typeface="Arial"/>
                <a:sym typeface="Arial"/>
              </a:rPr>
              <a:t> – variables that represent propositions: </a:t>
            </a:r>
            <a:r>
              <a:rPr lang="en-US" sz="3200" b="0" i="1" u="none" strike="noStrike" cap="none">
                <a:solidFill>
                  <a:schemeClr val="dk1"/>
                </a:solidFill>
                <a:latin typeface="Arial"/>
                <a:ea typeface="Arial"/>
                <a:cs typeface="Arial"/>
                <a:sym typeface="Arial"/>
              </a:rPr>
              <a:t>p</a:t>
            </a:r>
            <a:r>
              <a:rPr lang="en-US" sz="3200" b="0" i="0" u="none" strike="noStrike" cap="none">
                <a:solidFill>
                  <a:schemeClr val="dk1"/>
                </a:solidFill>
                <a:latin typeface="Arial"/>
                <a:ea typeface="Arial"/>
                <a:cs typeface="Arial"/>
                <a:sym typeface="Arial"/>
              </a:rPr>
              <a:t>, </a:t>
            </a:r>
            <a:r>
              <a:rPr lang="en-US" sz="3200" b="0" i="1" u="none" strike="noStrike" cap="none">
                <a:solidFill>
                  <a:schemeClr val="dk1"/>
                </a:solidFill>
                <a:latin typeface="Arial"/>
                <a:ea typeface="Arial"/>
                <a:cs typeface="Arial"/>
                <a:sym typeface="Arial"/>
              </a:rPr>
              <a:t>q</a:t>
            </a:r>
            <a:r>
              <a:rPr lang="en-US" sz="3200" b="0" i="0" u="none" strike="noStrike" cap="none">
                <a:solidFill>
                  <a:schemeClr val="dk1"/>
                </a:solidFill>
                <a:latin typeface="Arial"/>
                <a:ea typeface="Arial"/>
                <a:cs typeface="Arial"/>
                <a:sym typeface="Arial"/>
              </a:rPr>
              <a:t>, </a:t>
            </a:r>
            <a:r>
              <a:rPr lang="en-US" sz="3200" b="0" i="1" u="none" strike="noStrike" cap="none">
                <a:solidFill>
                  <a:schemeClr val="dk1"/>
                </a:solidFill>
                <a:latin typeface="Arial"/>
                <a:ea typeface="Arial"/>
                <a:cs typeface="Arial"/>
                <a:sym typeface="Arial"/>
              </a:rPr>
              <a:t>r</a:t>
            </a:r>
            <a:r>
              <a:rPr lang="en-US" sz="3200" b="0" i="0" u="none" strike="noStrike" cap="none">
                <a:solidFill>
                  <a:schemeClr val="dk1"/>
                </a:solidFill>
                <a:latin typeface="Arial"/>
                <a:ea typeface="Arial"/>
                <a:cs typeface="Arial"/>
                <a:sym typeface="Arial"/>
              </a:rPr>
              <a:t>, </a:t>
            </a:r>
            <a:r>
              <a:rPr lang="en-US" sz="3200" b="0" i="1" u="none" strike="noStrike" cap="none">
                <a:solidFill>
                  <a:schemeClr val="dk1"/>
                </a:solidFill>
                <a:latin typeface="Arial"/>
                <a:ea typeface="Arial"/>
                <a:cs typeface="Arial"/>
                <a:sym typeface="Arial"/>
              </a:rPr>
              <a:t>s</a:t>
            </a:r>
            <a:endParaRPr/>
          </a:p>
          <a:p>
            <a:pPr marL="742950" marR="0" lvl="1" indent="-285750" algn="l" rtl="0">
              <a:lnSpc>
                <a:spcPct val="90000"/>
              </a:lnSpc>
              <a:spcBef>
                <a:spcPts val="540"/>
              </a:spcBef>
              <a:spcAft>
                <a:spcPts val="0"/>
              </a:spcAft>
              <a:buClr>
                <a:schemeClr val="accent1"/>
              </a:buClr>
              <a:buSzPts val="2700"/>
              <a:buFont typeface="Noto Sans Symbols"/>
              <a:buChar char="⚪"/>
            </a:pPr>
            <a:r>
              <a:rPr lang="en-US" sz="2700" b="0" i="0" u="none" strike="noStrike" cap="none">
                <a:solidFill>
                  <a:schemeClr val="dk1"/>
                </a:solidFill>
                <a:latin typeface="Arial"/>
                <a:ea typeface="Arial"/>
                <a:cs typeface="Arial"/>
                <a:sym typeface="Arial"/>
              </a:rPr>
              <a:t>E.g. Proposition </a:t>
            </a:r>
            <a:r>
              <a:rPr lang="en-US" sz="2700" b="0" i="1" u="none" strike="noStrike" cap="none">
                <a:solidFill>
                  <a:schemeClr val="dk1"/>
                </a:solidFill>
                <a:latin typeface="Arial"/>
                <a:ea typeface="Arial"/>
                <a:cs typeface="Arial"/>
                <a:sym typeface="Arial"/>
              </a:rPr>
              <a:t>p</a:t>
            </a:r>
            <a:r>
              <a:rPr lang="en-US" sz="2700" b="0" i="0" u="none" strike="noStrike" cap="none">
                <a:solidFill>
                  <a:schemeClr val="dk1"/>
                </a:solidFill>
                <a:latin typeface="Arial"/>
                <a:ea typeface="Arial"/>
                <a:cs typeface="Arial"/>
                <a:sym typeface="Arial"/>
              </a:rPr>
              <a:t> – “Today is Friday.”</a:t>
            </a:r>
            <a:endParaRPr/>
          </a:p>
          <a:p>
            <a:pPr marL="342900" marR="0" lvl="0" indent="-342900" algn="l" rtl="0">
              <a:lnSpc>
                <a:spcPct val="90000"/>
              </a:lnSpc>
              <a:spcBef>
                <a:spcPts val="640"/>
              </a:spcBef>
              <a:spcAft>
                <a:spcPts val="0"/>
              </a:spcAft>
              <a:buClr>
                <a:schemeClr val="accent1"/>
              </a:buClr>
              <a:buSzPts val="3200"/>
              <a:buFont typeface="Noto Sans Symbols"/>
              <a:buChar char="●"/>
            </a:pPr>
            <a:r>
              <a:rPr lang="en-US" sz="3200" b="0" i="0" u="none" strike="noStrike" cap="none">
                <a:solidFill>
                  <a:schemeClr val="hlink"/>
                </a:solidFill>
                <a:latin typeface="Arial"/>
                <a:ea typeface="Arial"/>
                <a:cs typeface="Arial"/>
                <a:sym typeface="Arial"/>
              </a:rPr>
              <a:t>Truth values</a:t>
            </a:r>
            <a:r>
              <a:rPr lang="en-US" sz="3200" b="0" i="0" u="none" strike="noStrike" cap="none">
                <a:solidFill>
                  <a:schemeClr val="dk1"/>
                </a:solidFill>
                <a:latin typeface="Arial"/>
                <a:ea typeface="Arial"/>
                <a:cs typeface="Arial"/>
                <a:sym typeface="Arial"/>
              </a:rPr>
              <a:t> – T, F</a:t>
            </a:r>
            <a:endParaRPr/>
          </a:p>
          <a:p>
            <a:pPr marL="342900" marR="0" lvl="0" indent="-342900" algn="l" rtl="0">
              <a:lnSpc>
                <a:spcPct val="90000"/>
              </a:lnSpc>
              <a:spcBef>
                <a:spcPts val="640"/>
              </a:spcBef>
              <a:spcAft>
                <a:spcPts val="0"/>
              </a:spcAft>
              <a:buClr>
                <a:schemeClr val="accent1"/>
              </a:buClr>
              <a:buSzPts val="3200"/>
              <a:buFont typeface="Noto Sans Symbols"/>
              <a:buChar char="●"/>
            </a:pPr>
            <a:r>
              <a:rPr lang="en-US" sz="3200" b="0" i="0" u="none" strike="noStrike" cap="none">
                <a:solidFill>
                  <a:srgbClr val="0000FF"/>
                </a:solidFill>
                <a:latin typeface="Arial"/>
                <a:ea typeface="Arial"/>
                <a:cs typeface="Arial"/>
                <a:sym typeface="Arial"/>
              </a:rPr>
              <a:t>Propositional Logic </a:t>
            </a:r>
            <a:r>
              <a:rPr lang="en-US" sz="3200" b="0" i="0" u="none" strike="noStrike" cap="none">
                <a:solidFill>
                  <a:srgbClr val="000000"/>
                </a:solidFill>
                <a:latin typeface="Arial"/>
                <a:ea typeface="Arial"/>
                <a:cs typeface="Arial"/>
                <a:sym typeface="Arial"/>
              </a:rPr>
              <a:t>–</a:t>
            </a:r>
            <a:r>
              <a:rPr lang="en-US" sz="3200" b="1" i="0" u="none" strike="noStrike" cap="none">
                <a:solidFill>
                  <a:srgbClr val="0000FF"/>
                </a:solidFill>
                <a:latin typeface="Arial"/>
                <a:ea typeface="Arial"/>
                <a:cs typeface="Arial"/>
                <a:sym typeface="Arial"/>
              </a:rPr>
              <a:t> </a:t>
            </a:r>
            <a:r>
              <a:rPr lang="en-US" sz="3200" b="0" i="0" u="none" strike="noStrike" cap="none">
                <a:solidFill>
                  <a:srgbClr val="000000"/>
                </a:solidFill>
                <a:latin typeface="Arial"/>
                <a:ea typeface="Arial"/>
                <a:cs typeface="Arial"/>
                <a:sym typeface="Arial"/>
              </a:rPr>
              <a:t>the area of logic that deals with propositions</a:t>
            </a:r>
            <a:endParaRPr/>
          </a:p>
          <a:p>
            <a:pPr marL="742950" marR="0" lvl="1" indent="-285750" algn="l" rtl="0">
              <a:lnSpc>
                <a:spcPct val="90000"/>
              </a:lnSpc>
              <a:spcBef>
                <a:spcPts val="540"/>
              </a:spcBef>
              <a:spcAft>
                <a:spcPts val="0"/>
              </a:spcAft>
              <a:buClr>
                <a:schemeClr val="accent1"/>
              </a:buClr>
              <a:buSzPts val="2700"/>
              <a:buFont typeface="Noto Sans Symbols"/>
              <a:buChar char="⚪"/>
            </a:pPr>
            <a:r>
              <a:rPr lang="en-US" sz="2700" b="0" i="0" u="none" strike="noStrike" cap="none">
                <a:solidFill>
                  <a:srgbClr val="000000"/>
                </a:solidFill>
                <a:latin typeface="Arial"/>
                <a:ea typeface="Arial"/>
                <a:cs typeface="Arial"/>
                <a:sym typeface="Arial"/>
              </a:rPr>
              <a:t>Propositions can be formed by combining one or more propositions using logical operators called </a:t>
            </a:r>
            <a:r>
              <a:rPr lang="en-US" sz="2700" b="1" i="0" u="none" strike="noStrike" cap="none">
                <a:solidFill>
                  <a:srgbClr val="FF3300"/>
                </a:solidFill>
                <a:latin typeface="Arial"/>
                <a:ea typeface="Arial"/>
                <a:cs typeface="Arial"/>
                <a:sym typeface="Arial"/>
              </a:rPr>
              <a:t>compound propositions</a:t>
            </a:r>
            <a:r>
              <a:rPr lang="en-US" sz="2700" b="0" i="0" u="none" strike="noStrike" cap="none">
                <a:solidFill>
                  <a:srgbClr val="000000"/>
                </a:solidFill>
                <a:latin typeface="Arial"/>
                <a:ea typeface="Arial"/>
                <a:cs typeface="Arial"/>
                <a:sym typeface="Arial"/>
              </a:rPr>
              <a:t>.</a:t>
            </a:r>
            <a:endParaRPr/>
          </a:p>
        </p:txBody>
      </p:sp>
      <p:sp>
        <p:nvSpPr>
          <p:cNvPr id="160" name="Google Shape;160;p4"/>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898989"/>
              </a:buClr>
              <a:buSzPts val="1000"/>
              <a:buFont typeface="Arial"/>
              <a:buNone/>
            </a:pPr>
            <a:fld id="{00000000-1234-1234-1234-123412341234}" type="slidenum">
              <a:rPr lang="en-US" sz="1000" b="0" i="0" u="none">
                <a:solidFill>
                  <a:srgbClr val="898989"/>
                </a:solidFill>
                <a:latin typeface="Arial"/>
                <a:ea typeface="Arial"/>
                <a:cs typeface="Arial"/>
                <a:sym typeface="Arial"/>
              </a:rPr>
              <a:t>4</a:t>
            </a:fld>
            <a:endParaRPr/>
          </a:p>
        </p:txBody>
      </p:sp>
      <p:sp>
        <p:nvSpPr>
          <p:cNvPr id="161" name="Google Shape;161;p4"/>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167" name="Google Shape;167;p5"/>
          <p:cNvSpPr txBox="1">
            <a:spLocks noGrp="1"/>
          </p:cNvSpPr>
          <p:nvPr>
            <p:ph type="body" idx="1"/>
          </p:nvPr>
        </p:nvSpPr>
        <p:spPr>
          <a:xfrm>
            <a:off x="685800" y="3276600"/>
            <a:ext cx="8229600" cy="277812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1"/>
              </a:buClr>
              <a:buSzPts val="2400"/>
              <a:buFont typeface="Noto Sans Symbols"/>
              <a:buChar char="●"/>
            </a:pPr>
            <a:r>
              <a:rPr lang="en-US" sz="2400" b="0" i="0" u="none">
                <a:solidFill>
                  <a:schemeClr val="dk1"/>
                </a:solidFill>
                <a:latin typeface="Arial"/>
                <a:ea typeface="Arial"/>
                <a:cs typeface="Arial"/>
                <a:sym typeface="Arial"/>
              </a:rPr>
              <a:t>Examples</a:t>
            </a:r>
            <a:endParaRPr/>
          </a:p>
          <a:p>
            <a:pPr marL="742950" lvl="1" indent="-285750" algn="l" rtl="0">
              <a:lnSpc>
                <a:spcPct val="10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Find the negation of the proposition “Today is Friday.” and express this in simple English.</a:t>
            </a:r>
            <a:endParaRPr/>
          </a:p>
          <a:p>
            <a:pPr marL="742950" lvl="1" indent="-158750" algn="l" rtl="0">
              <a:lnSpc>
                <a:spcPct val="100000"/>
              </a:lnSpc>
              <a:spcBef>
                <a:spcPts val="400"/>
              </a:spcBef>
              <a:spcAft>
                <a:spcPts val="0"/>
              </a:spcAft>
              <a:buClr>
                <a:schemeClr val="accent1"/>
              </a:buClr>
              <a:buSzPts val="2000"/>
              <a:buFont typeface="Noto Sans Symbols"/>
              <a:buNone/>
            </a:pPr>
            <a:endParaRPr sz="2000" b="0" i="0" u="none">
              <a:solidFill>
                <a:schemeClr val="dk1"/>
              </a:solidFill>
              <a:latin typeface="Arial"/>
              <a:ea typeface="Arial"/>
              <a:cs typeface="Arial"/>
              <a:sym typeface="Arial"/>
            </a:endParaRPr>
          </a:p>
          <a:p>
            <a:pPr marL="742950" lvl="1" indent="-158750" algn="l" rtl="0">
              <a:lnSpc>
                <a:spcPct val="100000"/>
              </a:lnSpc>
              <a:spcBef>
                <a:spcPts val="400"/>
              </a:spcBef>
              <a:spcAft>
                <a:spcPts val="0"/>
              </a:spcAft>
              <a:buClr>
                <a:schemeClr val="accent1"/>
              </a:buClr>
              <a:buSzPts val="2000"/>
              <a:buFont typeface="Noto Sans Symbols"/>
              <a:buNone/>
            </a:pPr>
            <a:endParaRPr sz="2000" b="0" i="0" u="none">
              <a:solidFill>
                <a:schemeClr val="dk1"/>
              </a:solidFill>
              <a:latin typeface="Arial"/>
              <a:ea typeface="Arial"/>
              <a:cs typeface="Arial"/>
              <a:sym typeface="Arial"/>
            </a:endParaRPr>
          </a:p>
          <a:p>
            <a:pPr marL="742950" lvl="1" indent="-285750" algn="l" rtl="0">
              <a:lnSpc>
                <a:spcPct val="10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Find the negation of the proposition “At least 10 inches of rain fell today in Miami.” and express this in simple English.</a:t>
            </a:r>
            <a:endParaRPr/>
          </a:p>
          <a:p>
            <a:pPr marL="742950" lvl="1" indent="-114300" algn="l" rtl="0">
              <a:lnSpc>
                <a:spcPct val="100000"/>
              </a:lnSpc>
              <a:spcBef>
                <a:spcPts val="540"/>
              </a:spcBef>
              <a:spcAft>
                <a:spcPts val="0"/>
              </a:spcAft>
              <a:buClr>
                <a:schemeClr val="accent1"/>
              </a:buClr>
              <a:buSzPts val="2700"/>
              <a:buFont typeface="Noto Sans Symbols"/>
              <a:buNone/>
            </a:pPr>
            <a:endParaRPr sz="2700" b="0" i="0" u="none">
              <a:solidFill>
                <a:schemeClr val="dk1"/>
              </a:solidFill>
              <a:latin typeface="Arial"/>
              <a:ea typeface="Arial"/>
              <a:cs typeface="Arial"/>
              <a:sym typeface="Arial"/>
            </a:endParaRPr>
          </a:p>
          <a:p>
            <a:pPr marL="742950" lvl="1" indent="-114300" algn="l" rtl="0">
              <a:lnSpc>
                <a:spcPct val="100000"/>
              </a:lnSpc>
              <a:spcBef>
                <a:spcPts val="540"/>
              </a:spcBef>
              <a:spcAft>
                <a:spcPts val="0"/>
              </a:spcAft>
              <a:buClr>
                <a:schemeClr val="accent1"/>
              </a:buClr>
              <a:buSzPts val="2700"/>
              <a:buFont typeface="Noto Sans Symbols"/>
              <a:buNone/>
            </a:pPr>
            <a:endParaRPr sz="2700" b="0" i="0" u="none">
              <a:solidFill>
                <a:schemeClr val="hlink"/>
              </a:solidFill>
              <a:latin typeface="Arial"/>
              <a:ea typeface="Arial"/>
              <a:cs typeface="Arial"/>
              <a:sym typeface="Arial"/>
            </a:endParaRPr>
          </a:p>
          <a:p>
            <a:pPr marL="342900" lvl="0" indent="-342900" algn="l" rtl="0">
              <a:lnSpc>
                <a:spcPct val="100000"/>
              </a:lnSpc>
              <a:spcBef>
                <a:spcPts val="640"/>
              </a:spcBef>
              <a:spcAft>
                <a:spcPts val="0"/>
              </a:spcAft>
              <a:buSzPts val="3200"/>
              <a:buNone/>
            </a:pPr>
            <a:endParaRPr sz="3200" b="0" i="0" u="none">
              <a:solidFill>
                <a:schemeClr val="dk1"/>
              </a:solidFill>
              <a:latin typeface="Arial"/>
              <a:ea typeface="Arial"/>
              <a:cs typeface="Arial"/>
              <a:sym typeface="Arial"/>
            </a:endParaRPr>
          </a:p>
          <a:p>
            <a:pPr marL="342900" lvl="0" indent="-139700" algn="l" rtl="0">
              <a:spcBef>
                <a:spcPts val="640"/>
              </a:spcBef>
              <a:spcAft>
                <a:spcPts val="0"/>
              </a:spcAft>
              <a:buSzPts val="3200"/>
              <a:buNone/>
            </a:pPr>
            <a:endParaRPr sz="3200" b="0" i="0" u="none">
              <a:solidFill>
                <a:schemeClr val="dk1"/>
              </a:solidFill>
              <a:latin typeface="Arial"/>
              <a:ea typeface="Arial"/>
              <a:cs typeface="Arial"/>
              <a:sym typeface="Arial"/>
            </a:endParaRPr>
          </a:p>
        </p:txBody>
      </p:sp>
      <p:sp>
        <p:nvSpPr>
          <p:cNvPr id="168" name="Google Shape;168;p5"/>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69" name="Google Shape;169;p5"/>
          <p:cNvSpPr txBox="1"/>
          <p:nvPr/>
        </p:nvSpPr>
        <p:spPr>
          <a:xfrm>
            <a:off x="685800" y="1481137"/>
            <a:ext cx="8153400" cy="1719262"/>
          </a:xfrm>
          <a:prstGeom prst="rect">
            <a:avLst/>
          </a:prstGeom>
          <a:solidFill>
            <a:srgbClr val="EBECE8"/>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DEFINITION 1 (Negation of Proposition)</a:t>
            </a:r>
            <a:endParaRPr/>
          </a:p>
          <a:p>
            <a:pPr marL="0" marR="0" lvl="0" indent="0" algn="l" rtl="0">
              <a:lnSpc>
                <a:spcPct val="100000"/>
              </a:lnSpc>
              <a:spcBef>
                <a:spcPts val="0"/>
              </a:spcBef>
              <a:spcAft>
                <a:spcPts val="0"/>
              </a:spcAft>
              <a:buClr>
                <a:schemeClr val="dk1"/>
              </a:buClr>
              <a:buSzPts val="800"/>
              <a:buFont typeface="Arial"/>
              <a:buNone/>
            </a:pPr>
            <a:endParaRPr sz="800" b="0" i="0" u="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Let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be a proposition. The negation of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denoted by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is the statement 		“It is not the case that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a:t>
            </a:r>
            <a:endParaRPr/>
          </a:p>
          <a:p>
            <a:pPr marL="457200" marR="0" lvl="1" indent="0" algn="l" rtl="0">
              <a:lnSpc>
                <a:spcPct val="100000"/>
              </a:lnSpc>
              <a:spcBef>
                <a:spcPts val="0"/>
              </a:spcBef>
              <a:spcAft>
                <a:spcPts val="0"/>
              </a:spcAft>
              <a:buClr>
                <a:schemeClr val="dk1"/>
              </a:buClr>
              <a:buSzPts val="800"/>
              <a:buFont typeface="Arial"/>
              <a:buNone/>
            </a:pPr>
            <a:endParaRPr sz="800" b="0"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The proposition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is read “not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The truth value of the negation of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is the opposite of the truth value of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a:t>
            </a:r>
            <a:endParaRPr/>
          </a:p>
        </p:txBody>
      </p:sp>
      <p:sp>
        <p:nvSpPr>
          <p:cNvPr id="170" name="Google Shape;170;p5"/>
          <p:cNvSpPr txBox="1"/>
          <p:nvPr/>
        </p:nvSpPr>
        <p:spPr>
          <a:xfrm>
            <a:off x="1447800" y="4341812"/>
            <a:ext cx="6858000" cy="9159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1800"/>
              <a:buFont typeface="Arial"/>
              <a:buNone/>
            </a:pPr>
            <a:r>
              <a:rPr lang="en-US" sz="1800" b="0" i="0" u="none">
                <a:solidFill>
                  <a:srgbClr val="FF3300"/>
                </a:solidFill>
                <a:latin typeface="Arial"/>
                <a:ea typeface="Arial"/>
                <a:cs typeface="Arial"/>
                <a:sym typeface="Arial"/>
              </a:rPr>
              <a:t>Solution</a:t>
            </a:r>
            <a:r>
              <a:rPr lang="en-US" sz="1800" b="0" i="0" u="none">
                <a:solidFill>
                  <a:schemeClr val="dk1"/>
                </a:solidFill>
                <a:latin typeface="Arial"/>
                <a:ea typeface="Arial"/>
                <a:cs typeface="Arial"/>
                <a:sym typeface="Arial"/>
              </a:rPr>
              <a:t>: The negation is “It is not the case that </a:t>
            </a:r>
            <a:r>
              <a:rPr lang="en-US" sz="1800" b="0" i="1" u="none">
                <a:solidFill>
                  <a:schemeClr val="dk1"/>
                </a:solidFill>
                <a:latin typeface="Arial"/>
                <a:ea typeface="Arial"/>
                <a:cs typeface="Arial"/>
                <a:sym typeface="Arial"/>
              </a:rPr>
              <a:t>today is Friday</a:t>
            </a:r>
            <a:r>
              <a:rPr lang="en-US" sz="1800" b="0" i="0" u="none">
                <a:solidFill>
                  <a:schemeClr val="dk1"/>
                </a:solidFill>
                <a:latin typeface="Arial"/>
                <a:ea typeface="Arial"/>
                <a:cs typeface="Arial"/>
                <a:sym typeface="Arial"/>
              </a:rPr>
              <a:t>.”</a:t>
            </a:r>
            <a:br>
              <a:rPr lang="en-US" sz="1800" b="0" i="0" u="none">
                <a:solidFill>
                  <a:schemeClr val="dk1"/>
                </a:solidFill>
                <a:latin typeface="Arial"/>
                <a:ea typeface="Arial"/>
                <a:cs typeface="Arial"/>
                <a:sym typeface="Arial"/>
              </a:rPr>
            </a:br>
            <a:r>
              <a:rPr lang="en-US" sz="1800" b="0" i="0" u="none">
                <a:solidFill>
                  <a:schemeClr val="dk1"/>
                </a:solidFill>
                <a:latin typeface="Arial"/>
                <a:ea typeface="Arial"/>
                <a:cs typeface="Arial"/>
                <a:sym typeface="Arial"/>
              </a:rPr>
              <a:t>   	 In simple English, “Today is not Friday.” or “It is not 	   	 Friday today.” </a:t>
            </a:r>
            <a:endParaRPr/>
          </a:p>
        </p:txBody>
      </p:sp>
      <p:sp>
        <p:nvSpPr>
          <p:cNvPr id="171" name="Google Shape;171;p5"/>
          <p:cNvSpPr txBox="1"/>
          <p:nvPr/>
        </p:nvSpPr>
        <p:spPr>
          <a:xfrm>
            <a:off x="1524000" y="5715000"/>
            <a:ext cx="6858000" cy="11906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1800"/>
              <a:buFont typeface="Arial"/>
              <a:buNone/>
            </a:pPr>
            <a:r>
              <a:rPr lang="en-US" sz="1800" b="0" i="0" u="none">
                <a:solidFill>
                  <a:srgbClr val="FF3300"/>
                </a:solidFill>
                <a:latin typeface="Arial"/>
                <a:ea typeface="Arial"/>
                <a:cs typeface="Arial"/>
                <a:sym typeface="Arial"/>
              </a:rPr>
              <a:t>Solution</a:t>
            </a:r>
            <a:r>
              <a:rPr lang="en-US" sz="1800" b="0" i="0" u="none">
                <a:solidFill>
                  <a:schemeClr val="dk1"/>
                </a:solidFill>
                <a:latin typeface="Arial"/>
                <a:ea typeface="Arial"/>
                <a:cs typeface="Arial"/>
                <a:sym typeface="Arial"/>
              </a:rPr>
              <a:t>: The negation is “It is not the case that </a:t>
            </a:r>
            <a:r>
              <a:rPr lang="en-US" sz="1800" b="0" i="1" u="none">
                <a:solidFill>
                  <a:schemeClr val="dk1"/>
                </a:solidFill>
                <a:latin typeface="Arial"/>
                <a:ea typeface="Arial"/>
                <a:cs typeface="Arial"/>
                <a:sym typeface="Arial"/>
              </a:rPr>
              <a:t>at least 10 inches 	 of rain fell today in Miami</a:t>
            </a:r>
            <a:r>
              <a:rPr lang="en-US" sz="1800" b="0" i="0" u="none">
                <a:solidFill>
                  <a:schemeClr val="dk1"/>
                </a:solidFill>
                <a:latin typeface="Arial"/>
                <a:ea typeface="Arial"/>
                <a:cs typeface="Arial"/>
                <a:sym typeface="Arial"/>
              </a:rPr>
              <a:t>.”</a:t>
            </a:r>
            <a:br>
              <a:rPr lang="en-US" sz="1800" b="0" i="0" u="none">
                <a:solidFill>
                  <a:schemeClr val="dk1"/>
                </a:solidFill>
                <a:latin typeface="Arial"/>
                <a:ea typeface="Arial"/>
                <a:cs typeface="Arial"/>
                <a:sym typeface="Arial"/>
              </a:rPr>
            </a:br>
            <a:r>
              <a:rPr lang="en-US" sz="1800" b="0" i="0" u="none">
                <a:solidFill>
                  <a:schemeClr val="dk1"/>
                </a:solidFill>
                <a:latin typeface="Arial"/>
                <a:ea typeface="Arial"/>
                <a:cs typeface="Arial"/>
                <a:sym typeface="Arial"/>
              </a:rPr>
              <a:t>   	 In simple English, “Less than 10 inches of rain fell today 	 in Miami.”</a:t>
            </a:r>
            <a:endParaRPr/>
          </a:p>
        </p:txBody>
      </p:sp>
      <p:sp>
        <p:nvSpPr>
          <p:cNvPr id="172" name="Google Shape;172;p5"/>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500"/>
                                        <p:tgtEl>
                                          <p:spTgt spid="17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1"/>
                                        </p:tgtEl>
                                        <p:attrNameLst>
                                          <p:attrName>style.visibility</p:attrName>
                                        </p:attrNameLst>
                                      </p:cBhvr>
                                      <p:to>
                                        <p:strVal val="visible"/>
                                      </p:to>
                                    </p:set>
                                    <p:anim calcmode="lin" valueType="num">
                                      <p:cBhvr additive="base">
                                        <p:cTn id="12" dur="500"/>
                                        <p:tgtEl>
                                          <p:spTgt spid="1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178" name="Google Shape;178;p6"/>
          <p:cNvSpPr txBox="1">
            <a:spLocks noGrp="1"/>
          </p:cNvSpPr>
          <p:nvPr>
            <p:ph type="body" idx="1"/>
          </p:nvPr>
        </p:nvSpPr>
        <p:spPr>
          <a:xfrm>
            <a:off x="457200" y="1600200"/>
            <a:ext cx="8382000" cy="453072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Note: Always assume fixed times, fixed places, and particular people unless otherwise noted.</a:t>
            </a:r>
            <a:endParaRPr/>
          </a:p>
          <a:p>
            <a:pPr marL="342900" lvl="0" indent="-342900" algn="l" rtl="0">
              <a:lnSpc>
                <a:spcPct val="10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Truth table:</a:t>
            </a:r>
            <a:endParaRPr/>
          </a:p>
          <a:p>
            <a:pPr marL="342900" lvl="0" indent="-215900" algn="l" rtl="0">
              <a:lnSpc>
                <a:spcPct val="100000"/>
              </a:lnSpc>
              <a:spcBef>
                <a:spcPts val="400"/>
              </a:spcBef>
              <a:spcAft>
                <a:spcPts val="0"/>
              </a:spcAft>
              <a:buClr>
                <a:schemeClr val="accent1"/>
              </a:buClr>
              <a:buSzPts val="2000"/>
              <a:buFont typeface="Noto Sans Symbols"/>
              <a:buNone/>
            </a:pPr>
            <a:endParaRPr sz="2000" b="0" i="0" u="none">
              <a:solidFill>
                <a:schemeClr val="dk1"/>
              </a:solidFill>
              <a:latin typeface="Arial"/>
              <a:ea typeface="Arial"/>
              <a:cs typeface="Arial"/>
              <a:sym typeface="Arial"/>
            </a:endParaRPr>
          </a:p>
          <a:p>
            <a:pPr marL="342900" lvl="0" indent="-215900" algn="l" rtl="0">
              <a:lnSpc>
                <a:spcPct val="100000"/>
              </a:lnSpc>
              <a:spcBef>
                <a:spcPts val="400"/>
              </a:spcBef>
              <a:spcAft>
                <a:spcPts val="0"/>
              </a:spcAft>
              <a:buClr>
                <a:schemeClr val="accent1"/>
              </a:buClr>
              <a:buSzPts val="2000"/>
              <a:buFont typeface="Noto Sans Symbols"/>
              <a:buNone/>
            </a:pPr>
            <a:endParaRPr sz="2000" b="0" i="0" u="none">
              <a:solidFill>
                <a:schemeClr val="dk1"/>
              </a:solidFill>
              <a:latin typeface="Arial"/>
              <a:ea typeface="Arial"/>
              <a:cs typeface="Arial"/>
              <a:sym typeface="Arial"/>
            </a:endParaRPr>
          </a:p>
          <a:p>
            <a:pPr marL="342900" lvl="0" indent="-215900" algn="l" rtl="0">
              <a:lnSpc>
                <a:spcPct val="100000"/>
              </a:lnSpc>
              <a:spcBef>
                <a:spcPts val="400"/>
              </a:spcBef>
              <a:spcAft>
                <a:spcPts val="0"/>
              </a:spcAft>
              <a:buClr>
                <a:schemeClr val="accent1"/>
              </a:buClr>
              <a:buSzPts val="2000"/>
              <a:buFont typeface="Noto Sans Symbols"/>
              <a:buNone/>
            </a:pPr>
            <a:endParaRPr sz="2000" b="0" i="0" u="none">
              <a:solidFill>
                <a:schemeClr val="dk1"/>
              </a:solidFill>
              <a:latin typeface="Arial"/>
              <a:ea typeface="Arial"/>
              <a:cs typeface="Arial"/>
              <a:sym typeface="Arial"/>
            </a:endParaRPr>
          </a:p>
          <a:p>
            <a:pPr marL="342900" lvl="0" indent="-215900" algn="l" rtl="0">
              <a:lnSpc>
                <a:spcPct val="100000"/>
              </a:lnSpc>
              <a:spcBef>
                <a:spcPts val="400"/>
              </a:spcBef>
              <a:spcAft>
                <a:spcPts val="0"/>
              </a:spcAft>
              <a:buClr>
                <a:schemeClr val="accent1"/>
              </a:buClr>
              <a:buSzPts val="2000"/>
              <a:buFont typeface="Noto Sans Symbols"/>
              <a:buNone/>
            </a:pPr>
            <a:endParaRPr sz="2000" b="0" i="0" u="none">
              <a:solidFill>
                <a:schemeClr val="dk1"/>
              </a:solidFill>
              <a:latin typeface="Arial"/>
              <a:ea typeface="Arial"/>
              <a:cs typeface="Arial"/>
              <a:sym typeface="Arial"/>
            </a:endParaRPr>
          </a:p>
          <a:p>
            <a:pPr marL="342900" lvl="0" indent="-215900" algn="l" rtl="0">
              <a:lnSpc>
                <a:spcPct val="100000"/>
              </a:lnSpc>
              <a:spcBef>
                <a:spcPts val="400"/>
              </a:spcBef>
              <a:spcAft>
                <a:spcPts val="0"/>
              </a:spcAft>
              <a:buClr>
                <a:schemeClr val="accent1"/>
              </a:buClr>
              <a:buSzPts val="2000"/>
              <a:buFont typeface="Noto Sans Symbols"/>
              <a:buNone/>
            </a:pPr>
            <a:endParaRPr sz="2000" b="0" i="0" u="none">
              <a:solidFill>
                <a:schemeClr val="dk1"/>
              </a:solidFill>
              <a:latin typeface="Arial"/>
              <a:ea typeface="Arial"/>
              <a:cs typeface="Arial"/>
              <a:sym typeface="Arial"/>
            </a:endParaRPr>
          </a:p>
          <a:p>
            <a:pPr marL="342900" lvl="0" indent="-342900" algn="l" rtl="0">
              <a:lnSpc>
                <a:spcPct val="100000"/>
              </a:lnSpc>
              <a:spcBef>
                <a:spcPts val="400"/>
              </a:spcBef>
              <a:spcAft>
                <a:spcPts val="0"/>
              </a:spcAft>
              <a:buClr>
                <a:schemeClr val="accent1"/>
              </a:buClr>
              <a:buSzPts val="2000"/>
              <a:buFont typeface="Noto Sans Symbols"/>
              <a:buChar char="●"/>
            </a:pPr>
            <a:r>
              <a:rPr lang="en-US" sz="2000" b="0" i="0" u="none">
                <a:solidFill>
                  <a:schemeClr val="hlink"/>
                </a:solidFill>
                <a:latin typeface="Arial"/>
                <a:ea typeface="Arial"/>
                <a:cs typeface="Arial"/>
                <a:sym typeface="Arial"/>
              </a:rPr>
              <a:t>Logical operators</a:t>
            </a:r>
            <a:r>
              <a:rPr lang="en-US" sz="2000" b="0" i="0" u="none">
                <a:solidFill>
                  <a:schemeClr val="dk1"/>
                </a:solidFill>
                <a:latin typeface="Arial"/>
                <a:ea typeface="Arial"/>
                <a:cs typeface="Arial"/>
                <a:sym typeface="Arial"/>
              </a:rPr>
              <a:t> are used to form new propositions from two or more existing propositions. The logical operators are also called </a:t>
            </a:r>
            <a:r>
              <a:rPr lang="en-US" sz="2000" b="0" i="0" u="none">
                <a:solidFill>
                  <a:schemeClr val="hlink"/>
                </a:solidFill>
                <a:latin typeface="Arial"/>
                <a:ea typeface="Arial"/>
                <a:cs typeface="Arial"/>
                <a:sym typeface="Arial"/>
              </a:rPr>
              <a:t>connectives.</a:t>
            </a:r>
            <a:endParaRPr/>
          </a:p>
          <a:p>
            <a:pPr marL="742950" lvl="1" indent="-171450" algn="l" rtl="0">
              <a:lnSpc>
                <a:spcPct val="100000"/>
              </a:lnSpc>
              <a:spcBef>
                <a:spcPts val="360"/>
              </a:spcBef>
              <a:spcAft>
                <a:spcPts val="0"/>
              </a:spcAft>
              <a:buClr>
                <a:schemeClr val="accent1"/>
              </a:buClr>
              <a:buSzPts val="1800"/>
              <a:buFont typeface="Noto Sans Symbols"/>
              <a:buNone/>
            </a:pPr>
            <a:endParaRPr sz="1800" b="0" i="0" u="none">
              <a:solidFill>
                <a:schemeClr val="hlink"/>
              </a:solidFill>
              <a:latin typeface="Arial"/>
              <a:ea typeface="Arial"/>
              <a:cs typeface="Arial"/>
              <a:sym typeface="Arial"/>
            </a:endParaRPr>
          </a:p>
          <a:p>
            <a:pPr marL="742950" lvl="1" indent="-171450" algn="l" rtl="0">
              <a:lnSpc>
                <a:spcPct val="100000"/>
              </a:lnSpc>
              <a:spcBef>
                <a:spcPts val="360"/>
              </a:spcBef>
              <a:spcAft>
                <a:spcPts val="0"/>
              </a:spcAft>
              <a:buClr>
                <a:schemeClr val="accent1"/>
              </a:buClr>
              <a:buSzPts val="1800"/>
              <a:buFont typeface="Noto Sans Symbols"/>
              <a:buNone/>
            </a:pPr>
            <a:endParaRPr sz="1800" b="0" i="0" u="none">
              <a:solidFill>
                <a:schemeClr val="hlink"/>
              </a:solidFill>
              <a:latin typeface="Arial"/>
              <a:ea typeface="Arial"/>
              <a:cs typeface="Arial"/>
              <a:sym typeface="Arial"/>
            </a:endParaRPr>
          </a:p>
          <a:p>
            <a:pPr marL="742950" lvl="1" indent="-139700" algn="l" rtl="0">
              <a:lnSpc>
                <a:spcPct val="100000"/>
              </a:lnSpc>
              <a:spcBef>
                <a:spcPts val="460"/>
              </a:spcBef>
              <a:spcAft>
                <a:spcPts val="0"/>
              </a:spcAft>
              <a:buClr>
                <a:schemeClr val="accent1"/>
              </a:buClr>
              <a:buSzPts val="2300"/>
              <a:buFont typeface="Noto Sans Symbols"/>
              <a:buNone/>
            </a:pPr>
            <a:endParaRPr sz="2300" b="0" i="0" u="none">
              <a:solidFill>
                <a:schemeClr val="dk1"/>
              </a:solidFill>
              <a:latin typeface="Arial"/>
              <a:ea typeface="Arial"/>
              <a:cs typeface="Arial"/>
              <a:sym typeface="Arial"/>
            </a:endParaRPr>
          </a:p>
          <a:p>
            <a:pPr marL="742950" lvl="1" indent="-139700" algn="l" rtl="0">
              <a:lnSpc>
                <a:spcPct val="100000"/>
              </a:lnSpc>
              <a:spcBef>
                <a:spcPts val="460"/>
              </a:spcBef>
              <a:spcAft>
                <a:spcPts val="0"/>
              </a:spcAft>
              <a:buClr>
                <a:schemeClr val="accent1"/>
              </a:buClr>
              <a:buSzPts val="2300"/>
              <a:buFont typeface="Noto Sans Symbols"/>
              <a:buNone/>
            </a:pPr>
            <a:endParaRPr sz="2300" b="0" i="0" u="none">
              <a:solidFill>
                <a:schemeClr val="hlink"/>
              </a:solidFill>
              <a:latin typeface="Arial"/>
              <a:ea typeface="Arial"/>
              <a:cs typeface="Arial"/>
              <a:sym typeface="Arial"/>
            </a:endParaRPr>
          </a:p>
          <a:p>
            <a:pPr marL="342900" lvl="0" indent="-342900" algn="l" rtl="0">
              <a:lnSpc>
                <a:spcPct val="100000"/>
              </a:lnSpc>
              <a:spcBef>
                <a:spcPts val="560"/>
              </a:spcBef>
              <a:spcAft>
                <a:spcPts val="0"/>
              </a:spcAft>
              <a:buSzPts val="2800"/>
              <a:buNone/>
            </a:pPr>
            <a:endParaRPr sz="2800" b="0" i="0" u="none">
              <a:solidFill>
                <a:schemeClr val="dk1"/>
              </a:solidFill>
              <a:latin typeface="Arial"/>
              <a:ea typeface="Arial"/>
              <a:cs typeface="Arial"/>
              <a:sym typeface="Arial"/>
            </a:endParaRPr>
          </a:p>
          <a:p>
            <a:pPr marL="342900" lvl="0" indent="-165100" algn="l" rtl="0">
              <a:spcBef>
                <a:spcPts val="560"/>
              </a:spcBef>
              <a:spcAft>
                <a:spcPts val="0"/>
              </a:spcAft>
              <a:buSzPts val="2800"/>
              <a:buNone/>
            </a:pPr>
            <a:endParaRPr sz="2800" b="0" i="0" u="none">
              <a:solidFill>
                <a:schemeClr val="dk1"/>
              </a:solidFill>
              <a:latin typeface="Arial"/>
              <a:ea typeface="Arial"/>
              <a:cs typeface="Arial"/>
              <a:sym typeface="Arial"/>
            </a:endParaRPr>
          </a:p>
        </p:txBody>
      </p:sp>
      <p:sp>
        <p:nvSpPr>
          <p:cNvPr id="179" name="Google Shape;179;p6"/>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180" name="Google Shape;180;p6"/>
          <p:cNvGraphicFramePr/>
          <p:nvPr/>
        </p:nvGraphicFramePr>
        <p:xfrm>
          <a:off x="2514600" y="2362200"/>
          <a:ext cx="3000000" cy="3000000"/>
        </p:xfrm>
        <a:graphic>
          <a:graphicData uri="http://schemas.openxmlformats.org/drawingml/2006/table">
            <a:tbl>
              <a:tblPr>
                <a:noFill/>
                <a:tableStyleId>{397577B6-D47A-466E-84E6-29D3DF76FDB9}</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701675">
                <a:tc gridSpan="2">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The Truth Table for the Negation of a Proposition.</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7EDE7"/>
                    </a:solidFill>
                  </a:tcPr>
                </a:tc>
                <a:tc hMerge="1">
                  <a:txBody>
                    <a:bodyPr/>
                    <a:lstStyle/>
                    <a:p>
                      <a:endParaRPr lang="en-US"/>
                    </a:p>
                  </a:txBody>
                  <a:tcPr/>
                </a:tc>
                <a:extLst>
                  <a:ext uri="{0D108BD9-81ED-4DB2-BD59-A6C34878D82A}">
                    <a16:rowId xmlns:a16="http://schemas.microsoft.com/office/drawing/2014/main" val="10000"/>
                  </a:ext>
                </a:extLst>
              </a:tr>
              <a:tr h="395275">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a:t>
                      </a:r>
                      <a:r>
                        <a:rPr lang="en-US" sz="2000" b="0" i="1" u="none" strike="noStrike" cap="none">
                          <a:solidFill>
                            <a:schemeClr val="dk1"/>
                          </a:solidFill>
                          <a:latin typeface="Arial"/>
                          <a:ea typeface="Arial"/>
                          <a:cs typeface="Arial"/>
                          <a:sym typeface="Arial"/>
                        </a:rPr>
                        <a:t>p</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03275">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81" name="Google Shape;181;p6"/>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187" name="Google Shape;187;p7"/>
          <p:cNvSpPr txBox="1">
            <a:spLocks noGrp="1"/>
          </p:cNvSpPr>
          <p:nvPr>
            <p:ph type="body" idx="1"/>
          </p:nvPr>
        </p:nvSpPr>
        <p:spPr>
          <a:xfrm>
            <a:off x="685800" y="2936875"/>
            <a:ext cx="8229600" cy="277812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1"/>
              </a:buClr>
              <a:buSzPts val="2400"/>
              <a:buFont typeface="Noto Sans Symbols"/>
              <a:buChar char="●"/>
            </a:pPr>
            <a:r>
              <a:rPr lang="en-US" sz="2400" b="0" i="0" u="none">
                <a:solidFill>
                  <a:schemeClr val="dk1"/>
                </a:solidFill>
                <a:latin typeface="Arial"/>
                <a:ea typeface="Arial"/>
                <a:cs typeface="Arial"/>
                <a:sym typeface="Arial"/>
              </a:rPr>
              <a:t>Examples</a:t>
            </a:r>
            <a:endParaRPr/>
          </a:p>
          <a:p>
            <a:pPr marL="742950" lvl="1" indent="-285750" algn="l" rtl="0">
              <a:lnSpc>
                <a:spcPct val="10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Find the conjunction of the propositions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and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where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is the proposition “Today is Friday.” and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is the proposition “It is raining today.”, and the truth value of the conjunction.</a:t>
            </a:r>
            <a:endParaRPr/>
          </a:p>
          <a:p>
            <a:pPr marL="742950" lvl="1" indent="-158750" algn="l" rtl="0">
              <a:lnSpc>
                <a:spcPct val="100000"/>
              </a:lnSpc>
              <a:spcBef>
                <a:spcPts val="400"/>
              </a:spcBef>
              <a:spcAft>
                <a:spcPts val="0"/>
              </a:spcAft>
              <a:buClr>
                <a:schemeClr val="accent1"/>
              </a:buClr>
              <a:buSzPts val="2000"/>
              <a:buFont typeface="Noto Sans Symbols"/>
              <a:buNone/>
            </a:pPr>
            <a:endParaRPr sz="2000" b="0" i="0" u="none">
              <a:solidFill>
                <a:schemeClr val="dk1"/>
              </a:solidFill>
              <a:latin typeface="Arial"/>
              <a:ea typeface="Arial"/>
              <a:cs typeface="Arial"/>
              <a:sym typeface="Arial"/>
            </a:endParaRPr>
          </a:p>
          <a:p>
            <a:pPr marL="742950" lvl="1" indent="-158750" algn="l" rtl="0">
              <a:lnSpc>
                <a:spcPct val="100000"/>
              </a:lnSpc>
              <a:spcBef>
                <a:spcPts val="400"/>
              </a:spcBef>
              <a:spcAft>
                <a:spcPts val="0"/>
              </a:spcAft>
              <a:buClr>
                <a:schemeClr val="accent1"/>
              </a:buClr>
              <a:buSzPts val="2000"/>
              <a:buFont typeface="Noto Sans Symbols"/>
              <a:buNone/>
            </a:pPr>
            <a:endParaRPr sz="2000" b="0" i="0" u="none">
              <a:solidFill>
                <a:schemeClr val="dk1"/>
              </a:solidFill>
              <a:latin typeface="Arial"/>
              <a:ea typeface="Arial"/>
              <a:cs typeface="Arial"/>
              <a:sym typeface="Arial"/>
            </a:endParaRPr>
          </a:p>
          <a:p>
            <a:pPr marL="742950" lvl="1" indent="-285750" algn="l" rtl="0">
              <a:lnSpc>
                <a:spcPct val="100000"/>
              </a:lnSpc>
              <a:spcBef>
                <a:spcPts val="540"/>
              </a:spcBef>
              <a:spcAft>
                <a:spcPts val="0"/>
              </a:spcAft>
              <a:buSzPts val="2700"/>
              <a:buNone/>
            </a:pPr>
            <a:endParaRPr sz="2700" b="0" i="0" u="none">
              <a:solidFill>
                <a:schemeClr val="hlink"/>
              </a:solidFill>
              <a:latin typeface="Arial"/>
              <a:ea typeface="Arial"/>
              <a:cs typeface="Arial"/>
              <a:sym typeface="Arial"/>
            </a:endParaRPr>
          </a:p>
          <a:p>
            <a:pPr marL="342900" lvl="0" indent="-342900" algn="l" rtl="0">
              <a:lnSpc>
                <a:spcPct val="100000"/>
              </a:lnSpc>
              <a:spcBef>
                <a:spcPts val="640"/>
              </a:spcBef>
              <a:spcAft>
                <a:spcPts val="0"/>
              </a:spcAft>
              <a:buSzPts val="3200"/>
              <a:buNone/>
            </a:pPr>
            <a:endParaRPr sz="3200" b="0" i="0" u="none">
              <a:solidFill>
                <a:schemeClr val="dk1"/>
              </a:solidFill>
              <a:latin typeface="Arial"/>
              <a:ea typeface="Arial"/>
              <a:cs typeface="Arial"/>
              <a:sym typeface="Arial"/>
            </a:endParaRPr>
          </a:p>
          <a:p>
            <a:pPr marL="342900" lvl="0" indent="-139700" algn="l" rtl="0">
              <a:spcBef>
                <a:spcPts val="640"/>
              </a:spcBef>
              <a:spcAft>
                <a:spcPts val="0"/>
              </a:spcAft>
              <a:buSzPts val="3200"/>
              <a:buNone/>
            </a:pPr>
            <a:endParaRPr sz="3200" b="0" i="0" u="none">
              <a:solidFill>
                <a:schemeClr val="dk1"/>
              </a:solidFill>
              <a:latin typeface="Arial"/>
              <a:ea typeface="Arial"/>
              <a:cs typeface="Arial"/>
              <a:sym typeface="Arial"/>
            </a:endParaRPr>
          </a:p>
        </p:txBody>
      </p:sp>
      <p:sp>
        <p:nvSpPr>
          <p:cNvPr id="188" name="Google Shape;188;p7"/>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9" name="Google Shape;189;p7"/>
          <p:cNvSpPr txBox="1"/>
          <p:nvPr/>
        </p:nvSpPr>
        <p:spPr>
          <a:xfrm>
            <a:off x="685800" y="1481137"/>
            <a:ext cx="7772400" cy="1322387"/>
          </a:xfrm>
          <a:prstGeom prst="rect">
            <a:avLst/>
          </a:prstGeom>
          <a:solidFill>
            <a:srgbClr val="EBECE8"/>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DEFINITION 2 (Conjunction)</a:t>
            </a:r>
            <a:endParaRPr/>
          </a:p>
          <a:p>
            <a:pPr marL="0" marR="0" lvl="0" indent="0" algn="l" rtl="0">
              <a:lnSpc>
                <a:spcPct val="100000"/>
              </a:lnSpc>
              <a:spcBef>
                <a:spcPts val="0"/>
              </a:spcBef>
              <a:spcAft>
                <a:spcPts val="0"/>
              </a:spcAft>
              <a:buClr>
                <a:schemeClr val="dk1"/>
              </a:buClr>
              <a:buSzPts val="800"/>
              <a:buFont typeface="Arial"/>
              <a:buNone/>
            </a:pPr>
            <a:endParaRPr sz="800" b="0" i="0" u="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Let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be propositions. The </a:t>
            </a:r>
            <a:r>
              <a:rPr lang="en-US" sz="1800" b="0" i="1" u="none" strike="noStrike" cap="none">
                <a:solidFill>
                  <a:schemeClr val="dk1"/>
                </a:solidFill>
                <a:latin typeface="Arial"/>
                <a:ea typeface="Arial"/>
                <a:cs typeface="Arial"/>
                <a:sym typeface="Arial"/>
              </a:rPr>
              <a:t>conjunction</a:t>
            </a:r>
            <a:r>
              <a:rPr lang="en-US" sz="1800" b="0" i="0" u="none" strike="noStrike" cap="none">
                <a:solidFill>
                  <a:schemeClr val="dk1"/>
                </a:solidFill>
                <a:latin typeface="Arial"/>
                <a:ea typeface="Arial"/>
                <a:cs typeface="Arial"/>
                <a:sym typeface="Arial"/>
              </a:rPr>
              <a:t> of </a:t>
            </a:r>
            <a:r>
              <a:rPr lang="en-US" sz="1800" b="0" i="1" u="none" strike="noStrike" cap="none">
                <a:solidFill>
                  <a:schemeClr val="dk1"/>
                </a:solidFill>
                <a:latin typeface="Arial"/>
                <a:ea typeface="Arial"/>
                <a:cs typeface="Arial"/>
                <a:sym typeface="Arial"/>
              </a:rPr>
              <a:t>p </a:t>
            </a:r>
            <a:r>
              <a:rPr lang="en-US" sz="1800" b="0" i="0" u="none" strike="noStrike" cap="none">
                <a:solidFill>
                  <a:schemeClr val="dk1"/>
                </a:solidFill>
                <a:latin typeface="Arial"/>
                <a:ea typeface="Arial"/>
                <a:cs typeface="Arial"/>
                <a:sym typeface="Arial"/>
              </a:rPr>
              <a:t>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denoted by </a:t>
            </a:r>
            <a:r>
              <a:rPr lang="en-US" sz="1800" b="0" i="1" u="none" strike="noStrike" cap="none">
                <a:solidFill>
                  <a:schemeClr val="dk1"/>
                </a:solidFill>
                <a:latin typeface="Arial"/>
                <a:ea typeface="Arial"/>
                <a:cs typeface="Arial"/>
                <a:sym typeface="Arial"/>
              </a:rPr>
              <a:t>p </a:t>
            </a:r>
            <a:r>
              <a:rPr lang="en-US" sz="1400" b="0" i="0" u="none" strike="noStrike" cap="none">
                <a:solidFill>
                  <a:schemeClr val="dk1"/>
                </a:solidFill>
                <a:latin typeface="Arial"/>
                <a:ea typeface="Arial"/>
                <a:cs typeface="Arial"/>
                <a:sym typeface="Arial"/>
              </a:rPr>
              <a:t>Λ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is the proposition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The conjunction </a:t>
            </a:r>
            <a:r>
              <a:rPr lang="en-US" sz="1800" b="0" i="1" u="none" strike="noStrike" cap="none">
                <a:solidFill>
                  <a:schemeClr val="dk1"/>
                </a:solidFill>
                <a:latin typeface="Arial"/>
                <a:ea typeface="Arial"/>
                <a:cs typeface="Arial"/>
                <a:sym typeface="Arial"/>
              </a:rPr>
              <a:t>p </a:t>
            </a:r>
            <a:r>
              <a:rPr lang="en-US" sz="1400" b="0" i="0" u="none" strike="noStrike" cap="none">
                <a:solidFill>
                  <a:schemeClr val="dk1"/>
                </a:solidFill>
                <a:latin typeface="Arial"/>
                <a:ea typeface="Arial"/>
                <a:cs typeface="Arial"/>
                <a:sym typeface="Arial"/>
              </a:rPr>
              <a:t>Λ</a:t>
            </a:r>
            <a:r>
              <a:rPr lang="en-US" sz="1800" b="0" i="0" u="none" strike="noStrike" cap="none">
                <a:solidFill>
                  <a:schemeClr val="dk1"/>
                </a:solidFill>
                <a:latin typeface="Arial"/>
                <a:ea typeface="Arial"/>
                <a:cs typeface="Arial"/>
                <a:sym typeface="Arial"/>
              </a:rPr>
              <a:t>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is true when both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 </a:t>
            </a:r>
            <a:r>
              <a:rPr lang="en-US" sz="1800" b="0" i="0" u="none" strike="noStrike" cap="none">
                <a:solidFill>
                  <a:schemeClr val="dk1"/>
                </a:solidFill>
                <a:latin typeface="Arial"/>
                <a:ea typeface="Arial"/>
                <a:cs typeface="Arial"/>
                <a:sym typeface="Arial"/>
              </a:rPr>
              <a:t>are true and is false otherwise. 		</a:t>
            </a:r>
            <a:endParaRPr/>
          </a:p>
        </p:txBody>
      </p:sp>
      <p:sp>
        <p:nvSpPr>
          <p:cNvPr id="190" name="Google Shape;190;p7"/>
          <p:cNvSpPr txBox="1"/>
          <p:nvPr/>
        </p:nvSpPr>
        <p:spPr>
          <a:xfrm>
            <a:off x="1447800" y="4387850"/>
            <a:ext cx="6858000" cy="6413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1800"/>
              <a:buFont typeface="Arial"/>
              <a:buNone/>
            </a:pPr>
            <a:r>
              <a:rPr lang="en-US" sz="1800" b="0" i="0" u="none">
                <a:solidFill>
                  <a:srgbClr val="FF3300"/>
                </a:solidFill>
                <a:latin typeface="Arial"/>
                <a:ea typeface="Arial"/>
                <a:cs typeface="Arial"/>
                <a:sym typeface="Arial"/>
              </a:rPr>
              <a:t>Solution</a:t>
            </a:r>
            <a:r>
              <a:rPr lang="en-US" sz="1800" b="0" i="0" u="none">
                <a:solidFill>
                  <a:schemeClr val="dk1"/>
                </a:solidFill>
                <a:latin typeface="Arial"/>
                <a:ea typeface="Arial"/>
                <a:cs typeface="Arial"/>
                <a:sym typeface="Arial"/>
              </a:rPr>
              <a:t>: The conjunction is the proposition “Today is Friday and it is raining today.” The proposition is true on rainy Fridays.   	</a:t>
            </a:r>
            <a:endParaRPr/>
          </a:p>
        </p:txBody>
      </p:sp>
      <p:sp>
        <p:nvSpPr>
          <p:cNvPr id="191" name="Google Shape;191;p7"/>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0"/>
                                        </p:tgtEl>
                                        <p:attrNameLst>
                                          <p:attrName>style.visibility</p:attrName>
                                        </p:attrNameLst>
                                      </p:cBhvr>
                                      <p:to>
                                        <p:strVal val="visible"/>
                                      </p:to>
                                    </p:set>
                                    <p:anim calcmode="lin" valueType="num">
                                      <p:cBhvr additive="base">
                                        <p:cTn id="7" dur="500"/>
                                        <p:tgtEl>
                                          <p:spTgt spid="1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197" name="Google Shape;197;p8"/>
          <p:cNvSpPr txBox="1">
            <a:spLocks noGrp="1"/>
          </p:cNvSpPr>
          <p:nvPr>
            <p:ph type="body" idx="1"/>
          </p:nvPr>
        </p:nvSpPr>
        <p:spPr>
          <a:xfrm>
            <a:off x="609600" y="2936875"/>
            <a:ext cx="8305800" cy="338772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Note:</a:t>
            </a:r>
            <a:endParaRPr/>
          </a:p>
          <a:p>
            <a:pPr marL="342900" lvl="0" indent="-34290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 </a:t>
            </a:r>
            <a:r>
              <a:rPr lang="en-US" sz="2000" b="0" i="1" u="none">
                <a:solidFill>
                  <a:schemeClr val="hlink"/>
                </a:solidFill>
                <a:latin typeface="Arial"/>
                <a:ea typeface="Arial"/>
                <a:cs typeface="Arial"/>
                <a:sym typeface="Arial"/>
              </a:rPr>
              <a:t>inclusive or</a:t>
            </a:r>
            <a:r>
              <a:rPr lang="en-US" sz="2000" b="0" i="0" u="none">
                <a:solidFill>
                  <a:schemeClr val="hlink"/>
                </a:solidFill>
                <a:latin typeface="Arial"/>
                <a:ea typeface="Arial"/>
                <a:cs typeface="Arial"/>
                <a:sym typeface="Arial"/>
              </a:rPr>
              <a:t> : The disjunction is true when at least one of the two    </a:t>
            </a:r>
            <a:endParaRPr/>
          </a:p>
          <a:p>
            <a:pPr marL="342900" lvl="0" indent="-342900" algn="l" rtl="0">
              <a:lnSpc>
                <a:spcPct val="90000"/>
              </a:lnSpc>
              <a:spcBef>
                <a:spcPts val="400"/>
              </a:spcBef>
              <a:spcAft>
                <a:spcPts val="0"/>
              </a:spcAft>
              <a:buSzPts val="2000"/>
              <a:buNone/>
            </a:pPr>
            <a:r>
              <a:rPr lang="en-US" sz="2000" b="0" i="0" u="none">
                <a:solidFill>
                  <a:schemeClr val="hlink"/>
                </a:solidFill>
                <a:latin typeface="Arial"/>
                <a:ea typeface="Arial"/>
                <a:cs typeface="Arial"/>
                <a:sym typeface="Arial"/>
              </a:rPr>
              <a:t>      propositions is true.</a:t>
            </a:r>
            <a:endParaRPr/>
          </a:p>
          <a:p>
            <a:pPr marL="742950" lvl="1" indent="-285750" algn="l" rtl="0">
              <a:lnSpc>
                <a:spcPct val="90000"/>
              </a:lnSpc>
              <a:spcBef>
                <a:spcPts val="360"/>
              </a:spcBef>
              <a:spcAft>
                <a:spcPts val="0"/>
              </a:spcAft>
              <a:buClr>
                <a:schemeClr val="accent1"/>
              </a:buClr>
              <a:buSzPts val="1800"/>
              <a:buFont typeface="Noto Sans Symbols"/>
              <a:buChar char="⚪"/>
            </a:pPr>
            <a:r>
              <a:rPr lang="en-US" sz="1800" b="0" i="0" u="none">
                <a:solidFill>
                  <a:schemeClr val="dk1"/>
                </a:solidFill>
                <a:latin typeface="Arial"/>
                <a:ea typeface="Arial"/>
                <a:cs typeface="Arial"/>
                <a:sym typeface="Arial"/>
              </a:rPr>
              <a:t>E.g. “Students who have taken calculus or computer science can take this class.” – those who take one or both classes. </a:t>
            </a:r>
            <a:endParaRPr/>
          </a:p>
          <a:p>
            <a:pPr marL="742950" lvl="1" indent="-285750" algn="l" rtl="0">
              <a:lnSpc>
                <a:spcPct val="90000"/>
              </a:lnSpc>
              <a:spcBef>
                <a:spcPts val="400"/>
              </a:spcBef>
              <a:spcAft>
                <a:spcPts val="0"/>
              </a:spcAft>
              <a:buSzPts val="2000"/>
              <a:buNone/>
            </a:pPr>
            <a:r>
              <a:rPr lang="en-US" sz="2000" b="0" i="1" u="none">
                <a:solidFill>
                  <a:schemeClr val="hlink"/>
                </a:solidFill>
                <a:latin typeface="Arial"/>
                <a:ea typeface="Arial"/>
                <a:cs typeface="Arial"/>
                <a:sym typeface="Arial"/>
              </a:rPr>
              <a:t>exclusive or </a:t>
            </a:r>
            <a:r>
              <a:rPr lang="en-US" sz="2000" b="0" i="0" u="none">
                <a:solidFill>
                  <a:schemeClr val="hlink"/>
                </a:solidFill>
                <a:latin typeface="Arial"/>
                <a:ea typeface="Arial"/>
                <a:cs typeface="Arial"/>
                <a:sym typeface="Arial"/>
              </a:rPr>
              <a:t>: The disjunction is true only when one of the</a:t>
            </a:r>
            <a:endParaRPr/>
          </a:p>
          <a:p>
            <a:pPr marL="742950" lvl="1" indent="-285750" algn="l" rtl="0">
              <a:lnSpc>
                <a:spcPct val="90000"/>
              </a:lnSpc>
              <a:spcBef>
                <a:spcPts val="400"/>
              </a:spcBef>
              <a:spcAft>
                <a:spcPts val="0"/>
              </a:spcAft>
              <a:buSzPts val="2000"/>
              <a:buNone/>
            </a:pPr>
            <a:r>
              <a:rPr lang="en-US" sz="2000" b="0" i="0" u="none">
                <a:solidFill>
                  <a:schemeClr val="hlink"/>
                </a:solidFill>
                <a:latin typeface="Arial"/>
                <a:ea typeface="Arial"/>
                <a:cs typeface="Arial"/>
                <a:sym typeface="Arial"/>
              </a:rPr>
              <a:t>proposition is true.</a:t>
            </a:r>
            <a:endParaRPr/>
          </a:p>
          <a:p>
            <a:pPr marL="742950" lvl="1" indent="-285750" algn="l" rtl="0">
              <a:lnSpc>
                <a:spcPct val="90000"/>
              </a:lnSpc>
              <a:spcBef>
                <a:spcPts val="360"/>
              </a:spcBef>
              <a:spcAft>
                <a:spcPts val="0"/>
              </a:spcAft>
              <a:buClr>
                <a:schemeClr val="accent1"/>
              </a:buClr>
              <a:buSzPts val="1800"/>
              <a:buFont typeface="Noto Sans Symbols"/>
              <a:buChar char="⚪"/>
            </a:pPr>
            <a:r>
              <a:rPr lang="en-US" sz="1800" b="0" i="0" u="none">
                <a:solidFill>
                  <a:schemeClr val="dk1"/>
                </a:solidFill>
                <a:latin typeface="Arial"/>
                <a:ea typeface="Arial"/>
                <a:cs typeface="Arial"/>
                <a:sym typeface="Arial"/>
              </a:rPr>
              <a:t>E.g. “Students who have taken calculus or computer science, but not both, can take this class.” – only those who take one of them. </a:t>
            </a:r>
            <a:endParaRPr/>
          </a:p>
          <a:p>
            <a:pPr marL="342900" lvl="0" indent="-342900" algn="l" rtl="0">
              <a:lnSpc>
                <a:spcPct val="9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Definition 3 uses </a:t>
            </a:r>
            <a:r>
              <a:rPr lang="en-US" sz="2000" b="0" i="1" u="none">
                <a:solidFill>
                  <a:schemeClr val="hlink"/>
                </a:solidFill>
                <a:latin typeface="Arial"/>
                <a:ea typeface="Arial"/>
                <a:cs typeface="Arial"/>
                <a:sym typeface="Arial"/>
              </a:rPr>
              <a:t>inclusive or</a:t>
            </a:r>
            <a:r>
              <a:rPr lang="en-US" sz="2000" b="0" i="0" u="none">
                <a:solidFill>
                  <a:schemeClr val="dk1"/>
                </a:solidFill>
                <a:latin typeface="Arial"/>
                <a:ea typeface="Arial"/>
                <a:cs typeface="Arial"/>
                <a:sym typeface="Arial"/>
              </a:rPr>
              <a:t>.</a:t>
            </a:r>
            <a:endParaRPr/>
          </a:p>
          <a:p>
            <a:pPr marL="742950" lvl="1" indent="-285750" algn="l" rtl="0">
              <a:lnSpc>
                <a:spcPct val="90000"/>
              </a:lnSpc>
              <a:spcBef>
                <a:spcPts val="400"/>
              </a:spcBef>
              <a:spcAft>
                <a:spcPts val="0"/>
              </a:spcAft>
              <a:buSzPts val="2000"/>
              <a:buNone/>
            </a:pPr>
            <a:endParaRPr sz="2000" b="0" i="0" u="none">
              <a:solidFill>
                <a:schemeClr val="hlink"/>
              </a:solidFill>
              <a:latin typeface="Arial"/>
              <a:ea typeface="Arial"/>
              <a:cs typeface="Arial"/>
              <a:sym typeface="Arial"/>
            </a:endParaRPr>
          </a:p>
          <a:p>
            <a:pPr marL="342900" lvl="0" indent="-342900" algn="l" rtl="0">
              <a:lnSpc>
                <a:spcPct val="90000"/>
              </a:lnSpc>
              <a:spcBef>
                <a:spcPts val="560"/>
              </a:spcBef>
              <a:spcAft>
                <a:spcPts val="0"/>
              </a:spcAft>
              <a:buSzPts val="2800"/>
              <a:buNone/>
            </a:pPr>
            <a:endParaRPr sz="2800" b="0" i="0" u="none">
              <a:solidFill>
                <a:schemeClr val="dk1"/>
              </a:solidFill>
              <a:latin typeface="Arial"/>
              <a:ea typeface="Arial"/>
              <a:cs typeface="Arial"/>
              <a:sym typeface="Arial"/>
            </a:endParaRPr>
          </a:p>
          <a:p>
            <a:pPr marL="342900" lvl="0" indent="-165100" algn="l" rtl="0">
              <a:spcBef>
                <a:spcPts val="560"/>
              </a:spcBef>
              <a:spcAft>
                <a:spcPts val="0"/>
              </a:spcAft>
              <a:buSzPts val="2800"/>
              <a:buNone/>
            </a:pPr>
            <a:endParaRPr sz="2800" b="0" i="0" u="none">
              <a:solidFill>
                <a:schemeClr val="dk1"/>
              </a:solidFill>
              <a:latin typeface="Arial"/>
              <a:ea typeface="Arial"/>
              <a:cs typeface="Arial"/>
              <a:sym typeface="Arial"/>
            </a:endParaRPr>
          </a:p>
        </p:txBody>
      </p:sp>
      <p:sp>
        <p:nvSpPr>
          <p:cNvPr id="198" name="Google Shape;198;p8"/>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99" name="Google Shape;199;p8"/>
          <p:cNvSpPr txBox="1"/>
          <p:nvPr/>
        </p:nvSpPr>
        <p:spPr>
          <a:xfrm>
            <a:off x="685800" y="1481137"/>
            <a:ext cx="7772400" cy="1322387"/>
          </a:xfrm>
          <a:prstGeom prst="rect">
            <a:avLst/>
          </a:prstGeom>
          <a:solidFill>
            <a:srgbClr val="EBECE8"/>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DEFINITION 3 (Disjunction)</a:t>
            </a:r>
            <a:endParaRPr/>
          </a:p>
          <a:p>
            <a:pPr marL="0" marR="0" lvl="0" indent="0" algn="l" rtl="0">
              <a:lnSpc>
                <a:spcPct val="100000"/>
              </a:lnSpc>
              <a:spcBef>
                <a:spcPts val="0"/>
              </a:spcBef>
              <a:spcAft>
                <a:spcPts val="0"/>
              </a:spcAft>
              <a:buClr>
                <a:schemeClr val="dk1"/>
              </a:buClr>
              <a:buSzPts val="800"/>
              <a:buFont typeface="Arial"/>
              <a:buNone/>
            </a:pPr>
            <a:endParaRPr sz="800" b="0" i="0" u="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Let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be propositions. The </a:t>
            </a:r>
            <a:r>
              <a:rPr lang="en-US" sz="1800" b="0" i="1" u="none" strike="noStrike" cap="none">
                <a:solidFill>
                  <a:schemeClr val="dk1"/>
                </a:solidFill>
                <a:latin typeface="Arial"/>
                <a:ea typeface="Arial"/>
                <a:cs typeface="Arial"/>
                <a:sym typeface="Arial"/>
              </a:rPr>
              <a:t>disjunction</a:t>
            </a:r>
            <a:r>
              <a:rPr lang="en-US" sz="1800" b="0" i="0" u="none" strike="noStrike" cap="none">
                <a:solidFill>
                  <a:schemeClr val="dk1"/>
                </a:solidFill>
                <a:latin typeface="Arial"/>
                <a:ea typeface="Arial"/>
                <a:cs typeface="Arial"/>
                <a:sym typeface="Arial"/>
              </a:rPr>
              <a:t> of </a:t>
            </a:r>
            <a:r>
              <a:rPr lang="en-US" sz="1800" b="0" i="1" u="none" strike="noStrike" cap="none">
                <a:solidFill>
                  <a:schemeClr val="dk1"/>
                </a:solidFill>
                <a:latin typeface="Arial"/>
                <a:ea typeface="Arial"/>
                <a:cs typeface="Arial"/>
                <a:sym typeface="Arial"/>
              </a:rPr>
              <a:t>p </a:t>
            </a:r>
            <a:r>
              <a:rPr lang="en-US" sz="1800" b="0" i="0" u="none" strike="noStrike" cap="none">
                <a:solidFill>
                  <a:schemeClr val="dk1"/>
                </a:solidFill>
                <a:latin typeface="Arial"/>
                <a:ea typeface="Arial"/>
                <a:cs typeface="Arial"/>
                <a:sym typeface="Arial"/>
              </a:rPr>
              <a:t>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denoted by </a:t>
            </a:r>
            <a:r>
              <a:rPr lang="en-US" sz="1800" b="0" i="1" u="none" strike="noStrike" cap="none">
                <a:solidFill>
                  <a:schemeClr val="dk1"/>
                </a:solidFill>
                <a:latin typeface="Arial"/>
                <a:ea typeface="Arial"/>
                <a:cs typeface="Arial"/>
                <a:sym typeface="Arial"/>
              </a:rPr>
              <a:t>p </a:t>
            </a:r>
            <a:r>
              <a:rPr lang="en-US" sz="1800" b="0" i="0" u="none" strike="noStrike" cap="none">
                <a:solidFill>
                  <a:schemeClr val="dk1"/>
                </a:solidFill>
                <a:latin typeface="Arial"/>
                <a:ea typeface="Arial"/>
                <a:cs typeface="Arial"/>
                <a:sym typeface="Arial"/>
              </a:rPr>
              <a:t>ν</a:t>
            </a:r>
            <a:r>
              <a:rPr lang="en-US" sz="1400" b="0" i="0" u="none" strike="noStrike" cap="none">
                <a:solidFill>
                  <a:schemeClr val="dk1"/>
                </a:solidFill>
                <a:latin typeface="Arial"/>
                <a:ea typeface="Arial"/>
                <a:cs typeface="Arial"/>
                <a:sym typeface="Arial"/>
              </a:rPr>
              <a:t>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is the proposition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or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The conjunction </a:t>
            </a:r>
            <a:r>
              <a:rPr lang="en-US" sz="1800" b="0" i="1" u="none" strike="noStrike" cap="none">
                <a:solidFill>
                  <a:schemeClr val="dk1"/>
                </a:solidFill>
                <a:latin typeface="Arial"/>
                <a:ea typeface="Arial"/>
                <a:cs typeface="Arial"/>
                <a:sym typeface="Arial"/>
              </a:rPr>
              <a:t>p </a:t>
            </a:r>
            <a:r>
              <a:rPr lang="en-US" sz="1800" b="0" i="0" u="none" strike="noStrike" cap="none">
                <a:solidFill>
                  <a:schemeClr val="dk1"/>
                </a:solidFill>
                <a:latin typeface="Arial"/>
                <a:ea typeface="Arial"/>
                <a:cs typeface="Arial"/>
                <a:sym typeface="Arial"/>
              </a:rPr>
              <a:t>ν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is false when both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 </a:t>
            </a:r>
            <a:r>
              <a:rPr lang="en-US" sz="1800" b="0" i="0" u="none" strike="noStrike" cap="none">
                <a:solidFill>
                  <a:schemeClr val="dk1"/>
                </a:solidFill>
                <a:latin typeface="Arial"/>
                <a:ea typeface="Arial"/>
                <a:cs typeface="Arial"/>
                <a:sym typeface="Arial"/>
              </a:rPr>
              <a:t>are false and is true otherwise. 		</a:t>
            </a:r>
            <a:endParaRPr/>
          </a:p>
        </p:txBody>
      </p:sp>
      <p:sp>
        <p:nvSpPr>
          <p:cNvPr id="200" name="Google Shape;200;p8"/>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pic>
        <p:nvPicPr>
          <p:cNvPr id="206" name="Google Shape;206;p9"/>
          <p:cNvPicPr preferRelativeResize="0">
            <a:picLocks noGrp="1"/>
          </p:cNvPicPr>
          <p:nvPr>
            <p:ph type="body" idx="1"/>
          </p:nvPr>
        </p:nvPicPr>
        <p:blipFill rotWithShape="1">
          <a:blip r:embed="rId3">
            <a:alphaModFix/>
          </a:blip>
          <a:srcRect/>
          <a:stretch/>
        </p:blipFill>
        <p:spPr>
          <a:xfrm>
            <a:off x="6584950" y="2605087"/>
            <a:ext cx="165100" cy="177800"/>
          </a:xfrm>
          <a:prstGeom prst="rect">
            <a:avLst/>
          </a:prstGeom>
          <a:noFill/>
          <a:ln>
            <a:noFill/>
          </a:ln>
        </p:spPr>
      </p:pic>
      <p:graphicFrame>
        <p:nvGraphicFramePr>
          <p:cNvPr id="207" name="Google Shape;207;p9"/>
          <p:cNvGraphicFramePr/>
          <p:nvPr/>
        </p:nvGraphicFramePr>
        <p:xfrm>
          <a:off x="381000" y="3429000"/>
          <a:ext cx="3000000" cy="3000000"/>
        </p:xfrm>
        <a:graphic>
          <a:graphicData uri="http://schemas.openxmlformats.org/drawingml/2006/table">
            <a:tbl>
              <a:tblPr>
                <a:noFill/>
                <a:tableStyleId>{397577B6-D47A-466E-84E6-29D3DF76FDB9}</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tblGrid>
              <a:tr h="1006475">
                <a:tc gridSpan="2">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The Truth Table for the Conjunction of Two Propositions.</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7EDE7"/>
                    </a:solidFill>
                  </a:tcPr>
                </a:tc>
                <a:tc hMerge="1">
                  <a:txBody>
                    <a:bodyPr/>
                    <a:lstStyle/>
                    <a:p>
                      <a:endParaRPr lang="en-US"/>
                    </a:p>
                  </a:txBody>
                  <a:tcPr/>
                </a:tc>
                <a:extLst>
                  <a:ext uri="{0D108BD9-81ED-4DB2-BD59-A6C34878D82A}">
                    <a16:rowId xmlns:a16="http://schemas.microsoft.com/office/drawing/2014/main" val="10000"/>
                  </a:ext>
                </a:extLst>
              </a:tr>
              <a:tr h="395275">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    q</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 </a:t>
                      </a:r>
                      <a:r>
                        <a:rPr lang="en-US" sz="1800" b="0" i="0" u="none" strike="noStrike" cap="none">
                          <a:solidFill>
                            <a:schemeClr val="dk1"/>
                          </a:solidFill>
                          <a:latin typeface="Arial"/>
                          <a:ea typeface="Arial"/>
                          <a:cs typeface="Arial"/>
                          <a:sym typeface="Arial"/>
                        </a:rPr>
                        <a:t>Λ</a:t>
                      </a:r>
                      <a:r>
                        <a:rPr lang="en-US" sz="2000" b="0" i="1" u="none" strike="noStrike" cap="none">
                          <a:solidFill>
                            <a:schemeClr val="dk1"/>
                          </a:solidFill>
                          <a:latin typeface="Arial"/>
                          <a:ea typeface="Arial"/>
                          <a:cs typeface="Arial"/>
                          <a:sym typeface="Arial"/>
                        </a:rPr>
                        <a:t> q</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493825">
                <a:tc>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T      T</a:t>
                      </a:r>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T      F</a:t>
                      </a:r>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F      T</a:t>
                      </a:r>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F      F</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208" name="Google Shape;208;p9"/>
          <p:cNvGraphicFramePr/>
          <p:nvPr/>
        </p:nvGraphicFramePr>
        <p:xfrm>
          <a:off x="3200400" y="3429000"/>
          <a:ext cx="3000000" cy="3000000"/>
        </p:xfrm>
        <a:graphic>
          <a:graphicData uri="http://schemas.openxmlformats.org/drawingml/2006/table">
            <a:tbl>
              <a:tblPr>
                <a:noFill/>
                <a:tableStyleId>{397577B6-D47A-466E-84E6-29D3DF76FDB9}</a:tableStyleId>
              </a:tblPr>
              <a:tblGrid>
                <a:gridCol w="1333500">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tblGrid>
              <a:tr h="1006475">
                <a:tc gridSpan="2">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The Truth Table for the Disjunction of Two Propositions.</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7EDE7"/>
                    </a:solidFill>
                  </a:tcPr>
                </a:tc>
                <a:tc hMerge="1">
                  <a:txBody>
                    <a:bodyPr/>
                    <a:lstStyle/>
                    <a:p>
                      <a:endParaRPr lang="en-US"/>
                    </a:p>
                  </a:txBody>
                  <a:tcPr/>
                </a:tc>
                <a:extLst>
                  <a:ext uri="{0D108BD9-81ED-4DB2-BD59-A6C34878D82A}">
                    <a16:rowId xmlns:a16="http://schemas.microsoft.com/office/drawing/2014/main" val="10000"/>
                  </a:ext>
                </a:extLst>
              </a:tr>
              <a:tr h="395275">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    q</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 </a:t>
                      </a:r>
                      <a:r>
                        <a:rPr lang="en-US" sz="2000" b="0" i="0" u="none" strike="noStrike" cap="none">
                          <a:solidFill>
                            <a:schemeClr val="dk1"/>
                          </a:solidFill>
                          <a:latin typeface="Arial"/>
                          <a:ea typeface="Arial"/>
                          <a:cs typeface="Arial"/>
                          <a:sym typeface="Arial"/>
                        </a:rPr>
                        <a:t>ν</a:t>
                      </a:r>
                      <a:r>
                        <a:rPr lang="en-US" sz="2000" b="0" i="1" u="none" strike="noStrike" cap="none">
                          <a:solidFill>
                            <a:schemeClr val="dk1"/>
                          </a:solidFill>
                          <a:latin typeface="Arial"/>
                          <a:ea typeface="Arial"/>
                          <a:cs typeface="Arial"/>
                          <a:sym typeface="Arial"/>
                        </a:rPr>
                        <a:t> q</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493825">
                <a:tc>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T      T</a:t>
                      </a:r>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T      F</a:t>
                      </a:r>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F      T</a:t>
                      </a:r>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F      F</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09" name="Google Shape;209;p9"/>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10" name="Google Shape;210;p9"/>
          <p:cNvSpPr txBox="1"/>
          <p:nvPr/>
        </p:nvSpPr>
        <p:spPr>
          <a:xfrm>
            <a:off x="685800" y="1481137"/>
            <a:ext cx="8229600" cy="1322387"/>
          </a:xfrm>
          <a:prstGeom prst="rect">
            <a:avLst/>
          </a:prstGeom>
          <a:solidFill>
            <a:srgbClr val="EBECE8"/>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DEFINITION 4</a:t>
            </a:r>
            <a:endParaRPr/>
          </a:p>
          <a:p>
            <a:pPr marL="0" marR="0" lvl="0" indent="0" algn="l" rtl="0">
              <a:lnSpc>
                <a:spcPct val="100000"/>
              </a:lnSpc>
              <a:spcBef>
                <a:spcPts val="0"/>
              </a:spcBef>
              <a:spcAft>
                <a:spcPts val="0"/>
              </a:spcAft>
              <a:buClr>
                <a:schemeClr val="dk1"/>
              </a:buClr>
              <a:buSzPts val="800"/>
              <a:buFont typeface="Arial"/>
              <a:buNone/>
            </a:pPr>
            <a:endParaRPr sz="800" b="0" i="0" u="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Let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be propositions. The </a:t>
            </a:r>
            <a:r>
              <a:rPr lang="en-US" sz="1800" b="0" i="1" u="none" strike="noStrike" cap="none">
                <a:solidFill>
                  <a:schemeClr val="dk1"/>
                </a:solidFill>
                <a:latin typeface="Arial"/>
                <a:ea typeface="Arial"/>
                <a:cs typeface="Arial"/>
                <a:sym typeface="Arial"/>
              </a:rPr>
              <a:t>exclusive or</a:t>
            </a:r>
            <a:r>
              <a:rPr lang="en-US" sz="1800" b="0" i="0" u="none" strike="noStrike" cap="none">
                <a:solidFill>
                  <a:schemeClr val="dk1"/>
                </a:solidFill>
                <a:latin typeface="Arial"/>
                <a:ea typeface="Arial"/>
                <a:cs typeface="Arial"/>
                <a:sym typeface="Arial"/>
              </a:rPr>
              <a:t> of </a:t>
            </a:r>
            <a:r>
              <a:rPr lang="en-US" sz="1800" b="0" i="1" u="none" strike="noStrike" cap="none">
                <a:solidFill>
                  <a:schemeClr val="dk1"/>
                </a:solidFill>
                <a:latin typeface="Arial"/>
                <a:ea typeface="Arial"/>
                <a:cs typeface="Arial"/>
                <a:sym typeface="Arial"/>
              </a:rPr>
              <a:t>p </a:t>
            </a:r>
            <a:r>
              <a:rPr lang="en-US" sz="1800" b="0" i="0" u="none" strike="noStrike" cap="none">
                <a:solidFill>
                  <a:schemeClr val="dk1"/>
                </a:solidFill>
                <a:latin typeface="Arial"/>
                <a:ea typeface="Arial"/>
                <a:cs typeface="Arial"/>
                <a:sym typeface="Arial"/>
              </a:rPr>
              <a:t>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denoted by </a:t>
            </a:r>
            <a:r>
              <a:rPr lang="en-US" sz="1800" b="0" i="1" u="none" strike="noStrike" cap="none">
                <a:solidFill>
                  <a:schemeClr val="dk1"/>
                </a:solidFill>
                <a:latin typeface="Arial"/>
                <a:ea typeface="Arial"/>
                <a:cs typeface="Arial"/>
                <a:sym typeface="Arial"/>
              </a:rPr>
              <a:t>p </a:t>
            </a:r>
            <a:r>
              <a:rPr lang="en-US" sz="1400" b="0" i="0" u="none" strike="noStrike" cap="none">
                <a:solidFill>
                  <a:schemeClr val="dk1"/>
                </a:solidFill>
                <a:latin typeface="Arial"/>
                <a:ea typeface="Arial"/>
                <a:cs typeface="Arial"/>
                <a:sym typeface="Arial"/>
              </a:rPr>
              <a:t>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is the proposition that is true when exactly one of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is true and is false otherwise. 		</a:t>
            </a:r>
            <a:endParaRPr/>
          </a:p>
        </p:txBody>
      </p:sp>
      <p:graphicFrame>
        <p:nvGraphicFramePr>
          <p:cNvPr id="211" name="Google Shape;211;p9"/>
          <p:cNvGraphicFramePr/>
          <p:nvPr/>
        </p:nvGraphicFramePr>
        <p:xfrm>
          <a:off x="6019800" y="3429000"/>
          <a:ext cx="3000000" cy="3000000"/>
        </p:xfrm>
        <a:graphic>
          <a:graphicData uri="http://schemas.openxmlformats.org/drawingml/2006/table">
            <a:tbl>
              <a:tblPr>
                <a:noFill/>
                <a:tableStyleId>{397577B6-D47A-466E-84E6-29D3DF76FDB9}</a:tableStyleId>
              </a:tblPr>
              <a:tblGrid>
                <a:gridCol w="14859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1006475">
                <a:tc gridSpan="2">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The Truth Table for the Exclusive </a:t>
                      </a:r>
                      <a:r>
                        <a:rPr lang="en-US" sz="2000" b="0" i="1" u="none" strike="noStrike" cap="none">
                          <a:solidFill>
                            <a:schemeClr val="dk1"/>
                          </a:solidFill>
                          <a:latin typeface="Arial"/>
                          <a:ea typeface="Arial"/>
                          <a:cs typeface="Arial"/>
                          <a:sym typeface="Arial"/>
                        </a:rPr>
                        <a:t>Or</a:t>
                      </a:r>
                      <a:r>
                        <a:rPr lang="en-US" sz="20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XOR</a:t>
                      </a:r>
                      <a:r>
                        <a:rPr lang="en-US" sz="2000" b="0" i="0" u="none" strike="noStrike" cap="none">
                          <a:solidFill>
                            <a:schemeClr val="dk1"/>
                          </a:solidFill>
                          <a:latin typeface="Arial"/>
                          <a:ea typeface="Arial"/>
                          <a:cs typeface="Arial"/>
                          <a:sym typeface="Arial"/>
                        </a:rPr>
                        <a:t>) of Two Propositions.</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7EDE7"/>
                    </a:solidFill>
                  </a:tcPr>
                </a:tc>
                <a:tc hMerge="1">
                  <a:txBody>
                    <a:bodyPr/>
                    <a:lstStyle/>
                    <a:p>
                      <a:endParaRPr lang="en-US"/>
                    </a:p>
                  </a:txBody>
                  <a:tcPr/>
                </a:tc>
                <a:extLst>
                  <a:ext uri="{0D108BD9-81ED-4DB2-BD59-A6C34878D82A}">
                    <a16:rowId xmlns:a16="http://schemas.microsoft.com/office/drawing/2014/main" val="10000"/>
                  </a:ext>
                </a:extLst>
              </a:tr>
              <a:tr h="40480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      q</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 </a:t>
                      </a:r>
                      <a:r>
                        <a:rPr lang="en-US" sz="20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 q</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492250">
                <a:tc>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T      T</a:t>
                      </a:r>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T      F</a:t>
                      </a:r>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F      T</a:t>
                      </a:r>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F      F</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212" name="Google Shape;212;p9"/>
          <p:cNvPicPr preferRelativeResize="0"/>
          <p:nvPr/>
        </p:nvPicPr>
        <p:blipFill rotWithShape="1">
          <a:blip r:embed="rId4">
            <a:alphaModFix/>
          </a:blip>
          <a:srcRect/>
          <a:stretch/>
        </p:blipFill>
        <p:spPr>
          <a:xfrm>
            <a:off x="8305800" y="1981200"/>
            <a:ext cx="212725" cy="228600"/>
          </a:xfrm>
          <a:prstGeom prst="rect">
            <a:avLst/>
          </a:prstGeom>
          <a:noFill/>
          <a:ln>
            <a:noFill/>
          </a:ln>
        </p:spPr>
      </p:pic>
      <p:pic>
        <p:nvPicPr>
          <p:cNvPr id="213" name="Google Shape;213;p9"/>
          <p:cNvPicPr preferRelativeResize="0"/>
          <p:nvPr/>
        </p:nvPicPr>
        <p:blipFill rotWithShape="1">
          <a:blip r:embed="rId4">
            <a:alphaModFix/>
          </a:blip>
          <a:srcRect/>
          <a:stretch/>
        </p:blipFill>
        <p:spPr>
          <a:xfrm>
            <a:off x="8169275" y="4572000"/>
            <a:ext cx="212725" cy="228600"/>
          </a:xfrm>
          <a:prstGeom prst="rect">
            <a:avLst/>
          </a:prstGeom>
          <a:noFill/>
          <a:ln>
            <a:noFill/>
          </a:ln>
        </p:spPr>
      </p:pic>
      <p:sp>
        <p:nvSpPr>
          <p:cNvPr id="214" name="Google Shape;214;p9"/>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0"/>
          <p:cNvSpPr txBox="1">
            <a:spLocks noGrp="1"/>
          </p:cNvSpPr>
          <p:nvPr>
            <p:ph type="title"/>
          </p:nvPr>
        </p:nvSpPr>
        <p:spPr>
          <a:xfrm>
            <a:off x="457200" y="76200"/>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pic>
        <p:nvPicPr>
          <p:cNvPr id="220" name="Google Shape;220;p10"/>
          <p:cNvPicPr preferRelativeResize="0">
            <a:picLocks noGrp="1"/>
          </p:cNvPicPr>
          <p:nvPr>
            <p:ph type="body" idx="1"/>
          </p:nvPr>
        </p:nvPicPr>
        <p:blipFill rotWithShape="1">
          <a:blip r:embed="rId3">
            <a:alphaModFix/>
          </a:blip>
          <a:srcRect/>
          <a:stretch/>
        </p:blipFill>
        <p:spPr>
          <a:xfrm>
            <a:off x="6584950" y="2605087"/>
            <a:ext cx="165100" cy="177800"/>
          </a:xfrm>
          <a:prstGeom prst="rect">
            <a:avLst/>
          </a:prstGeom>
          <a:noFill/>
          <a:ln>
            <a:noFill/>
          </a:ln>
        </p:spPr>
      </p:pic>
      <p:sp>
        <p:nvSpPr>
          <p:cNvPr id="221" name="Google Shape;221;p10"/>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22" name="Google Shape;222;p10"/>
          <p:cNvSpPr txBox="1"/>
          <p:nvPr/>
        </p:nvSpPr>
        <p:spPr>
          <a:xfrm>
            <a:off x="685800" y="1481137"/>
            <a:ext cx="7772400" cy="1871662"/>
          </a:xfrm>
          <a:prstGeom prst="rect">
            <a:avLst/>
          </a:prstGeom>
          <a:solidFill>
            <a:srgbClr val="EBECE8"/>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DEFINITION 5</a:t>
            </a:r>
            <a:endParaRPr/>
          </a:p>
          <a:p>
            <a:pPr marL="0" marR="0" lvl="0" indent="0" algn="l" rtl="0">
              <a:lnSpc>
                <a:spcPct val="100000"/>
              </a:lnSpc>
              <a:spcBef>
                <a:spcPts val="0"/>
              </a:spcBef>
              <a:spcAft>
                <a:spcPts val="0"/>
              </a:spcAft>
              <a:buClr>
                <a:schemeClr val="dk1"/>
              </a:buClr>
              <a:buSzPts val="800"/>
              <a:buFont typeface="Arial"/>
              <a:buNone/>
            </a:pPr>
            <a:endParaRPr sz="800" b="0" i="0" u="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Let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be propositions. The </a:t>
            </a:r>
            <a:r>
              <a:rPr lang="en-US" sz="1800" b="0" i="1" u="none" strike="noStrike" cap="none">
                <a:solidFill>
                  <a:schemeClr val="dk1"/>
                </a:solidFill>
                <a:latin typeface="Arial"/>
                <a:ea typeface="Arial"/>
                <a:cs typeface="Arial"/>
                <a:sym typeface="Arial"/>
              </a:rPr>
              <a:t>conditional statement</a:t>
            </a:r>
            <a:r>
              <a:rPr lang="en-US" sz="1800" b="0" i="0" u="none" strike="noStrike" cap="none">
                <a:solidFill>
                  <a:schemeClr val="dk1"/>
                </a:solidFill>
                <a:latin typeface="Arial"/>
                <a:ea typeface="Arial"/>
                <a:cs typeface="Arial"/>
                <a:sym typeface="Arial"/>
              </a:rPr>
              <a:t> </a:t>
            </a:r>
            <a:r>
              <a:rPr lang="en-US" sz="1800" b="0" i="1" u="none" strike="noStrike" cap="none">
                <a:solidFill>
                  <a:schemeClr val="dk1"/>
                </a:solidFill>
                <a:latin typeface="Arial"/>
                <a:ea typeface="Arial"/>
                <a:cs typeface="Arial"/>
                <a:sym typeface="Arial"/>
              </a:rPr>
              <a:t>p </a:t>
            </a:r>
            <a:r>
              <a:rPr lang="en-US" sz="1800" b="0" i="0" u="none" strike="noStrike" cap="none">
                <a:solidFill>
                  <a:schemeClr val="dk1"/>
                </a:solidFill>
                <a:latin typeface="Arial"/>
                <a:ea typeface="Arial"/>
                <a:cs typeface="Arial"/>
                <a:sym typeface="Arial"/>
              </a:rPr>
              <a:t>→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is the proposition “if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then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The conditional statement is false when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is true 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is false, and true otherwise. In the conditional statement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is called the </a:t>
            </a:r>
            <a:r>
              <a:rPr lang="en-US" sz="1800" b="0" i="1" u="none" strike="noStrike" cap="none">
                <a:solidFill>
                  <a:schemeClr val="dk1"/>
                </a:solidFill>
                <a:latin typeface="Arial"/>
                <a:ea typeface="Arial"/>
                <a:cs typeface="Arial"/>
                <a:sym typeface="Arial"/>
              </a:rPr>
              <a:t>hypothesis</a:t>
            </a:r>
            <a:r>
              <a:rPr lang="en-US" sz="1800" b="0" i="0" u="none" strike="noStrike" cap="none">
                <a:solidFill>
                  <a:schemeClr val="dk1"/>
                </a:solidFill>
                <a:latin typeface="Arial"/>
                <a:ea typeface="Arial"/>
                <a:cs typeface="Arial"/>
                <a:sym typeface="Arial"/>
              </a:rPr>
              <a:t> (or </a:t>
            </a:r>
            <a:r>
              <a:rPr lang="en-US" sz="1800" b="0" i="1" u="none" strike="noStrike" cap="none">
                <a:solidFill>
                  <a:schemeClr val="dk1"/>
                </a:solidFill>
                <a:latin typeface="Arial"/>
                <a:ea typeface="Arial"/>
                <a:cs typeface="Arial"/>
                <a:sym typeface="Arial"/>
              </a:rPr>
              <a:t>antecedent</a:t>
            </a:r>
            <a:r>
              <a:rPr lang="en-US" sz="1800" b="0" i="0" u="none" strike="noStrike" cap="none">
                <a:solidFill>
                  <a:schemeClr val="dk1"/>
                </a:solidFill>
                <a:latin typeface="Arial"/>
                <a:ea typeface="Arial"/>
                <a:cs typeface="Arial"/>
                <a:sym typeface="Arial"/>
              </a:rPr>
              <a:t> or</a:t>
            </a:r>
            <a:r>
              <a:rPr lang="en-US" sz="1800" b="0" i="1" u="none" strike="noStrike" cap="none">
                <a:solidFill>
                  <a:schemeClr val="dk1"/>
                </a:solidFill>
                <a:latin typeface="Arial"/>
                <a:ea typeface="Arial"/>
                <a:cs typeface="Arial"/>
                <a:sym typeface="Arial"/>
              </a:rPr>
              <a:t> premise</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is called the </a:t>
            </a:r>
            <a:r>
              <a:rPr lang="en-US" sz="1800" b="0" i="1" u="none" strike="noStrike" cap="none">
                <a:solidFill>
                  <a:schemeClr val="dk1"/>
                </a:solidFill>
                <a:latin typeface="Arial"/>
                <a:ea typeface="Arial"/>
                <a:cs typeface="Arial"/>
                <a:sym typeface="Arial"/>
              </a:rPr>
              <a:t>conclusion</a:t>
            </a:r>
            <a:r>
              <a:rPr lang="en-US" sz="1800" b="0" i="0" u="none" strike="noStrike" cap="none">
                <a:solidFill>
                  <a:schemeClr val="dk1"/>
                </a:solidFill>
                <a:latin typeface="Arial"/>
                <a:ea typeface="Arial"/>
                <a:cs typeface="Arial"/>
                <a:sym typeface="Arial"/>
              </a:rPr>
              <a:t> (or </a:t>
            </a:r>
            <a:r>
              <a:rPr lang="en-US" sz="1800" b="0" i="1" u="none" strike="noStrike" cap="none">
                <a:solidFill>
                  <a:schemeClr val="dk1"/>
                </a:solidFill>
                <a:latin typeface="Arial"/>
                <a:ea typeface="Arial"/>
                <a:cs typeface="Arial"/>
                <a:sym typeface="Arial"/>
              </a:rPr>
              <a:t>consequence</a:t>
            </a:r>
            <a:r>
              <a:rPr lang="en-US" sz="1800" b="0" i="0" u="none" strike="noStrike" cap="none">
                <a:solidFill>
                  <a:schemeClr val="dk1"/>
                </a:solidFill>
                <a:latin typeface="Arial"/>
                <a:ea typeface="Arial"/>
                <a:cs typeface="Arial"/>
                <a:sym typeface="Arial"/>
              </a:rPr>
              <a:t>). 		</a:t>
            </a:r>
            <a:endParaRPr/>
          </a:p>
        </p:txBody>
      </p:sp>
      <p:sp>
        <p:nvSpPr>
          <p:cNvPr id="223" name="Google Shape;223;p10"/>
          <p:cNvSpPr txBox="1"/>
          <p:nvPr/>
        </p:nvSpPr>
        <p:spPr>
          <a:xfrm>
            <a:off x="2057400" y="914400"/>
            <a:ext cx="3886200" cy="519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39933"/>
              </a:buClr>
              <a:buSzPts val="2800"/>
              <a:buFont typeface="Arial"/>
              <a:buNone/>
            </a:pPr>
            <a:r>
              <a:rPr lang="en-US" sz="2800" b="0" i="0" u="sng">
                <a:solidFill>
                  <a:srgbClr val="339933"/>
                </a:solidFill>
                <a:latin typeface="Arial"/>
                <a:ea typeface="Arial"/>
                <a:cs typeface="Arial"/>
                <a:sym typeface="Arial"/>
              </a:rPr>
              <a:t>Conditional Statements</a:t>
            </a:r>
            <a:endParaRPr/>
          </a:p>
        </p:txBody>
      </p:sp>
      <p:sp>
        <p:nvSpPr>
          <p:cNvPr id="224" name="Google Shape;224;p10"/>
          <p:cNvSpPr txBox="1"/>
          <p:nvPr/>
        </p:nvSpPr>
        <p:spPr>
          <a:xfrm>
            <a:off x="609600" y="3394075"/>
            <a:ext cx="8305800" cy="3387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A conditional statement is also called an implication.</a:t>
            </a:r>
            <a:endParaRPr/>
          </a:p>
          <a:p>
            <a:pPr marL="342900" marR="0" lvl="0" indent="-342900" algn="l" rtl="0">
              <a:lnSpc>
                <a:spcPct val="9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Example: “If I am elected, then I will lower taxes.”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q</a:t>
            </a:r>
            <a:endParaRPr sz="2000" b="0" i="0" u="none">
              <a:solidFill>
                <a:schemeClr val="dk1"/>
              </a:solidFill>
              <a:latin typeface="Arial"/>
              <a:ea typeface="Arial"/>
              <a:cs typeface="Arial"/>
              <a:sym typeface="Arial"/>
            </a:endParaRPr>
          </a:p>
          <a:p>
            <a:pPr marL="342900" marR="0" lvl="0" indent="-342900" algn="l" rtl="0">
              <a:lnSpc>
                <a:spcPct val="90000"/>
              </a:lnSpc>
              <a:spcBef>
                <a:spcPts val="500"/>
              </a:spcBef>
              <a:spcAft>
                <a:spcPts val="0"/>
              </a:spcAft>
              <a:buClr>
                <a:schemeClr val="hlink"/>
              </a:buClr>
              <a:buSzPts val="2500"/>
              <a:buFont typeface="Arial"/>
              <a:buNone/>
            </a:pPr>
            <a:r>
              <a:rPr lang="en-US" sz="2500" b="0" i="0" u="none">
                <a:solidFill>
                  <a:schemeClr val="hlink"/>
                </a:solidFill>
                <a:latin typeface="Arial"/>
                <a:ea typeface="Arial"/>
                <a:cs typeface="Arial"/>
                <a:sym typeface="Arial"/>
              </a:rPr>
              <a:t>	      </a:t>
            </a:r>
            <a:r>
              <a:rPr lang="en-US" sz="2000" b="0" i="0" u="none">
                <a:solidFill>
                  <a:schemeClr val="hlink"/>
                </a:solidFill>
                <a:latin typeface="Arial"/>
                <a:ea typeface="Arial"/>
                <a:cs typeface="Arial"/>
                <a:sym typeface="Arial"/>
              </a:rPr>
              <a:t>implication:</a:t>
            </a:r>
            <a:endParaRPr/>
          </a:p>
          <a:p>
            <a:pPr marL="342900" marR="0" lvl="0" indent="-342900" algn="l" rtl="0">
              <a:lnSpc>
                <a:spcPct val="90000"/>
              </a:lnSpc>
              <a:spcBef>
                <a:spcPts val="400"/>
              </a:spcBef>
              <a:spcAft>
                <a:spcPts val="0"/>
              </a:spcAft>
              <a:buClr>
                <a:schemeClr val="hlink"/>
              </a:buClr>
              <a:buSzPts val="2000"/>
              <a:buFont typeface="Arial"/>
              <a:buNone/>
            </a:pPr>
            <a:r>
              <a:rPr lang="en-US" sz="2000" b="0" i="0" u="none">
                <a:solidFill>
                  <a:schemeClr val="hlink"/>
                </a:solidFill>
                <a:latin typeface="Arial"/>
                <a:ea typeface="Arial"/>
                <a:cs typeface="Arial"/>
                <a:sym typeface="Arial"/>
              </a:rPr>
              <a:t>		</a:t>
            </a:r>
            <a:r>
              <a:rPr lang="en-US" sz="2000" b="0" i="0" u="none">
                <a:solidFill>
                  <a:schemeClr val="dk1"/>
                </a:solidFill>
                <a:latin typeface="Arial"/>
                <a:ea typeface="Arial"/>
                <a:cs typeface="Arial"/>
                <a:sym typeface="Arial"/>
              </a:rPr>
              <a:t>elected,  lower taxes.                     	  T      T   | T</a:t>
            </a:r>
            <a:endParaRPr/>
          </a:p>
          <a:p>
            <a:pPr marL="342900" marR="0" lvl="0" indent="-342900" algn="l" rtl="0">
              <a:lnSpc>
                <a:spcPct val="90000"/>
              </a:lnSpc>
              <a:spcBef>
                <a:spcPts val="400"/>
              </a:spcBef>
              <a:spcAft>
                <a:spcPts val="0"/>
              </a:spcAft>
              <a:buClr>
                <a:schemeClr val="hlink"/>
              </a:buClr>
              <a:buSzPts val="2000"/>
              <a:buFont typeface="Arial"/>
              <a:buNone/>
            </a:pPr>
            <a:r>
              <a:rPr lang="en-US" sz="2000" b="0" i="0" u="none">
                <a:solidFill>
                  <a:schemeClr val="hlink"/>
                </a:solidFill>
                <a:latin typeface="Arial"/>
                <a:ea typeface="Arial"/>
                <a:cs typeface="Arial"/>
                <a:sym typeface="Arial"/>
              </a:rPr>
              <a:t>		</a:t>
            </a:r>
            <a:r>
              <a:rPr lang="en-US" sz="2000" b="0" i="0" u="none">
                <a:solidFill>
                  <a:schemeClr val="dk1"/>
                </a:solidFill>
                <a:latin typeface="Arial"/>
                <a:ea typeface="Arial"/>
                <a:cs typeface="Arial"/>
                <a:sym typeface="Arial"/>
              </a:rPr>
              <a:t>not elected, lower taxes.     		         F      T	  | T</a:t>
            </a:r>
            <a:endParaRPr/>
          </a:p>
          <a:p>
            <a:pPr marL="342900" marR="0" lvl="0" indent="-342900" algn="l" rtl="0">
              <a:lnSpc>
                <a:spcPct val="9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		not elected, not lower taxes.     		  F      F	  | T</a:t>
            </a:r>
            <a:endParaRPr/>
          </a:p>
          <a:p>
            <a:pPr marL="342900" marR="0" lvl="0" indent="-342900" algn="l" rtl="0">
              <a:lnSpc>
                <a:spcPct val="9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		elected, not lower taxes.                     T      F	  | F</a:t>
            </a:r>
            <a:endParaRPr/>
          </a:p>
          <a:p>
            <a:pPr marL="342900" marR="0" lvl="0" indent="-342900" algn="l" rtl="0">
              <a:lnSpc>
                <a:spcPct val="90000"/>
              </a:lnSpc>
              <a:spcBef>
                <a:spcPts val="400"/>
              </a:spcBef>
              <a:spcAft>
                <a:spcPts val="0"/>
              </a:spcAft>
              <a:buClr>
                <a:schemeClr val="dk1"/>
              </a:buClr>
              <a:buSzPts val="2000"/>
              <a:buFont typeface="Arial"/>
              <a:buNone/>
            </a:pPr>
            <a:endParaRPr sz="2000" b="0" i="0" u="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a:solidFill>
                <a:schemeClr val="dk1"/>
              </a:solidFill>
              <a:latin typeface="Arial"/>
              <a:ea typeface="Arial"/>
              <a:cs typeface="Arial"/>
              <a:sym typeface="Arial"/>
            </a:endParaRPr>
          </a:p>
        </p:txBody>
      </p:sp>
      <p:sp>
        <p:nvSpPr>
          <p:cNvPr id="225" name="Google Shape;225;p10"/>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231" name="Google Shape;231;p11"/>
          <p:cNvSpPr txBox="1">
            <a:spLocks noGrp="1"/>
          </p:cNvSpPr>
          <p:nvPr>
            <p:ph type="body" idx="1"/>
          </p:nvPr>
        </p:nvSpPr>
        <p:spPr>
          <a:xfrm>
            <a:off x="609600" y="1565275"/>
            <a:ext cx="8305800" cy="338772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1"/>
              </a:buClr>
              <a:buSzPts val="2400"/>
              <a:buFont typeface="Noto Sans Symbols"/>
              <a:buChar char="●"/>
            </a:pPr>
            <a:r>
              <a:rPr lang="en-US" sz="2400" b="0" i="0" u="none">
                <a:solidFill>
                  <a:schemeClr val="dk1"/>
                </a:solidFill>
                <a:latin typeface="Arial"/>
                <a:ea typeface="Arial"/>
                <a:cs typeface="Arial"/>
                <a:sym typeface="Arial"/>
              </a:rPr>
              <a:t>Example:</a:t>
            </a:r>
            <a:endParaRPr/>
          </a:p>
          <a:p>
            <a:pPr marL="742950" lvl="1" indent="-285750" algn="l" rtl="0">
              <a:lnSpc>
                <a:spcPct val="100000"/>
              </a:lnSpc>
              <a:spcBef>
                <a:spcPts val="54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Let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be the statement “Maria learns discrete mathematics.” and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the statement “Maria will find a good job.” Express the statement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a:t>
            </a:r>
            <a:r>
              <a:rPr lang="en-US" sz="2700" b="0" i="0" u="none">
                <a:solidFill>
                  <a:schemeClr val="dk1"/>
                </a:solidFill>
                <a:latin typeface="Arial"/>
                <a:ea typeface="Arial"/>
                <a:cs typeface="Arial"/>
                <a:sym typeface="Arial"/>
              </a:rPr>
              <a:t>→</a:t>
            </a: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as a statement in English. </a:t>
            </a:r>
            <a:endParaRPr/>
          </a:p>
          <a:p>
            <a:pPr marL="742950" lvl="1" indent="-158750" algn="l" rtl="0">
              <a:lnSpc>
                <a:spcPct val="100000"/>
              </a:lnSpc>
              <a:spcBef>
                <a:spcPts val="400"/>
              </a:spcBef>
              <a:spcAft>
                <a:spcPts val="0"/>
              </a:spcAft>
              <a:buClr>
                <a:schemeClr val="accent1"/>
              </a:buClr>
              <a:buSzPts val="2000"/>
              <a:buFont typeface="Noto Sans Symbols"/>
              <a:buNone/>
            </a:pPr>
            <a:endParaRPr sz="2000" b="0" i="0" u="none">
              <a:solidFill>
                <a:schemeClr val="dk1"/>
              </a:solidFill>
              <a:latin typeface="Arial"/>
              <a:ea typeface="Arial"/>
              <a:cs typeface="Arial"/>
              <a:sym typeface="Arial"/>
            </a:endParaRPr>
          </a:p>
          <a:p>
            <a:pPr marL="742950" lvl="1" indent="-285750" algn="l" rtl="0">
              <a:lnSpc>
                <a:spcPct val="100000"/>
              </a:lnSpc>
              <a:spcBef>
                <a:spcPts val="460"/>
              </a:spcBef>
              <a:spcAft>
                <a:spcPts val="0"/>
              </a:spcAft>
              <a:buSzPts val="2300"/>
              <a:buNone/>
            </a:pPr>
            <a:endParaRPr sz="2300" b="0" i="0" u="none">
              <a:solidFill>
                <a:schemeClr val="hlink"/>
              </a:solidFill>
              <a:latin typeface="Arial"/>
              <a:ea typeface="Arial"/>
              <a:cs typeface="Arial"/>
              <a:sym typeface="Arial"/>
            </a:endParaRPr>
          </a:p>
          <a:p>
            <a:pPr marL="342900" lvl="0" indent="-342900" algn="l" rtl="0">
              <a:lnSpc>
                <a:spcPct val="100000"/>
              </a:lnSpc>
              <a:spcBef>
                <a:spcPts val="640"/>
              </a:spcBef>
              <a:spcAft>
                <a:spcPts val="0"/>
              </a:spcAft>
              <a:buSzPts val="3200"/>
              <a:buNone/>
            </a:pPr>
            <a:endParaRPr sz="3200" b="0" i="0" u="none">
              <a:solidFill>
                <a:schemeClr val="dk1"/>
              </a:solidFill>
              <a:latin typeface="Arial"/>
              <a:ea typeface="Arial"/>
              <a:cs typeface="Arial"/>
              <a:sym typeface="Arial"/>
            </a:endParaRPr>
          </a:p>
          <a:p>
            <a:pPr marL="342900" lvl="0" indent="-139700" algn="l" rtl="0">
              <a:spcBef>
                <a:spcPts val="640"/>
              </a:spcBef>
              <a:spcAft>
                <a:spcPts val="0"/>
              </a:spcAft>
              <a:buSzPts val="3200"/>
              <a:buNone/>
            </a:pPr>
            <a:endParaRPr sz="3200" b="0" i="0" u="none">
              <a:solidFill>
                <a:schemeClr val="dk1"/>
              </a:solidFill>
              <a:latin typeface="Arial"/>
              <a:ea typeface="Arial"/>
              <a:cs typeface="Arial"/>
              <a:sym typeface="Arial"/>
            </a:endParaRPr>
          </a:p>
        </p:txBody>
      </p:sp>
      <p:sp>
        <p:nvSpPr>
          <p:cNvPr id="232" name="Google Shape;232;p11"/>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33" name="Google Shape;233;p11"/>
          <p:cNvSpPr txBox="1"/>
          <p:nvPr/>
        </p:nvSpPr>
        <p:spPr>
          <a:xfrm>
            <a:off x="1447800" y="3048000"/>
            <a:ext cx="6858000" cy="31162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1800"/>
              <a:buFont typeface="Arial"/>
              <a:buNone/>
            </a:pPr>
            <a:r>
              <a:rPr lang="en-US" sz="1800" b="0" i="0" u="none">
                <a:solidFill>
                  <a:srgbClr val="FF3300"/>
                </a:solidFill>
                <a:latin typeface="Arial"/>
                <a:ea typeface="Arial"/>
                <a:cs typeface="Arial"/>
                <a:sym typeface="Arial"/>
              </a:rPr>
              <a:t>Solution</a:t>
            </a:r>
            <a:r>
              <a:rPr lang="en-US" sz="1800" b="0" i="0" u="none">
                <a:solidFill>
                  <a:schemeClr val="dk1"/>
                </a:solidFill>
                <a:latin typeface="Arial"/>
                <a:ea typeface="Arial"/>
                <a:cs typeface="Arial"/>
                <a:sym typeface="Arial"/>
              </a:rPr>
              <a:t>: Any of the following - </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“If Maria learns discrete mathematics, then she will find a 	good job.</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“Maria will find a good job when she learns discrete 	mathematics.”</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“For Maria to get a good job, it is sufficient for her to 	learn discrete mathematics.”</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“Maria will find a good job unless she does not learn 	discrete mathematics.”</a:t>
            </a:r>
            <a:endParaRPr/>
          </a:p>
        </p:txBody>
      </p:sp>
      <p:sp>
        <p:nvSpPr>
          <p:cNvPr id="234" name="Google Shape;234;p11"/>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11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3"/>
                                        </p:tgtEl>
                                        <p:attrNameLst>
                                          <p:attrName>style.visibility</p:attrName>
                                        </p:attrNameLst>
                                      </p:cBhvr>
                                      <p:to>
                                        <p:strVal val="visible"/>
                                      </p:to>
                                    </p:set>
                                    <p:anim calcmode="lin" valueType="num">
                                      <p:cBhvr additive="base">
                                        <p:cTn id="7" dur="500"/>
                                        <p:tgtEl>
                                          <p:spTgt spid="2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10fa1579d88_0_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240" name="Google Shape;240;g10fa1579d88_0_2"/>
          <p:cNvSpPr txBox="1"/>
          <p:nvPr/>
        </p:nvSpPr>
        <p:spPr>
          <a:xfrm>
            <a:off x="6324600" y="3581400"/>
            <a:ext cx="184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41" name="Google Shape;241;g10fa1579d88_0_2"/>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12</a:t>
            </a:fld>
            <a:endParaRPr/>
          </a:p>
        </p:txBody>
      </p:sp>
      <p:pic>
        <p:nvPicPr>
          <p:cNvPr id="242" name="Google Shape;242;g10fa1579d88_0_2"/>
          <p:cNvPicPr preferRelativeResize="0"/>
          <p:nvPr/>
        </p:nvPicPr>
        <p:blipFill>
          <a:blip r:embed="rId3">
            <a:alphaModFix/>
          </a:blip>
          <a:stretch>
            <a:fillRect/>
          </a:stretch>
        </p:blipFill>
        <p:spPr>
          <a:xfrm>
            <a:off x="1000175" y="1054150"/>
            <a:ext cx="7473426" cy="2278500"/>
          </a:xfrm>
          <a:prstGeom prst="rect">
            <a:avLst/>
          </a:prstGeom>
          <a:noFill/>
          <a:ln>
            <a:noFill/>
          </a:ln>
        </p:spPr>
      </p:pic>
      <p:pic>
        <p:nvPicPr>
          <p:cNvPr id="243" name="Google Shape;243;g10fa1579d88_0_2"/>
          <p:cNvPicPr preferRelativeResize="0"/>
          <p:nvPr/>
        </p:nvPicPr>
        <p:blipFill>
          <a:blip r:embed="rId4">
            <a:alphaModFix/>
          </a:blip>
          <a:stretch>
            <a:fillRect/>
          </a:stretch>
        </p:blipFill>
        <p:spPr>
          <a:xfrm>
            <a:off x="1000175" y="3332650"/>
            <a:ext cx="7561700" cy="3372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8">
          <a:extLst>
            <a:ext uri="{FF2B5EF4-FFF2-40B4-BE49-F238E27FC236}">
              <a16:creationId xmlns:a16="http://schemas.microsoft.com/office/drawing/2014/main" id="{876F873C-3AAD-BA16-C70E-4BCDBB4D3EF6}"/>
            </a:ext>
          </a:extLst>
        </p:cNvPr>
        <p:cNvGrpSpPr/>
        <p:nvPr/>
      </p:nvGrpSpPr>
      <p:grpSpPr>
        <a:xfrm>
          <a:off x="0" y="0"/>
          <a:ext cx="0" cy="0"/>
          <a:chOff x="0" y="0"/>
          <a:chExt cx="0" cy="0"/>
        </a:xfrm>
      </p:grpSpPr>
      <p:sp>
        <p:nvSpPr>
          <p:cNvPr id="239" name="Google Shape;239;g10fa1579d88_0_2">
            <a:extLst>
              <a:ext uri="{FF2B5EF4-FFF2-40B4-BE49-F238E27FC236}">
                <a16:creationId xmlns:a16="http://schemas.microsoft.com/office/drawing/2014/main" id="{97960DA7-B55C-A8C0-933A-12A62945683C}"/>
              </a:ext>
            </a:extLst>
          </p:cNvPr>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240" name="Google Shape;240;g10fa1579d88_0_2">
            <a:extLst>
              <a:ext uri="{FF2B5EF4-FFF2-40B4-BE49-F238E27FC236}">
                <a16:creationId xmlns:a16="http://schemas.microsoft.com/office/drawing/2014/main" id="{FD182BAE-988B-57E1-B657-71B51C626FCF}"/>
              </a:ext>
            </a:extLst>
          </p:cNvPr>
          <p:cNvSpPr txBox="1"/>
          <p:nvPr/>
        </p:nvSpPr>
        <p:spPr>
          <a:xfrm>
            <a:off x="6324600" y="3581400"/>
            <a:ext cx="184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41" name="Google Shape;241;g10fa1579d88_0_2">
            <a:extLst>
              <a:ext uri="{FF2B5EF4-FFF2-40B4-BE49-F238E27FC236}">
                <a16:creationId xmlns:a16="http://schemas.microsoft.com/office/drawing/2014/main" id="{B7CF0C8D-E098-E6EA-5921-F66D2BDE00FF}"/>
              </a:ext>
            </a:extLst>
          </p:cNvPr>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13</a:t>
            </a:fld>
            <a:endParaRPr/>
          </a:p>
        </p:txBody>
      </p:sp>
      <p:sp>
        <p:nvSpPr>
          <p:cNvPr id="2" name="TextBox 1">
            <a:extLst>
              <a:ext uri="{FF2B5EF4-FFF2-40B4-BE49-F238E27FC236}">
                <a16:creationId xmlns:a16="http://schemas.microsoft.com/office/drawing/2014/main" id="{4643F64F-9D26-573B-B691-4BA6631B1E39}"/>
              </a:ext>
            </a:extLst>
          </p:cNvPr>
          <p:cNvSpPr txBox="1"/>
          <p:nvPr/>
        </p:nvSpPr>
        <p:spPr>
          <a:xfrm>
            <a:off x="1357601" y="2887824"/>
            <a:ext cx="6811347" cy="3077766"/>
          </a:xfrm>
          <a:prstGeom prst="rect">
            <a:avLst/>
          </a:prstGeom>
          <a:noFill/>
        </p:spPr>
        <p:txBody>
          <a:bodyPr wrap="square" rtlCol="0">
            <a:spAutoFit/>
          </a:bodyPr>
          <a:lstStyle/>
          <a:p>
            <a:pPr marL="342900" indent="-342900">
              <a:buFont typeface="Arial" panose="020B0604020202020204" pitchFamily="34" charset="0"/>
              <a:buChar char="•"/>
            </a:pPr>
            <a:r>
              <a:rPr lang="en-US" sz="2000" dirty="0"/>
              <a:t>if </a:t>
            </a:r>
            <a:r>
              <a:rPr lang="en-US" sz="2000" i="1" dirty="0"/>
              <a:t>p</a:t>
            </a:r>
            <a:r>
              <a:rPr lang="en-US" sz="2000" dirty="0"/>
              <a:t>, then </a:t>
            </a:r>
            <a:r>
              <a:rPr lang="en-US" sz="2000" i="1" dirty="0"/>
              <a:t>q</a:t>
            </a:r>
            <a:endParaRPr lang="en-US" sz="2000" dirty="0"/>
          </a:p>
          <a:p>
            <a:pPr marL="342900" indent="-342900">
              <a:buFont typeface="Arial" panose="020B0604020202020204" pitchFamily="34" charset="0"/>
              <a:buChar char="•"/>
            </a:pPr>
            <a:r>
              <a:rPr lang="en-US" sz="2000" i="1" dirty="0"/>
              <a:t>p </a:t>
            </a:r>
            <a:r>
              <a:rPr lang="en-US" sz="2000" dirty="0"/>
              <a:t>implies </a:t>
            </a:r>
            <a:r>
              <a:rPr lang="en-US" sz="2000" i="1" dirty="0"/>
              <a:t>q p </a:t>
            </a:r>
            <a:r>
              <a:rPr lang="en-US" sz="2000" dirty="0"/>
              <a:t>only if </a:t>
            </a:r>
            <a:r>
              <a:rPr lang="en-US" sz="2000" i="1" dirty="0"/>
              <a:t>q </a:t>
            </a:r>
            <a:r>
              <a:rPr lang="en-US" sz="2000" i="1" dirty="0" err="1"/>
              <a:t>q</a:t>
            </a:r>
            <a:r>
              <a:rPr lang="en-US" sz="2000" i="1" dirty="0"/>
              <a:t> </a:t>
            </a:r>
            <a:r>
              <a:rPr lang="en-US" sz="2000" dirty="0"/>
              <a:t>when </a:t>
            </a:r>
            <a:r>
              <a:rPr lang="en-US" sz="2000" i="1" dirty="0"/>
              <a:t>p</a:t>
            </a:r>
            <a:endParaRPr lang="en-US" sz="2000" dirty="0"/>
          </a:p>
          <a:p>
            <a:pPr marL="342900" indent="-342900">
              <a:buFont typeface="Arial" panose="020B0604020202020204" pitchFamily="34" charset="0"/>
              <a:buChar char="•"/>
            </a:pPr>
            <a:r>
              <a:rPr lang="en-US" sz="2000" i="1" dirty="0"/>
              <a:t>q </a:t>
            </a:r>
            <a:r>
              <a:rPr lang="en-US" sz="2000" dirty="0"/>
              <a:t>whenever </a:t>
            </a:r>
            <a:r>
              <a:rPr lang="en-US" sz="2000" i="1" dirty="0"/>
              <a:t>p</a:t>
            </a:r>
            <a:endParaRPr lang="en-US" sz="2000" dirty="0"/>
          </a:p>
          <a:p>
            <a:pPr marL="342900" indent="-342900">
              <a:buFont typeface="Arial" panose="020B0604020202020204" pitchFamily="34" charset="0"/>
              <a:buChar char="•"/>
            </a:pPr>
            <a:r>
              <a:rPr lang="en-US" sz="2000" i="1" dirty="0"/>
              <a:t>q </a:t>
            </a:r>
            <a:r>
              <a:rPr lang="en-US" sz="2000" dirty="0"/>
              <a:t>follows from </a:t>
            </a:r>
            <a:r>
              <a:rPr lang="en-US" sz="2000" i="1" dirty="0"/>
              <a:t>p</a:t>
            </a:r>
            <a:endParaRPr lang="en-US" sz="2000" dirty="0"/>
          </a:p>
          <a:p>
            <a:pPr marL="342900" indent="-342900">
              <a:buFont typeface="Arial" panose="020B0604020202020204" pitchFamily="34" charset="0"/>
              <a:buChar char="•"/>
            </a:pPr>
            <a:r>
              <a:rPr lang="en-US" sz="2000" dirty="0"/>
              <a:t>a necessary condition for </a:t>
            </a:r>
            <a:r>
              <a:rPr lang="en-US" sz="2000" i="1" dirty="0"/>
              <a:t>p </a:t>
            </a:r>
            <a:r>
              <a:rPr lang="en-US" sz="2000" dirty="0"/>
              <a:t>is </a:t>
            </a:r>
            <a:r>
              <a:rPr lang="en-US" sz="2000" i="1" dirty="0"/>
              <a:t>q</a:t>
            </a:r>
            <a:endParaRPr lang="en-US" sz="2000" dirty="0"/>
          </a:p>
          <a:p>
            <a:pPr marL="342900" indent="-342900">
              <a:buFont typeface="Arial" panose="020B0604020202020204" pitchFamily="34" charset="0"/>
              <a:buChar char="•"/>
            </a:pPr>
            <a:r>
              <a:rPr lang="en-US" sz="2000" dirty="0"/>
              <a:t>if </a:t>
            </a:r>
            <a:r>
              <a:rPr lang="en-US" sz="2000" i="1" dirty="0"/>
              <a:t>p</a:t>
            </a:r>
            <a:r>
              <a:rPr lang="en-US" sz="2000" dirty="0"/>
              <a:t>, </a:t>
            </a:r>
            <a:r>
              <a:rPr lang="en-US" sz="2000" i="1" dirty="0"/>
              <a:t>q</a:t>
            </a:r>
            <a:endParaRPr lang="en-US" sz="2000" dirty="0"/>
          </a:p>
          <a:p>
            <a:pPr marL="342900" indent="-342900">
              <a:buFont typeface="Arial" panose="020B0604020202020204" pitchFamily="34" charset="0"/>
              <a:buChar char="•"/>
            </a:pPr>
            <a:r>
              <a:rPr lang="en-US" sz="2000" i="1" dirty="0"/>
              <a:t>q </a:t>
            </a:r>
            <a:r>
              <a:rPr lang="en-US" sz="2000" dirty="0"/>
              <a:t>unless ¬</a:t>
            </a:r>
            <a:r>
              <a:rPr lang="en-US" sz="2000" i="1" dirty="0"/>
              <a:t>p q </a:t>
            </a:r>
            <a:r>
              <a:rPr lang="en-US" sz="2000" dirty="0"/>
              <a:t>if </a:t>
            </a:r>
            <a:r>
              <a:rPr lang="en-US" sz="2000" i="1" dirty="0"/>
              <a:t>p</a:t>
            </a:r>
            <a:endParaRPr lang="en-US" sz="2000" dirty="0"/>
          </a:p>
          <a:p>
            <a:pPr marL="342900" indent="-342900">
              <a:buFont typeface="Arial" panose="020B0604020202020204" pitchFamily="34" charset="0"/>
              <a:buChar char="•"/>
            </a:pPr>
            <a:r>
              <a:rPr lang="en-US" sz="2000" i="1" dirty="0"/>
              <a:t>p </a:t>
            </a:r>
            <a:r>
              <a:rPr lang="en-US" sz="2000" dirty="0"/>
              <a:t>is sufficient for </a:t>
            </a:r>
            <a:r>
              <a:rPr lang="en-US" sz="2000" i="1" dirty="0"/>
              <a:t>q </a:t>
            </a:r>
            <a:r>
              <a:rPr lang="en-US" sz="2000" i="1" dirty="0" err="1"/>
              <a:t>q</a:t>
            </a:r>
            <a:r>
              <a:rPr lang="en-US" sz="2000" i="1" dirty="0"/>
              <a:t> </a:t>
            </a:r>
            <a:r>
              <a:rPr lang="en-US" sz="2000" dirty="0"/>
              <a:t>is necessary for </a:t>
            </a:r>
            <a:r>
              <a:rPr lang="en-US" sz="2000" i="1" dirty="0"/>
              <a:t>p</a:t>
            </a:r>
            <a:endParaRPr lang="en-US" sz="2000" dirty="0"/>
          </a:p>
          <a:p>
            <a:pPr marL="342900" indent="-342900">
              <a:buFont typeface="Arial" panose="020B0604020202020204" pitchFamily="34" charset="0"/>
              <a:buChar char="•"/>
            </a:pPr>
            <a:r>
              <a:rPr lang="en-US" sz="2000" dirty="0"/>
              <a:t>a sufficient condition for </a:t>
            </a:r>
            <a:r>
              <a:rPr lang="en-US" sz="2000" i="1" dirty="0"/>
              <a:t>q </a:t>
            </a:r>
            <a:r>
              <a:rPr lang="en-US" sz="2000" dirty="0"/>
              <a:t>is </a:t>
            </a:r>
            <a:r>
              <a:rPr lang="en-US" sz="2000" i="1" dirty="0"/>
              <a:t>p</a:t>
            </a:r>
            <a:endParaRPr lang="en-US" sz="2000" dirty="0"/>
          </a:p>
          <a:p>
            <a:endParaRPr lang="en-AE" dirty="0"/>
          </a:p>
        </p:txBody>
      </p:sp>
      <p:sp>
        <p:nvSpPr>
          <p:cNvPr id="3" name="Rectangle 2">
            <a:extLst>
              <a:ext uri="{FF2B5EF4-FFF2-40B4-BE49-F238E27FC236}">
                <a16:creationId xmlns:a16="http://schemas.microsoft.com/office/drawing/2014/main" id="{64D4E520-6C38-E5E0-E92F-4AA4680EF799}"/>
              </a:ext>
            </a:extLst>
          </p:cNvPr>
          <p:cNvSpPr/>
          <p:nvPr/>
        </p:nvSpPr>
        <p:spPr>
          <a:xfrm>
            <a:off x="2733869" y="1604865"/>
            <a:ext cx="3590731" cy="8957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P                           Q</a:t>
            </a:r>
            <a:endParaRPr lang="en-AE" dirty="0">
              <a:ln w="0"/>
              <a:solidFill>
                <a:schemeClr val="tx1"/>
              </a:solidFill>
              <a:effectLst>
                <a:outerShdw blurRad="38100" dist="19050" dir="2700000" algn="tl" rotWithShape="0">
                  <a:schemeClr val="dk1">
                    <a:alpha val="40000"/>
                  </a:schemeClr>
                </a:outerShdw>
              </a:effectLst>
            </a:endParaRPr>
          </a:p>
        </p:txBody>
      </p:sp>
      <p:sp>
        <p:nvSpPr>
          <p:cNvPr id="4" name="Arrow: Right 3">
            <a:extLst>
              <a:ext uri="{FF2B5EF4-FFF2-40B4-BE49-F238E27FC236}">
                <a16:creationId xmlns:a16="http://schemas.microsoft.com/office/drawing/2014/main" id="{7BBF6CAC-062B-1587-BF6D-B769F6FA72BF}"/>
              </a:ext>
            </a:extLst>
          </p:cNvPr>
          <p:cNvSpPr/>
          <p:nvPr/>
        </p:nvSpPr>
        <p:spPr>
          <a:xfrm>
            <a:off x="4287414" y="1992085"/>
            <a:ext cx="475861" cy="1212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Tree>
    <p:extLst>
      <p:ext uri="{BB962C8B-B14F-4D97-AF65-F5344CB8AC3E}">
        <p14:creationId xmlns:p14="http://schemas.microsoft.com/office/powerpoint/2010/main" val="910589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2"/>
          <p:cNvSpPr txBox="1">
            <a:spLocks noGrp="1"/>
          </p:cNvSpPr>
          <p:nvPr>
            <p:ph type="title"/>
          </p:nvPr>
        </p:nvSpPr>
        <p:spPr>
          <a:xfrm>
            <a:off x="457200" y="10248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249" name="Google Shape;249;p12"/>
          <p:cNvSpPr txBox="1">
            <a:spLocks noGrp="1"/>
          </p:cNvSpPr>
          <p:nvPr>
            <p:ph type="body" idx="1"/>
          </p:nvPr>
        </p:nvSpPr>
        <p:spPr>
          <a:xfrm>
            <a:off x="299800" y="946350"/>
            <a:ext cx="9425100" cy="64662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accent1"/>
              </a:buClr>
              <a:buSzPts val="1600"/>
              <a:buFont typeface="Noto Sans Symbols"/>
              <a:buChar char="●"/>
            </a:pPr>
            <a:r>
              <a:rPr lang="en-US" sz="1600" b="0" i="0" u="none">
                <a:solidFill>
                  <a:schemeClr val="dk1"/>
                </a:solidFill>
                <a:latin typeface="Arial"/>
                <a:ea typeface="Arial"/>
                <a:cs typeface="Arial"/>
                <a:sym typeface="Arial"/>
              </a:rPr>
              <a:t>Other conditional statements formed from </a:t>
            </a:r>
            <a:r>
              <a:rPr lang="en-US" sz="1600" b="0" i="1" u="none">
                <a:solidFill>
                  <a:schemeClr val="dk1"/>
                </a:solidFill>
                <a:latin typeface="Arial"/>
                <a:ea typeface="Arial"/>
                <a:cs typeface="Arial"/>
                <a:sym typeface="Arial"/>
              </a:rPr>
              <a:t>p</a:t>
            </a:r>
            <a:r>
              <a:rPr lang="en-US" sz="1600" b="0" i="0" u="none">
                <a:solidFill>
                  <a:schemeClr val="dk1"/>
                </a:solidFill>
                <a:latin typeface="Arial"/>
                <a:ea typeface="Arial"/>
                <a:cs typeface="Arial"/>
                <a:sym typeface="Arial"/>
              </a:rPr>
              <a:t> </a:t>
            </a:r>
            <a:r>
              <a:rPr lang="en-US" sz="2000" b="0" i="0" u="none">
                <a:solidFill>
                  <a:schemeClr val="dk1"/>
                </a:solidFill>
                <a:latin typeface="Arial"/>
                <a:ea typeface="Arial"/>
                <a:cs typeface="Arial"/>
                <a:sym typeface="Arial"/>
              </a:rPr>
              <a:t>→</a:t>
            </a:r>
            <a:r>
              <a:rPr lang="en-US" sz="1600" b="0" i="0" u="none">
                <a:solidFill>
                  <a:schemeClr val="dk1"/>
                </a:solidFill>
                <a:latin typeface="Arial"/>
                <a:ea typeface="Arial"/>
                <a:cs typeface="Arial"/>
                <a:sym typeface="Arial"/>
              </a:rPr>
              <a:t> </a:t>
            </a:r>
            <a:r>
              <a:rPr lang="en-US" sz="1600" b="0" i="1" u="none">
                <a:solidFill>
                  <a:schemeClr val="dk1"/>
                </a:solidFill>
                <a:latin typeface="Arial"/>
                <a:ea typeface="Arial"/>
                <a:cs typeface="Arial"/>
                <a:sym typeface="Arial"/>
              </a:rPr>
              <a:t>q</a:t>
            </a:r>
            <a:r>
              <a:rPr lang="en-US" sz="1600" b="0" i="0" u="none">
                <a:solidFill>
                  <a:schemeClr val="dk1"/>
                </a:solidFill>
                <a:latin typeface="Arial"/>
                <a:ea typeface="Arial"/>
                <a:cs typeface="Arial"/>
                <a:sym typeface="Arial"/>
              </a:rPr>
              <a:t> </a:t>
            </a:r>
            <a:endParaRPr/>
          </a:p>
          <a:p>
            <a:pPr marL="742950" lvl="1" indent="-285750" algn="l" rtl="0">
              <a:lnSpc>
                <a:spcPct val="80000"/>
              </a:lnSpc>
              <a:spcBef>
                <a:spcPts val="360"/>
              </a:spcBef>
              <a:spcAft>
                <a:spcPts val="0"/>
              </a:spcAft>
              <a:buClr>
                <a:schemeClr val="accent1"/>
              </a:buClr>
              <a:buSzPts val="1400"/>
              <a:buFont typeface="Noto Sans Symbols"/>
              <a:buChar char="⚪"/>
            </a:pPr>
            <a:r>
              <a:rPr lang="en-US" sz="1400" b="0" i="0" u="none">
                <a:solidFill>
                  <a:schemeClr val="hlink"/>
                </a:solidFill>
                <a:latin typeface="Arial"/>
                <a:ea typeface="Arial"/>
                <a:cs typeface="Arial"/>
                <a:sym typeface="Arial"/>
              </a:rPr>
              <a:t>Converse</a:t>
            </a:r>
            <a:r>
              <a:rPr lang="en-US" sz="1400" b="0" i="0" u="none">
                <a:solidFill>
                  <a:schemeClr val="dk1"/>
                </a:solidFill>
                <a:latin typeface="Arial"/>
                <a:ea typeface="Arial"/>
                <a:cs typeface="Arial"/>
                <a:sym typeface="Arial"/>
              </a:rPr>
              <a:t> of </a:t>
            </a:r>
            <a:r>
              <a:rPr lang="en-US" sz="1400" b="0" i="1" u="none">
                <a:solidFill>
                  <a:schemeClr val="dk1"/>
                </a:solidFill>
                <a:latin typeface="Arial"/>
                <a:ea typeface="Arial"/>
                <a:cs typeface="Arial"/>
                <a:sym typeface="Arial"/>
              </a:rPr>
              <a:t>p</a:t>
            </a:r>
            <a:r>
              <a:rPr lang="en-US" sz="1400" b="0" i="0" u="none">
                <a:solidFill>
                  <a:schemeClr val="dk1"/>
                </a:solidFill>
                <a:latin typeface="Arial"/>
                <a:ea typeface="Arial"/>
                <a:cs typeface="Arial"/>
                <a:sym typeface="Arial"/>
              </a:rPr>
              <a:t> </a:t>
            </a:r>
            <a:r>
              <a:rPr lang="en-US" sz="1800" b="0" i="0" u="none">
                <a:solidFill>
                  <a:schemeClr val="dk1"/>
                </a:solidFill>
                <a:latin typeface="Arial"/>
                <a:ea typeface="Arial"/>
                <a:cs typeface="Arial"/>
                <a:sym typeface="Arial"/>
              </a:rPr>
              <a:t>→</a:t>
            </a:r>
            <a:r>
              <a:rPr lang="en-US" sz="1400" b="0" i="0" u="none">
                <a:solidFill>
                  <a:schemeClr val="dk1"/>
                </a:solidFill>
                <a:latin typeface="Arial"/>
                <a:ea typeface="Arial"/>
                <a:cs typeface="Arial"/>
                <a:sym typeface="Arial"/>
              </a:rPr>
              <a:t> </a:t>
            </a:r>
            <a:r>
              <a:rPr lang="en-US" sz="1400" b="0" i="1" u="none">
                <a:solidFill>
                  <a:schemeClr val="dk1"/>
                </a:solidFill>
                <a:latin typeface="Arial"/>
                <a:ea typeface="Arial"/>
                <a:cs typeface="Arial"/>
                <a:sym typeface="Arial"/>
              </a:rPr>
              <a:t>q</a:t>
            </a:r>
            <a:r>
              <a:rPr lang="en-US" sz="1400" b="0" i="0" u="none">
                <a:solidFill>
                  <a:schemeClr val="dk1"/>
                </a:solidFill>
                <a:latin typeface="Arial"/>
                <a:ea typeface="Arial"/>
                <a:cs typeface="Arial"/>
                <a:sym typeface="Arial"/>
              </a:rPr>
              <a:t> : </a:t>
            </a:r>
            <a:r>
              <a:rPr lang="en-US" sz="1400" b="0" i="1" u="none">
                <a:solidFill>
                  <a:schemeClr val="dk1"/>
                </a:solidFill>
                <a:latin typeface="Arial"/>
                <a:ea typeface="Arial"/>
                <a:cs typeface="Arial"/>
                <a:sym typeface="Arial"/>
              </a:rPr>
              <a:t>q</a:t>
            </a:r>
            <a:r>
              <a:rPr lang="en-US" sz="1400" b="0" i="0" u="none">
                <a:solidFill>
                  <a:schemeClr val="dk1"/>
                </a:solidFill>
                <a:latin typeface="Arial"/>
                <a:ea typeface="Arial"/>
                <a:cs typeface="Arial"/>
                <a:sym typeface="Arial"/>
              </a:rPr>
              <a:t> </a:t>
            </a:r>
            <a:r>
              <a:rPr lang="en-US" sz="1800" b="0" i="0" u="none">
                <a:solidFill>
                  <a:schemeClr val="dk1"/>
                </a:solidFill>
                <a:latin typeface="Arial"/>
                <a:ea typeface="Arial"/>
                <a:cs typeface="Arial"/>
                <a:sym typeface="Arial"/>
              </a:rPr>
              <a:t>→</a:t>
            </a:r>
            <a:r>
              <a:rPr lang="en-US" sz="1400" b="0" i="0" u="none">
                <a:solidFill>
                  <a:schemeClr val="dk1"/>
                </a:solidFill>
                <a:latin typeface="Arial"/>
                <a:ea typeface="Arial"/>
                <a:cs typeface="Arial"/>
                <a:sym typeface="Arial"/>
              </a:rPr>
              <a:t> </a:t>
            </a:r>
            <a:r>
              <a:rPr lang="en-US" sz="1400" b="0" i="1" u="none">
                <a:solidFill>
                  <a:schemeClr val="dk1"/>
                </a:solidFill>
                <a:latin typeface="Arial"/>
                <a:ea typeface="Arial"/>
                <a:cs typeface="Arial"/>
                <a:sym typeface="Arial"/>
              </a:rPr>
              <a:t>p</a:t>
            </a:r>
            <a:endParaRPr/>
          </a:p>
          <a:p>
            <a:pPr marL="742950" lvl="1" indent="-285750" algn="l" rtl="0">
              <a:lnSpc>
                <a:spcPct val="80000"/>
              </a:lnSpc>
              <a:spcBef>
                <a:spcPts val="360"/>
              </a:spcBef>
              <a:spcAft>
                <a:spcPts val="0"/>
              </a:spcAft>
              <a:buClr>
                <a:schemeClr val="accent1"/>
              </a:buClr>
              <a:buSzPts val="1400"/>
              <a:buFont typeface="Noto Sans Symbols"/>
              <a:buChar char="⚪"/>
            </a:pPr>
            <a:r>
              <a:rPr lang="en-US" sz="1400" b="0" i="0" u="none">
                <a:solidFill>
                  <a:schemeClr val="hlink"/>
                </a:solidFill>
                <a:latin typeface="Arial"/>
                <a:ea typeface="Arial"/>
                <a:cs typeface="Arial"/>
                <a:sym typeface="Arial"/>
              </a:rPr>
              <a:t>Contrapositive</a:t>
            </a:r>
            <a:r>
              <a:rPr lang="en-US" sz="1400" b="0" i="0" u="none">
                <a:solidFill>
                  <a:schemeClr val="dk1"/>
                </a:solidFill>
                <a:latin typeface="Arial"/>
                <a:ea typeface="Arial"/>
                <a:cs typeface="Arial"/>
                <a:sym typeface="Arial"/>
              </a:rPr>
              <a:t> of </a:t>
            </a:r>
            <a:r>
              <a:rPr lang="en-US" sz="1400" b="0" i="1" u="none">
                <a:solidFill>
                  <a:schemeClr val="dk1"/>
                </a:solidFill>
                <a:latin typeface="Arial"/>
                <a:ea typeface="Arial"/>
                <a:cs typeface="Arial"/>
                <a:sym typeface="Arial"/>
              </a:rPr>
              <a:t>p</a:t>
            </a:r>
            <a:r>
              <a:rPr lang="en-US" sz="1400" b="0" i="0" u="none">
                <a:solidFill>
                  <a:schemeClr val="dk1"/>
                </a:solidFill>
                <a:latin typeface="Arial"/>
                <a:ea typeface="Arial"/>
                <a:cs typeface="Arial"/>
                <a:sym typeface="Arial"/>
              </a:rPr>
              <a:t> </a:t>
            </a:r>
            <a:r>
              <a:rPr lang="en-US" sz="1800" b="0" i="0" u="none">
                <a:solidFill>
                  <a:schemeClr val="dk1"/>
                </a:solidFill>
                <a:latin typeface="Arial"/>
                <a:ea typeface="Arial"/>
                <a:cs typeface="Arial"/>
                <a:sym typeface="Arial"/>
              </a:rPr>
              <a:t>→</a:t>
            </a:r>
            <a:r>
              <a:rPr lang="en-US" sz="1400" b="0" i="0" u="none">
                <a:solidFill>
                  <a:schemeClr val="dk1"/>
                </a:solidFill>
                <a:latin typeface="Arial"/>
                <a:ea typeface="Arial"/>
                <a:cs typeface="Arial"/>
                <a:sym typeface="Arial"/>
              </a:rPr>
              <a:t> </a:t>
            </a:r>
            <a:r>
              <a:rPr lang="en-US" sz="1400" b="0" i="1" u="none">
                <a:solidFill>
                  <a:schemeClr val="dk1"/>
                </a:solidFill>
                <a:latin typeface="Arial"/>
                <a:ea typeface="Arial"/>
                <a:cs typeface="Arial"/>
                <a:sym typeface="Arial"/>
              </a:rPr>
              <a:t>q</a:t>
            </a:r>
            <a:r>
              <a:rPr lang="en-US" sz="1400" b="0" i="0" u="none">
                <a:solidFill>
                  <a:schemeClr val="dk1"/>
                </a:solidFill>
                <a:latin typeface="Arial"/>
                <a:ea typeface="Arial"/>
                <a:cs typeface="Arial"/>
                <a:sym typeface="Arial"/>
              </a:rPr>
              <a:t> : </a:t>
            </a:r>
            <a:r>
              <a:rPr lang="en-US" sz="1800" b="0" i="0" u="none">
                <a:solidFill>
                  <a:schemeClr val="dk1"/>
                </a:solidFill>
                <a:latin typeface="Arial"/>
                <a:ea typeface="Arial"/>
                <a:cs typeface="Arial"/>
                <a:sym typeface="Arial"/>
              </a:rPr>
              <a:t>¬ </a:t>
            </a:r>
            <a:r>
              <a:rPr lang="en-US" sz="1400" b="0" i="1" u="none">
                <a:solidFill>
                  <a:schemeClr val="dk1"/>
                </a:solidFill>
                <a:latin typeface="Arial"/>
                <a:ea typeface="Arial"/>
                <a:cs typeface="Arial"/>
                <a:sym typeface="Arial"/>
              </a:rPr>
              <a:t>q</a:t>
            </a:r>
            <a:r>
              <a:rPr lang="en-US" sz="1400" b="0" i="0" u="none">
                <a:solidFill>
                  <a:schemeClr val="dk1"/>
                </a:solidFill>
                <a:latin typeface="Arial"/>
                <a:ea typeface="Arial"/>
                <a:cs typeface="Arial"/>
                <a:sym typeface="Arial"/>
              </a:rPr>
              <a:t> </a:t>
            </a:r>
            <a:r>
              <a:rPr lang="en-US" sz="1800" b="0" i="0" u="none">
                <a:solidFill>
                  <a:schemeClr val="dk1"/>
                </a:solidFill>
                <a:latin typeface="Arial"/>
                <a:ea typeface="Arial"/>
                <a:cs typeface="Arial"/>
                <a:sym typeface="Arial"/>
              </a:rPr>
              <a:t>→</a:t>
            </a:r>
            <a:r>
              <a:rPr lang="en-US" sz="1400" b="0" i="0" u="none">
                <a:solidFill>
                  <a:schemeClr val="dk1"/>
                </a:solidFill>
                <a:latin typeface="Arial"/>
                <a:ea typeface="Arial"/>
                <a:cs typeface="Arial"/>
                <a:sym typeface="Arial"/>
              </a:rPr>
              <a:t> </a:t>
            </a:r>
            <a:r>
              <a:rPr lang="en-US" sz="1800" b="0" i="0" u="none">
                <a:solidFill>
                  <a:schemeClr val="dk1"/>
                </a:solidFill>
                <a:latin typeface="Arial"/>
                <a:ea typeface="Arial"/>
                <a:cs typeface="Arial"/>
                <a:sym typeface="Arial"/>
              </a:rPr>
              <a:t>¬ </a:t>
            </a:r>
            <a:r>
              <a:rPr lang="en-US" sz="1400" b="0" i="1" u="none">
                <a:solidFill>
                  <a:schemeClr val="dk1"/>
                </a:solidFill>
                <a:latin typeface="Arial"/>
                <a:ea typeface="Arial"/>
                <a:cs typeface="Arial"/>
                <a:sym typeface="Arial"/>
              </a:rPr>
              <a:t>p  (</a:t>
            </a:r>
            <a:r>
              <a:rPr lang="en-US" sz="1400" i="1"/>
              <a:t>Converse+</a:t>
            </a:r>
            <a:r>
              <a:rPr lang="en-US" sz="1400" b="0" i="1" u="none">
                <a:solidFill>
                  <a:schemeClr val="dk1"/>
                </a:solidFill>
                <a:latin typeface="Arial"/>
                <a:ea typeface="Arial"/>
                <a:cs typeface="Arial"/>
                <a:sym typeface="Arial"/>
              </a:rPr>
              <a:t>Inverse) </a:t>
            </a:r>
            <a:endParaRPr/>
          </a:p>
          <a:p>
            <a:pPr marL="742950" lvl="1" indent="-285750" algn="l" rtl="0">
              <a:lnSpc>
                <a:spcPct val="80000"/>
              </a:lnSpc>
              <a:spcBef>
                <a:spcPts val="360"/>
              </a:spcBef>
              <a:spcAft>
                <a:spcPts val="0"/>
              </a:spcAft>
              <a:buClr>
                <a:schemeClr val="accent1"/>
              </a:buClr>
              <a:buSzPts val="1400"/>
              <a:buFont typeface="Noto Sans Symbols"/>
              <a:buChar char="⚪"/>
            </a:pPr>
            <a:r>
              <a:rPr lang="en-US" sz="1400" b="0" i="0" u="none">
                <a:solidFill>
                  <a:schemeClr val="hlink"/>
                </a:solidFill>
                <a:latin typeface="Arial"/>
                <a:ea typeface="Arial"/>
                <a:cs typeface="Arial"/>
                <a:sym typeface="Arial"/>
              </a:rPr>
              <a:t>Inverse of</a:t>
            </a:r>
            <a:r>
              <a:rPr lang="en-US" sz="1400" b="0" i="0" u="none">
                <a:solidFill>
                  <a:schemeClr val="dk1"/>
                </a:solidFill>
                <a:latin typeface="Arial"/>
                <a:ea typeface="Arial"/>
                <a:cs typeface="Arial"/>
                <a:sym typeface="Arial"/>
              </a:rPr>
              <a:t> </a:t>
            </a:r>
            <a:r>
              <a:rPr lang="en-US" sz="1400" b="0" i="1" u="none">
                <a:solidFill>
                  <a:schemeClr val="dk1"/>
                </a:solidFill>
                <a:latin typeface="Arial"/>
                <a:ea typeface="Arial"/>
                <a:cs typeface="Arial"/>
                <a:sym typeface="Arial"/>
              </a:rPr>
              <a:t>p</a:t>
            </a:r>
            <a:r>
              <a:rPr lang="en-US" sz="1400" b="0" i="0" u="none">
                <a:solidFill>
                  <a:schemeClr val="dk1"/>
                </a:solidFill>
                <a:latin typeface="Arial"/>
                <a:ea typeface="Arial"/>
                <a:cs typeface="Arial"/>
                <a:sym typeface="Arial"/>
              </a:rPr>
              <a:t> </a:t>
            </a:r>
            <a:r>
              <a:rPr lang="en-US" sz="1800" b="0" i="0" u="none">
                <a:solidFill>
                  <a:schemeClr val="dk1"/>
                </a:solidFill>
                <a:latin typeface="Arial"/>
                <a:ea typeface="Arial"/>
                <a:cs typeface="Arial"/>
                <a:sym typeface="Arial"/>
              </a:rPr>
              <a:t>→</a:t>
            </a:r>
            <a:r>
              <a:rPr lang="en-US" sz="1400" b="0" i="0" u="none">
                <a:solidFill>
                  <a:schemeClr val="dk1"/>
                </a:solidFill>
                <a:latin typeface="Arial"/>
                <a:ea typeface="Arial"/>
                <a:cs typeface="Arial"/>
                <a:sym typeface="Arial"/>
              </a:rPr>
              <a:t> </a:t>
            </a:r>
            <a:r>
              <a:rPr lang="en-US" sz="1400" b="0" i="1" u="none">
                <a:solidFill>
                  <a:schemeClr val="dk1"/>
                </a:solidFill>
                <a:latin typeface="Arial"/>
                <a:ea typeface="Arial"/>
                <a:cs typeface="Arial"/>
                <a:sym typeface="Arial"/>
              </a:rPr>
              <a:t>q</a:t>
            </a:r>
            <a:r>
              <a:rPr lang="en-US" sz="1400" b="0" i="0" u="none">
                <a:solidFill>
                  <a:schemeClr val="dk1"/>
                </a:solidFill>
                <a:latin typeface="Arial"/>
                <a:ea typeface="Arial"/>
                <a:cs typeface="Arial"/>
                <a:sym typeface="Arial"/>
              </a:rPr>
              <a:t> : </a:t>
            </a:r>
            <a:r>
              <a:rPr lang="en-US" sz="1800" b="0" i="0" u="none">
                <a:solidFill>
                  <a:schemeClr val="dk1"/>
                </a:solidFill>
                <a:latin typeface="Arial"/>
                <a:ea typeface="Arial"/>
                <a:cs typeface="Arial"/>
                <a:sym typeface="Arial"/>
              </a:rPr>
              <a:t>¬ </a:t>
            </a:r>
            <a:r>
              <a:rPr lang="en-US" sz="1400" b="0" i="1" u="none">
                <a:solidFill>
                  <a:schemeClr val="dk1"/>
                </a:solidFill>
                <a:latin typeface="Arial"/>
                <a:ea typeface="Arial"/>
                <a:cs typeface="Arial"/>
                <a:sym typeface="Arial"/>
              </a:rPr>
              <a:t>p</a:t>
            </a:r>
            <a:r>
              <a:rPr lang="en-US" sz="1400" b="0" i="0" u="none">
                <a:solidFill>
                  <a:schemeClr val="dk1"/>
                </a:solidFill>
                <a:latin typeface="Arial"/>
                <a:ea typeface="Arial"/>
                <a:cs typeface="Arial"/>
                <a:sym typeface="Arial"/>
              </a:rPr>
              <a:t> </a:t>
            </a:r>
            <a:r>
              <a:rPr lang="en-US" sz="1800" b="0" i="0" u="none">
                <a:solidFill>
                  <a:schemeClr val="dk1"/>
                </a:solidFill>
                <a:latin typeface="Arial"/>
                <a:ea typeface="Arial"/>
                <a:cs typeface="Arial"/>
                <a:sym typeface="Arial"/>
              </a:rPr>
              <a:t>→</a:t>
            </a:r>
            <a:r>
              <a:rPr lang="en-US" sz="1400" b="0" i="0" u="none">
                <a:solidFill>
                  <a:schemeClr val="dk1"/>
                </a:solidFill>
                <a:latin typeface="Arial"/>
                <a:ea typeface="Arial"/>
                <a:cs typeface="Arial"/>
                <a:sym typeface="Arial"/>
              </a:rPr>
              <a:t> </a:t>
            </a:r>
            <a:r>
              <a:rPr lang="en-US" sz="1800" b="0" i="0" u="none">
                <a:solidFill>
                  <a:schemeClr val="dk1"/>
                </a:solidFill>
                <a:latin typeface="Arial"/>
                <a:ea typeface="Arial"/>
                <a:cs typeface="Arial"/>
                <a:sym typeface="Arial"/>
              </a:rPr>
              <a:t>¬ </a:t>
            </a:r>
            <a:r>
              <a:rPr lang="en-US" sz="1400" b="0" i="1" u="none">
                <a:solidFill>
                  <a:schemeClr val="dk1"/>
                </a:solidFill>
                <a:latin typeface="Arial"/>
                <a:ea typeface="Arial"/>
                <a:cs typeface="Arial"/>
                <a:sym typeface="Arial"/>
              </a:rPr>
              <a:t>q</a:t>
            </a:r>
            <a:endParaRPr/>
          </a:p>
          <a:p>
            <a:pPr marL="742950" lvl="1" indent="-285750" algn="l" rtl="0">
              <a:lnSpc>
                <a:spcPct val="80000"/>
              </a:lnSpc>
              <a:spcBef>
                <a:spcPts val="340"/>
              </a:spcBef>
              <a:spcAft>
                <a:spcPts val="0"/>
              </a:spcAft>
              <a:buClr>
                <a:schemeClr val="accent1"/>
              </a:buClr>
              <a:buSzPts val="1400"/>
              <a:buFont typeface="Noto Sans Symbols"/>
              <a:buChar char="⚪"/>
            </a:pPr>
            <a:r>
              <a:rPr lang="en-US" sz="1400" b="0" i="0" u="none">
                <a:solidFill>
                  <a:schemeClr val="dk1"/>
                </a:solidFill>
                <a:latin typeface="Arial"/>
                <a:ea typeface="Arial"/>
                <a:cs typeface="Arial"/>
                <a:sym typeface="Arial"/>
              </a:rPr>
              <a:t>All of these conditional statements formed from </a:t>
            </a:r>
            <a:r>
              <a:rPr lang="en-US" sz="1500" b="0" i="1" u="none">
                <a:solidFill>
                  <a:schemeClr val="dk1"/>
                </a:solidFill>
                <a:latin typeface="Arial"/>
                <a:ea typeface="Arial"/>
                <a:cs typeface="Arial"/>
                <a:sym typeface="Arial"/>
              </a:rPr>
              <a:t>p</a:t>
            </a:r>
            <a:r>
              <a:rPr lang="en-US" sz="1500" b="0" i="0" u="none">
                <a:solidFill>
                  <a:schemeClr val="dk1"/>
                </a:solidFill>
                <a:latin typeface="Arial"/>
                <a:ea typeface="Arial"/>
                <a:cs typeface="Arial"/>
                <a:sym typeface="Arial"/>
              </a:rPr>
              <a:t> </a:t>
            </a:r>
            <a:r>
              <a:rPr lang="en-US" sz="1700" b="0" i="0" u="none">
                <a:solidFill>
                  <a:schemeClr val="dk1"/>
                </a:solidFill>
                <a:latin typeface="Arial"/>
                <a:ea typeface="Arial"/>
                <a:cs typeface="Arial"/>
                <a:sym typeface="Arial"/>
              </a:rPr>
              <a:t>→</a:t>
            </a:r>
            <a:r>
              <a:rPr lang="en-US" sz="1500" b="0" i="0" u="none">
                <a:solidFill>
                  <a:schemeClr val="dk1"/>
                </a:solidFill>
                <a:latin typeface="Arial"/>
                <a:ea typeface="Arial"/>
                <a:cs typeface="Arial"/>
                <a:sym typeface="Arial"/>
              </a:rPr>
              <a:t> </a:t>
            </a:r>
            <a:r>
              <a:rPr lang="en-US" sz="1500" b="0" i="1" u="none">
                <a:solidFill>
                  <a:schemeClr val="dk1"/>
                </a:solidFill>
                <a:latin typeface="Arial"/>
                <a:ea typeface="Arial"/>
                <a:cs typeface="Arial"/>
                <a:sym typeface="Arial"/>
              </a:rPr>
              <a:t>q</a:t>
            </a:r>
            <a:r>
              <a:rPr lang="en-US" sz="1500" b="0" i="0" u="none">
                <a:solidFill>
                  <a:schemeClr val="dk1"/>
                </a:solidFill>
                <a:latin typeface="Arial"/>
                <a:ea typeface="Arial"/>
                <a:cs typeface="Arial"/>
                <a:sym typeface="Arial"/>
              </a:rPr>
              <a:t> , but only the contrapositive  always has the same truth value as </a:t>
            </a:r>
            <a:r>
              <a:rPr lang="en-US" sz="1500" b="0" i="1" u="none">
                <a:solidFill>
                  <a:schemeClr val="dk1"/>
                </a:solidFill>
                <a:latin typeface="Arial"/>
                <a:ea typeface="Arial"/>
                <a:cs typeface="Arial"/>
                <a:sym typeface="Arial"/>
              </a:rPr>
              <a:t>p</a:t>
            </a:r>
            <a:r>
              <a:rPr lang="en-US" sz="1500" b="0" i="0" u="none">
                <a:solidFill>
                  <a:schemeClr val="dk1"/>
                </a:solidFill>
                <a:latin typeface="Arial"/>
                <a:ea typeface="Arial"/>
                <a:cs typeface="Arial"/>
                <a:sym typeface="Arial"/>
              </a:rPr>
              <a:t> </a:t>
            </a:r>
            <a:r>
              <a:rPr lang="en-US" sz="1700" b="0" i="0" u="none">
                <a:solidFill>
                  <a:schemeClr val="dk1"/>
                </a:solidFill>
                <a:latin typeface="Arial"/>
                <a:ea typeface="Arial"/>
                <a:cs typeface="Arial"/>
                <a:sym typeface="Arial"/>
              </a:rPr>
              <a:t>→</a:t>
            </a:r>
            <a:r>
              <a:rPr lang="en-US" sz="1500" b="0" i="0" u="none">
                <a:solidFill>
                  <a:schemeClr val="dk1"/>
                </a:solidFill>
                <a:latin typeface="Arial"/>
                <a:ea typeface="Arial"/>
                <a:cs typeface="Arial"/>
                <a:sym typeface="Arial"/>
              </a:rPr>
              <a:t> </a:t>
            </a:r>
            <a:r>
              <a:rPr lang="en-US" sz="1500" b="0" i="1" u="none">
                <a:solidFill>
                  <a:schemeClr val="dk1"/>
                </a:solidFill>
                <a:latin typeface="Arial"/>
                <a:ea typeface="Arial"/>
                <a:cs typeface="Arial"/>
                <a:sym typeface="Arial"/>
              </a:rPr>
              <a:t>q</a:t>
            </a:r>
            <a:r>
              <a:rPr lang="en-US" sz="1500" b="0" i="0" u="none">
                <a:solidFill>
                  <a:schemeClr val="dk1"/>
                </a:solidFill>
                <a:latin typeface="Arial"/>
                <a:ea typeface="Arial"/>
                <a:cs typeface="Arial"/>
                <a:sym typeface="Arial"/>
              </a:rPr>
              <a:t> </a:t>
            </a:r>
            <a:endParaRPr/>
          </a:p>
          <a:p>
            <a:pPr marL="742950" lvl="1" indent="-285750" algn="l" rtl="0">
              <a:lnSpc>
                <a:spcPct val="80000"/>
              </a:lnSpc>
              <a:spcBef>
                <a:spcPts val="300"/>
              </a:spcBef>
              <a:spcAft>
                <a:spcPts val="0"/>
              </a:spcAft>
              <a:buClr>
                <a:schemeClr val="accent1"/>
              </a:buClr>
              <a:buSzPts val="1500"/>
              <a:buFont typeface="Noto Sans Symbols"/>
              <a:buChar char="⚪"/>
            </a:pPr>
            <a:r>
              <a:rPr lang="en-US" sz="1500" b="1" i="0" u="sng">
                <a:solidFill>
                  <a:schemeClr val="dk1"/>
                </a:solidFill>
                <a:latin typeface="Arial"/>
                <a:ea typeface="Arial"/>
                <a:cs typeface="Arial"/>
                <a:sym typeface="Arial"/>
              </a:rPr>
              <a:t>Example</a:t>
            </a:r>
            <a:endParaRPr/>
          </a:p>
          <a:p>
            <a:pPr marL="742950" lvl="1" indent="-285750" algn="l" rtl="0">
              <a:lnSpc>
                <a:spcPct val="80000"/>
              </a:lnSpc>
              <a:spcBef>
                <a:spcPts val="280"/>
              </a:spcBef>
              <a:spcAft>
                <a:spcPts val="0"/>
              </a:spcAft>
              <a:buSzPts val="1400"/>
              <a:buNone/>
            </a:pPr>
            <a:r>
              <a:rPr lang="en-US" sz="1400" b="0" i="0" u="none">
                <a:solidFill>
                  <a:schemeClr val="dk1"/>
                </a:solidFill>
                <a:latin typeface="Arial"/>
                <a:ea typeface="Arial"/>
                <a:cs typeface="Arial"/>
                <a:sym typeface="Arial"/>
              </a:rPr>
              <a:t>    Find the contrapositive, converse and inverse of the statement</a:t>
            </a:r>
            <a:endParaRPr/>
          </a:p>
          <a:p>
            <a:pPr marL="742950" lvl="1" indent="-285750" algn="l" rtl="0">
              <a:lnSpc>
                <a:spcPct val="80000"/>
              </a:lnSpc>
              <a:spcBef>
                <a:spcPts val="280"/>
              </a:spcBef>
              <a:spcAft>
                <a:spcPts val="0"/>
              </a:spcAft>
              <a:buSzPts val="1400"/>
              <a:buNone/>
            </a:pPr>
            <a:r>
              <a:rPr lang="en-US" sz="1400" b="0" i="0" u="none">
                <a:solidFill>
                  <a:schemeClr val="dk1"/>
                </a:solidFill>
                <a:latin typeface="Arial"/>
                <a:ea typeface="Arial"/>
                <a:cs typeface="Arial"/>
                <a:sym typeface="Arial"/>
              </a:rPr>
              <a:t>    “ If today is Thursday, then I have a test today”</a:t>
            </a:r>
            <a:endParaRPr sz="1400" b="0" i="0" u="none">
              <a:solidFill>
                <a:schemeClr val="dk1"/>
              </a:solidFill>
              <a:latin typeface="Arial"/>
              <a:ea typeface="Arial"/>
              <a:cs typeface="Arial"/>
              <a:sym typeface="Arial"/>
            </a:endParaRPr>
          </a:p>
          <a:p>
            <a:pPr marL="742950" lvl="1" indent="-285750" algn="l" rtl="0">
              <a:lnSpc>
                <a:spcPct val="80000"/>
              </a:lnSpc>
              <a:spcBef>
                <a:spcPts val="280"/>
              </a:spcBef>
              <a:spcAft>
                <a:spcPts val="0"/>
              </a:spcAft>
              <a:buSzPts val="1400"/>
              <a:buNone/>
            </a:pPr>
            <a:endParaRPr sz="1400"/>
          </a:p>
          <a:p>
            <a:pPr marL="742950" lvl="1" indent="-285750" algn="l" rtl="0">
              <a:lnSpc>
                <a:spcPct val="80000"/>
              </a:lnSpc>
              <a:spcBef>
                <a:spcPts val="280"/>
              </a:spcBef>
              <a:spcAft>
                <a:spcPts val="0"/>
              </a:spcAft>
              <a:buClr>
                <a:schemeClr val="accent1"/>
              </a:buClr>
              <a:buSzPts val="1400"/>
              <a:buFont typeface="Noto Sans Symbols"/>
              <a:buChar char="⮚"/>
            </a:pPr>
            <a:r>
              <a:rPr lang="en-US" sz="1400" b="0" i="0" u="none">
                <a:solidFill>
                  <a:schemeClr val="dk1"/>
                </a:solidFill>
                <a:latin typeface="Arial"/>
                <a:ea typeface="Arial"/>
                <a:cs typeface="Arial"/>
                <a:sym typeface="Arial"/>
              </a:rPr>
              <a:t>  If I do not  have a test today, then today is not Thursday---Contrapositive</a:t>
            </a:r>
            <a:endParaRPr/>
          </a:p>
          <a:p>
            <a:pPr marL="742950" lvl="1" indent="-285750" algn="l" rtl="0">
              <a:lnSpc>
                <a:spcPct val="80000"/>
              </a:lnSpc>
              <a:spcBef>
                <a:spcPts val="280"/>
              </a:spcBef>
              <a:spcAft>
                <a:spcPts val="0"/>
              </a:spcAft>
              <a:buClr>
                <a:schemeClr val="accent1"/>
              </a:buClr>
              <a:buSzPts val="1400"/>
              <a:buFont typeface="Noto Sans Symbols"/>
              <a:buChar char="⮚"/>
            </a:pPr>
            <a:r>
              <a:rPr lang="en-US" sz="1400" b="0" i="0" u="none">
                <a:solidFill>
                  <a:schemeClr val="dk1"/>
                </a:solidFill>
                <a:latin typeface="Arial"/>
                <a:ea typeface="Arial"/>
                <a:cs typeface="Arial"/>
                <a:sym typeface="Arial"/>
              </a:rPr>
              <a:t>If I have a test today then today is Thursday------Converse</a:t>
            </a:r>
            <a:endParaRPr/>
          </a:p>
          <a:p>
            <a:pPr marL="742950" lvl="1" indent="-285750" algn="l" rtl="0">
              <a:lnSpc>
                <a:spcPct val="80000"/>
              </a:lnSpc>
              <a:spcBef>
                <a:spcPts val="280"/>
              </a:spcBef>
              <a:spcAft>
                <a:spcPts val="0"/>
              </a:spcAft>
              <a:buClr>
                <a:schemeClr val="accent1"/>
              </a:buClr>
              <a:buSzPts val="1400"/>
              <a:buFont typeface="Noto Sans Symbols"/>
              <a:buChar char="⮚"/>
            </a:pPr>
            <a:r>
              <a:rPr lang="en-US" sz="1400" b="0" i="0" u="none">
                <a:solidFill>
                  <a:schemeClr val="dk1"/>
                </a:solidFill>
                <a:latin typeface="Arial"/>
                <a:ea typeface="Arial"/>
                <a:cs typeface="Arial"/>
                <a:sym typeface="Arial"/>
              </a:rPr>
              <a:t>If Today is not Thursday then I do not have a test today----------Inverse</a:t>
            </a:r>
            <a:endParaRPr sz="1400" b="0" i="0" u="none">
              <a:solidFill>
                <a:schemeClr val="dk1"/>
              </a:solidFill>
              <a:latin typeface="Arial"/>
              <a:ea typeface="Arial"/>
              <a:cs typeface="Arial"/>
              <a:sym typeface="Arial"/>
            </a:endParaRPr>
          </a:p>
          <a:p>
            <a:pPr marL="0" lvl="0" indent="0" algn="l" rtl="0">
              <a:lnSpc>
                <a:spcPct val="80000"/>
              </a:lnSpc>
              <a:spcBef>
                <a:spcPts val="280"/>
              </a:spcBef>
              <a:spcAft>
                <a:spcPts val="0"/>
              </a:spcAft>
              <a:buNone/>
            </a:pPr>
            <a:endParaRPr sz="1400"/>
          </a:p>
          <a:p>
            <a:pPr marL="0" lvl="0" indent="0" algn="l" rtl="0">
              <a:lnSpc>
                <a:spcPct val="80000"/>
              </a:lnSpc>
              <a:spcBef>
                <a:spcPts val="280"/>
              </a:spcBef>
              <a:spcAft>
                <a:spcPts val="0"/>
              </a:spcAft>
              <a:buNone/>
            </a:pPr>
            <a:r>
              <a:rPr lang="en-US" sz="1400"/>
              <a:t>P: I am in Sylhet     </a:t>
            </a:r>
            <a:endParaRPr sz="1400"/>
          </a:p>
          <a:p>
            <a:pPr marL="0" lvl="0" indent="0" algn="l" rtl="0">
              <a:lnSpc>
                <a:spcPct val="80000"/>
              </a:lnSpc>
              <a:spcBef>
                <a:spcPts val="280"/>
              </a:spcBef>
              <a:spcAft>
                <a:spcPts val="0"/>
              </a:spcAft>
              <a:buNone/>
            </a:pPr>
            <a:r>
              <a:rPr lang="en-US" sz="1400"/>
              <a:t>Q: I am in  Bangladesh </a:t>
            </a:r>
            <a:endParaRPr sz="1400"/>
          </a:p>
          <a:p>
            <a:pPr marL="0" lvl="0" indent="0" algn="l" rtl="0">
              <a:lnSpc>
                <a:spcPct val="80000"/>
              </a:lnSpc>
              <a:spcBef>
                <a:spcPts val="280"/>
              </a:spcBef>
              <a:spcAft>
                <a:spcPts val="0"/>
              </a:spcAft>
              <a:buNone/>
            </a:pPr>
            <a:endParaRPr sz="1400"/>
          </a:p>
          <a:p>
            <a:pPr marL="0" lvl="0" indent="0" algn="l" rtl="0">
              <a:lnSpc>
                <a:spcPct val="80000"/>
              </a:lnSpc>
              <a:spcBef>
                <a:spcPts val="280"/>
              </a:spcBef>
              <a:spcAft>
                <a:spcPts val="0"/>
              </a:spcAft>
              <a:buNone/>
            </a:pPr>
            <a:r>
              <a:rPr lang="en-US" sz="1400"/>
              <a:t>if  I am in Sylhet  then I am in  Bangladesh </a:t>
            </a:r>
            <a:endParaRPr sz="1400"/>
          </a:p>
          <a:p>
            <a:pPr marL="342900" lvl="0" indent="-342900" algn="l" rtl="0">
              <a:lnSpc>
                <a:spcPct val="80000"/>
              </a:lnSpc>
              <a:spcBef>
                <a:spcPts val="0"/>
              </a:spcBef>
              <a:spcAft>
                <a:spcPts val="0"/>
              </a:spcAft>
              <a:buSzPts val="1600"/>
              <a:buChar char="●"/>
            </a:pPr>
            <a:r>
              <a:rPr lang="en-US" sz="1600" i="1"/>
              <a:t>p</a:t>
            </a:r>
            <a:r>
              <a:rPr lang="en-US" sz="1600"/>
              <a:t> </a:t>
            </a:r>
            <a:r>
              <a:rPr lang="en-US" sz="2000"/>
              <a:t>→</a:t>
            </a:r>
            <a:r>
              <a:rPr lang="en-US" sz="1600"/>
              <a:t> </a:t>
            </a:r>
            <a:r>
              <a:rPr lang="en-US" sz="1600" i="1"/>
              <a:t>q</a:t>
            </a:r>
            <a:endParaRPr sz="1600" i="1"/>
          </a:p>
          <a:p>
            <a:pPr marL="0" lvl="0" indent="0" algn="l" rtl="0">
              <a:lnSpc>
                <a:spcPct val="80000"/>
              </a:lnSpc>
              <a:spcBef>
                <a:spcPts val="360"/>
              </a:spcBef>
              <a:spcAft>
                <a:spcPts val="0"/>
              </a:spcAft>
              <a:buNone/>
            </a:pPr>
            <a:r>
              <a:rPr lang="en-US" sz="1400">
                <a:solidFill>
                  <a:schemeClr val="hlink"/>
                </a:solidFill>
              </a:rPr>
              <a:t>Converse</a:t>
            </a:r>
            <a:r>
              <a:rPr lang="en-US" sz="1400"/>
              <a:t> of </a:t>
            </a:r>
            <a:r>
              <a:rPr lang="en-US" sz="1400" i="1"/>
              <a:t>p</a:t>
            </a:r>
            <a:r>
              <a:rPr lang="en-US" sz="1400"/>
              <a:t> </a:t>
            </a:r>
            <a:r>
              <a:rPr lang="en-US" sz="1800"/>
              <a:t>→</a:t>
            </a:r>
            <a:r>
              <a:rPr lang="en-US" sz="1400"/>
              <a:t> </a:t>
            </a:r>
            <a:r>
              <a:rPr lang="en-US" sz="1400" i="1"/>
              <a:t>q</a:t>
            </a:r>
            <a:r>
              <a:rPr lang="en-US" sz="1400"/>
              <a:t> : </a:t>
            </a:r>
            <a:r>
              <a:rPr lang="en-US" sz="1400" i="1"/>
              <a:t>q</a:t>
            </a:r>
            <a:r>
              <a:rPr lang="en-US" sz="1400"/>
              <a:t> </a:t>
            </a:r>
            <a:r>
              <a:rPr lang="en-US" sz="1800"/>
              <a:t>→</a:t>
            </a:r>
            <a:r>
              <a:rPr lang="en-US" sz="1400"/>
              <a:t> </a:t>
            </a:r>
            <a:r>
              <a:rPr lang="en-US" sz="1400" i="1"/>
              <a:t>p </a:t>
            </a:r>
            <a:endParaRPr sz="1600" i="1"/>
          </a:p>
          <a:p>
            <a:pPr marL="0" lvl="0" indent="0" algn="l" rtl="0">
              <a:lnSpc>
                <a:spcPct val="80000"/>
              </a:lnSpc>
              <a:spcBef>
                <a:spcPts val="280"/>
              </a:spcBef>
              <a:spcAft>
                <a:spcPts val="0"/>
              </a:spcAft>
              <a:buNone/>
            </a:pPr>
            <a:r>
              <a:rPr lang="en-US" sz="1400"/>
              <a:t>                           if  I am in Bangladesh  then I am in  Sylhet</a:t>
            </a:r>
            <a:endParaRPr sz="1400"/>
          </a:p>
          <a:p>
            <a:pPr marL="0" lvl="0" indent="0" algn="l" rtl="0">
              <a:lnSpc>
                <a:spcPct val="80000"/>
              </a:lnSpc>
              <a:spcBef>
                <a:spcPts val="360"/>
              </a:spcBef>
              <a:spcAft>
                <a:spcPts val="0"/>
              </a:spcAft>
              <a:buNone/>
            </a:pPr>
            <a:r>
              <a:rPr lang="en-US" sz="1400">
                <a:solidFill>
                  <a:schemeClr val="hlink"/>
                </a:solidFill>
              </a:rPr>
              <a:t>Inverse of</a:t>
            </a:r>
            <a:r>
              <a:rPr lang="en-US" sz="1400"/>
              <a:t> </a:t>
            </a:r>
            <a:r>
              <a:rPr lang="en-US" sz="1400" i="1"/>
              <a:t>p</a:t>
            </a:r>
            <a:r>
              <a:rPr lang="en-US" sz="1400"/>
              <a:t> </a:t>
            </a:r>
            <a:r>
              <a:rPr lang="en-US" sz="1800"/>
              <a:t>→</a:t>
            </a:r>
            <a:r>
              <a:rPr lang="en-US" sz="1400"/>
              <a:t> </a:t>
            </a:r>
            <a:r>
              <a:rPr lang="en-US" sz="1400" i="1"/>
              <a:t>q</a:t>
            </a:r>
            <a:r>
              <a:rPr lang="en-US" sz="1400"/>
              <a:t> : </a:t>
            </a:r>
            <a:r>
              <a:rPr lang="en-US" sz="1800"/>
              <a:t>¬ </a:t>
            </a:r>
            <a:r>
              <a:rPr lang="en-US" sz="1400" i="1"/>
              <a:t>p</a:t>
            </a:r>
            <a:r>
              <a:rPr lang="en-US" sz="1400"/>
              <a:t> </a:t>
            </a:r>
            <a:r>
              <a:rPr lang="en-US" sz="1800"/>
              <a:t>→</a:t>
            </a:r>
            <a:r>
              <a:rPr lang="en-US" sz="1400"/>
              <a:t> </a:t>
            </a:r>
            <a:r>
              <a:rPr lang="en-US" sz="1800"/>
              <a:t>¬ </a:t>
            </a:r>
            <a:r>
              <a:rPr lang="en-US" sz="1400" i="1"/>
              <a:t>q </a:t>
            </a:r>
            <a:endParaRPr sz="1400" i="1"/>
          </a:p>
          <a:p>
            <a:pPr marL="742950" lvl="0" indent="0" algn="l" rtl="0">
              <a:lnSpc>
                <a:spcPct val="80000"/>
              </a:lnSpc>
              <a:spcBef>
                <a:spcPts val="280"/>
              </a:spcBef>
              <a:spcAft>
                <a:spcPts val="0"/>
              </a:spcAft>
              <a:buNone/>
            </a:pPr>
            <a:r>
              <a:rPr lang="en-US" sz="1400"/>
              <a:t>if  I am not  in Sylhet  then I am not  in  Bangladesh </a:t>
            </a:r>
            <a:endParaRPr sz="1400"/>
          </a:p>
          <a:p>
            <a:pPr marL="0" lvl="0" indent="0" algn="l" rtl="0">
              <a:lnSpc>
                <a:spcPct val="80000"/>
              </a:lnSpc>
              <a:spcBef>
                <a:spcPts val="360"/>
              </a:spcBef>
              <a:spcAft>
                <a:spcPts val="0"/>
              </a:spcAft>
              <a:buNone/>
            </a:pPr>
            <a:r>
              <a:rPr lang="en-US" sz="1400">
                <a:solidFill>
                  <a:schemeClr val="hlink"/>
                </a:solidFill>
              </a:rPr>
              <a:t>Contrapositive</a:t>
            </a:r>
            <a:r>
              <a:rPr lang="en-US" sz="1400"/>
              <a:t> of </a:t>
            </a:r>
            <a:r>
              <a:rPr lang="en-US" sz="1400" i="1"/>
              <a:t>p</a:t>
            </a:r>
            <a:r>
              <a:rPr lang="en-US" sz="1400"/>
              <a:t> </a:t>
            </a:r>
            <a:r>
              <a:rPr lang="en-US" sz="1800"/>
              <a:t>→</a:t>
            </a:r>
            <a:r>
              <a:rPr lang="en-US" sz="1400"/>
              <a:t> </a:t>
            </a:r>
            <a:r>
              <a:rPr lang="en-US" sz="1400" i="1"/>
              <a:t>q</a:t>
            </a:r>
            <a:r>
              <a:rPr lang="en-US" sz="1400"/>
              <a:t> : </a:t>
            </a:r>
            <a:r>
              <a:rPr lang="en-US" sz="1800"/>
              <a:t>¬ </a:t>
            </a:r>
            <a:r>
              <a:rPr lang="en-US" sz="1400" i="1"/>
              <a:t>q</a:t>
            </a:r>
            <a:r>
              <a:rPr lang="en-US" sz="1400"/>
              <a:t> </a:t>
            </a:r>
            <a:r>
              <a:rPr lang="en-US" sz="1800"/>
              <a:t>→</a:t>
            </a:r>
            <a:r>
              <a:rPr lang="en-US" sz="1400"/>
              <a:t> </a:t>
            </a:r>
            <a:r>
              <a:rPr lang="en-US" sz="1800"/>
              <a:t>¬ </a:t>
            </a:r>
            <a:r>
              <a:rPr lang="en-US" sz="1400" i="1"/>
              <a:t>p </a:t>
            </a:r>
            <a:endParaRPr sz="1400" i="1"/>
          </a:p>
          <a:p>
            <a:pPr marL="0" lvl="0" indent="0" algn="l" rtl="0">
              <a:lnSpc>
                <a:spcPct val="80000"/>
              </a:lnSpc>
              <a:spcBef>
                <a:spcPts val="280"/>
              </a:spcBef>
              <a:spcAft>
                <a:spcPts val="0"/>
              </a:spcAft>
              <a:buClr>
                <a:schemeClr val="dk1"/>
              </a:buClr>
              <a:buSzPts val="1100"/>
              <a:buFont typeface="Arial"/>
              <a:buNone/>
            </a:pPr>
            <a:r>
              <a:rPr lang="en-US" sz="1400"/>
              <a:t>if  I am not in Bangladesh  then I am not  in  Sylhet</a:t>
            </a:r>
            <a:endParaRPr sz="1600" b="0" i="0" u="none">
              <a:solidFill>
                <a:schemeClr val="hlink"/>
              </a:solidFill>
              <a:latin typeface="Arial"/>
              <a:ea typeface="Arial"/>
              <a:cs typeface="Arial"/>
              <a:sym typeface="Arial"/>
            </a:endParaRPr>
          </a:p>
          <a:p>
            <a:pPr marL="342900" lvl="0" indent="-342900" algn="l" rtl="0">
              <a:lnSpc>
                <a:spcPct val="80000"/>
              </a:lnSpc>
              <a:spcBef>
                <a:spcPts val="400"/>
              </a:spcBef>
              <a:spcAft>
                <a:spcPts val="0"/>
              </a:spcAft>
              <a:buSzPts val="2000"/>
              <a:buNone/>
            </a:pPr>
            <a:endParaRPr sz="2000" b="0" i="0" u="none">
              <a:solidFill>
                <a:schemeClr val="dk1"/>
              </a:solidFill>
              <a:latin typeface="Arial"/>
              <a:ea typeface="Arial"/>
              <a:cs typeface="Arial"/>
              <a:sym typeface="Arial"/>
            </a:endParaRPr>
          </a:p>
          <a:p>
            <a:pPr marL="342900" lvl="0" indent="-215900" algn="l" rtl="0">
              <a:spcBef>
                <a:spcPts val="400"/>
              </a:spcBef>
              <a:spcAft>
                <a:spcPts val="0"/>
              </a:spcAft>
              <a:buSzPts val="2000"/>
              <a:buNone/>
            </a:pPr>
            <a:endParaRPr sz="2000" b="0" i="0" u="none">
              <a:solidFill>
                <a:schemeClr val="dk1"/>
              </a:solidFill>
              <a:latin typeface="Arial"/>
              <a:ea typeface="Arial"/>
              <a:cs typeface="Arial"/>
              <a:sym typeface="Arial"/>
            </a:endParaRPr>
          </a:p>
        </p:txBody>
      </p:sp>
      <p:sp>
        <p:nvSpPr>
          <p:cNvPr id="250" name="Google Shape;250;p12"/>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51" name="Google Shape;251;p12"/>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10fa1579d88_0_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257" name="Google Shape;257;g10fa1579d88_0_12"/>
          <p:cNvSpPr txBox="1"/>
          <p:nvPr/>
        </p:nvSpPr>
        <p:spPr>
          <a:xfrm>
            <a:off x="6324600" y="3581400"/>
            <a:ext cx="184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58" name="Google Shape;258;g10fa1579d88_0_12"/>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15</a:t>
            </a:fld>
            <a:endParaRPr/>
          </a:p>
        </p:txBody>
      </p:sp>
      <p:pic>
        <p:nvPicPr>
          <p:cNvPr id="259" name="Google Shape;259;g10fa1579d88_0_12"/>
          <p:cNvPicPr preferRelativeResize="0"/>
          <p:nvPr/>
        </p:nvPicPr>
        <p:blipFill>
          <a:blip r:embed="rId3">
            <a:alphaModFix/>
          </a:blip>
          <a:stretch>
            <a:fillRect/>
          </a:stretch>
        </p:blipFill>
        <p:spPr>
          <a:xfrm>
            <a:off x="945975" y="1265025"/>
            <a:ext cx="7010926" cy="4514849"/>
          </a:xfrm>
          <a:prstGeom prst="rect">
            <a:avLst/>
          </a:prstGeom>
          <a:noFill/>
          <a:ln>
            <a:noFill/>
          </a:ln>
        </p:spPr>
      </p:pic>
      <p:sp>
        <p:nvSpPr>
          <p:cNvPr id="260" name="Google Shape;260;g10fa1579d88_0_12"/>
          <p:cNvSpPr txBox="1">
            <a:spLocks noGrp="1"/>
          </p:cNvSpPr>
          <p:nvPr>
            <p:ph type="title"/>
          </p:nvPr>
        </p:nvSpPr>
        <p:spPr>
          <a:xfrm>
            <a:off x="597750" y="5562612"/>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2400"/>
              <a:t>**If it snows today, I will ski tomorrow </a:t>
            </a:r>
            <a:endParaRPr sz="2400"/>
          </a:p>
          <a:p>
            <a:pPr marL="0" lvl="0" indent="0" algn="l" rtl="0">
              <a:lnSpc>
                <a:spcPct val="100000"/>
              </a:lnSpc>
              <a:spcBef>
                <a:spcPts val="0"/>
              </a:spcBef>
              <a:spcAft>
                <a:spcPts val="0"/>
              </a:spcAft>
              <a:buClr>
                <a:schemeClr val="dk2"/>
              </a:buClr>
              <a:buSzPts val="3800"/>
              <a:buFont typeface="Arial"/>
              <a:buNone/>
            </a:pPr>
            <a:r>
              <a:rPr lang="en-US" sz="2400"/>
              <a:t>**I come to class whenever there is going to be a quiz.</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266" name="Google Shape;266;p13"/>
          <p:cNvSpPr txBox="1">
            <a:spLocks noGrp="1"/>
          </p:cNvSpPr>
          <p:nvPr>
            <p:ph type="body" idx="1"/>
          </p:nvPr>
        </p:nvSpPr>
        <p:spPr>
          <a:xfrm>
            <a:off x="609600" y="2992950"/>
            <a:ext cx="8305800" cy="40524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accent1"/>
              </a:buClr>
              <a:buSzPts val="2000"/>
              <a:buFont typeface="Noto Sans Symbols"/>
              <a:buChar char="●"/>
            </a:pPr>
            <a:r>
              <a:rPr lang="en-US" sz="2000" b="0" i="1" u="none">
                <a:solidFill>
                  <a:schemeClr val="dk1"/>
                </a:solidFill>
                <a:latin typeface="Arial"/>
                <a:ea typeface="Arial"/>
                <a:cs typeface="Arial"/>
                <a:sym typeface="Arial"/>
              </a:rPr>
              <a:t>p </a:t>
            </a: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q </a:t>
            </a:r>
            <a:r>
              <a:rPr lang="en-US" sz="2000" b="0" i="0" u="none">
                <a:solidFill>
                  <a:schemeClr val="dk1"/>
                </a:solidFill>
                <a:latin typeface="Arial"/>
                <a:ea typeface="Arial"/>
                <a:cs typeface="Arial"/>
                <a:sym typeface="Arial"/>
              </a:rPr>
              <a:t>has the same truth value as</a:t>
            </a:r>
            <a:r>
              <a:rPr lang="en-US" sz="2000" b="0" i="1" u="none">
                <a:solidFill>
                  <a:schemeClr val="dk1"/>
                </a:solidFill>
                <a:latin typeface="Arial"/>
                <a:ea typeface="Arial"/>
                <a:cs typeface="Arial"/>
                <a:sym typeface="Arial"/>
              </a:rPr>
              <a:t> (p </a:t>
            </a: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 q) </a:t>
            </a:r>
            <a:r>
              <a:rPr lang="en-US" sz="2000" b="0" i="0" u="none">
                <a:solidFill>
                  <a:schemeClr val="dk1"/>
                </a:solidFill>
                <a:latin typeface="Arial"/>
                <a:ea typeface="Arial"/>
                <a:cs typeface="Arial"/>
                <a:sym typeface="Arial"/>
              </a:rPr>
              <a:t>Λ </a:t>
            </a:r>
            <a:r>
              <a:rPr lang="en-US" sz="2000" b="0" i="1" u="none">
                <a:solidFill>
                  <a:schemeClr val="dk1"/>
                </a:solidFill>
                <a:latin typeface="Arial"/>
                <a:ea typeface="Arial"/>
                <a:cs typeface="Arial"/>
                <a:sym typeface="Arial"/>
              </a:rPr>
              <a:t>(q </a:t>
            </a: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 p)</a:t>
            </a:r>
            <a:r>
              <a:rPr lang="en-US" sz="3200" b="0" i="1" u="none">
                <a:solidFill>
                  <a:schemeClr val="dk1"/>
                </a:solidFill>
                <a:latin typeface="Arial"/>
                <a:ea typeface="Arial"/>
                <a:cs typeface="Arial"/>
                <a:sym typeface="Arial"/>
              </a:rPr>
              <a:t> </a:t>
            </a:r>
            <a:endParaRPr/>
          </a:p>
          <a:p>
            <a:pPr marL="342900" lvl="0" indent="-342900" algn="l" rtl="0">
              <a:lnSpc>
                <a:spcPct val="90000"/>
              </a:lnSpc>
              <a:spcBef>
                <a:spcPts val="480"/>
              </a:spcBef>
              <a:spcAft>
                <a:spcPts val="0"/>
              </a:spcAft>
              <a:buClr>
                <a:schemeClr val="accent1"/>
              </a:buClr>
              <a:buSzPts val="2400"/>
              <a:buFont typeface="Noto Sans Symbols"/>
              <a:buChar char="●"/>
            </a:pPr>
            <a:r>
              <a:rPr lang="en-US" sz="2400" b="0" i="0" u="none">
                <a:solidFill>
                  <a:schemeClr val="dk1"/>
                </a:solidFill>
                <a:latin typeface="Arial"/>
                <a:ea typeface="Arial"/>
                <a:cs typeface="Arial"/>
                <a:sym typeface="Arial"/>
              </a:rPr>
              <a:t>“</a:t>
            </a:r>
            <a:r>
              <a:rPr lang="en-US" sz="2400" b="0" i="1" u="none">
                <a:solidFill>
                  <a:schemeClr val="dk1"/>
                </a:solidFill>
                <a:latin typeface="Arial"/>
                <a:ea typeface="Arial"/>
                <a:cs typeface="Arial"/>
                <a:sym typeface="Arial"/>
              </a:rPr>
              <a:t>if and only if</a:t>
            </a:r>
            <a:r>
              <a:rPr lang="en-US" sz="2400" b="0" i="0" u="none">
                <a:solidFill>
                  <a:schemeClr val="dk1"/>
                </a:solidFill>
                <a:latin typeface="Arial"/>
                <a:ea typeface="Arial"/>
                <a:cs typeface="Arial"/>
                <a:sym typeface="Arial"/>
              </a:rPr>
              <a:t>” can be expressed by “</a:t>
            </a:r>
            <a:r>
              <a:rPr lang="en-US" sz="2400" b="0" i="1" u="none">
                <a:solidFill>
                  <a:schemeClr val="dk1"/>
                </a:solidFill>
                <a:latin typeface="Arial"/>
                <a:ea typeface="Arial"/>
                <a:cs typeface="Arial"/>
                <a:sym typeface="Arial"/>
              </a:rPr>
              <a:t>iff</a:t>
            </a:r>
            <a:r>
              <a:rPr lang="en-US" sz="2400" b="0" i="0" u="none">
                <a:solidFill>
                  <a:schemeClr val="dk1"/>
                </a:solidFill>
                <a:latin typeface="Arial"/>
                <a:ea typeface="Arial"/>
                <a:cs typeface="Arial"/>
                <a:sym typeface="Arial"/>
              </a:rPr>
              <a:t>”</a:t>
            </a:r>
            <a:endParaRPr sz="2400" b="0" i="0" u="none">
              <a:solidFill>
                <a:schemeClr val="dk1"/>
              </a:solidFill>
              <a:latin typeface="Arial"/>
              <a:ea typeface="Arial"/>
              <a:cs typeface="Arial"/>
              <a:sym typeface="Arial"/>
            </a:endParaRPr>
          </a:p>
          <a:p>
            <a:pPr marL="342900" lvl="0" indent="-304800" algn="l" rtl="0">
              <a:lnSpc>
                <a:spcPct val="90000"/>
              </a:lnSpc>
              <a:spcBef>
                <a:spcPts val="480"/>
              </a:spcBef>
              <a:spcAft>
                <a:spcPts val="0"/>
              </a:spcAft>
              <a:buSzPts val="1800"/>
              <a:buChar char="●"/>
            </a:pPr>
            <a:r>
              <a:rPr lang="en-US" sz="1800"/>
              <a:t>p is necessary  and sufficient for q</a:t>
            </a:r>
            <a:endParaRPr sz="1800"/>
          </a:p>
          <a:p>
            <a:pPr marL="342900" lvl="0" indent="-304800" algn="l" rtl="0">
              <a:lnSpc>
                <a:spcPct val="90000"/>
              </a:lnSpc>
              <a:spcBef>
                <a:spcPts val="480"/>
              </a:spcBef>
              <a:spcAft>
                <a:spcPts val="0"/>
              </a:spcAft>
              <a:buSzPts val="1800"/>
              <a:buChar char="●"/>
            </a:pPr>
            <a:r>
              <a:rPr lang="en-US" sz="1800"/>
              <a:t>if p then q conversely </a:t>
            </a:r>
            <a:endParaRPr sz="1800"/>
          </a:p>
          <a:p>
            <a:pPr marL="342900" lvl="0" indent="-342900" algn="l" rtl="0">
              <a:lnSpc>
                <a:spcPct val="9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Example:</a:t>
            </a:r>
            <a:endParaRPr/>
          </a:p>
          <a:p>
            <a:pPr marL="742950" lvl="1" indent="-285750" algn="l" rtl="0">
              <a:lnSpc>
                <a:spcPct val="9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Let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be the statement “You can take the flight” and let </a:t>
            </a:r>
            <a:r>
              <a:rPr lang="en-US" sz="2000" b="0" i="1" u="none">
                <a:solidFill>
                  <a:schemeClr val="dk1"/>
                </a:solidFill>
                <a:latin typeface="Arial"/>
                <a:ea typeface="Arial"/>
                <a:cs typeface="Arial"/>
                <a:sym typeface="Arial"/>
              </a:rPr>
              <a:t>q</a:t>
            </a:r>
            <a:r>
              <a:rPr lang="en-US" sz="2000" b="0" i="0" u="none">
                <a:solidFill>
                  <a:schemeClr val="hlink"/>
                </a:solidFill>
                <a:latin typeface="Arial"/>
                <a:ea typeface="Arial"/>
                <a:cs typeface="Arial"/>
                <a:sym typeface="Arial"/>
              </a:rPr>
              <a:t> </a:t>
            </a:r>
            <a:r>
              <a:rPr lang="en-US" sz="2000" b="0" i="0" u="none">
                <a:solidFill>
                  <a:schemeClr val="dk1"/>
                </a:solidFill>
                <a:latin typeface="Arial"/>
                <a:ea typeface="Arial"/>
                <a:cs typeface="Arial"/>
                <a:sym typeface="Arial"/>
              </a:rPr>
              <a:t>be the</a:t>
            </a:r>
            <a:r>
              <a:rPr lang="en-US" sz="2000" b="0" i="0" u="none">
                <a:solidFill>
                  <a:schemeClr val="hlink"/>
                </a:solidFill>
                <a:latin typeface="Arial"/>
                <a:ea typeface="Arial"/>
                <a:cs typeface="Arial"/>
                <a:sym typeface="Arial"/>
              </a:rPr>
              <a:t> </a:t>
            </a:r>
            <a:r>
              <a:rPr lang="en-US" sz="2000" b="0" i="0" u="none">
                <a:solidFill>
                  <a:schemeClr val="dk1"/>
                </a:solidFill>
                <a:latin typeface="Arial"/>
                <a:ea typeface="Arial"/>
                <a:cs typeface="Arial"/>
                <a:sym typeface="Arial"/>
              </a:rPr>
              <a:t>statement “You buy a ticket.” Then </a:t>
            </a:r>
            <a:r>
              <a:rPr lang="en-US" sz="1800" b="0" i="1" u="none">
                <a:solidFill>
                  <a:schemeClr val="dk1"/>
                </a:solidFill>
                <a:latin typeface="Arial"/>
                <a:ea typeface="Arial"/>
                <a:cs typeface="Arial"/>
                <a:sym typeface="Arial"/>
              </a:rPr>
              <a:t>p </a:t>
            </a: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q </a:t>
            </a:r>
            <a:r>
              <a:rPr lang="en-US" sz="2000" b="0" i="0" u="none">
                <a:solidFill>
                  <a:schemeClr val="dk1"/>
                </a:solidFill>
                <a:latin typeface="Arial"/>
                <a:ea typeface="Arial"/>
                <a:cs typeface="Arial"/>
                <a:sym typeface="Arial"/>
              </a:rPr>
              <a:t>is the statement </a:t>
            </a:r>
            <a:endParaRPr/>
          </a:p>
          <a:p>
            <a:pPr marL="742950" lvl="1" indent="-28575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“You can take the flight if and only if you buy a ticket.”</a:t>
            </a:r>
            <a:endParaRPr/>
          </a:p>
          <a:p>
            <a:pPr marL="742950" lvl="1" indent="-28575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a:t>
            </a:r>
            <a:r>
              <a:rPr lang="en-US" sz="2000" b="0" i="0" u="none">
                <a:solidFill>
                  <a:schemeClr val="hlink"/>
                </a:solidFill>
                <a:latin typeface="Arial"/>
                <a:ea typeface="Arial"/>
                <a:cs typeface="Arial"/>
                <a:sym typeface="Arial"/>
              </a:rPr>
              <a:t>Implication:</a:t>
            </a:r>
            <a:endParaRPr/>
          </a:p>
          <a:p>
            <a:pPr marL="742950" lvl="1" indent="-28575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If you buy a ticket you can take the flight.</a:t>
            </a:r>
            <a:endParaRPr/>
          </a:p>
          <a:p>
            <a:pPr marL="742950" lvl="1" indent="-28575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If you don’t buy a ticket you cannot take the flight.</a:t>
            </a:r>
            <a:endParaRPr/>
          </a:p>
          <a:p>
            <a:pPr marL="742950" lvl="1" indent="-285750" algn="l" rtl="0">
              <a:lnSpc>
                <a:spcPct val="90000"/>
              </a:lnSpc>
              <a:spcBef>
                <a:spcPts val="460"/>
              </a:spcBef>
              <a:spcAft>
                <a:spcPts val="0"/>
              </a:spcAft>
              <a:buSzPts val="2300"/>
              <a:buNone/>
            </a:pPr>
            <a:endParaRPr sz="2300" b="0" i="0" u="none">
              <a:solidFill>
                <a:schemeClr val="hlink"/>
              </a:solidFill>
              <a:latin typeface="Arial"/>
              <a:ea typeface="Arial"/>
              <a:cs typeface="Arial"/>
              <a:sym typeface="Arial"/>
            </a:endParaRPr>
          </a:p>
          <a:p>
            <a:pPr marL="342900" lvl="0" indent="-342900" algn="l" rtl="0">
              <a:lnSpc>
                <a:spcPct val="90000"/>
              </a:lnSpc>
              <a:spcBef>
                <a:spcPts val="640"/>
              </a:spcBef>
              <a:spcAft>
                <a:spcPts val="0"/>
              </a:spcAft>
              <a:buSzPts val="3200"/>
              <a:buNone/>
            </a:pPr>
            <a:endParaRPr sz="3200" b="0" i="0" u="none">
              <a:solidFill>
                <a:schemeClr val="dk1"/>
              </a:solidFill>
              <a:latin typeface="Arial"/>
              <a:ea typeface="Arial"/>
              <a:cs typeface="Arial"/>
              <a:sym typeface="Arial"/>
            </a:endParaRPr>
          </a:p>
          <a:p>
            <a:pPr marL="342900" lvl="0" indent="-139700" algn="l" rtl="0">
              <a:spcBef>
                <a:spcPts val="640"/>
              </a:spcBef>
              <a:spcAft>
                <a:spcPts val="0"/>
              </a:spcAft>
              <a:buSzPts val="3200"/>
              <a:buNone/>
            </a:pPr>
            <a:endParaRPr sz="3200" b="0" i="0" u="none">
              <a:solidFill>
                <a:schemeClr val="dk1"/>
              </a:solidFill>
              <a:latin typeface="Arial"/>
              <a:ea typeface="Arial"/>
              <a:cs typeface="Arial"/>
              <a:sym typeface="Arial"/>
            </a:endParaRPr>
          </a:p>
        </p:txBody>
      </p:sp>
      <p:sp>
        <p:nvSpPr>
          <p:cNvPr id="267" name="Google Shape;267;p13"/>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68" name="Google Shape;268;p13"/>
          <p:cNvSpPr txBox="1"/>
          <p:nvPr/>
        </p:nvSpPr>
        <p:spPr>
          <a:xfrm>
            <a:off x="685800" y="1481137"/>
            <a:ext cx="7772400" cy="1597025"/>
          </a:xfrm>
          <a:prstGeom prst="rect">
            <a:avLst/>
          </a:prstGeom>
          <a:solidFill>
            <a:srgbClr val="EBECE8"/>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DEFINITION 6 (Biconditional statement)</a:t>
            </a:r>
            <a:endParaRPr/>
          </a:p>
          <a:p>
            <a:pPr marL="0" marR="0" lvl="0" indent="0" algn="l" rtl="0">
              <a:lnSpc>
                <a:spcPct val="100000"/>
              </a:lnSpc>
              <a:spcBef>
                <a:spcPts val="0"/>
              </a:spcBef>
              <a:spcAft>
                <a:spcPts val="0"/>
              </a:spcAft>
              <a:buClr>
                <a:schemeClr val="dk1"/>
              </a:buClr>
              <a:buSzPts val="800"/>
              <a:buFont typeface="Arial"/>
              <a:buNone/>
            </a:pPr>
            <a:endParaRPr sz="800" b="0" i="0" u="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Let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be propositions. The </a:t>
            </a:r>
            <a:r>
              <a:rPr lang="en-US" sz="1800" b="0" i="1" u="none" strike="noStrike" cap="none">
                <a:solidFill>
                  <a:schemeClr val="dk1"/>
                </a:solidFill>
                <a:latin typeface="Arial"/>
                <a:ea typeface="Arial"/>
                <a:cs typeface="Arial"/>
                <a:sym typeface="Arial"/>
              </a:rPr>
              <a:t>biconditional statement</a:t>
            </a:r>
            <a:r>
              <a:rPr lang="en-US" sz="1800" b="0" i="0" u="none" strike="noStrike" cap="none">
                <a:solidFill>
                  <a:schemeClr val="dk1"/>
                </a:solidFill>
                <a:latin typeface="Arial"/>
                <a:ea typeface="Arial"/>
                <a:cs typeface="Arial"/>
                <a:sym typeface="Arial"/>
              </a:rPr>
              <a:t> </a:t>
            </a:r>
            <a:r>
              <a:rPr lang="en-US" sz="1800" b="0" i="1" u="none" strike="noStrike" cap="none">
                <a:solidFill>
                  <a:schemeClr val="dk1"/>
                </a:solidFill>
                <a:latin typeface="Arial"/>
                <a:ea typeface="Arial"/>
                <a:cs typeface="Arial"/>
                <a:sym typeface="Arial"/>
              </a:rPr>
              <a:t>p </a:t>
            </a:r>
            <a:r>
              <a:rPr lang="en-US" sz="1800" b="0" i="0" u="none" strike="noStrike" cap="none">
                <a:solidFill>
                  <a:schemeClr val="dk1"/>
                </a:solidFill>
                <a:latin typeface="Arial"/>
                <a:ea typeface="Arial"/>
                <a:cs typeface="Arial"/>
                <a:sym typeface="Arial"/>
              </a:rPr>
              <a:t>↔ </a:t>
            </a:r>
            <a:r>
              <a:rPr lang="en-US" sz="1800" b="0" i="1" u="none" strike="noStrike" cap="none">
                <a:solidFill>
                  <a:schemeClr val="dk1"/>
                </a:solidFill>
                <a:latin typeface="Arial"/>
                <a:ea typeface="Arial"/>
                <a:cs typeface="Arial"/>
                <a:sym typeface="Arial"/>
              </a:rPr>
              <a:t>q </a:t>
            </a:r>
            <a:r>
              <a:rPr lang="en-US" sz="1800" b="0" i="0" u="none" strike="noStrike" cap="none">
                <a:solidFill>
                  <a:schemeClr val="dk1"/>
                </a:solidFill>
                <a:latin typeface="Arial"/>
                <a:ea typeface="Arial"/>
                <a:cs typeface="Arial"/>
                <a:sym typeface="Arial"/>
              </a:rPr>
              <a:t>is the proposition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if and only if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The biconditional statement </a:t>
            </a:r>
            <a:r>
              <a:rPr lang="en-US" sz="1800" b="0" i="1" u="none" strike="noStrike" cap="none">
                <a:solidFill>
                  <a:schemeClr val="dk1"/>
                </a:solidFill>
                <a:latin typeface="Arial"/>
                <a:ea typeface="Arial"/>
                <a:cs typeface="Arial"/>
                <a:sym typeface="Arial"/>
              </a:rPr>
              <a:t>p </a:t>
            </a:r>
            <a:r>
              <a:rPr lang="en-US" sz="1800" b="0" i="0" u="none" strike="noStrike" cap="none">
                <a:solidFill>
                  <a:schemeClr val="dk1"/>
                </a:solidFill>
                <a:latin typeface="Arial"/>
                <a:ea typeface="Arial"/>
                <a:cs typeface="Arial"/>
                <a:sym typeface="Arial"/>
              </a:rPr>
              <a:t>↔ </a:t>
            </a:r>
            <a:r>
              <a:rPr lang="en-US" sz="1800" b="0" i="1" u="none" strike="noStrike" cap="none">
                <a:solidFill>
                  <a:schemeClr val="dk1"/>
                </a:solidFill>
                <a:latin typeface="Arial"/>
                <a:ea typeface="Arial"/>
                <a:cs typeface="Arial"/>
                <a:sym typeface="Arial"/>
              </a:rPr>
              <a:t>q </a:t>
            </a:r>
            <a:r>
              <a:rPr lang="en-US" sz="1800" b="0" i="0" u="none" strike="noStrike" cap="none">
                <a:solidFill>
                  <a:schemeClr val="dk1"/>
                </a:solidFill>
                <a:latin typeface="Arial"/>
                <a:ea typeface="Arial"/>
                <a:cs typeface="Arial"/>
                <a:sym typeface="Arial"/>
              </a:rPr>
              <a:t>is true when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have the same truth values, and is false otherwise. Biconditional statements are also called </a:t>
            </a:r>
            <a:r>
              <a:rPr lang="en-US" sz="1800" b="0" i="1" u="none" strike="noStrike" cap="none">
                <a:solidFill>
                  <a:schemeClr val="dk1"/>
                </a:solidFill>
                <a:latin typeface="Arial"/>
                <a:ea typeface="Arial"/>
                <a:cs typeface="Arial"/>
                <a:sym typeface="Arial"/>
              </a:rPr>
              <a:t>bi-implications</a:t>
            </a:r>
            <a:r>
              <a:rPr lang="en-US" sz="1800" b="0" i="0" u="none" strike="noStrike" cap="none">
                <a:solidFill>
                  <a:schemeClr val="dk1"/>
                </a:solidFill>
                <a:latin typeface="Arial"/>
                <a:ea typeface="Arial"/>
                <a:cs typeface="Arial"/>
                <a:sym typeface="Arial"/>
              </a:rPr>
              <a:t>. </a:t>
            </a:r>
            <a:endParaRPr/>
          </a:p>
        </p:txBody>
      </p:sp>
      <p:sp>
        <p:nvSpPr>
          <p:cNvPr id="269" name="Google Shape;269;p13"/>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4"/>
          <p:cNvSpPr txBox="1">
            <a:spLocks noGrp="1"/>
          </p:cNvSpPr>
          <p:nvPr>
            <p:ph type="title"/>
          </p:nvPr>
        </p:nvSpPr>
        <p:spPr>
          <a:xfrm>
            <a:off x="457200" y="322012"/>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graphicFrame>
        <p:nvGraphicFramePr>
          <p:cNvPr id="275" name="Google Shape;275;p14"/>
          <p:cNvGraphicFramePr/>
          <p:nvPr/>
        </p:nvGraphicFramePr>
        <p:xfrm>
          <a:off x="1828800" y="1970087"/>
          <a:ext cx="3000000" cy="3000000"/>
        </p:xfrm>
        <a:graphic>
          <a:graphicData uri="http://schemas.openxmlformats.org/drawingml/2006/table">
            <a:tbl>
              <a:tblPr>
                <a:noFill/>
                <a:tableStyleId>{397577B6-D47A-466E-84E6-29D3DF76FDB9}</a:tableStyleId>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822325">
                <a:tc gridSpan="2">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The Truth Table for the Biconditional </a:t>
                      </a:r>
                      <a:r>
                        <a:rPr lang="en-US" sz="2000" b="0" i="1" u="none" strike="noStrike" cap="none">
                          <a:solidFill>
                            <a:schemeClr val="dk1"/>
                          </a:solidFill>
                          <a:latin typeface="Arial"/>
                          <a:ea typeface="Arial"/>
                          <a:cs typeface="Arial"/>
                          <a:sym typeface="Arial"/>
                        </a:rPr>
                        <a:t>p</a:t>
                      </a:r>
                      <a:r>
                        <a:rPr lang="en-US" sz="2000" b="0" i="0" u="none" strike="noStrike" cap="none">
                          <a:solidFill>
                            <a:schemeClr val="dk1"/>
                          </a:solidFill>
                          <a:latin typeface="Arial"/>
                          <a:ea typeface="Arial"/>
                          <a:cs typeface="Arial"/>
                          <a:sym typeface="Arial"/>
                        </a:rPr>
                        <a:t> </a:t>
                      </a:r>
                      <a:r>
                        <a:rPr lang="en-US" sz="28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q</a:t>
                      </a:r>
                      <a:r>
                        <a:rPr lang="en-US" sz="2000" b="0" i="0" u="none" strike="noStrike" cap="none">
                          <a:solidFill>
                            <a:schemeClr val="dk1"/>
                          </a:solidFill>
                          <a:latin typeface="Arial"/>
                          <a:ea typeface="Arial"/>
                          <a:cs typeface="Arial"/>
                          <a:sym typeface="Arial"/>
                        </a:rPr>
                        <a:t>.</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7EDE7"/>
                    </a:solidFill>
                  </a:tcPr>
                </a:tc>
                <a:tc hMerge="1">
                  <a:txBody>
                    <a:bodyPr/>
                    <a:lstStyle/>
                    <a:p>
                      <a:endParaRPr lang="en-US"/>
                    </a:p>
                  </a:txBody>
                  <a:tcPr/>
                </a:tc>
                <a:extLst>
                  <a:ext uri="{0D108BD9-81ED-4DB2-BD59-A6C34878D82A}">
                    <a16:rowId xmlns:a16="http://schemas.microsoft.com/office/drawing/2014/main" val="10000"/>
                  </a:ext>
                </a:extLst>
              </a:tr>
              <a:tr h="51910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       q</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 </a:t>
                      </a:r>
                      <a:r>
                        <a:rPr lang="en-US" sz="28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q</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493825">
                <a:tc>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T       T</a:t>
                      </a:r>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T       F</a:t>
                      </a:r>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F       T</a:t>
                      </a:r>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F       F</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76" name="Google Shape;276;p14"/>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77" name="Google Shape;277;p14"/>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17</a:t>
            </a:fld>
            <a:endParaRPr/>
          </a:p>
        </p:txBody>
      </p:sp>
      <p:sp>
        <p:nvSpPr>
          <p:cNvPr id="278" name="Google Shape;278;p14"/>
          <p:cNvSpPr txBox="1">
            <a:spLocks noGrp="1"/>
          </p:cNvSpPr>
          <p:nvPr>
            <p:ph type="title"/>
          </p:nvPr>
        </p:nvSpPr>
        <p:spPr>
          <a:xfrm>
            <a:off x="704350" y="495568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2000"/>
              <a:t>**That It is below freezing is necessary  and sufficient for it to be snowing </a:t>
            </a:r>
            <a:endParaRPr sz="2000"/>
          </a:p>
        </p:txBody>
      </p:sp>
      <p:pic>
        <p:nvPicPr>
          <p:cNvPr id="279" name="Google Shape;279;p14"/>
          <p:cNvPicPr preferRelativeResize="0"/>
          <p:nvPr/>
        </p:nvPicPr>
        <p:blipFill>
          <a:blip r:embed="rId3">
            <a:alphaModFix/>
          </a:blip>
          <a:stretch>
            <a:fillRect/>
          </a:stretch>
        </p:blipFill>
        <p:spPr>
          <a:xfrm>
            <a:off x="5007600" y="1970075"/>
            <a:ext cx="4039000" cy="2835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5"/>
          <p:cNvSpPr txBox="1">
            <a:spLocks noGrp="1"/>
          </p:cNvSpPr>
          <p:nvPr>
            <p:ph type="title" idx="4294967295"/>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3800"/>
              <a:buFont typeface="Arial"/>
              <a:buNone/>
            </a:pPr>
            <a:r>
              <a:rPr lang="en-US" sz="3800" b="0" i="0" u="none" strike="noStrike" cap="none">
                <a:solidFill>
                  <a:schemeClr val="dk2"/>
                </a:solidFill>
                <a:latin typeface="Arial"/>
                <a:ea typeface="Arial"/>
                <a:cs typeface="Arial"/>
                <a:sym typeface="Arial"/>
              </a:rPr>
              <a:t>1.1 Propositional Logic</a:t>
            </a:r>
            <a:endParaRPr/>
          </a:p>
        </p:txBody>
      </p:sp>
      <p:sp>
        <p:nvSpPr>
          <p:cNvPr id="285" name="Google Shape;285;p15"/>
          <p:cNvSpPr txBox="1">
            <a:spLocks noGrp="1"/>
          </p:cNvSpPr>
          <p:nvPr>
            <p:ph type="body" idx="4294967295"/>
          </p:nvPr>
        </p:nvSpPr>
        <p:spPr>
          <a:xfrm>
            <a:off x="457200" y="1600200"/>
            <a:ext cx="8153400" cy="2514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1"/>
              </a:buClr>
              <a:buSzPts val="2000"/>
              <a:buFont typeface="Noto Sans Symbols"/>
              <a:buChar char="●"/>
            </a:pPr>
            <a:r>
              <a:rPr lang="en-US" sz="2000" b="0" i="0" u="none" strike="noStrike" cap="none">
                <a:solidFill>
                  <a:schemeClr val="dk1"/>
                </a:solidFill>
                <a:latin typeface="Arial"/>
                <a:ea typeface="Arial"/>
                <a:cs typeface="Arial"/>
                <a:sym typeface="Arial"/>
              </a:rPr>
              <a:t>We can use connectives to build up complicated compound propositions involving any number of propositional variables, then use truth tables to determine the truth value of these compound propositions.</a:t>
            </a:r>
            <a:endParaRPr/>
          </a:p>
          <a:p>
            <a:pPr marL="342900" marR="0" lvl="0" indent="-342900" algn="l" rtl="0">
              <a:lnSpc>
                <a:spcPct val="100000"/>
              </a:lnSpc>
              <a:spcBef>
                <a:spcPts val="400"/>
              </a:spcBef>
              <a:spcAft>
                <a:spcPts val="0"/>
              </a:spcAft>
              <a:buClr>
                <a:schemeClr val="accent1"/>
              </a:buClr>
              <a:buSzPts val="2000"/>
              <a:buFont typeface="Noto Sans Symbols"/>
              <a:buChar char="●"/>
            </a:pPr>
            <a:r>
              <a:rPr lang="en-US" sz="2000" b="0" i="0" u="none" strike="noStrike" cap="none">
                <a:solidFill>
                  <a:schemeClr val="dk1"/>
                </a:solidFill>
                <a:latin typeface="Arial"/>
                <a:ea typeface="Arial"/>
                <a:cs typeface="Arial"/>
                <a:sym typeface="Arial"/>
              </a:rPr>
              <a:t>Example: Construct the truth table of the compound proposition </a:t>
            </a:r>
            <a:endParaRPr/>
          </a:p>
          <a:p>
            <a:pPr marL="342900" marR="0" lvl="0" indent="-342900" algn="l" rtl="0">
              <a:lnSpc>
                <a:spcPct val="100000"/>
              </a:lnSpc>
              <a:spcBef>
                <a:spcPts val="560"/>
              </a:spcBef>
              <a:spcAft>
                <a:spcPts val="0"/>
              </a:spcAft>
              <a:buClr>
                <a:schemeClr val="accent1"/>
              </a:buClr>
              <a:buSzPts val="2000"/>
              <a:buFont typeface="Noto Sans Symbols"/>
              <a:buNone/>
            </a:pPr>
            <a:r>
              <a:rPr lang="en-US" sz="20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p</a:t>
            </a:r>
            <a:r>
              <a:rPr lang="en-US" sz="2000" b="0" i="0" u="none" strike="noStrike" cap="none">
                <a:solidFill>
                  <a:schemeClr val="dk1"/>
                </a:solidFill>
                <a:latin typeface="Arial"/>
                <a:ea typeface="Arial"/>
                <a:cs typeface="Arial"/>
                <a:sym typeface="Arial"/>
              </a:rPr>
              <a:t> </a:t>
            </a:r>
            <a:r>
              <a:rPr lang="en-US" sz="2400" b="0" i="0" u="none" strike="noStrike" cap="none">
                <a:solidFill>
                  <a:schemeClr val="dk1"/>
                </a:solidFill>
                <a:latin typeface="Arial"/>
                <a:ea typeface="Arial"/>
                <a:cs typeface="Arial"/>
                <a:sym typeface="Arial"/>
              </a:rPr>
              <a:t>ν</a:t>
            </a:r>
            <a:r>
              <a:rPr lang="en-US" sz="28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q</a:t>
            </a:r>
            <a:r>
              <a:rPr lang="en-US" sz="2000" b="0" i="0" u="none" strike="noStrike" cap="none">
                <a:solidFill>
                  <a:schemeClr val="dk1"/>
                </a:solidFill>
                <a:latin typeface="Arial"/>
                <a:ea typeface="Arial"/>
                <a:cs typeface="Arial"/>
                <a:sym typeface="Arial"/>
              </a:rPr>
              <a:t>) </a:t>
            </a:r>
            <a:r>
              <a:rPr lang="en-US" sz="2800" b="0" i="0" u="none" strike="noStrike" cap="none">
                <a:solidFill>
                  <a:schemeClr val="dk1"/>
                </a:solidFill>
                <a:latin typeface="Arial"/>
                <a:ea typeface="Arial"/>
                <a:cs typeface="Arial"/>
                <a:sym typeface="Arial"/>
              </a:rPr>
              <a:t>→</a:t>
            </a:r>
            <a:r>
              <a:rPr lang="en-US" sz="20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p</a:t>
            </a:r>
            <a:r>
              <a:rPr lang="en-US" sz="2000" b="0" i="0" u="none" strike="noStrike" cap="none">
                <a:solidFill>
                  <a:schemeClr val="dk1"/>
                </a:solidFill>
                <a:latin typeface="Arial"/>
                <a:ea typeface="Arial"/>
                <a:cs typeface="Arial"/>
                <a:sym typeface="Arial"/>
              </a:rPr>
              <a:t> </a:t>
            </a:r>
            <a:r>
              <a:rPr lang="en-US" sz="1800" b="0" i="0" u="none" strike="noStrike" cap="none">
                <a:solidFill>
                  <a:schemeClr val="dk1"/>
                </a:solidFill>
                <a:latin typeface="Arial"/>
                <a:ea typeface="Arial"/>
                <a:cs typeface="Arial"/>
                <a:sym typeface="Arial"/>
              </a:rPr>
              <a:t>Λ </a:t>
            </a:r>
            <a:r>
              <a:rPr lang="en-US" sz="2000" b="0" i="1" u="none" strike="noStrike" cap="none">
                <a:solidFill>
                  <a:schemeClr val="dk1"/>
                </a:solidFill>
                <a:latin typeface="Arial"/>
                <a:ea typeface="Arial"/>
                <a:cs typeface="Arial"/>
                <a:sym typeface="Arial"/>
              </a:rPr>
              <a:t>q</a:t>
            </a:r>
            <a:r>
              <a:rPr lang="en-US" sz="2000" b="0" i="0" u="none" strike="noStrike" cap="none">
                <a:solidFill>
                  <a:schemeClr val="dk1"/>
                </a:solidFill>
                <a:latin typeface="Arial"/>
                <a:ea typeface="Arial"/>
                <a:cs typeface="Arial"/>
                <a:sym typeface="Arial"/>
              </a:rPr>
              <a:t>).</a:t>
            </a:r>
            <a:endParaRPr sz="2100" b="0" i="0" u="none" strike="noStrike" cap="none">
              <a:solidFill>
                <a:schemeClr val="dk1"/>
              </a:solidFill>
              <a:latin typeface="Arial"/>
              <a:ea typeface="Arial"/>
              <a:cs typeface="Arial"/>
              <a:sym typeface="Arial"/>
            </a:endParaRPr>
          </a:p>
          <a:p>
            <a:pPr marL="742950" marR="0" lvl="1" indent="-285750" algn="l" rtl="0">
              <a:lnSpc>
                <a:spcPct val="100000"/>
              </a:lnSpc>
              <a:spcBef>
                <a:spcPts val="420"/>
              </a:spcBef>
              <a:spcAft>
                <a:spcPts val="0"/>
              </a:spcAft>
              <a:buClr>
                <a:schemeClr val="accent1"/>
              </a:buClr>
              <a:buSzPts val="2100"/>
              <a:buFont typeface="Noto Sans Symbols"/>
              <a:buNone/>
            </a:pPr>
            <a:endParaRPr sz="2100" b="0" i="0" u="none" strike="noStrike" cap="none">
              <a:solidFill>
                <a:schemeClr val="hlink"/>
              </a:solidFill>
              <a:latin typeface="Arial"/>
              <a:ea typeface="Arial"/>
              <a:cs typeface="Arial"/>
              <a:sym typeface="Arial"/>
            </a:endParaRPr>
          </a:p>
          <a:p>
            <a:pPr marL="342900" marR="0" lvl="0" indent="-342900" algn="l" rtl="0">
              <a:lnSpc>
                <a:spcPct val="100000"/>
              </a:lnSpc>
              <a:spcBef>
                <a:spcPts val="560"/>
              </a:spcBef>
              <a:spcAft>
                <a:spcPts val="0"/>
              </a:spcAft>
              <a:buClr>
                <a:schemeClr val="accent1"/>
              </a:buClr>
              <a:buSzPts val="2800"/>
              <a:buFont typeface="Noto Sans Symbols"/>
              <a:buNone/>
            </a:pPr>
            <a:endParaRPr sz="2800" b="0" i="0" u="none" strike="noStrike" cap="none">
              <a:solidFill>
                <a:schemeClr val="dk1"/>
              </a:solidFill>
              <a:latin typeface="Arial"/>
              <a:ea typeface="Arial"/>
              <a:cs typeface="Arial"/>
              <a:sym typeface="Arial"/>
            </a:endParaRPr>
          </a:p>
          <a:p>
            <a:pPr marL="342900" marR="0" lvl="0" indent="-165100" algn="l" rtl="0">
              <a:spcBef>
                <a:spcPts val="560"/>
              </a:spcBef>
              <a:spcAft>
                <a:spcPts val="0"/>
              </a:spcAft>
              <a:buClr>
                <a:schemeClr val="accent1"/>
              </a:buClr>
              <a:buSzPts val="2800"/>
              <a:buFont typeface="Noto Sans Symbols"/>
              <a:buNone/>
            </a:pPr>
            <a:endParaRPr sz="2800" b="0" i="0" u="none">
              <a:solidFill>
                <a:schemeClr val="dk1"/>
              </a:solidFill>
              <a:latin typeface="Arial"/>
              <a:ea typeface="Arial"/>
              <a:cs typeface="Arial"/>
              <a:sym typeface="Arial"/>
            </a:endParaRPr>
          </a:p>
        </p:txBody>
      </p:sp>
      <p:sp>
        <p:nvSpPr>
          <p:cNvPr id="286" name="Google Shape;286;p15"/>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87" name="Google Shape;287;p15"/>
          <p:cNvSpPr txBox="1"/>
          <p:nvPr/>
        </p:nvSpPr>
        <p:spPr>
          <a:xfrm>
            <a:off x="1524000" y="1066800"/>
            <a:ext cx="6553200" cy="519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39933"/>
              </a:buClr>
              <a:buSzPts val="2800"/>
              <a:buFont typeface="Arial"/>
              <a:buNone/>
            </a:pPr>
            <a:r>
              <a:rPr lang="en-US" sz="2800" b="0" i="0" u="sng">
                <a:solidFill>
                  <a:srgbClr val="339933"/>
                </a:solidFill>
                <a:latin typeface="Arial"/>
                <a:ea typeface="Arial"/>
                <a:cs typeface="Arial"/>
                <a:sym typeface="Arial"/>
              </a:rPr>
              <a:t>Truth Tables of Compound Propositions</a:t>
            </a:r>
            <a:endParaRPr/>
          </a:p>
        </p:txBody>
      </p:sp>
      <p:graphicFrame>
        <p:nvGraphicFramePr>
          <p:cNvPr id="288" name="Google Shape;288;p15"/>
          <p:cNvGraphicFramePr/>
          <p:nvPr/>
        </p:nvGraphicFramePr>
        <p:xfrm>
          <a:off x="914400" y="4097337"/>
          <a:ext cx="3000000" cy="3000000"/>
        </p:xfrm>
        <a:graphic>
          <a:graphicData uri="http://schemas.openxmlformats.org/drawingml/2006/table">
            <a:tbl>
              <a:tblPr>
                <a:noFill/>
                <a:tableStyleId>{397577B6-D47A-466E-84E6-29D3DF76FDB9}</a:tableStyleId>
              </a:tblPr>
              <a:tblGrid>
                <a:gridCol w="1246175">
                  <a:extLst>
                    <a:ext uri="{9D8B030D-6E8A-4147-A177-3AD203B41FA5}">
                      <a16:colId xmlns:a16="http://schemas.microsoft.com/office/drawing/2014/main" val="20000"/>
                    </a:ext>
                  </a:extLst>
                </a:gridCol>
                <a:gridCol w="8112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2667000">
                  <a:extLst>
                    <a:ext uri="{9D8B030D-6E8A-4147-A177-3AD203B41FA5}">
                      <a16:colId xmlns:a16="http://schemas.microsoft.com/office/drawing/2014/main" val="20004"/>
                    </a:ext>
                  </a:extLst>
                </a:gridCol>
              </a:tblGrid>
              <a:tr h="396875">
                <a:tc gridSpan="5">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The Truth Table of (</a:t>
                      </a:r>
                      <a:r>
                        <a:rPr lang="en-US" sz="2000" b="0" i="1" u="none" strike="noStrike" cap="none">
                          <a:solidFill>
                            <a:schemeClr val="dk1"/>
                          </a:solidFill>
                          <a:latin typeface="Arial"/>
                          <a:ea typeface="Arial"/>
                          <a:cs typeface="Arial"/>
                          <a:sym typeface="Arial"/>
                        </a:rPr>
                        <a:t>p</a:t>
                      </a:r>
                      <a:r>
                        <a:rPr lang="en-US" sz="2000" b="0" i="0" u="none" strike="noStrike" cap="none">
                          <a:solidFill>
                            <a:schemeClr val="dk1"/>
                          </a:solidFill>
                          <a:latin typeface="Arial"/>
                          <a:ea typeface="Arial"/>
                          <a:cs typeface="Arial"/>
                          <a:sym typeface="Arial"/>
                        </a:rPr>
                        <a:t> ν ¬</a:t>
                      </a:r>
                      <a:r>
                        <a:rPr lang="en-US" sz="2000" b="0" i="1" u="none" strike="noStrike" cap="none">
                          <a:solidFill>
                            <a:schemeClr val="dk1"/>
                          </a:solidFill>
                          <a:latin typeface="Arial"/>
                          <a:ea typeface="Arial"/>
                          <a:cs typeface="Arial"/>
                          <a:sym typeface="Arial"/>
                        </a:rPr>
                        <a:t>q</a:t>
                      </a:r>
                      <a:r>
                        <a:rPr lang="en-US" sz="2000" b="0" i="0" u="none" strike="noStrike" cap="none">
                          <a:solidFill>
                            <a:schemeClr val="dk1"/>
                          </a:solidFill>
                          <a:latin typeface="Arial"/>
                          <a:ea typeface="Arial"/>
                          <a:cs typeface="Arial"/>
                          <a:sym typeface="Arial"/>
                        </a:rPr>
                        <a:t>) → (</a:t>
                      </a:r>
                      <a:r>
                        <a:rPr lang="en-US" sz="2000" b="0" i="1" u="none" strike="noStrike" cap="none">
                          <a:solidFill>
                            <a:schemeClr val="dk1"/>
                          </a:solidFill>
                          <a:latin typeface="Arial"/>
                          <a:ea typeface="Arial"/>
                          <a:cs typeface="Arial"/>
                          <a:sym typeface="Arial"/>
                        </a:rPr>
                        <a:t>p</a:t>
                      </a:r>
                      <a:r>
                        <a:rPr lang="en-US" sz="2000" b="0" i="0" u="none" strike="noStrike" cap="none">
                          <a:solidFill>
                            <a:schemeClr val="dk1"/>
                          </a:solidFill>
                          <a:latin typeface="Arial"/>
                          <a:ea typeface="Arial"/>
                          <a:cs typeface="Arial"/>
                          <a:sym typeface="Arial"/>
                        </a:rPr>
                        <a:t> </a:t>
                      </a:r>
                      <a:r>
                        <a:rPr lang="en-US" sz="1800" b="0" i="0" u="none" strike="noStrike" cap="none">
                          <a:solidFill>
                            <a:schemeClr val="dk1"/>
                          </a:solidFill>
                          <a:latin typeface="Arial"/>
                          <a:ea typeface="Arial"/>
                          <a:cs typeface="Arial"/>
                          <a:sym typeface="Arial"/>
                        </a:rPr>
                        <a:t>Λ</a:t>
                      </a:r>
                      <a:r>
                        <a:rPr lang="en-US" sz="20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q</a:t>
                      </a:r>
                      <a:r>
                        <a:rPr lang="en-US" sz="2000" b="0" i="0" u="none" strike="noStrike" cap="none">
                          <a:solidFill>
                            <a:schemeClr val="dk1"/>
                          </a:solidFill>
                          <a:latin typeface="Arial"/>
                          <a:ea typeface="Arial"/>
                          <a:cs typeface="Arial"/>
                          <a:sym typeface="Arial"/>
                        </a:rPr>
                        <a:t>).</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7EDE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6990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a:t>
                      </a:r>
                      <a:r>
                        <a:rPr lang="en-US" sz="20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q</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a:t>
                      </a:r>
                      <a:r>
                        <a:rPr lang="en-US" sz="2000" b="0" i="1" u="none" strike="noStrike" cap="none">
                          <a:solidFill>
                            <a:schemeClr val="dk1"/>
                          </a:solidFill>
                          <a:latin typeface="Arial"/>
                          <a:ea typeface="Arial"/>
                          <a:cs typeface="Arial"/>
                          <a:sym typeface="Arial"/>
                        </a:rPr>
                        <a:t>q</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a:t>
                      </a:r>
                      <a:r>
                        <a:rPr lang="en-US" sz="2000" b="0" i="0" u="none" strike="noStrike" cap="none">
                          <a:solidFill>
                            <a:schemeClr val="dk1"/>
                          </a:solidFill>
                          <a:latin typeface="Arial"/>
                          <a:ea typeface="Arial"/>
                          <a:cs typeface="Arial"/>
                          <a:sym typeface="Arial"/>
                        </a:rPr>
                        <a:t> ν ¬</a:t>
                      </a:r>
                      <a:r>
                        <a:rPr lang="en-US" sz="2000" b="0" i="1" u="none" strike="noStrike" cap="none">
                          <a:solidFill>
                            <a:schemeClr val="dk1"/>
                          </a:solidFill>
                          <a:latin typeface="Arial"/>
                          <a:ea typeface="Arial"/>
                          <a:cs typeface="Arial"/>
                          <a:sym typeface="Arial"/>
                        </a:rPr>
                        <a:t>q</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p</a:t>
                      </a:r>
                      <a:r>
                        <a:rPr lang="en-US" sz="2000" b="0" i="0" u="none" strike="noStrike" cap="none">
                          <a:solidFill>
                            <a:schemeClr val="dk1"/>
                          </a:solidFill>
                          <a:latin typeface="Arial"/>
                          <a:ea typeface="Arial"/>
                          <a:cs typeface="Arial"/>
                          <a:sym typeface="Arial"/>
                        </a:rPr>
                        <a:t> </a:t>
                      </a:r>
                      <a:r>
                        <a:rPr lang="en-US" sz="1800" b="0" i="0" u="none" strike="noStrike" cap="none">
                          <a:solidFill>
                            <a:schemeClr val="dk1"/>
                          </a:solidFill>
                          <a:latin typeface="Arial"/>
                          <a:ea typeface="Arial"/>
                          <a:cs typeface="Arial"/>
                          <a:sym typeface="Arial"/>
                        </a:rPr>
                        <a:t>Λ</a:t>
                      </a:r>
                      <a:r>
                        <a:rPr lang="en-US" sz="20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q</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p</a:t>
                      </a:r>
                      <a:r>
                        <a:rPr lang="en-US" sz="2000" b="0" i="0" u="none" strike="noStrike" cap="none">
                          <a:solidFill>
                            <a:schemeClr val="dk1"/>
                          </a:solidFill>
                          <a:latin typeface="Arial"/>
                          <a:ea typeface="Arial"/>
                          <a:cs typeface="Arial"/>
                          <a:sym typeface="Arial"/>
                        </a:rPr>
                        <a:t> ν ¬</a:t>
                      </a:r>
                      <a:r>
                        <a:rPr lang="en-US" sz="2000" b="0" i="1" u="none" strike="noStrike" cap="none">
                          <a:solidFill>
                            <a:schemeClr val="dk1"/>
                          </a:solidFill>
                          <a:latin typeface="Arial"/>
                          <a:ea typeface="Arial"/>
                          <a:cs typeface="Arial"/>
                          <a:sym typeface="Arial"/>
                        </a:rPr>
                        <a:t>q</a:t>
                      </a:r>
                      <a:r>
                        <a:rPr lang="en-US" sz="2000" b="0" i="0" u="none" strike="noStrike" cap="none">
                          <a:solidFill>
                            <a:schemeClr val="dk1"/>
                          </a:solidFill>
                          <a:latin typeface="Arial"/>
                          <a:ea typeface="Arial"/>
                          <a:cs typeface="Arial"/>
                          <a:sym typeface="Arial"/>
                        </a:rPr>
                        <a:t>) → (</a:t>
                      </a:r>
                      <a:r>
                        <a:rPr lang="en-US" sz="2000" b="0" i="1" u="none" strike="noStrike" cap="none">
                          <a:solidFill>
                            <a:schemeClr val="dk1"/>
                          </a:solidFill>
                          <a:latin typeface="Arial"/>
                          <a:ea typeface="Arial"/>
                          <a:cs typeface="Arial"/>
                          <a:sym typeface="Arial"/>
                        </a:rPr>
                        <a:t>p</a:t>
                      </a:r>
                      <a:r>
                        <a:rPr lang="en-US" sz="2000" b="0" i="0" u="none" strike="noStrike" cap="none">
                          <a:solidFill>
                            <a:schemeClr val="dk1"/>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Λ</a:t>
                      </a:r>
                      <a:r>
                        <a:rPr lang="en-US" sz="20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q</a:t>
                      </a:r>
                      <a:r>
                        <a:rPr lang="en-US" sz="2000" b="0" i="0" u="none" strike="noStrike" cap="none">
                          <a:solidFill>
                            <a:schemeClr val="dk1"/>
                          </a:solidFill>
                          <a:latin typeface="Arial"/>
                          <a:ea typeface="Arial"/>
                          <a:cs typeface="Arial"/>
                          <a:sym typeface="Arial"/>
                        </a:rPr>
                        <a:t>)</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49225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     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     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     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     F</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F</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89" name="Google Shape;289;p15"/>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6"/>
          <p:cNvSpPr txBox="1">
            <a:spLocks noGrp="1"/>
          </p:cNvSpPr>
          <p:nvPr>
            <p:ph type="title" idx="4294967295"/>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3800"/>
              <a:buFont typeface="Arial"/>
              <a:buNone/>
            </a:pPr>
            <a:r>
              <a:rPr lang="en-US" sz="3800" b="0" i="0" u="none" strike="noStrike" cap="none">
                <a:solidFill>
                  <a:schemeClr val="dk2"/>
                </a:solidFill>
                <a:latin typeface="Arial"/>
                <a:ea typeface="Arial"/>
                <a:cs typeface="Arial"/>
                <a:sym typeface="Arial"/>
              </a:rPr>
              <a:t>1.1 Propositional Logic</a:t>
            </a:r>
            <a:endParaRPr/>
          </a:p>
        </p:txBody>
      </p:sp>
      <p:sp>
        <p:nvSpPr>
          <p:cNvPr id="295" name="Google Shape;295;p16"/>
          <p:cNvSpPr txBox="1">
            <a:spLocks noGrp="1"/>
          </p:cNvSpPr>
          <p:nvPr>
            <p:ph type="body" idx="4294967295"/>
          </p:nvPr>
        </p:nvSpPr>
        <p:spPr>
          <a:xfrm>
            <a:off x="457200" y="1600200"/>
            <a:ext cx="8153400" cy="2514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We can use parentheses to specify the order in which logical operators in a compound proposition are to be applied.</a:t>
            </a:r>
            <a:endParaRPr/>
          </a:p>
          <a:p>
            <a:pPr marL="342900" marR="0" lvl="0" indent="-342900" algn="l" rtl="0">
              <a:lnSpc>
                <a:spcPct val="10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To reduce the number of parentheses, the precedence order is defined for logical operators.</a:t>
            </a:r>
            <a:endParaRPr sz="2100" b="0" i="0" u="none">
              <a:solidFill>
                <a:schemeClr val="dk1"/>
              </a:solidFill>
              <a:latin typeface="Arial"/>
              <a:ea typeface="Arial"/>
              <a:cs typeface="Arial"/>
              <a:sym typeface="Arial"/>
            </a:endParaRPr>
          </a:p>
          <a:p>
            <a:pPr marL="742950" marR="0" lvl="1" indent="-285750" algn="l" rtl="0">
              <a:lnSpc>
                <a:spcPct val="100000"/>
              </a:lnSpc>
              <a:spcBef>
                <a:spcPts val="420"/>
              </a:spcBef>
              <a:spcAft>
                <a:spcPts val="0"/>
              </a:spcAft>
              <a:buClr>
                <a:schemeClr val="accent1"/>
              </a:buClr>
              <a:buSzPts val="2100"/>
              <a:buFont typeface="Noto Sans Symbols"/>
              <a:buNone/>
            </a:pPr>
            <a:endParaRPr sz="2100" b="0" i="0" u="none" strike="noStrike" cap="none">
              <a:solidFill>
                <a:schemeClr val="hlink"/>
              </a:solidFill>
              <a:latin typeface="Arial"/>
              <a:ea typeface="Arial"/>
              <a:cs typeface="Arial"/>
              <a:sym typeface="Arial"/>
            </a:endParaRPr>
          </a:p>
          <a:p>
            <a:pPr marL="342900" marR="0" lvl="0" indent="-342900" algn="l" rtl="0">
              <a:lnSpc>
                <a:spcPct val="100000"/>
              </a:lnSpc>
              <a:spcBef>
                <a:spcPts val="560"/>
              </a:spcBef>
              <a:spcAft>
                <a:spcPts val="0"/>
              </a:spcAft>
              <a:buClr>
                <a:schemeClr val="accent1"/>
              </a:buClr>
              <a:buSzPts val="2800"/>
              <a:buFont typeface="Noto Sans Symbols"/>
              <a:buNone/>
            </a:pPr>
            <a:endParaRPr sz="2800" b="0" i="0" u="none">
              <a:solidFill>
                <a:schemeClr val="dk1"/>
              </a:solidFill>
              <a:latin typeface="Arial"/>
              <a:ea typeface="Arial"/>
              <a:cs typeface="Arial"/>
              <a:sym typeface="Arial"/>
            </a:endParaRPr>
          </a:p>
          <a:p>
            <a:pPr marL="342900" marR="0" lvl="0" indent="-165100" algn="l" rtl="0">
              <a:spcBef>
                <a:spcPts val="560"/>
              </a:spcBef>
              <a:spcAft>
                <a:spcPts val="0"/>
              </a:spcAft>
              <a:buClr>
                <a:schemeClr val="accent1"/>
              </a:buClr>
              <a:buSzPts val="2800"/>
              <a:buFont typeface="Noto Sans Symbols"/>
              <a:buNone/>
            </a:pPr>
            <a:endParaRPr sz="2800" b="0" i="0" u="none">
              <a:solidFill>
                <a:schemeClr val="dk1"/>
              </a:solidFill>
              <a:latin typeface="Arial"/>
              <a:ea typeface="Arial"/>
              <a:cs typeface="Arial"/>
              <a:sym typeface="Arial"/>
            </a:endParaRPr>
          </a:p>
        </p:txBody>
      </p:sp>
      <p:sp>
        <p:nvSpPr>
          <p:cNvPr id="296" name="Google Shape;296;p16"/>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7" name="Google Shape;297;p16"/>
          <p:cNvSpPr txBox="1"/>
          <p:nvPr/>
        </p:nvSpPr>
        <p:spPr>
          <a:xfrm>
            <a:off x="1524000" y="1066800"/>
            <a:ext cx="6553200" cy="519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39933"/>
              </a:buClr>
              <a:buSzPts val="2800"/>
              <a:buFont typeface="Arial"/>
              <a:buNone/>
            </a:pPr>
            <a:r>
              <a:rPr lang="en-US" sz="2800" b="0" i="0" u="sng">
                <a:solidFill>
                  <a:srgbClr val="339933"/>
                </a:solidFill>
                <a:latin typeface="Arial"/>
                <a:ea typeface="Arial"/>
                <a:cs typeface="Arial"/>
                <a:sym typeface="Arial"/>
              </a:rPr>
              <a:t>Precedence of Logical Operators</a:t>
            </a:r>
            <a:endParaRPr/>
          </a:p>
        </p:txBody>
      </p:sp>
      <p:graphicFrame>
        <p:nvGraphicFramePr>
          <p:cNvPr id="298" name="Google Shape;298;p16"/>
          <p:cNvGraphicFramePr/>
          <p:nvPr/>
        </p:nvGraphicFramePr>
        <p:xfrm>
          <a:off x="762000" y="3200400"/>
          <a:ext cx="3000000" cy="3000000"/>
        </p:xfrm>
        <a:graphic>
          <a:graphicData uri="http://schemas.openxmlformats.org/drawingml/2006/table">
            <a:tbl>
              <a:tblPr>
                <a:noFill/>
                <a:tableStyleId>{397577B6-D47A-466E-84E6-29D3DF76FDB9}</a:tableStyleId>
              </a:tblPr>
              <a:tblGrid>
                <a:gridCol w="21336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tblGrid>
              <a:tr h="396875">
                <a:tc gridSpan="2">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Precedence of Logical Operators.</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7EDE7"/>
                    </a:solidFill>
                  </a:tcPr>
                </a:tc>
                <a:tc hMerge="1">
                  <a:txBody>
                    <a:bodyPr/>
                    <a:lstStyle/>
                    <a:p>
                      <a:endParaRPr lang="en-US"/>
                    </a:p>
                  </a:txBody>
                  <a:tcPr/>
                </a:tc>
                <a:extLst>
                  <a:ext uri="{0D108BD9-81ED-4DB2-BD59-A6C34878D82A}">
                    <a16:rowId xmlns:a16="http://schemas.microsoft.com/office/drawing/2014/main" val="10000"/>
                  </a:ext>
                </a:extLst>
              </a:tr>
              <a:tr h="51910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Operator</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Precedence</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95275">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62000">
                <a:tc>
                  <a:txBody>
                    <a:bodyPr/>
                    <a:lstStyle/>
                    <a:p>
                      <a:pPr marL="0" marR="0" lvl="0" indent="0" algn="ctr"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Arial"/>
                          <a:ea typeface="Arial"/>
                          <a:cs typeface="Arial"/>
                          <a:sym typeface="Arial"/>
                        </a:rPr>
                        <a:t>Λ</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ν</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2</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3</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76200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4</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5</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99" name="Google Shape;299;p16"/>
          <p:cNvSpPr txBox="1"/>
          <p:nvPr/>
        </p:nvSpPr>
        <p:spPr>
          <a:xfrm>
            <a:off x="5638800" y="3276600"/>
            <a:ext cx="3352800" cy="1192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E.g. ¬</a:t>
            </a:r>
            <a:r>
              <a:rPr lang="en-US" sz="1800" b="0" i="1" u="none">
                <a:solidFill>
                  <a:schemeClr val="dk1"/>
                </a:solidFill>
                <a:latin typeface="Arial"/>
                <a:ea typeface="Arial"/>
                <a:cs typeface="Arial"/>
                <a:sym typeface="Arial"/>
              </a:rPr>
              <a:t>p</a:t>
            </a:r>
            <a:r>
              <a:rPr lang="en-US" sz="1800" b="0" i="0" u="none">
                <a:solidFill>
                  <a:schemeClr val="dk1"/>
                </a:solidFill>
                <a:latin typeface="Arial"/>
                <a:ea typeface="Arial"/>
                <a:cs typeface="Arial"/>
                <a:sym typeface="Arial"/>
              </a:rPr>
              <a:t> </a:t>
            </a:r>
            <a:r>
              <a:rPr lang="en-US" sz="1400" b="0" i="0" u="none">
                <a:solidFill>
                  <a:schemeClr val="dk1"/>
                </a:solidFill>
                <a:latin typeface="Arial"/>
                <a:ea typeface="Arial"/>
                <a:cs typeface="Arial"/>
                <a:sym typeface="Arial"/>
              </a:rPr>
              <a:t>Λ </a:t>
            </a:r>
            <a:r>
              <a:rPr lang="en-US" sz="1800" b="0" i="1" u="none">
                <a:solidFill>
                  <a:schemeClr val="dk1"/>
                </a:solidFill>
                <a:latin typeface="Arial"/>
                <a:ea typeface="Arial"/>
                <a:cs typeface="Arial"/>
                <a:sym typeface="Arial"/>
              </a:rPr>
              <a:t>q</a:t>
            </a:r>
            <a:r>
              <a:rPr lang="en-US" sz="1800" b="0" i="0" u="none">
                <a:solidFill>
                  <a:schemeClr val="dk1"/>
                </a:solidFill>
                <a:latin typeface="Arial"/>
                <a:ea typeface="Arial"/>
                <a:cs typeface="Arial"/>
                <a:sym typeface="Arial"/>
              </a:rPr>
              <a:t> = (¬</a:t>
            </a:r>
            <a:r>
              <a:rPr lang="en-US" sz="1800" b="0" i="1" u="none">
                <a:solidFill>
                  <a:schemeClr val="dk1"/>
                </a:solidFill>
                <a:latin typeface="Arial"/>
                <a:ea typeface="Arial"/>
                <a:cs typeface="Arial"/>
                <a:sym typeface="Arial"/>
              </a:rPr>
              <a:t>p</a:t>
            </a:r>
            <a:r>
              <a:rPr lang="en-US" sz="1800" b="0" i="0" u="none">
                <a:solidFill>
                  <a:schemeClr val="dk1"/>
                </a:solidFill>
                <a:latin typeface="Arial"/>
                <a:ea typeface="Arial"/>
                <a:cs typeface="Arial"/>
                <a:sym typeface="Arial"/>
              </a:rPr>
              <a:t> ) </a:t>
            </a:r>
            <a:r>
              <a:rPr lang="en-US" sz="1400" b="0" i="0" u="none">
                <a:solidFill>
                  <a:schemeClr val="dk1"/>
                </a:solidFill>
                <a:latin typeface="Arial"/>
                <a:ea typeface="Arial"/>
                <a:cs typeface="Arial"/>
                <a:sym typeface="Arial"/>
              </a:rPr>
              <a:t>Λ</a:t>
            </a: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q</a:t>
            </a:r>
            <a:r>
              <a:rPr lang="en-US" sz="1800" b="0" i="0" u="none">
                <a:solidFill>
                  <a:schemeClr val="dk1"/>
                </a:solidFill>
                <a:latin typeface="Arial"/>
                <a:ea typeface="Arial"/>
                <a:cs typeface="Arial"/>
                <a:sym typeface="Arial"/>
              </a:rPr>
              <a:t> </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p</a:t>
            </a:r>
            <a:r>
              <a:rPr lang="en-US" sz="1800" b="0" i="0" u="none">
                <a:solidFill>
                  <a:schemeClr val="dk1"/>
                </a:solidFill>
                <a:latin typeface="Arial"/>
                <a:ea typeface="Arial"/>
                <a:cs typeface="Arial"/>
                <a:sym typeface="Arial"/>
              </a:rPr>
              <a:t> </a:t>
            </a:r>
            <a:r>
              <a:rPr lang="en-US" sz="1400" b="0" i="0" u="none">
                <a:solidFill>
                  <a:schemeClr val="dk1"/>
                </a:solidFill>
                <a:latin typeface="Arial"/>
                <a:ea typeface="Arial"/>
                <a:cs typeface="Arial"/>
                <a:sym typeface="Arial"/>
              </a:rPr>
              <a:t>Λ</a:t>
            </a: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q</a:t>
            </a:r>
            <a:r>
              <a:rPr lang="en-US" sz="1800" b="0" i="0" u="none">
                <a:solidFill>
                  <a:schemeClr val="dk1"/>
                </a:solidFill>
                <a:latin typeface="Arial"/>
                <a:ea typeface="Arial"/>
                <a:cs typeface="Arial"/>
                <a:sym typeface="Arial"/>
              </a:rPr>
              <a:t> ν </a:t>
            </a:r>
            <a:r>
              <a:rPr lang="en-US" sz="1800" b="0" i="1" u="none">
                <a:solidFill>
                  <a:schemeClr val="dk1"/>
                </a:solidFill>
                <a:latin typeface="Arial"/>
                <a:ea typeface="Arial"/>
                <a:cs typeface="Arial"/>
                <a:sym typeface="Arial"/>
              </a:rPr>
              <a:t>r </a:t>
            </a: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p</a:t>
            </a:r>
            <a:r>
              <a:rPr lang="en-US" sz="1800" b="0" i="0" u="none">
                <a:solidFill>
                  <a:schemeClr val="dk1"/>
                </a:solidFill>
                <a:latin typeface="Arial"/>
                <a:ea typeface="Arial"/>
                <a:cs typeface="Arial"/>
                <a:sym typeface="Arial"/>
              </a:rPr>
              <a:t> </a:t>
            </a:r>
            <a:r>
              <a:rPr lang="en-US" sz="1400" b="0" i="0" u="none">
                <a:solidFill>
                  <a:schemeClr val="dk1"/>
                </a:solidFill>
                <a:latin typeface="Arial"/>
                <a:ea typeface="Arial"/>
                <a:cs typeface="Arial"/>
                <a:sym typeface="Arial"/>
              </a:rPr>
              <a:t>Λ</a:t>
            </a: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q</a:t>
            </a:r>
            <a:r>
              <a:rPr lang="en-US" sz="1800" b="0" i="0" u="none">
                <a:solidFill>
                  <a:schemeClr val="dk1"/>
                </a:solidFill>
                <a:latin typeface="Arial"/>
                <a:ea typeface="Arial"/>
                <a:cs typeface="Arial"/>
                <a:sym typeface="Arial"/>
              </a:rPr>
              <a:t> ) ν </a:t>
            </a:r>
            <a:r>
              <a:rPr lang="en-US" sz="1800" b="0" i="1" u="none">
                <a:solidFill>
                  <a:schemeClr val="dk1"/>
                </a:solidFill>
                <a:latin typeface="Arial"/>
                <a:ea typeface="Arial"/>
                <a:cs typeface="Arial"/>
                <a:sym typeface="Arial"/>
              </a:rPr>
              <a:t>r</a:t>
            </a:r>
            <a:r>
              <a:rPr lang="en-US" sz="1800" b="0" i="0" u="none">
                <a:solidFill>
                  <a:schemeClr val="dk1"/>
                </a:solidFill>
                <a:latin typeface="Arial"/>
                <a:ea typeface="Arial"/>
                <a:cs typeface="Arial"/>
                <a:sym typeface="Arial"/>
              </a:rPr>
              <a:t> </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p</a:t>
            </a:r>
            <a:r>
              <a:rPr lang="en-US" sz="1800" b="0" i="0" u="none">
                <a:solidFill>
                  <a:schemeClr val="dk1"/>
                </a:solidFill>
                <a:latin typeface="Arial"/>
                <a:ea typeface="Arial"/>
                <a:cs typeface="Arial"/>
                <a:sym typeface="Arial"/>
              </a:rPr>
              <a:t> ν </a:t>
            </a:r>
            <a:r>
              <a:rPr lang="en-US" sz="1800" b="0" i="1" u="none">
                <a:solidFill>
                  <a:schemeClr val="dk1"/>
                </a:solidFill>
                <a:latin typeface="Arial"/>
                <a:ea typeface="Arial"/>
                <a:cs typeface="Arial"/>
                <a:sym typeface="Arial"/>
              </a:rPr>
              <a:t>q</a:t>
            </a:r>
            <a:r>
              <a:rPr lang="en-US" sz="1800" b="0" i="0" u="none">
                <a:solidFill>
                  <a:schemeClr val="dk1"/>
                </a:solidFill>
                <a:latin typeface="Arial"/>
                <a:ea typeface="Arial"/>
                <a:cs typeface="Arial"/>
                <a:sym typeface="Arial"/>
              </a:rPr>
              <a:t> </a:t>
            </a:r>
            <a:r>
              <a:rPr lang="en-US" sz="1400" b="0" i="0" u="none">
                <a:solidFill>
                  <a:schemeClr val="dk1"/>
                </a:solidFill>
                <a:latin typeface="Arial"/>
                <a:ea typeface="Arial"/>
                <a:cs typeface="Arial"/>
                <a:sym typeface="Arial"/>
              </a:rPr>
              <a:t>Λ</a:t>
            </a: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r</a:t>
            </a:r>
            <a:r>
              <a:rPr lang="en-US" sz="1800" b="0" i="0" u="none">
                <a:solidFill>
                  <a:schemeClr val="dk1"/>
                </a:solidFill>
                <a:latin typeface="Arial"/>
                <a:ea typeface="Arial"/>
                <a:cs typeface="Arial"/>
                <a:sym typeface="Arial"/>
              </a:rPr>
              <a:t> = </a:t>
            </a:r>
            <a:r>
              <a:rPr lang="en-US" sz="1800" b="0" i="1" u="none">
                <a:solidFill>
                  <a:schemeClr val="dk1"/>
                </a:solidFill>
                <a:latin typeface="Arial"/>
                <a:ea typeface="Arial"/>
                <a:cs typeface="Arial"/>
                <a:sym typeface="Arial"/>
              </a:rPr>
              <a:t>p</a:t>
            </a:r>
            <a:r>
              <a:rPr lang="en-US" sz="1800" b="0" i="0" u="none">
                <a:solidFill>
                  <a:schemeClr val="dk1"/>
                </a:solidFill>
                <a:latin typeface="Arial"/>
                <a:ea typeface="Arial"/>
                <a:cs typeface="Arial"/>
                <a:sym typeface="Arial"/>
              </a:rPr>
              <a:t> ν (</a:t>
            </a:r>
            <a:r>
              <a:rPr lang="en-US" sz="1800" b="0" i="1" u="none">
                <a:solidFill>
                  <a:schemeClr val="dk1"/>
                </a:solidFill>
                <a:latin typeface="Arial"/>
                <a:ea typeface="Arial"/>
                <a:cs typeface="Arial"/>
                <a:sym typeface="Arial"/>
              </a:rPr>
              <a:t>q</a:t>
            </a:r>
            <a:r>
              <a:rPr lang="en-US" sz="1800" b="0" i="0" u="none">
                <a:solidFill>
                  <a:schemeClr val="dk1"/>
                </a:solidFill>
                <a:latin typeface="Arial"/>
                <a:ea typeface="Arial"/>
                <a:cs typeface="Arial"/>
                <a:sym typeface="Arial"/>
              </a:rPr>
              <a:t> </a:t>
            </a:r>
            <a:r>
              <a:rPr lang="en-US" sz="1400" b="0" i="0" u="none">
                <a:solidFill>
                  <a:schemeClr val="dk1"/>
                </a:solidFill>
                <a:latin typeface="Arial"/>
                <a:ea typeface="Arial"/>
                <a:cs typeface="Arial"/>
                <a:sym typeface="Arial"/>
              </a:rPr>
              <a:t>Λ</a:t>
            </a: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r</a:t>
            </a:r>
            <a:r>
              <a:rPr lang="en-US" sz="1800" b="0" i="0" u="none">
                <a:solidFill>
                  <a:schemeClr val="dk1"/>
                </a:solidFill>
                <a:latin typeface="Arial"/>
                <a:ea typeface="Arial"/>
                <a:cs typeface="Arial"/>
                <a:sym typeface="Arial"/>
              </a:rPr>
              <a:t>)</a:t>
            </a:r>
            <a:endParaRPr/>
          </a:p>
        </p:txBody>
      </p:sp>
      <p:sp>
        <p:nvSpPr>
          <p:cNvPr id="300" name="Google Shape;300;p16"/>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19</a:t>
            </a:fld>
            <a:endParaRPr/>
          </a:p>
        </p:txBody>
      </p:sp>
      <p:pic>
        <p:nvPicPr>
          <p:cNvPr id="301" name="Google Shape;301;p16"/>
          <p:cNvPicPr preferRelativeResize="0"/>
          <p:nvPr/>
        </p:nvPicPr>
        <p:blipFill>
          <a:blip r:embed="rId3">
            <a:alphaModFix/>
          </a:blip>
          <a:stretch>
            <a:fillRect/>
          </a:stretch>
        </p:blipFill>
        <p:spPr>
          <a:xfrm>
            <a:off x="5486400" y="4621212"/>
            <a:ext cx="3048000" cy="742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Arguments</a:t>
            </a:r>
            <a:endParaRPr/>
          </a:p>
        </p:txBody>
      </p:sp>
      <p:sp>
        <p:nvSpPr>
          <p:cNvPr id="307" name="Google Shape;307;p17"/>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accent1"/>
              </a:buClr>
              <a:buSzPts val="3200"/>
              <a:buFont typeface="Noto Sans Symbols"/>
              <a:buChar char="●"/>
            </a:pPr>
            <a:r>
              <a:rPr lang="en-US" sz="3200" b="0" i="0" u="none">
                <a:solidFill>
                  <a:schemeClr val="dk1"/>
                </a:solidFill>
                <a:latin typeface="Arial"/>
                <a:ea typeface="Arial"/>
                <a:cs typeface="Arial"/>
                <a:sym typeface="Arial"/>
              </a:rPr>
              <a:t>An </a:t>
            </a:r>
            <a:r>
              <a:rPr lang="en-US" sz="3200" b="1" i="1" u="sng">
                <a:solidFill>
                  <a:schemeClr val="dk1"/>
                </a:solidFill>
                <a:latin typeface="Arial"/>
                <a:ea typeface="Arial"/>
                <a:cs typeface="Arial"/>
                <a:sym typeface="Arial"/>
              </a:rPr>
              <a:t>argument</a:t>
            </a:r>
            <a:r>
              <a:rPr lang="en-US" sz="3200" b="0" i="0" u="none">
                <a:solidFill>
                  <a:schemeClr val="dk1"/>
                </a:solidFill>
                <a:latin typeface="Arial"/>
                <a:ea typeface="Arial"/>
                <a:cs typeface="Arial"/>
                <a:sym typeface="Arial"/>
              </a:rPr>
              <a:t> is an assertion that a given set of propositions P1, P2,……,Pn called </a:t>
            </a:r>
            <a:r>
              <a:rPr lang="en-US" sz="3200" b="1" i="1" u="sng">
                <a:solidFill>
                  <a:schemeClr val="dk1"/>
                </a:solidFill>
                <a:latin typeface="Arial"/>
                <a:ea typeface="Arial"/>
                <a:cs typeface="Arial"/>
                <a:sym typeface="Arial"/>
              </a:rPr>
              <a:t>premises</a:t>
            </a:r>
            <a:r>
              <a:rPr lang="en-US" sz="3200" b="0" i="0" u="none">
                <a:solidFill>
                  <a:schemeClr val="dk1"/>
                </a:solidFill>
                <a:latin typeface="Arial"/>
                <a:ea typeface="Arial"/>
                <a:cs typeface="Arial"/>
                <a:sym typeface="Arial"/>
              </a:rPr>
              <a:t> yields another proposition Q, called </a:t>
            </a:r>
            <a:r>
              <a:rPr lang="en-US" sz="3200" b="1" i="1" u="sng">
                <a:solidFill>
                  <a:schemeClr val="dk1"/>
                </a:solidFill>
                <a:latin typeface="Arial"/>
                <a:ea typeface="Arial"/>
                <a:cs typeface="Arial"/>
                <a:sym typeface="Arial"/>
              </a:rPr>
              <a:t>conclusion</a:t>
            </a:r>
            <a:r>
              <a:rPr lang="en-US" sz="3200" b="0" i="0" u="none">
                <a:solidFill>
                  <a:schemeClr val="dk1"/>
                </a:solidFill>
                <a:latin typeface="Arial"/>
                <a:ea typeface="Arial"/>
                <a:cs typeface="Arial"/>
                <a:sym typeface="Arial"/>
              </a:rPr>
              <a:t>. </a:t>
            </a:r>
            <a:endParaRPr/>
          </a:p>
          <a:p>
            <a:pPr marL="342900" lvl="0" indent="-342900" algn="l" rtl="0">
              <a:lnSpc>
                <a:spcPct val="90000"/>
              </a:lnSpc>
              <a:spcBef>
                <a:spcPts val="640"/>
              </a:spcBef>
              <a:spcAft>
                <a:spcPts val="0"/>
              </a:spcAft>
              <a:buClr>
                <a:schemeClr val="accent1"/>
              </a:buClr>
              <a:buSzPts val="3200"/>
              <a:buFont typeface="Noto Sans Symbols"/>
              <a:buChar char="●"/>
            </a:pPr>
            <a:r>
              <a:rPr lang="en-US" sz="3200" b="0" i="0" u="none">
                <a:solidFill>
                  <a:schemeClr val="dk1"/>
                </a:solidFill>
                <a:latin typeface="Arial"/>
                <a:ea typeface="Arial"/>
                <a:cs typeface="Arial"/>
                <a:sym typeface="Arial"/>
              </a:rPr>
              <a:t>An argument P1,P2,….,Pn├Q is said to be valid if Q is true whenever al the4 premises are true</a:t>
            </a:r>
            <a:endParaRPr/>
          </a:p>
          <a:p>
            <a:pPr marL="342900" lvl="0" indent="-342900" algn="l" rtl="0">
              <a:lnSpc>
                <a:spcPct val="90000"/>
              </a:lnSpc>
              <a:spcBef>
                <a:spcPts val="640"/>
              </a:spcBef>
              <a:spcAft>
                <a:spcPts val="0"/>
              </a:spcAft>
              <a:buClr>
                <a:schemeClr val="accent1"/>
              </a:buClr>
              <a:buSzPts val="3200"/>
              <a:buFont typeface="Noto Sans Symbols"/>
              <a:buChar char="●"/>
            </a:pPr>
            <a:r>
              <a:rPr lang="en-US" sz="3200" b="0" i="0" u="none">
                <a:solidFill>
                  <a:schemeClr val="dk1"/>
                </a:solidFill>
                <a:latin typeface="Arial"/>
                <a:ea typeface="Arial"/>
                <a:cs typeface="Arial"/>
                <a:sym typeface="Arial"/>
              </a:rPr>
              <a:t>An argument which is not valid is called </a:t>
            </a:r>
            <a:r>
              <a:rPr lang="en-US" sz="3200" b="0" i="1" u="sng">
                <a:solidFill>
                  <a:schemeClr val="dk1"/>
                </a:solidFill>
                <a:latin typeface="Arial"/>
                <a:ea typeface="Arial"/>
                <a:cs typeface="Arial"/>
                <a:sym typeface="Arial"/>
              </a:rPr>
              <a:t>fallacy</a:t>
            </a:r>
            <a:endParaRPr/>
          </a:p>
          <a:p>
            <a:pPr marL="342900" lvl="0" indent="-139700" algn="l" rtl="0">
              <a:spcBef>
                <a:spcPts val="640"/>
              </a:spcBef>
              <a:spcAft>
                <a:spcPts val="0"/>
              </a:spcAft>
              <a:buSzPts val="3200"/>
              <a:buNone/>
            </a:pPr>
            <a:endParaRPr sz="3200" b="0" i="1" u="sng">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313" name="Google Shape;313;p18"/>
          <p:cNvSpPr txBox="1">
            <a:spLocks noGrp="1"/>
          </p:cNvSpPr>
          <p:nvPr>
            <p:ph type="body" idx="1"/>
          </p:nvPr>
        </p:nvSpPr>
        <p:spPr>
          <a:xfrm>
            <a:off x="457200" y="1600200"/>
            <a:ext cx="8153400" cy="25146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English (and every other human language) is often ambiguous. Translating sentences into compound statements removes the ambiguity. </a:t>
            </a:r>
            <a:endParaRPr/>
          </a:p>
          <a:p>
            <a:pPr marL="342900" lvl="0" indent="-342900" algn="l" rtl="0">
              <a:lnSpc>
                <a:spcPct val="10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Example: How can this English sentence be translated into a logical expression?</a:t>
            </a:r>
            <a:endParaRPr/>
          </a:p>
          <a:p>
            <a:pPr marL="342900" lvl="0" indent="-342900" algn="l" rtl="0">
              <a:lnSpc>
                <a:spcPct val="100000"/>
              </a:lnSpc>
              <a:spcBef>
                <a:spcPts val="420"/>
              </a:spcBef>
              <a:spcAft>
                <a:spcPts val="0"/>
              </a:spcAft>
              <a:buSzPts val="2100"/>
              <a:buNone/>
            </a:pPr>
            <a:r>
              <a:rPr lang="en-US" sz="2100" b="0" i="0" u="none">
                <a:solidFill>
                  <a:schemeClr val="dk1"/>
                </a:solidFill>
                <a:latin typeface="Arial"/>
                <a:ea typeface="Arial"/>
                <a:cs typeface="Arial"/>
                <a:sym typeface="Arial"/>
              </a:rPr>
              <a:t>		“You cannot ride the roller coaster if you are under 4 feet  </a:t>
            </a:r>
            <a:endParaRPr/>
          </a:p>
          <a:p>
            <a:pPr marL="342900" lvl="0" indent="-342900" algn="l" rtl="0">
              <a:lnSpc>
                <a:spcPct val="100000"/>
              </a:lnSpc>
              <a:spcBef>
                <a:spcPts val="420"/>
              </a:spcBef>
              <a:spcAft>
                <a:spcPts val="0"/>
              </a:spcAft>
              <a:buSzPts val="2100"/>
              <a:buNone/>
            </a:pPr>
            <a:r>
              <a:rPr lang="en-US" sz="2100" b="0" i="0" u="none">
                <a:solidFill>
                  <a:schemeClr val="dk1"/>
                </a:solidFill>
                <a:latin typeface="Arial"/>
                <a:ea typeface="Arial"/>
                <a:cs typeface="Arial"/>
                <a:sym typeface="Arial"/>
              </a:rPr>
              <a:t>            tall unless you are older than 16 years old.”</a:t>
            </a:r>
            <a:endParaRPr/>
          </a:p>
          <a:p>
            <a:pPr marL="342900" lvl="0" indent="-342900" algn="l" rtl="0">
              <a:lnSpc>
                <a:spcPct val="100000"/>
              </a:lnSpc>
              <a:spcBef>
                <a:spcPts val="420"/>
              </a:spcBef>
              <a:spcAft>
                <a:spcPts val="0"/>
              </a:spcAft>
              <a:buSzPts val="2100"/>
              <a:buNone/>
            </a:pPr>
            <a:endParaRPr sz="2100" b="0" i="0" u="none">
              <a:solidFill>
                <a:schemeClr val="dk1"/>
              </a:solidFill>
              <a:latin typeface="Arial"/>
              <a:ea typeface="Arial"/>
              <a:cs typeface="Arial"/>
              <a:sym typeface="Arial"/>
            </a:endParaRPr>
          </a:p>
          <a:p>
            <a:pPr marL="742950" lvl="1" indent="-285750" algn="l" rtl="0">
              <a:lnSpc>
                <a:spcPct val="100000"/>
              </a:lnSpc>
              <a:spcBef>
                <a:spcPts val="420"/>
              </a:spcBef>
              <a:spcAft>
                <a:spcPts val="0"/>
              </a:spcAft>
              <a:buSzPts val="2100"/>
              <a:buNone/>
            </a:pPr>
            <a:endParaRPr sz="2100" b="0" i="0" u="none">
              <a:solidFill>
                <a:schemeClr val="hlink"/>
              </a:solidFill>
              <a:latin typeface="Arial"/>
              <a:ea typeface="Arial"/>
              <a:cs typeface="Arial"/>
              <a:sym typeface="Arial"/>
            </a:endParaRPr>
          </a:p>
          <a:p>
            <a:pPr marL="342900" lvl="0" indent="-342900" algn="l" rtl="0">
              <a:lnSpc>
                <a:spcPct val="100000"/>
              </a:lnSpc>
              <a:spcBef>
                <a:spcPts val="560"/>
              </a:spcBef>
              <a:spcAft>
                <a:spcPts val="0"/>
              </a:spcAft>
              <a:buSzPts val="2800"/>
              <a:buNone/>
            </a:pPr>
            <a:endParaRPr sz="2800" b="0" i="0" u="none">
              <a:solidFill>
                <a:schemeClr val="dk1"/>
              </a:solidFill>
              <a:latin typeface="Arial"/>
              <a:ea typeface="Arial"/>
              <a:cs typeface="Arial"/>
              <a:sym typeface="Arial"/>
            </a:endParaRPr>
          </a:p>
          <a:p>
            <a:pPr marL="342900" lvl="0" indent="-165100" algn="l" rtl="0">
              <a:spcBef>
                <a:spcPts val="560"/>
              </a:spcBef>
              <a:spcAft>
                <a:spcPts val="0"/>
              </a:spcAft>
              <a:buSzPts val="2800"/>
              <a:buNone/>
            </a:pPr>
            <a:endParaRPr sz="2800" b="0" i="0" u="none">
              <a:solidFill>
                <a:schemeClr val="dk1"/>
              </a:solidFill>
              <a:latin typeface="Arial"/>
              <a:ea typeface="Arial"/>
              <a:cs typeface="Arial"/>
              <a:sym typeface="Arial"/>
            </a:endParaRPr>
          </a:p>
        </p:txBody>
      </p:sp>
      <p:sp>
        <p:nvSpPr>
          <p:cNvPr id="314" name="Google Shape;314;p18"/>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8"/>
          <p:cNvSpPr txBox="1"/>
          <p:nvPr/>
        </p:nvSpPr>
        <p:spPr>
          <a:xfrm>
            <a:off x="1524000" y="1066800"/>
            <a:ext cx="6553200" cy="519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39933"/>
              </a:buClr>
              <a:buSzPts val="2800"/>
              <a:buFont typeface="Arial"/>
              <a:buNone/>
            </a:pPr>
            <a:r>
              <a:rPr lang="en-US" sz="2800" b="0" i="0" u="sng">
                <a:solidFill>
                  <a:srgbClr val="339933"/>
                </a:solidFill>
                <a:latin typeface="Arial"/>
                <a:ea typeface="Arial"/>
                <a:cs typeface="Arial"/>
                <a:sym typeface="Arial"/>
              </a:rPr>
              <a:t>Translating English Sentences</a:t>
            </a:r>
            <a:endParaRPr/>
          </a:p>
        </p:txBody>
      </p:sp>
      <p:sp>
        <p:nvSpPr>
          <p:cNvPr id="316" name="Google Shape;316;p18"/>
          <p:cNvSpPr txBox="1"/>
          <p:nvPr/>
        </p:nvSpPr>
        <p:spPr>
          <a:xfrm>
            <a:off x="914400" y="4038600"/>
            <a:ext cx="7391400" cy="1604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1800"/>
              <a:buFont typeface="Arial"/>
              <a:buNone/>
            </a:pPr>
            <a:r>
              <a:rPr lang="en-US" sz="1800" b="0" i="0" u="none">
                <a:solidFill>
                  <a:srgbClr val="FF3300"/>
                </a:solidFill>
                <a:latin typeface="Arial"/>
                <a:ea typeface="Arial"/>
                <a:cs typeface="Arial"/>
                <a:sym typeface="Arial"/>
              </a:rPr>
              <a:t>Solution</a:t>
            </a:r>
            <a:r>
              <a:rPr lang="en-US" sz="1800" b="0" i="0" u="none">
                <a:solidFill>
                  <a:schemeClr val="dk1"/>
                </a:solidFill>
                <a:latin typeface="Arial"/>
                <a:ea typeface="Arial"/>
                <a:cs typeface="Arial"/>
                <a:sym typeface="Arial"/>
              </a:rPr>
              <a:t>: Let </a:t>
            </a:r>
            <a:r>
              <a:rPr lang="en-US" sz="1800" b="0" i="1" u="none">
                <a:solidFill>
                  <a:schemeClr val="dk1"/>
                </a:solidFill>
                <a:latin typeface="Arial"/>
                <a:ea typeface="Arial"/>
                <a:cs typeface="Arial"/>
                <a:sym typeface="Arial"/>
              </a:rPr>
              <a:t>q</a:t>
            </a: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r</a:t>
            </a:r>
            <a:r>
              <a:rPr lang="en-US" sz="1800" b="0" i="0" u="none">
                <a:solidFill>
                  <a:schemeClr val="dk1"/>
                </a:solidFill>
                <a:latin typeface="Arial"/>
                <a:ea typeface="Arial"/>
                <a:cs typeface="Arial"/>
                <a:sym typeface="Arial"/>
              </a:rPr>
              <a:t>, and </a:t>
            </a:r>
            <a:r>
              <a:rPr lang="en-US" sz="1800" b="0" i="1" u="none">
                <a:solidFill>
                  <a:schemeClr val="dk1"/>
                </a:solidFill>
                <a:latin typeface="Arial"/>
                <a:ea typeface="Arial"/>
                <a:cs typeface="Arial"/>
                <a:sym typeface="Arial"/>
              </a:rPr>
              <a:t>s</a:t>
            </a:r>
            <a:r>
              <a:rPr lang="en-US" sz="1800" b="0" i="0" u="none">
                <a:solidFill>
                  <a:schemeClr val="dk1"/>
                </a:solidFill>
                <a:latin typeface="Arial"/>
                <a:ea typeface="Arial"/>
                <a:cs typeface="Arial"/>
                <a:sym typeface="Arial"/>
              </a:rPr>
              <a:t> represent “You can ride the roller  coaster,”    </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“You are under 4 feet tall,” and “You are older than   </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16 years old.” The sentence can be translated into:</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r</a:t>
            </a:r>
            <a:r>
              <a:rPr lang="en-US" sz="1800" b="0" i="0" u="none">
                <a:solidFill>
                  <a:schemeClr val="dk1"/>
                </a:solidFill>
                <a:latin typeface="Arial"/>
                <a:ea typeface="Arial"/>
                <a:cs typeface="Arial"/>
                <a:sym typeface="Arial"/>
              </a:rPr>
              <a:t> </a:t>
            </a:r>
            <a:r>
              <a:rPr lang="en-US" sz="1400" b="0" i="0" u="none">
                <a:solidFill>
                  <a:schemeClr val="dk1"/>
                </a:solidFill>
                <a:latin typeface="Arial"/>
                <a:ea typeface="Arial"/>
                <a:cs typeface="Arial"/>
                <a:sym typeface="Arial"/>
              </a:rPr>
              <a:t>Λ</a:t>
            </a:r>
            <a:r>
              <a:rPr lang="en-US" sz="1800" b="0" i="0" u="none">
                <a:solidFill>
                  <a:schemeClr val="dk1"/>
                </a:solidFill>
                <a:latin typeface="Arial"/>
                <a:ea typeface="Arial"/>
                <a:cs typeface="Arial"/>
                <a:sym typeface="Arial"/>
              </a:rPr>
              <a:t> ¬ </a:t>
            </a:r>
            <a:r>
              <a:rPr lang="en-US" sz="1800" b="0" i="1" u="none">
                <a:solidFill>
                  <a:schemeClr val="dk1"/>
                </a:solidFill>
                <a:latin typeface="Arial"/>
                <a:ea typeface="Arial"/>
                <a:cs typeface="Arial"/>
                <a:sym typeface="Arial"/>
              </a:rPr>
              <a:t>s</a:t>
            </a:r>
            <a:r>
              <a:rPr lang="en-US" sz="1800" b="0" i="0" u="none">
                <a:solidFill>
                  <a:schemeClr val="dk1"/>
                </a:solidFill>
                <a:latin typeface="Arial"/>
                <a:ea typeface="Arial"/>
                <a:cs typeface="Arial"/>
                <a:sym typeface="Arial"/>
              </a:rPr>
              <a:t>) → ¬</a:t>
            </a:r>
            <a:r>
              <a:rPr lang="en-US" sz="1800" b="0" i="1" u="none">
                <a:solidFill>
                  <a:schemeClr val="dk1"/>
                </a:solidFill>
                <a:latin typeface="Arial"/>
                <a:ea typeface="Arial"/>
                <a:cs typeface="Arial"/>
                <a:sym typeface="Arial"/>
              </a:rPr>
              <a:t>q</a:t>
            </a:r>
            <a:r>
              <a:rPr lang="en-US" sz="1800" b="0" i="0" u="none">
                <a:solidFill>
                  <a:schemeClr val="dk1"/>
                </a:solidFill>
                <a:latin typeface="Arial"/>
                <a:ea typeface="Arial"/>
                <a:cs typeface="Arial"/>
                <a:sym typeface="Arial"/>
              </a:rPr>
              <a:t>.</a:t>
            </a:r>
            <a:endParaRPr/>
          </a:p>
        </p:txBody>
      </p:sp>
      <p:sp>
        <p:nvSpPr>
          <p:cNvPr id="317" name="Google Shape;317;p18"/>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21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6"/>
                                        </p:tgtEl>
                                        <p:attrNameLst>
                                          <p:attrName>style.visibility</p:attrName>
                                        </p:attrNameLst>
                                      </p:cBhvr>
                                      <p:to>
                                        <p:strVal val="visible"/>
                                      </p:to>
                                    </p:set>
                                    <p:anim calcmode="lin" valueType="num">
                                      <p:cBhvr additive="base">
                                        <p:cTn id="7" dur="500"/>
                                        <p:tgtEl>
                                          <p:spTgt spid="3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1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323" name="Google Shape;323;p19"/>
          <p:cNvSpPr txBox="1">
            <a:spLocks noGrp="1"/>
          </p:cNvSpPr>
          <p:nvPr>
            <p:ph type="body" idx="1"/>
          </p:nvPr>
        </p:nvSpPr>
        <p:spPr>
          <a:xfrm>
            <a:off x="457200" y="1600200"/>
            <a:ext cx="8153400" cy="25146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Example: How can this English sentence be translated into a logical expression?</a:t>
            </a:r>
            <a:endParaRPr/>
          </a:p>
          <a:p>
            <a:pPr marL="342900" lvl="0" indent="-342900" algn="l" rtl="0">
              <a:lnSpc>
                <a:spcPct val="100000"/>
              </a:lnSpc>
              <a:spcBef>
                <a:spcPts val="420"/>
              </a:spcBef>
              <a:spcAft>
                <a:spcPts val="0"/>
              </a:spcAft>
              <a:buSzPts val="2100"/>
              <a:buNone/>
            </a:pPr>
            <a:r>
              <a:rPr lang="en-US" sz="2100" b="0" i="0" u="none">
                <a:solidFill>
                  <a:schemeClr val="dk1"/>
                </a:solidFill>
                <a:latin typeface="Arial"/>
                <a:ea typeface="Arial"/>
                <a:cs typeface="Arial"/>
                <a:sym typeface="Arial"/>
              </a:rPr>
              <a:t>		“You can access the Internet from campus only if you are a   </a:t>
            </a:r>
            <a:endParaRPr/>
          </a:p>
          <a:p>
            <a:pPr marL="342900" lvl="0" indent="-342900" algn="l" rtl="0">
              <a:lnSpc>
                <a:spcPct val="100000"/>
              </a:lnSpc>
              <a:spcBef>
                <a:spcPts val="420"/>
              </a:spcBef>
              <a:spcAft>
                <a:spcPts val="0"/>
              </a:spcAft>
              <a:buSzPts val="2100"/>
              <a:buNone/>
            </a:pPr>
            <a:r>
              <a:rPr lang="en-US" sz="2100" b="0" i="0" u="none">
                <a:solidFill>
                  <a:schemeClr val="dk1"/>
                </a:solidFill>
                <a:latin typeface="Arial"/>
                <a:ea typeface="Arial"/>
                <a:cs typeface="Arial"/>
                <a:sym typeface="Arial"/>
              </a:rPr>
              <a:t>             computer science major or you are not a freshman.”</a:t>
            </a:r>
            <a:endParaRPr/>
          </a:p>
          <a:p>
            <a:pPr marL="342900" lvl="0" indent="-342900" algn="l" rtl="0">
              <a:lnSpc>
                <a:spcPct val="100000"/>
              </a:lnSpc>
              <a:spcBef>
                <a:spcPts val="420"/>
              </a:spcBef>
              <a:spcAft>
                <a:spcPts val="0"/>
              </a:spcAft>
              <a:buSzPts val="2100"/>
              <a:buNone/>
            </a:pPr>
            <a:endParaRPr sz="2100" b="0" i="0" u="none">
              <a:solidFill>
                <a:schemeClr val="dk1"/>
              </a:solidFill>
              <a:latin typeface="Arial"/>
              <a:ea typeface="Arial"/>
              <a:cs typeface="Arial"/>
              <a:sym typeface="Arial"/>
            </a:endParaRPr>
          </a:p>
          <a:p>
            <a:pPr marL="742950" lvl="1" indent="-285750" algn="l" rtl="0">
              <a:lnSpc>
                <a:spcPct val="100000"/>
              </a:lnSpc>
              <a:spcBef>
                <a:spcPts val="420"/>
              </a:spcBef>
              <a:spcAft>
                <a:spcPts val="0"/>
              </a:spcAft>
              <a:buSzPts val="2100"/>
              <a:buNone/>
            </a:pPr>
            <a:endParaRPr sz="2100" b="0" i="0" u="none">
              <a:solidFill>
                <a:schemeClr val="hlink"/>
              </a:solidFill>
              <a:latin typeface="Arial"/>
              <a:ea typeface="Arial"/>
              <a:cs typeface="Arial"/>
              <a:sym typeface="Arial"/>
            </a:endParaRPr>
          </a:p>
          <a:p>
            <a:pPr marL="342900" lvl="0" indent="-342900" algn="l" rtl="0">
              <a:lnSpc>
                <a:spcPct val="100000"/>
              </a:lnSpc>
              <a:spcBef>
                <a:spcPts val="560"/>
              </a:spcBef>
              <a:spcAft>
                <a:spcPts val="0"/>
              </a:spcAft>
              <a:buSzPts val="2800"/>
              <a:buNone/>
            </a:pPr>
            <a:endParaRPr sz="2800" b="0" i="0" u="none">
              <a:solidFill>
                <a:schemeClr val="dk1"/>
              </a:solidFill>
              <a:latin typeface="Arial"/>
              <a:ea typeface="Arial"/>
              <a:cs typeface="Arial"/>
              <a:sym typeface="Arial"/>
            </a:endParaRPr>
          </a:p>
          <a:p>
            <a:pPr marL="342900" lvl="0" indent="-165100" algn="l" rtl="0">
              <a:spcBef>
                <a:spcPts val="560"/>
              </a:spcBef>
              <a:spcAft>
                <a:spcPts val="0"/>
              </a:spcAft>
              <a:buSzPts val="2800"/>
              <a:buNone/>
            </a:pPr>
            <a:endParaRPr sz="2800" b="0" i="0" u="none">
              <a:solidFill>
                <a:schemeClr val="dk1"/>
              </a:solidFill>
              <a:latin typeface="Arial"/>
              <a:ea typeface="Arial"/>
              <a:cs typeface="Arial"/>
              <a:sym typeface="Arial"/>
            </a:endParaRPr>
          </a:p>
        </p:txBody>
      </p:sp>
      <p:sp>
        <p:nvSpPr>
          <p:cNvPr id="324" name="Google Shape;324;p19"/>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9"/>
          <p:cNvSpPr txBox="1"/>
          <p:nvPr/>
        </p:nvSpPr>
        <p:spPr>
          <a:xfrm>
            <a:off x="838200" y="3124200"/>
            <a:ext cx="7391400" cy="1604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1800"/>
              <a:buFont typeface="Arial"/>
              <a:buNone/>
            </a:pPr>
            <a:r>
              <a:rPr lang="en-US" sz="1800" b="0" i="0" u="none">
                <a:solidFill>
                  <a:srgbClr val="FF3300"/>
                </a:solidFill>
                <a:latin typeface="Arial"/>
                <a:ea typeface="Arial"/>
                <a:cs typeface="Arial"/>
                <a:sym typeface="Arial"/>
              </a:rPr>
              <a:t>Solution</a:t>
            </a:r>
            <a:r>
              <a:rPr lang="en-US" sz="1800" b="0" i="0" u="none">
                <a:solidFill>
                  <a:schemeClr val="dk1"/>
                </a:solidFill>
                <a:latin typeface="Arial"/>
                <a:ea typeface="Arial"/>
                <a:cs typeface="Arial"/>
                <a:sym typeface="Arial"/>
              </a:rPr>
              <a:t>: Let </a:t>
            </a:r>
            <a:r>
              <a:rPr lang="en-US" sz="1800" b="0" i="1" u="none">
                <a:solidFill>
                  <a:schemeClr val="dk1"/>
                </a:solidFill>
                <a:latin typeface="Arial"/>
                <a:ea typeface="Arial"/>
                <a:cs typeface="Arial"/>
                <a:sym typeface="Arial"/>
              </a:rPr>
              <a:t>a</a:t>
            </a: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c</a:t>
            </a:r>
            <a:r>
              <a:rPr lang="en-US" sz="1800" b="0" i="0" u="none">
                <a:solidFill>
                  <a:schemeClr val="dk1"/>
                </a:solidFill>
                <a:latin typeface="Arial"/>
                <a:ea typeface="Arial"/>
                <a:cs typeface="Arial"/>
                <a:sym typeface="Arial"/>
              </a:rPr>
              <a:t>, and </a:t>
            </a:r>
            <a:r>
              <a:rPr lang="en-US" sz="1800" b="0" i="1" u="none">
                <a:solidFill>
                  <a:schemeClr val="dk1"/>
                </a:solidFill>
                <a:latin typeface="Arial"/>
                <a:ea typeface="Arial"/>
                <a:cs typeface="Arial"/>
                <a:sym typeface="Arial"/>
              </a:rPr>
              <a:t>f</a:t>
            </a:r>
            <a:r>
              <a:rPr lang="en-US" sz="1800" b="0" i="0" u="none">
                <a:solidFill>
                  <a:schemeClr val="dk1"/>
                </a:solidFill>
                <a:latin typeface="Arial"/>
                <a:ea typeface="Arial"/>
                <a:cs typeface="Arial"/>
                <a:sym typeface="Arial"/>
              </a:rPr>
              <a:t> represent “You can access the Internet from  </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campus,” “You are a computer science major,” and “You are </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a freshman.” The sentence can be translated into:</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a:t>
            </a:r>
            <a:r>
              <a:rPr lang="en-US" sz="1800" b="0" i="1" u="none">
                <a:solidFill>
                  <a:schemeClr val="dk1"/>
                </a:solidFill>
                <a:latin typeface="Arial"/>
                <a:ea typeface="Arial"/>
                <a:cs typeface="Arial"/>
                <a:sym typeface="Arial"/>
              </a:rPr>
              <a:t>a</a:t>
            </a:r>
            <a:r>
              <a:rPr lang="en-US" sz="1800" b="0" i="0" u="none">
                <a:solidFill>
                  <a:schemeClr val="dk1"/>
                </a:solidFill>
                <a:latin typeface="Arial"/>
                <a:ea typeface="Arial"/>
                <a:cs typeface="Arial"/>
                <a:sym typeface="Arial"/>
              </a:rPr>
              <a:t> → (</a:t>
            </a:r>
            <a:r>
              <a:rPr lang="en-US" sz="1800" b="0" i="1" u="none">
                <a:solidFill>
                  <a:schemeClr val="dk1"/>
                </a:solidFill>
                <a:latin typeface="Arial"/>
                <a:ea typeface="Arial"/>
                <a:cs typeface="Arial"/>
                <a:sym typeface="Arial"/>
              </a:rPr>
              <a:t>c</a:t>
            </a:r>
            <a:r>
              <a:rPr lang="en-US" sz="1800" b="0" i="0" u="none">
                <a:solidFill>
                  <a:schemeClr val="dk1"/>
                </a:solidFill>
                <a:latin typeface="Arial"/>
                <a:ea typeface="Arial"/>
                <a:cs typeface="Arial"/>
                <a:sym typeface="Arial"/>
              </a:rPr>
              <a:t> ν ¬</a:t>
            </a:r>
            <a:r>
              <a:rPr lang="en-US" sz="1800" b="0" i="1" u="none">
                <a:solidFill>
                  <a:schemeClr val="dk1"/>
                </a:solidFill>
                <a:latin typeface="Arial"/>
                <a:ea typeface="Arial"/>
                <a:cs typeface="Arial"/>
                <a:sym typeface="Arial"/>
              </a:rPr>
              <a:t>f</a:t>
            </a:r>
            <a:r>
              <a:rPr lang="en-US" sz="1800" b="0" i="0" u="none">
                <a:solidFill>
                  <a:schemeClr val="dk1"/>
                </a:solidFill>
                <a:latin typeface="Arial"/>
                <a:ea typeface="Arial"/>
                <a:cs typeface="Arial"/>
                <a:sym typeface="Arial"/>
              </a:rPr>
              <a:t>).</a:t>
            </a:r>
            <a:endParaRPr/>
          </a:p>
        </p:txBody>
      </p:sp>
      <p:sp>
        <p:nvSpPr>
          <p:cNvPr id="326" name="Google Shape;326;p19"/>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22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5"/>
                                        </p:tgtEl>
                                        <p:attrNameLst>
                                          <p:attrName>style.visibility</p:attrName>
                                        </p:attrNameLst>
                                      </p:cBhvr>
                                      <p:to>
                                        <p:strVal val="visible"/>
                                      </p:to>
                                    </p:set>
                                    <p:anim calcmode="lin" valueType="num">
                                      <p:cBhvr additive="base">
                                        <p:cTn id="7" dur="500"/>
                                        <p:tgtEl>
                                          <p:spTgt spid="3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332" name="Google Shape;332;p20"/>
          <p:cNvSpPr txBox="1">
            <a:spLocks noGrp="1"/>
          </p:cNvSpPr>
          <p:nvPr>
            <p:ph type="body" idx="1"/>
          </p:nvPr>
        </p:nvSpPr>
        <p:spPr>
          <a:xfrm>
            <a:off x="457200" y="1600200"/>
            <a:ext cx="7848600" cy="25146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Computers represent information using bits.</a:t>
            </a:r>
            <a:endParaRPr/>
          </a:p>
          <a:p>
            <a:pPr marL="342900" lvl="0" indent="-342900" algn="l" rtl="0">
              <a:lnSpc>
                <a:spcPct val="10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A </a:t>
            </a:r>
            <a:r>
              <a:rPr lang="en-US" sz="2000" b="1" i="0" u="none">
                <a:solidFill>
                  <a:schemeClr val="dk1"/>
                </a:solidFill>
                <a:latin typeface="Arial"/>
                <a:ea typeface="Arial"/>
                <a:cs typeface="Arial"/>
                <a:sym typeface="Arial"/>
              </a:rPr>
              <a:t>bit</a:t>
            </a:r>
            <a:r>
              <a:rPr lang="en-US" sz="2000" b="0" i="0" u="none">
                <a:solidFill>
                  <a:schemeClr val="dk1"/>
                </a:solidFill>
                <a:latin typeface="Arial"/>
                <a:ea typeface="Arial"/>
                <a:cs typeface="Arial"/>
                <a:sym typeface="Arial"/>
              </a:rPr>
              <a:t> is a symbol with two possible values, 0 and 1.</a:t>
            </a:r>
            <a:endParaRPr/>
          </a:p>
          <a:p>
            <a:pPr marL="342900" lvl="0" indent="-342900" algn="l" rtl="0">
              <a:lnSpc>
                <a:spcPct val="10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By convention, 1 represents T (true) and 0 represents F (false).</a:t>
            </a:r>
            <a:endParaRPr/>
          </a:p>
          <a:p>
            <a:pPr marL="342900" lvl="0" indent="-342900" algn="l" rtl="0">
              <a:lnSpc>
                <a:spcPct val="10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A variable is called a Boolean variable if its value is either true or false.</a:t>
            </a:r>
            <a:endParaRPr/>
          </a:p>
          <a:p>
            <a:pPr marL="342900" lvl="0" indent="-342900" algn="l" rtl="0">
              <a:lnSpc>
                <a:spcPct val="10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Bit operation – replace true by 1 and false by 0 in logical operations.</a:t>
            </a:r>
            <a:endParaRPr/>
          </a:p>
          <a:p>
            <a:pPr marL="342900" lvl="0" indent="-215900" algn="l" rtl="0">
              <a:lnSpc>
                <a:spcPct val="100000"/>
              </a:lnSpc>
              <a:spcBef>
                <a:spcPts val="400"/>
              </a:spcBef>
              <a:spcAft>
                <a:spcPts val="0"/>
              </a:spcAft>
              <a:buClr>
                <a:schemeClr val="accent1"/>
              </a:buClr>
              <a:buSzPts val="2000"/>
              <a:buFont typeface="Noto Sans Symbols"/>
              <a:buNone/>
            </a:pPr>
            <a:endParaRPr sz="2000" b="0" i="0" u="none">
              <a:solidFill>
                <a:schemeClr val="dk1"/>
              </a:solidFill>
              <a:latin typeface="Arial"/>
              <a:ea typeface="Arial"/>
              <a:cs typeface="Arial"/>
              <a:sym typeface="Arial"/>
            </a:endParaRPr>
          </a:p>
          <a:p>
            <a:pPr marL="342900" lvl="0" indent="-209550" algn="l" rtl="0">
              <a:lnSpc>
                <a:spcPct val="100000"/>
              </a:lnSpc>
              <a:spcBef>
                <a:spcPts val="420"/>
              </a:spcBef>
              <a:spcAft>
                <a:spcPts val="0"/>
              </a:spcAft>
              <a:buClr>
                <a:schemeClr val="accent1"/>
              </a:buClr>
              <a:buSzPts val="2100"/>
              <a:buFont typeface="Noto Sans Symbols"/>
              <a:buNone/>
            </a:pPr>
            <a:endParaRPr sz="2100" b="0" i="0" u="none">
              <a:solidFill>
                <a:schemeClr val="dk1"/>
              </a:solidFill>
              <a:latin typeface="Arial"/>
              <a:ea typeface="Arial"/>
              <a:cs typeface="Arial"/>
              <a:sym typeface="Arial"/>
            </a:endParaRPr>
          </a:p>
          <a:p>
            <a:pPr marL="342900" lvl="0" indent="-342900" algn="l" rtl="0">
              <a:lnSpc>
                <a:spcPct val="100000"/>
              </a:lnSpc>
              <a:spcBef>
                <a:spcPts val="420"/>
              </a:spcBef>
              <a:spcAft>
                <a:spcPts val="0"/>
              </a:spcAft>
              <a:buSzPts val="2100"/>
              <a:buNone/>
            </a:pPr>
            <a:endParaRPr sz="2100" b="0" i="0" u="none">
              <a:solidFill>
                <a:schemeClr val="dk1"/>
              </a:solidFill>
              <a:latin typeface="Arial"/>
              <a:ea typeface="Arial"/>
              <a:cs typeface="Arial"/>
              <a:sym typeface="Arial"/>
            </a:endParaRPr>
          </a:p>
          <a:p>
            <a:pPr marL="742950" lvl="1" indent="-285750" algn="l" rtl="0">
              <a:lnSpc>
                <a:spcPct val="100000"/>
              </a:lnSpc>
              <a:spcBef>
                <a:spcPts val="420"/>
              </a:spcBef>
              <a:spcAft>
                <a:spcPts val="0"/>
              </a:spcAft>
              <a:buSzPts val="2100"/>
              <a:buNone/>
            </a:pPr>
            <a:endParaRPr sz="2100" b="0" i="0" u="none">
              <a:solidFill>
                <a:schemeClr val="hlink"/>
              </a:solidFill>
              <a:latin typeface="Arial"/>
              <a:ea typeface="Arial"/>
              <a:cs typeface="Arial"/>
              <a:sym typeface="Arial"/>
            </a:endParaRPr>
          </a:p>
          <a:p>
            <a:pPr marL="342900" lvl="0" indent="-342900" algn="l" rtl="0">
              <a:lnSpc>
                <a:spcPct val="100000"/>
              </a:lnSpc>
              <a:spcBef>
                <a:spcPts val="560"/>
              </a:spcBef>
              <a:spcAft>
                <a:spcPts val="0"/>
              </a:spcAft>
              <a:buSzPts val="2800"/>
              <a:buNone/>
            </a:pPr>
            <a:endParaRPr sz="2800" b="0" i="0" u="none">
              <a:solidFill>
                <a:schemeClr val="dk1"/>
              </a:solidFill>
              <a:latin typeface="Arial"/>
              <a:ea typeface="Arial"/>
              <a:cs typeface="Arial"/>
              <a:sym typeface="Arial"/>
            </a:endParaRPr>
          </a:p>
          <a:p>
            <a:pPr marL="342900" lvl="0" indent="-165100" algn="l" rtl="0">
              <a:spcBef>
                <a:spcPts val="560"/>
              </a:spcBef>
              <a:spcAft>
                <a:spcPts val="0"/>
              </a:spcAft>
              <a:buSzPts val="2800"/>
              <a:buNone/>
            </a:pPr>
            <a:endParaRPr sz="2800" b="0" i="0" u="none">
              <a:solidFill>
                <a:schemeClr val="dk1"/>
              </a:solidFill>
              <a:latin typeface="Arial"/>
              <a:ea typeface="Arial"/>
              <a:cs typeface="Arial"/>
              <a:sym typeface="Arial"/>
            </a:endParaRPr>
          </a:p>
        </p:txBody>
      </p:sp>
      <p:graphicFrame>
        <p:nvGraphicFramePr>
          <p:cNvPr id="333" name="Google Shape;333;p20"/>
          <p:cNvGraphicFramePr/>
          <p:nvPr/>
        </p:nvGraphicFramePr>
        <p:xfrm>
          <a:off x="1524000" y="4191000"/>
          <a:ext cx="3000000" cy="3000000"/>
        </p:xfrm>
        <a:graphic>
          <a:graphicData uri="http://schemas.openxmlformats.org/drawingml/2006/table">
            <a:tbl>
              <a:tblPr>
                <a:noFill/>
                <a:tableStyleId>{397577B6-D47A-466E-84E6-29D3DF76FDB9}</a:tableStyleId>
              </a:tblPr>
              <a:tblGrid>
                <a:gridCol w="1093775">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1003300">
                  <a:extLst>
                    <a:ext uri="{9D8B030D-6E8A-4147-A177-3AD203B41FA5}">
                      <a16:colId xmlns:a16="http://schemas.microsoft.com/office/drawing/2014/main" val="20002"/>
                    </a:ext>
                  </a:extLst>
                </a:gridCol>
                <a:gridCol w="871525">
                  <a:extLst>
                    <a:ext uri="{9D8B030D-6E8A-4147-A177-3AD203B41FA5}">
                      <a16:colId xmlns:a16="http://schemas.microsoft.com/office/drawing/2014/main" val="20003"/>
                    </a:ext>
                  </a:extLst>
                </a:gridCol>
                <a:gridCol w="2339975">
                  <a:extLst>
                    <a:ext uri="{9D8B030D-6E8A-4147-A177-3AD203B41FA5}">
                      <a16:colId xmlns:a16="http://schemas.microsoft.com/office/drawing/2014/main" val="20004"/>
                    </a:ext>
                  </a:extLst>
                </a:gridCol>
              </a:tblGrid>
              <a:tr h="396875">
                <a:tc gridSpan="5">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Table for the Bit Operators  </a:t>
                      </a:r>
                      <a:r>
                        <a:rPr lang="en-US" sz="2000" b="0" i="1" u="none" strike="noStrike" cap="none">
                          <a:solidFill>
                            <a:schemeClr val="dk1"/>
                          </a:solidFill>
                          <a:latin typeface="Arial"/>
                          <a:ea typeface="Arial"/>
                          <a:cs typeface="Arial"/>
                          <a:sym typeface="Arial"/>
                        </a:rPr>
                        <a:t>OR</a:t>
                      </a:r>
                      <a:r>
                        <a:rPr lang="en-US" sz="20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AND</a:t>
                      </a:r>
                      <a:r>
                        <a:rPr lang="en-US" sz="2000" b="0" i="0" u="none" strike="noStrike" cap="none">
                          <a:solidFill>
                            <a:schemeClr val="dk1"/>
                          </a:solidFill>
                          <a:latin typeface="Arial"/>
                          <a:ea typeface="Arial"/>
                          <a:cs typeface="Arial"/>
                          <a:sym typeface="Arial"/>
                        </a:rPr>
                        <a:t>, and </a:t>
                      </a:r>
                      <a:r>
                        <a:rPr lang="en-US" sz="2000" b="0" i="1" u="none" strike="noStrike" cap="none">
                          <a:solidFill>
                            <a:schemeClr val="dk1"/>
                          </a:solidFill>
                          <a:latin typeface="Arial"/>
                          <a:ea typeface="Arial"/>
                          <a:cs typeface="Arial"/>
                          <a:sym typeface="Arial"/>
                        </a:rPr>
                        <a:t>XOR</a:t>
                      </a:r>
                      <a:r>
                        <a:rPr lang="en-US" sz="2000" b="0" i="0" u="none" strike="noStrike" cap="none">
                          <a:solidFill>
                            <a:schemeClr val="dk1"/>
                          </a:solidFill>
                          <a:latin typeface="Arial"/>
                          <a:ea typeface="Arial"/>
                          <a:cs typeface="Arial"/>
                          <a:sym typeface="Arial"/>
                        </a:rPr>
                        <a:t>.</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7EDE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800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x</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y</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x</a:t>
                      </a:r>
                      <a:r>
                        <a:rPr lang="en-US" sz="2000" b="0" i="0" u="none" strike="noStrike" cap="none">
                          <a:solidFill>
                            <a:schemeClr val="dk1"/>
                          </a:solidFill>
                          <a:latin typeface="Arial"/>
                          <a:ea typeface="Arial"/>
                          <a:cs typeface="Arial"/>
                          <a:sym typeface="Arial"/>
                        </a:rPr>
                        <a:t> ν </a:t>
                      </a:r>
                      <a:r>
                        <a:rPr lang="en-US" sz="2000" b="0" i="1" u="none" strike="noStrike" cap="none">
                          <a:solidFill>
                            <a:schemeClr val="dk1"/>
                          </a:solidFill>
                          <a:latin typeface="Arial"/>
                          <a:ea typeface="Arial"/>
                          <a:cs typeface="Arial"/>
                          <a:sym typeface="Arial"/>
                        </a:rPr>
                        <a:t>y</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x</a:t>
                      </a:r>
                      <a:r>
                        <a:rPr lang="en-US" sz="2000" b="0" i="0" u="none" strike="noStrike" cap="none">
                          <a:solidFill>
                            <a:schemeClr val="dk1"/>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Λ </a:t>
                      </a:r>
                      <a:r>
                        <a:rPr lang="en-US" sz="2000" b="0" i="1" u="none" strike="noStrike" cap="none">
                          <a:solidFill>
                            <a:schemeClr val="dk1"/>
                          </a:solidFill>
                          <a:latin typeface="Arial"/>
                          <a:ea typeface="Arial"/>
                          <a:cs typeface="Arial"/>
                          <a:sym typeface="Arial"/>
                        </a:rPr>
                        <a:t>y</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strike="noStrike" cap="none">
                          <a:solidFill>
                            <a:schemeClr val="dk1"/>
                          </a:solidFill>
                          <a:latin typeface="Arial"/>
                          <a:ea typeface="Arial"/>
                          <a:cs typeface="Arial"/>
                          <a:sym typeface="Arial"/>
                        </a:rPr>
                        <a:t>x</a:t>
                      </a:r>
                      <a:r>
                        <a:rPr lang="en-US" sz="20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y</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49225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p>
                      <a:pPr marL="0" marR="0" lvl="0" indent="0" algn="ctr"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334" name="Google Shape;334;p20"/>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35" name="Google Shape;335;p20"/>
          <p:cNvSpPr txBox="1"/>
          <p:nvPr/>
        </p:nvSpPr>
        <p:spPr>
          <a:xfrm>
            <a:off x="1524000" y="1066800"/>
            <a:ext cx="6553200" cy="519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39933"/>
              </a:buClr>
              <a:buSzPts val="2800"/>
              <a:buFont typeface="Arial"/>
              <a:buNone/>
            </a:pPr>
            <a:r>
              <a:rPr lang="en-US" sz="2800" b="0" i="0" u="sng">
                <a:solidFill>
                  <a:srgbClr val="339933"/>
                </a:solidFill>
                <a:latin typeface="Arial"/>
                <a:ea typeface="Arial"/>
                <a:cs typeface="Arial"/>
                <a:sym typeface="Arial"/>
              </a:rPr>
              <a:t>Logic and Bit Operations</a:t>
            </a:r>
            <a:endParaRPr/>
          </a:p>
        </p:txBody>
      </p:sp>
      <p:pic>
        <p:nvPicPr>
          <p:cNvPr id="336" name="Google Shape;336;p20"/>
          <p:cNvPicPr preferRelativeResize="0">
            <a:picLocks noGrp="1"/>
          </p:cNvPicPr>
          <p:nvPr>
            <p:ph type="body" idx="1"/>
          </p:nvPr>
        </p:nvPicPr>
        <p:blipFill rotWithShape="1">
          <a:blip r:embed="rId3">
            <a:alphaModFix/>
          </a:blip>
          <a:srcRect/>
          <a:stretch/>
        </p:blipFill>
        <p:spPr>
          <a:xfrm>
            <a:off x="6311900" y="4724400"/>
            <a:ext cx="165100" cy="177800"/>
          </a:xfrm>
          <a:prstGeom prst="rect">
            <a:avLst/>
          </a:prstGeom>
          <a:noFill/>
          <a:ln>
            <a:noFill/>
          </a:ln>
        </p:spPr>
      </p:pic>
      <p:sp>
        <p:nvSpPr>
          <p:cNvPr id="337" name="Google Shape;337;p20"/>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1.1 Propositional Logic</a:t>
            </a:r>
            <a:endParaRPr/>
          </a:p>
        </p:txBody>
      </p:sp>
      <p:sp>
        <p:nvSpPr>
          <p:cNvPr id="343" name="Google Shape;343;p21"/>
          <p:cNvSpPr txBox="1">
            <a:spLocks noGrp="1"/>
          </p:cNvSpPr>
          <p:nvPr>
            <p:ph type="body" idx="1"/>
          </p:nvPr>
        </p:nvSpPr>
        <p:spPr>
          <a:xfrm>
            <a:off x="609600" y="2743200"/>
            <a:ext cx="8305800" cy="12954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Example: Find the bitwise </a:t>
            </a:r>
            <a:r>
              <a:rPr lang="en-US" sz="2000" b="0" i="1" u="none">
                <a:solidFill>
                  <a:schemeClr val="dk1"/>
                </a:solidFill>
                <a:latin typeface="Arial"/>
                <a:ea typeface="Arial"/>
                <a:cs typeface="Arial"/>
                <a:sym typeface="Arial"/>
              </a:rPr>
              <a:t>OR</a:t>
            </a:r>
            <a:r>
              <a:rPr lang="en-US" sz="2000" b="0" i="0" u="none">
                <a:solidFill>
                  <a:schemeClr val="dk1"/>
                </a:solidFill>
                <a:latin typeface="Arial"/>
                <a:ea typeface="Arial"/>
                <a:cs typeface="Arial"/>
                <a:sym typeface="Arial"/>
              </a:rPr>
              <a:t>, bitwise </a:t>
            </a:r>
            <a:r>
              <a:rPr lang="en-US" sz="2000" b="0" i="1" u="none">
                <a:solidFill>
                  <a:schemeClr val="dk1"/>
                </a:solidFill>
                <a:latin typeface="Arial"/>
                <a:ea typeface="Arial"/>
                <a:cs typeface="Arial"/>
                <a:sym typeface="Arial"/>
              </a:rPr>
              <a:t>AND</a:t>
            </a:r>
            <a:r>
              <a:rPr lang="en-US" sz="2000" b="0" i="0" u="none">
                <a:solidFill>
                  <a:schemeClr val="dk1"/>
                </a:solidFill>
                <a:latin typeface="Arial"/>
                <a:ea typeface="Arial"/>
                <a:cs typeface="Arial"/>
                <a:sym typeface="Arial"/>
              </a:rPr>
              <a:t>, and bitwise </a:t>
            </a:r>
            <a:r>
              <a:rPr lang="en-US" sz="2000" b="0" i="1" u="none">
                <a:solidFill>
                  <a:schemeClr val="dk1"/>
                </a:solidFill>
                <a:latin typeface="Arial"/>
                <a:ea typeface="Arial"/>
                <a:cs typeface="Arial"/>
                <a:sym typeface="Arial"/>
              </a:rPr>
              <a:t>XOR</a:t>
            </a:r>
            <a:r>
              <a:rPr lang="en-US" sz="2000" b="0" i="0" u="none">
                <a:solidFill>
                  <a:schemeClr val="dk1"/>
                </a:solidFill>
                <a:latin typeface="Arial"/>
                <a:ea typeface="Arial"/>
                <a:cs typeface="Arial"/>
                <a:sym typeface="Arial"/>
              </a:rPr>
              <a:t> of the bit string 01 1011 0110 and 11 0001 1101.</a:t>
            </a:r>
            <a:r>
              <a:rPr lang="en-US" sz="2000" b="0" i="1" u="none">
                <a:solidFill>
                  <a:schemeClr val="dk1"/>
                </a:solidFill>
                <a:latin typeface="Arial"/>
                <a:ea typeface="Arial"/>
                <a:cs typeface="Arial"/>
                <a:sym typeface="Arial"/>
              </a:rPr>
              <a:t> </a:t>
            </a:r>
            <a:endParaRPr/>
          </a:p>
          <a:p>
            <a:pPr marL="342900" lvl="0" indent="-342900" algn="l" rtl="0">
              <a:lnSpc>
                <a:spcPct val="100000"/>
              </a:lnSpc>
              <a:spcBef>
                <a:spcPts val="500"/>
              </a:spcBef>
              <a:spcAft>
                <a:spcPts val="0"/>
              </a:spcAft>
              <a:buSzPts val="2500"/>
              <a:buNone/>
            </a:pPr>
            <a:endParaRPr sz="2500" b="0" i="0" u="none">
              <a:solidFill>
                <a:schemeClr val="dk1"/>
              </a:solidFill>
              <a:latin typeface="Arial"/>
              <a:ea typeface="Arial"/>
              <a:cs typeface="Arial"/>
              <a:sym typeface="Arial"/>
            </a:endParaRPr>
          </a:p>
          <a:p>
            <a:pPr marL="742950" lvl="1" indent="-285750" algn="l" rtl="0">
              <a:lnSpc>
                <a:spcPct val="100000"/>
              </a:lnSpc>
              <a:spcBef>
                <a:spcPts val="460"/>
              </a:spcBef>
              <a:spcAft>
                <a:spcPts val="0"/>
              </a:spcAft>
              <a:buSzPts val="2300"/>
              <a:buNone/>
            </a:pPr>
            <a:endParaRPr sz="2300" b="0" i="0" u="none">
              <a:solidFill>
                <a:schemeClr val="hlink"/>
              </a:solidFill>
              <a:latin typeface="Arial"/>
              <a:ea typeface="Arial"/>
              <a:cs typeface="Arial"/>
              <a:sym typeface="Arial"/>
            </a:endParaRPr>
          </a:p>
          <a:p>
            <a:pPr marL="342900" lvl="0" indent="-342900" algn="l" rtl="0">
              <a:lnSpc>
                <a:spcPct val="100000"/>
              </a:lnSpc>
              <a:spcBef>
                <a:spcPts val="640"/>
              </a:spcBef>
              <a:spcAft>
                <a:spcPts val="0"/>
              </a:spcAft>
              <a:buSzPts val="3200"/>
              <a:buNone/>
            </a:pPr>
            <a:endParaRPr sz="3200" b="0" i="0" u="none">
              <a:solidFill>
                <a:schemeClr val="dk1"/>
              </a:solidFill>
              <a:latin typeface="Arial"/>
              <a:ea typeface="Arial"/>
              <a:cs typeface="Arial"/>
              <a:sym typeface="Arial"/>
            </a:endParaRPr>
          </a:p>
          <a:p>
            <a:pPr marL="342900" lvl="0" indent="-139700" algn="l" rtl="0">
              <a:spcBef>
                <a:spcPts val="640"/>
              </a:spcBef>
              <a:spcAft>
                <a:spcPts val="0"/>
              </a:spcAft>
              <a:buSzPts val="3200"/>
              <a:buNone/>
            </a:pPr>
            <a:endParaRPr sz="3200" b="0" i="0" u="none">
              <a:solidFill>
                <a:schemeClr val="dk1"/>
              </a:solidFill>
              <a:latin typeface="Arial"/>
              <a:ea typeface="Arial"/>
              <a:cs typeface="Arial"/>
              <a:sym typeface="Arial"/>
            </a:endParaRPr>
          </a:p>
        </p:txBody>
      </p:sp>
      <p:sp>
        <p:nvSpPr>
          <p:cNvPr id="344" name="Google Shape;344;p21"/>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45" name="Google Shape;345;p21"/>
          <p:cNvSpPr txBox="1"/>
          <p:nvPr/>
        </p:nvSpPr>
        <p:spPr>
          <a:xfrm>
            <a:off x="685800" y="1619250"/>
            <a:ext cx="7772400" cy="1047750"/>
          </a:xfrm>
          <a:prstGeom prst="rect">
            <a:avLst/>
          </a:prstGeom>
          <a:solidFill>
            <a:srgbClr val="EBECE8"/>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DEFINITION 7</a:t>
            </a:r>
            <a:endParaRPr/>
          </a:p>
          <a:p>
            <a:pPr marL="0" marR="0" lvl="0" indent="0" algn="l" rtl="0">
              <a:lnSpc>
                <a:spcPct val="100000"/>
              </a:lnSpc>
              <a:spcBef>
                <a:spcPts val="0"/>
              </a:spcBef>
              <a:spcAft>
                <a:spcPts val="0"/>
              </a:spcAft>
              <a:buClr>
                <a:schemeClr val="dk1"/>
              </a:buClr>
              <a:buSzPts val="800"/>
              <a:buFont typeface="Arial"/>
              <a:buNone/>
            </a:pPr>
            <a:endParaRPr sz="800" b="0" i="0" u="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A</a:t>
            </a:r>
            <a:r>
              <a:rPr lang="en-US" sz="1800" b="0" i="1" u="none" strike="noStrike" cap="none">
                <a:solidFill>
                  <a:schemeClr val="dk1"/>
                </a:solidFill>
                <a:latin typeface="Arial"/>
                <a:ea typeface="Arial"/>
                <a:cs typeface="Arial"/>
                <a:sym typeface="Arial"/>
              </a:rPr>
              <a:t> bit string</a:t>
            </a:r>
            <a:r>
              <a:rPr lang="en-US" sz="1800" b="0" i="0" u="none" strike="noStrike" cap="none">
                <a:solidFill>
                  <a:schemeClr val="dk1"/>
                </a:solidFill>
                <a:latin typeface="Arial"/>
                <a:ea typeface="Arial"/>
                <a:cs typeface="Arial"/>
                <a:sym typeface="Arial"/>
              </a:rPr>
              <a:t> is a sequence of zero or more bits. The </a:t>
            </a:r>
            <a:r>
              <a:rPr lang="en-US" sz="1800" b="0" i="1" u="none" strike="noStrike" cap="none">
                <a:solidFill>
                  <a:schemeClr val="dk1"/>
                </a:solidFill>
                <a:latin typeface="Arial"/>
                <a:ea typeface="Arial"/>
                <a:cs typeface="Arial"/>
                <a:sym typeface="Arial"/>
              </a:rPr>
              <a:t>length</a:t>
            </a:r>
            <a:r>
              <a:rPr lang="en-US" sz="1800" b="0" i="0" u="none" strike="noStrike" cap="none">
                <a:solidFill>
                  <a:schemeClr val="dk1"/>
                </a:solidFill>
                <a:latin typeface="Arial"/>
                <a:ea typeface="Arial"/>
                <a:cs typeface="Arial"/>
                <a:sym typeface="Arial"/>
              </a:rPr>
              <a:t> of this string is the number of bits in the string. </a:t>
            </a:r>
            <a:endParaRPr/>
          </a:p>
        </p:txBody>
      </p:sp>
      <p:sp>
        <p:nvSpPr>
          <p:cNvPr id="346" name="Google Shape;346;p21"/>
          <p:cNvSpPr txBox="1"/>
          <p:nvPr/>
        </p:nvSpPr>
        <p:spPr>
          <a:xfrm>
            <a:off x="990600" y="3500437"/>
            <a:ext cx="7391400" cy="27035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1800"/>
              <a:buFont typeface="Arial"/>
              <a:buNone/>
            </a:pPr>
            <a:r>
              <a:rPr lang="en-US" sz="1800" b="0" i="0" u="none">
                <a:solidFill>
                  <a:srgbClr val="FF3300"/>
                </a:solidFill>
                <a:latin typeface="Arial"/>
                <a:ea typeface="Arial"/>
                <a:cs typeface="Arial"/>
                <a:sym typeface="Arial"/>
              </a:rPr>
              <a:t>Solution</a:t>
            </a:r>
            <a:r>
              <a:rPr lang="en-US" sz="1800" b="0" i="0" u="none">
                <a:solidFill>
                  <a:schemeClr val="dk1"/>
                </a:solidFill>
                <a:latin typeface="Arial"/>
                <a:ea typeface="Arial"/>
                <a:cs typeface="Arial"/>
                <a:sym typeface="Arial"/>
              </a:rPr>
              <a:t>:</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01 1011 0110</a:t>
            </a:r>
            <a:endParaRPr/>
          </a:p>
          <a:p>
            <a:pPr marL="0" marR="0" lvl="0" indent="0" algn="l" rtl="0">
              <a:lnSpc>
                <a:spcPct val="100000"/>
              </a:lnSpc>
              <a:spcBef>
                <a:spcPts val="90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11 0001 1101</a:t>
            </a:r>
            <a:br>
              <a:rPr lang="en-US" sz="1800" b="0" i="0" u="none">
                <a:solidFill>
                  <a:schemeClr val="dk1"/>
                </a:solidFill>
                <a:latin typeface="Arial"/>
                <a:ea typeface="Arial"/>
                <a:cs typeface="Arial"/>
                <a:sym typeface="Arial"/>
              </a:rPr>
            </a:br>
            <a:r>
              <a:rPr lang="en-US" sz="1800" b="0" i="0" u="none">
                <a:solidFill>
                  <a:schemeClr val="dk1"/>
                </a:solidFill>
                <a:latin typeface="Arial"/>
                <a:ea typeface="Arial"/>
                <a:cs typeface="Arial"/>
                <a:sym typeface="Arial"/>
              </a:rPr>
              <a:t>              -------------------</a:t>
            </a:r>
            <a:br>
              <a:rPr lang="en-US" sz="1800" b="0" i="0" u="none">
                <a:solidFill>
                  <a:schemeClr val="dk1"/>
                </a:solidFill>
                <a:latin typeface="Arial"/>
                <a:ea typeface="Arial"/>
                <a:cs typeface="Arial"/>
                <a:sym typeface="Arial"/>
              </a:rPr>
            </a:br>
            <a:r>
              <a:rPr lang="en-US" sz="1800" b="0" i="0" u="none">
                <a:solidFill>
                  <a:schemeClr val="dk1"/>
                </a:solidFill>
                <a:latin typeface="Arial"/>
                <a:ea typeface="Arial"/>
                <a:cs typeface="Arial"/>
                <a:sym typeface="Arial"/>
              </a:rPr>
              <a:t>        	11 1011 1111     bitwise </a:t>
            </a:r>
            <a:r>
              <a:rPr lang="en-US" sz="1800" b="0" i="1" u="none">
                <a:solidFill>
                  <a:schemeClr val="dk1"/>
                </a:solidFill>
                <a:latin typeface="Arial"/>
                <a:ea typeface="Arial"/>
                <a:cs typeface="Arial"/>
                <a:sym typeface="Arial"/>
              </a:rPr>
              <a:t>OR</a:t>
            </a:r>
            <a:br>
              <a:rPr lang="en-US" sz="1800" b="0" i="0" u="none">
                <a:solidFill>
                  <a:schemeClr val="dk1"/>
                </a:solidFill>
                <a:latin typeface="Arial"/>
                <a:ea typeface="Arial"/>
                <a:cs typeface="Arial"/>
                <a:sym typeface="Arial"/>
              </a:rPr>
            </a:br>
            <a:r>
              <a:rPr lang="en-US" sz="1800" b="0" i="0" u="none">
                <a:solidFill>
                  <a:schemeClr val="dk1"/>
                </a:solidFill>
                <a:latin typeface="Arial"/>
                <a:ea typeface="Arial"/>
                <a:cs typeface="Arial"/>
                <a:sym typeface="Arial"/>
              </a:rPr>
              <a:t>	01 0001 0100    bitwise </a:t>
            </a:r>
            <a:r>
              <a:rPr lang="en-US" sz="1800" b="0" i="1" u="none">
                <a:solidFill>
                  <a:schemeClr val="dk1"/>
                </a:solidFill>
                <a:latin typeface="Arial"/>
                <a:ea typeface="Arial"/>
                <a:cs typeface="Arial"/>
                <a:sym typeface="Arial"/>
              </a:rPr>
              <a:t>AND</a:t>
            </a:r>
            <a:br>
              <a:rPr lang="en-US" sz="1800" b="0" i="0" u="none">
                <a:solidFill>
                  <a:schemeClr val="dk1"/>
                </a:solidFill>
                <a:latin typeface="Arial"/>
                <a:ea typeface="Arial"/>
                <a:cs typeface="Arial"/>
                <a:sym typeface="Arial"/>
              </a:rPr>
            </a:br>
            <a:r>
              <a:rPr lang="en-US" sz="1800" b="0" i="0" u="none">
                <a:solidFill>
                  <a:schemeClr val="dk1"/>
                </a:solidFill>
                <a:latin typeface="Arial"/>
                <a:ea typeface="Arial"/>
                <a:cs typeface="Arial"/>
                <a:sym typeface="Arial"/>
              </a:rPr>
              <a:t>	10 1010 1011    bitwise </a:t>
            </a:r>
            <a:r>
              <a:rPr lang="en-US" sz="1800" b="0" i="1" u="none">
                <a:solidFill>
                  <a:schemeClr val="dk1"/>
                </a:solidFill>
                <a:latin typeface="Arial"/>
                <a:ea typeface="Arial"/>
                <a:cs typeface="Arial"/>
                <a:sym typeface="Arial"/>
              </a:rPr>
              <a:t>XOR</a:t>
            </a:r>
            <a:endParaRPr/>
          </a:p>
          <a:p>
            <a:pPr marL="0" marR="0" lvl="0" indent="0" algn="l" rtl="0">
              <a:lnSpc>
                <a:spcPct val="100000"/>
              </a:lnSpc>
              <a:spcBef>
                <a:spcPts val="0"/>
              </a:spcBef>
              <a:spcAft>
                <a:spcPts val="0"/>
              </a:spcAft>
              <a:buNone/>
            </a:pPr>
            <a:endParaRPr sz="1800" b="0" i="1" u="none">
              <a:solidFill>
                <a:schemeClr val="dk1"/>
              </a:solidFill>
              <a:latin typeface="Arial"/>
              <a:ea typeface="Arial"/>
              <a:cs typeface="Arial"/>
              <a:sym typeface="Arial"/>
            </a:endParaRPr>
          </a:p>
        </p:txBody>
      </p:sp>
      <p:sp>
        <p:nvSpPr>
          <p:cNvPr id="347" name="Google Shape;347;p21"/>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24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6"/>
                                        </p:tgtEl>
                                        <p:attrNameLst>
                                          <p:attrName>style.visibility</p:attrName>
                                        </p:attrNameLst>
                                      </p:cBhvr>
                                      <p:to>
                                        <p:strVal val="visible"/>
                                      </p:to>
                                    </p:set>
                                    <p:anim calcmode="lin" valueType="num">
                                      <p:cBhvr additive="base">
                                        <p:cTn id="7" dur="500"/>
                                        <p:tgtEl>
                                          <p:spTgt spid="3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Logic and Bit Operations</a:t>
            </a:r>
            <a:endParaRPr/>
          </a:p>
        </p:txBody>
      </p:sp>
      <p:sp>
        <p:nvSpPr>
          <p:cNvPr id="353" name="Google Shape;353;p22"/>
          <p:cNvSpPr txBox="1">
            <a:spLocks noGrp="1"/>
          </p:cNvSpPr>
          <p:nvPr>
            <p:ph type="body" idx="1"/>
          </p:nvPr>
        </p:nvSpPr>
        <p:spPr>
          <a:xfrm>
            <a:off x="609600" y="2743200"/>
            <a:ext cx="8305800" cy="1295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1"/>
              </a:buClr>
              <a:buSzPts val="2400"/>
              <a:buFont typeface="Noto Sans Symbols"/>
              <a:buChar char="●"/>
            </a:pPr>
            <a:r>
              <a:rPr lang="en-US" sz="2400" b="0" i="0" u="none">
                <a:solidFill>
                  <a:schemeClr val="dk1"/>
                </a:solidFill>
                <a:latin typeface="Arial"/>
                <a:ea typeface="Arial"/>
                <a:cs typeface="Arial"/>
                <a:sym typeface="Arial"/>
              </a:rPr>
              <a:t>Example: Find the bitwise </a:t>
            </a:r>
            <a:r>
              <a:rPr lang="en-US" sz="2400" b="0" i="1" u="none">
                <a:solidFill>
                  <a:schemeClr val="dk1"/>
                </a:solidFill>
                <a:latin typeface="Arial"/>
                <a:ea typeface="Arial"/>
                <a:cs typeface="Arial"/>
                <a:sym typeface="Arial"/>
              </a:rPr>
              <a:t>OR</a:t>
            </a:r>
            <a:r>
              <a:rPr lang="en-US" sz="2400" b="0" i="0" u="none">
                <a:solidFill>
                  <a:schemeClr val="dk1"/>
                </a:solidFill>
                <a:latin typeface="Arial"/>
                <a:ea typeface="Arial"/>
                <a:cs typeface="Arial"/>
                <a:sym typeface="Arial"/>
              </a:rPr>
              <a:t>, bitwise </a:t>
            </a:r>
            <a:r>
              <a:rPr lang="en-US" sz="2400" b="0" i="1" u="none">
                <a:solidFill>
                  <a:schemeClr val="dk1"/>
                </a:solidFill>
                <a:latin typeface="Arial"/>
                <a:ea typeface="Arial"/>
                <a:cs typeface="Arial"/>
                <a:sym typeface="Arial"/>
              </a:rPr>
              <a:t>AND</a:t>
            </a:r>
            <a:r>
              <a:rPr lang="en-US" sz="2400" b="0" i="0" u="none">
                <a:solidFill>
                  <a:schemeClr val="dk1"/>
                </a:solidFill>
                <a:latin typeface="Arial"/>
                <a:ea typeface="Arial"/>
                <a:cs typeface="Arial"/>
                <a:sym typeface="Arial"/>
              </a:rPr>
              <a:t>, and bitwise </a:t>
            </a:r>
            <a:r>
              <a:rPr lang="en-US" sz="2400" b="0" i="1" u="none">
                <a:solidFill>
                  <a:schemeClr val="dk1"/>
                </a:solidFill>
                <a:latin typeface="Arial"/>
                <a:ea typeface="Arial"/>
                <a:cs typeface="Arial"/>
                <a:sym typeface="Arial"/>
              </a:rPr>
              <a:t>XOR</a:t>
            </a:r>
            <a:r>
              <a:rPr lang="en-US" sz="2400" b="0" i="0" u="none">
                <a:solidFill>
                  <a:schemeClr val="dk1"/>
                </a:solidFill>
                <a:latin typeface="Arial"/>
                <a:ea typeface="Arial"/>
                <a:cs typeface="Arial"/>
                <a:sym typeface="Arial"/>
              </a:rPr>
              <a:t> of the bit string </a:t>
            </a:r>
            <a:r>
              <a:rPr lang="en-US" sz="2400" b="0" i="0" u="none">
                <a:solidFill>
                  <a:srgbClr val="FFFF00"/>
                </a:solidFill>
                <a:latin typeface="Arial"/>
                <a:ea typeface="Arial"/>
                <a:cs typeface="Arial"/>
                <a:sym typeface="Arial"/>
              </a:rPr>
              <a:t>01 1011 0110 </a:t>
            </a:r>
            <a:r>
              <a:rPr lang="en-US" sz="2400" b="0" i="0" u="none">
                <a:solidFill>
                  <a:schemeClr val="dk1"/>
                </a:solidFill>
                <a:latin typeface="Arial"/>
                <a:ea typeface="Arial"/>
                <a:cs typeface="Arial"/>
                <a:sym typeface="Arial"/>
              </a:rPr>
              <a:t>and </a:t>
            </a:r>
            <a:r>
              <a:rPr lang="en-US" sz="2400" b="0" i="0" u="none">
                <a:solidFill>
                  <a:srgbClr val="FFFF00"/>
                </a:solidFill>
                <a:latin typeface="Arial"/>
                <a:ea typeface="Arial"/>
                <a:cs typeface="Arial"/>
                <a:sym typeface="Arial"/>
              </a:rPr>
              <a:t>11 0001 1101.</a:t>
            </a:r>
            <a:r>
              <a:rPr lang="en-US" sz="2400" b="0" i="1" u="none">
                <a:solidFill>
                  <a:srgbClr val="FFFF00"/>
                </a:solidFill>
                <a:latin typeface="Arial"/>
                <a:ea typeface="Arial"/>
                <a:cs typeface="Arial"/>
                <a:sym typeface="Arial"/>
              </a:rPr>
              <a:t> </a:t>
            </a:r>
            <a:endParaRPr/>
          </a:p>
          <a:p>
            <a:pPr marL="342900" marR="0" lvl="0" indent="-342900" algn="l" rtl="0">
              <a:lnSpc>
                <a:spcPct val="100000"/>
              </a:lnSpc>
              <a:spcBef>
                <a:spcPts val="500"/>
              </a:spcBef>
              <a:spcAft>
                <a:spcPts val="0"/>
              </a:spcAft>
              <a:buClr>
                <a:schemeClr val="accent1"/>
              </a:buClr>
              <a:buSzPts val="2500"/>
              <a:buFont typeface="Noto Sans Symbols"/>
              <a:buNone/>
            </a:pPr>
            <a:endParaRPr sz="2500" b="0" i="0" u="none">
              <a:solidFill>
                <a:schemeClr val="dk1"/>
              </a:solidFill>
              <a:latin typeface="Arial"/>
              <a:ea typeface="Arial"/>
              <a:cs typeface="Arial"/>
              <a:sym typeface="Arial"/>
            </a:endParaRPr>
          </a:p>
          <a:p>
            <a:pPr marL="742950" marR="0" lvl="1" indent="-285750" algn="l" rtl="0">
              <a:lnSpc>
                <a:spcPct val="100000"/>
              </a:lnSpc>
              <a:spcBef>
                <a:spcPts val="460"/>
              </a:spcBef>
              <a:spcAft>
                <a:spcPts val="0"/>
              </a:spcAft>
              <a:buClr>
                <a:schemeClr val="accent1"/>
              </a:buClr>
              <a:buSzPts val="2300"/>
              <a:buFont typeface="Noto Sans Symbols"/>
              <a:buNone/>
            </a:pPr>
            <a:endParaRPr sz="2300" b="0" i="0" u="none" strike="noStrike" cap="none">
              <a:solidFill>
                <a:schemeClr val="hlink"/>
              </a:solidFill>
              <a:latin typeface="Arial"/>
              <a:ea typeface="Arial"/>
              <a:cs typeface="Arial"/>
              <a:sym typeface="Arial"/>
            </a:endParaRPr>
          </a:p>
          <a:p>
            <a:pPr marL="342900" marR="0" lvl="0" indent="-342900" algn="l" rtl="0">
              <a:lnSpc>
                <a:spcPct val="100000"/>
              </a:lnSpc>
              <a:spcBef>
                <a:spcPts val="640"/>
              </a:spcBef>
              <a:spcAft>
                <a:spcPts val="0"/>
              </a:spcAft>
              <a:buClr>
                <a:schemeClr val="accent1"/>
              </a:buClr>
              <a:buSzPts val="3200"/>
              <a:buFont typeface="Noto Sans Symbols"/>
              <a:buNone/>
            </a:pPr>
            <a:endParaRPr sz="3200" b="0" i="0" u="none">
              <a:solidFill>
                <a:schemeClr val="dk1"/>
              </a:solidFill>
              <a:latin typeface="Arial"/>
              <a:ea typeface="Arial"/>
              <a:cs typeface="Arial"/>
              <a:sym typeface="Arial"/>
            </a:endParaRPr>
          </a:p>
          <a:p>
            <a:pPr marL="342900" marR="0" lvl="0" indent="-139700" algn="l" rtl="0">
              <a:spcBef>
                <a:spcPts val="640"/>
              </a:spcBef>
              <a:spcAft>
                <a:spcPts val="0"/>
              </a:spcAft>
              <a:buClr>
                <a:schemeClr val="accent1"/>
              </a:buClr>
              <a:buSzPts val="3200"/>
              <a:buFont typeface="Noto Sans Symbols"/>
              <a:buNone/>
            </a:pPr>
            <a:endParaRPr sz="3200" b="0" i="0" u="none">
              <a:solidFill>
                <a:schemeClr val="dk1"/>
              </a:solidFill>
              <a:latin typeface="Arial"/>
              <a:ea typeface="Arial"/>
              <a:cs typeface="Arial"/>
              <a:sym typeface="Arial"/>
            </a:endParaRPr>
          </a:p>
        </p:txBody>
      </p:sp>
      <p:sp>
        <p:nvSpPr>
          <p:cNvPr id="354" name="Google Shape;354;p22"/>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898989"/>
              </a:buClr>
              <a:buSzPts val="1000"/>
              <a:buFont typeface="Arial"/>
              <a:buNone/>
            </a:pPr>
            <a:fld id="{00000000-1234-1234-1234-123412341234}" type="slidenum">
              <a:rPr lang="en-US" sz="1000" b="0" i="0" u="none">
                <a:solidFill>
                  <a:srgbClr val="898989"/>
                </a:solidFill>
                <a:latin typeface="Arial"/>
                <a:ea typeface="Arial"/>
                <a:cs typeface="Arial"/>
                <a:sym typeface="Arial"/>
              </a:rPr>
              <a:t>25</a:t>
            </a:fld>
            <a:endParaRPr/>
          </a:p>
        </p:txBody>
      </p:sp>
      <p:sp>
        <p:nvSpPr>
          <p:cNvPr id="355" name="Google Shape;355;p22"/>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56" name="Google Shape;356;p22"/>
          <p:cNvSpPr txBox="1"/>
          <p:nvPr/>
        </p:nvSpPr>
        <p:spPr>
          <a:xfrm>
            <a:off x="609600" y="1524000"/>
            <a:ext cx="8001000" cy="1154112"/>
          </a:xfrm>
          <a:prstGeom prst="rect">
            <a:avLst/>
          </a:prstGeom>
          <a:solidFill>
            <a:srgbClr val="EBECE8"/>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DEFINITION 7</a:t>
            </a:r>
            <a:endParaRPr/>
          </a:p>
          <a:p>
            <a:pPr marL="0" marR="0" lvl="0" indent="0" algn="l" rtl="0">
              <a:lnSpc>
                <a:spcPct val="100000"/>
              </a:lnSpc>
              <a:spcBef>
                <a:spcPts val="0"/>
              </a:spcBef>
              <a:spcAft>
                <a:spcPts val="0"/>
              </a:spcAft>
              <a:buClr>
                <a:schemeClr val="dk1"/>
              </a:buClr>
              <a:buSzPts val="900"/>
              <a:buFont typeface="Arial"/>
              <a:buNone/>
            </a:pPr>
            <a:endParaRPr sz="900" b="0" i="0" u="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A</a:t>
            </a:r>
            <a:r>
              <a:rPr lang="en-US" sz="2000" b="0" i="1" u="none" strike="noStrike" cap="none">
                <a:solidFill>
                  <a:schemeClr val="dk1"/>
                </a:solidFill>
                <a:latin typeface="Arial"/>
                <a:ea typeface="Arial"/>
                <a:cs typeface="Arial"/>
                <a:sym typeface="Arial"/>
              </a:rPr>
              <a:t> bit string</a:t>
            </a:r>
            <a:r>
              <a:rPr lang="en-US" sz="2000" b="0" i="0" u="none" strike="noStrike" cap="none">
                <a:solidFill>
                  <a:schemeClr val="dk1"/>
                </a:solidFill>
                <a:latin typeface="Arial"/>
                <a:ea typeface="Arial"/>
                <a:cs typeface="Arial"/>
                <a:sym typeface="Arial"/>
              </a:rPr>
              <a:t> is a sequence of zero or more bits. The </a:t>
            </a:r>
            <a:r>
              <a:rPr lang="en-US" sz="2000" b="0" i="1" u="none" strike="noStrike" cap="none">
                <a:solidFill>
                  <a:schemeClr val="dk1"/>
                </a:solidFill>
                <a:latin typeface="Arial"/>
                <a:ea typeface="Arial"/>
                <a:cs typeface="Arial"/>
                <a:sym typeface="Arial"/>
              </a:rPr>
              <a:t>length</a:t>
            </a:r>
            <a:r>
              <a:rPr lang="en-US" sz="2000" b="0" i="0" u="none" strike="noStrike" cap="none">
                <a:solidFill>
                  <a:schemeClr val="dk1"/>
                </a:solidFill>
                <a:latin typeface="Arial"/>
                <a:ea typeface="Arial"/>
                <a:cs typeface="Arial"/>
                <a:sym typeface="Arial"/>
              </a:rPr>
              <a:t> of this string is the number of bits in the string. </a:t>
            </a:r>
            <a:endParaRPr/>
          </a:p>
        </p:txBody>
      </p:sp>
      <p:graphicFrame>
        <p:nvGraphicFramePr>
          <p:cNvPr id="357" name="Google Shape;357;p22"/>
          <p:cNvGraphicFramePr/>
          <p:nvPr/>
        </p:nvGraphicFramePr>
        <p:xfrm>
          <a:off x="1905000" y="3886200"/>
          <a:ext cx="3000000" cy="3000000"/>
        </p:xfrm>
        <a:graphic>
          <a:graphicData uri="http://schemas.openxmlformats.org/drawingml/2006/table">
            <a:tbl>
              <a:tblPr>
                <a:noFill/>
                <a:tableStyleId>{397577B6-D47A-466E-84E6-29D3DF76FDB9}</a:tableStyleId>
              </a:tblPr>
              <a:tblGrid>
                <a:gridCol w="341300">
                  <a:extLst>
                    <a:ext uri="{9D8B030D-6E8A-4147-A177-3AD203B41FA5}">
                      <a16:colId xmlns:a16="http://schemas.microsoft.com/office/drawing/2014/main" val="20000"/>
                    </a:ext>
                  </a:extLst>
                </a:gridCol>
                <a:gridCol w="274625">
                  <a:extLst>
                    <a:ext uri="{9D8B030D-6E8A-4147-A177-3AD203B41FA5}">
                      <a16:colId xmlns:a16="http://schemas.microsoft.com/office/drawing/2014/main" val="20001"/>
                    </a:ext>
                  </a:extLst>
                </a:gridCol>
                <a:gridCol w="477825">
                  <a:extLst>
                    <a:ext uri="{9D8B030D-6E8A-4147-A177-3AD203B41FA5}">
                      <a16:colId xmlns:a16="http://schemas.microsoft.com/office/drawing/2014/main" val="20002"/>
                    </a:ext>
                  </a:extLst>
                </a:gridCol>
                <a:gridCol w="273050">
                  <a:extLst>
                    <a:ext uri="{9D8B030D-6E8A-4147-A177-3AD203B41FA5}">
                      <a16:colId xmlns:a16="http://schemas.microsoft.com/office/drawing/2014/main" val="20003"/>
                    </a:ext>
                  </a:extLst>
                </a:gridCol>
                <a:gridCol w="274625">
                  <a:extLst>
                    <a:ext uri="{9D8B030D-6E8A-4147-A177-3AD203B41FA5}">
                      <a16:colId xmlns:a16="http://schemas.microsoft.com/office/drawing/2014/main" val="20004"/>
                    </a:ext>
                  </a:extLst>
                </a:gridCol>
                <a:gridCol w="341300">
                  <a:extLst>
                    <a:ext uri="{9D8B030D-6E8A-4147-A177-3AD203B41FA5}">
                      <a16:colId xmlns:a16="http://schemas.microsoft.com/office/drawing/2014/main" val="20005"/>
                    </a:ext>
                  </a:extLst>
                </a:gridCol>
                <a:gridCol w="479425">
                  <a:extLst>
                    <a:ext uri="{9D8B030D-6E8A-4147-A177-3AD203B41FA5}">
                      <a16:colId xmlns:a16="http://schemas.microsoft.com/office/drawing/2014/main" val="20006"/>
                    </a:ext>
                  </a:extLst>
                </a:gridCol>
                <a:gridCol w="273050">
                  <a:extLst>
                    <a:ext uri="{9D8B030D-6E8A-4147-A177-3AD203B41FA5}">
                      <a16:colId xmlns:a16="http://schemas.microsoft.com/office/drawing/2014/main" val="20007"/>
                    </a:ext>
                  </a:extLst>
                </a:gridCol>
                <a:gridCol w="341300">
                  <a:extLst>
                    <a:ext uri="{9D8B030D-6E8A-4147-A177-3AD203B41FA5}">
                      <a16:colId xmlns:a16="http://schemas.microsoft.com/office/drawing/2014/main" val="20008"/>
                    </a:ext>
                  </a:extLst>
                </a:gridCol>
                <a:gridCol w="274625">
                  <a:extLst>
                    <a:ext uri="{9D8B030D-6E8A-4147-A177-3AD203B41FA5}">
                      <a16:colId xmlns:a16="http://schemas.microsoft.com/office/drawing/2014/main" val="20009"/>
                    </a:ext>
                  </a:extLst>
                </a:gridCol>
                <a:gridCol w="1754175">
                  <a:extLst>
                    <a:ext uri="{9D8B030D-6E8A-4147-A177-3AD203B41FA5}">
                      <a16:colId xmlns:a16="http://schemas.microsoft.com/office/drawing/2014/main" val="20010"/>
                    </a:ext>
                  </a:extLst>
                </a:gridCol>
              </a:tblGrid>
              <a:tr h="396875">
                <a:tc gridSpan="11">
                  <a:txBody>
                    <a:bodyPr/>
                    <a:lstStyle/>
                    <a:p>
                      <a:pPr marL="0" marR="0" lvl="0" indent="0" algn="l" rtl="0">
                        <a:lnSpc>
                          <a:spcPct val="100000"/>
                        </a:lnSpc>
                        <a:spcBef>
                          <a:spcPts val="0"/>
                        </a:spcBef>
                        <a:spcAft>
                          <a:spcPts val="0"/>
                        </a:spcAft>
                        <a:buClr>
                          <a:srgbClr val="FF0000"/>
                        </a:buClr>
                        <a:buSzPts val="2000"/>
                        <a:buFont typeface="Arial"/>
                        <a:buNone/>
                      </a:pPr>
                      <a:r>
                        <a:rPr lang="en-US" sz="2000" b="0" i="0" u="none" strike="noStrike" cap="none">
                          <a:solidFill>
                            <a:srgbClr val="FF0000"/>
                          </a:solidFill>
                          <a:latin typeface="Arial"/>
                          <a:ea typeface="Arial"/>
                          <a:cs typeface="Arial"/>
                          <a:sym typeface="Arial"/>
                        </a:rPr>
                        <a:t>Solution:</a:t>
                      </a:r>
                      <a:endParaRPr/>
                    </a:p>
                  </a:txBody>
                  <a:tcPr marL="91450" marR="91450" marT="45725" marB="45725"/>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5275">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0</a:t>
                      </a:r>
                      <a:endParaRPr/>
                    </a:p>
                  </a:txBody>
                  <a:tcPr marL="91450" marR="91450" marT="45725" marB="45725"/>
                </a:tc>
                <a:tc>
                  <a:txBody>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396875">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1</a:t>
                      </a:r>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1</a:t>
                      </a:r>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0</a:t>
                      </a:r>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0</a:t>
                      </a:r>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0</a:t>
                      </a:r>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1</a:t>
                      </a:r>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1</a:t>
                      </a:r>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1</a:t>
                      </a:r>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0</a:t>
                      </a:r>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1</a:t>
                      </a:r>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396875">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0</a:t>
                      </a:r>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bitwise </a:t>
                      </a:r>
                      <a:r>
                        <a:rPr lang="en-US" sz="2000" b="0" i="1" u="none">
                          <a:solidFill>
                            <a:schemeClr val="dk1"/>
                          </a:solidFill>
                          <a:latin typeface="Arial"/>
                          <a:ea typeface="Arial"/>
                          <a:cs typeface="Arial"/>
                          <a:sym typeface="Arial"/>
                        </a:rPr>
                        <a:t>OR</a:t>
                      </a:r>
                      <a:endParaRPr/>
                    </a:p>
                  </a:txBody>
                  <a:tcPr marL="91450" marR="91450" marT="45725" marB="45725"/>
                </a:tc>
                <a:extLst>
                  <a:ext uri="{0D108BD9-81ED-4DB2-BD59-A6C34878D82A}">
                    <a16:rowId xmlns:a16="http://schemas.microsoft.com/office/drawing/2014/main" val="10003"/>
                  </a:ext>
                </a:extLst>
              </a:tr>
              <a:tr h="395275">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bitwise </a:t>
                      </a:r>
                      <a:r>
                        <a:rPr lang="en-US" sz="2000" b="0" i="1" u="none">
                          <a:solidFill>
                            <a:schemeClr val="dk1"/>
                          </a:solidFill>
                          <a:latin typeface="Arial"/>
                          <a:ea typeface="Arial"/>
                          <a:cs typeface="Arial"/>
                          <a:sym typeface="Arial"/>
                        </a:rPr>
                        <a:t>AND</a:t>
                      </a:r>
                      <a:endParaRPr/>
                    </a:p>
                  </a:txBody>
                  <a:tcPr marL="91450" marR="91450" marT="45725" marB="45725"/>
                </a:tc>
                <a:extLst>
                  <a:ext uri="{0D108BD9-81ED-4DB2-BD59-A6C34878D82A}">
                    <a16:rowId xmlns:a16="http://schemas.microsoft.com/office/drawing/2014/main" val="10004"/>
                  </a:ext>
                </a:extLst>
              </a:tr>
              <a:tr h="396875">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0</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rgbClr val="FF0000"/>
                        </a:buClr>
                        <a:buSzPts val="2000"/>
                        <a:buFont typeface="Arial"/>
                        <a:buNone/>
                      </a:pPr>
                      <a:r>
                        <a:rPr lang="en-US" sz="2000" b="0" i="0" u="none">
                          <a:solidFill>
                            <a:srgbClr val="FF0000"/>
                          </a:solidFill>
                          <a:latin typeface="Arial"/>
                          <a:ea typeface="Arial"/>
                          <a:cs typeface="Arial"/>
                          <a:sym typeface="Arial"/>
                        </a:rPr>
                        <a:t>1</a:t>
                      </a:r>
                      <a:endParaRPr/>
                    </a:p>
                  </a:txBody>
                  <a:tcPr marL="91450" marR="91450" marT="45725" marB="45725"/>
                </a:tc>
                <a:tc>
                  <a:txBody>
                    <a:bodyPr/>
                    <a:lstStyle/>
                    <a:p>
                      <a:pPr marL="0" marR="0" lvl="0" indent="0" algn="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bitwise </a:t>
                      </a:r>
                      <a:r>
                        <a:rPr lang="en-US" sz="2000" b="0" i="1" u="none">
                          <a:solidFill>
                            <a:schemeClr val="dk1"/>
                          </a:solidFill>
                          <a:latin typeface="Arial"/>
                          <a:ea typeface="Arial"/>
                          <a:cs typeface="Arial"/>
                          <a:sym typeface="Arial"/>
                        </a:rPr>
                        <a:t>XOR</a:t>
                      </a:r>
                      <a:endParaRPr/>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2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1.2 Propositional Equivalences</a:t>
            </a:r>
            <a:endParaRPr/>
          </a:p>
        </p:txBody>
      </p:sp>
      <p:sp>
        <p:nvSpPr>
          <p:cNvPr id="363" name="Google Shape;363;p23"/>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64" name="Google Shape;364;p23"/>
          <p:cNvSpPr txBox="1"/>
          <p:nvPr/>
        </p:nvSpPr>
        <p:spPr>
          <a:xfrm>
            <a:off x="685800" y="1619250"/>
            <a:ext cx="7772400" cy="1871662"/>
          </a:xfrm>
          <a:prstGeom prst="rect">
            <a:avLst/>
          </a:prstGeom>
          <a:solidFill>
            <a:srgbClr val="EBECE8"/>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DEFINITION 1</a:t>
            </a:r>
            <a:endParaRPr/>
          </a:p>
          <a:p>
            <a:pPr marL="0" marR="0" lvl="0" indent="0" algn="l" rtl="0">
              <a:lnSpc>
                <a:spcPct val="100000"/>
              </a:lnSpc>
              <a:spcBef>
                <a:spcPts val="0"/>
              </a:spcBef>
              <a:spcAft>
                <a:spcPts val="0"/>
              </a:spcAft>
              <a:buClr>
                <a:schemeClr val="dk1"/>
              </a:buClr>
              <a:buSzPts val="800"/>
              <a:buFont typeface="Arial"/>
              <a:buNone/>
            </a:pPr>
            <a:endParaRPr sz="800" b="0" i="0" u="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A compound proposition that is always true, no matter what the truth values of the propositions that occurs in it, is called a</a:t>
            </a:r>
            <a:r>
              <a:rPr lang="en-US" sz="1800" b="0" i="1" u="none" strike="noStrike" cap="none">
                <a:solidFill>
                  <a:schemeClr val="dk1"/>
                </a:solidFill>
                <a:latin typeface="Arial"/>
                <a:ea typeface="Arial"/>
                <a:cs typeface="Arial"/>
                <a:sym typeface="Arial"/>
              </a:rPr>
              <a:t> tautology</a:t>
            </a:r>
            <a:r>
              <a:rPr lang="en-US" sz="1800" b="0" i="0" u="none" strike="noStrike" cap="none">
                <a:solidFill>
                  <a:schemeClr val="dk1"/>
                </a:solidFill>
                <a:latin typeface="Arial"/>
                <a:ea typeface="Arial"/>
                <a:cs typeface="Arial"/>
                <a:sym typeface="Arial"/>
              </a:rPr>
              <a:t>. A compound proposition that is always false is called a </a:t>
            </a:r>
            <a:r>
              <a:rPr lang="en-US" sz="1800" b="0" i="1" u="none" strike="noStrike" cap="none">
                <a:solidFill>
                  <a:schemeClr val="dk1"/>
                </a:solidFill>
                <a:latin typeface="Arial"/>
                <a:ea typeface="Arial"/>
                <a:cs typeface="Arial"/>
                <a:sym typeface="Arial"/>
              </a:rPr>
              <a:t>contradiction</a:t>
            </a:r>
            <a:r>
              <a:rPr lang="en-US" sz="1800" b="0" i="0" u="none" strike="noStrike" cap="none">
                <a:solidFill>
                  <a:schemeClr val="dk1"/>
                </a:solidFill>
                <a:latin typeface="Arial"/>
                <a:ea typeface="Arial"/>
                <a:cs typeface="Arial"/>
                <a:sym typeface="Arial"/>
              </a:rPr>
              <a:t>. A compound proposition that is neither a tautology or a contradiction is called a </a:t>
            </a:r>
            <a:r>
              <a:rPr lang="en-US" sz="1800" b="0" i="1" u="none" strike="noStrike" cap="none">
                <a:solidFill>
                  <a:schemeClr val="dk1"/>
                </a:solidFill>
                <a:latin typeface="Arial"/>
                <a:ea typeface="Arial"/>
                <a:cs typeface="Arial"/>
                <a:sym typeface="Arial"/>
              </a:rPr>
              <a:t>contingency</a:t>
            </a:r>
            <a:r>
              <a:rPr lang="en-US" sz="1800" b="0" i="0" u="none" strike="noStrike" cap="none">
                <a:solidFill>
                  <a:schemeClr val="dk1"/>
                </a:solidFill>
                <a:latin typeface="Arial"/>
                <a:ea typeface="Arial"/>
                <a:cs typeface="Arial"/>
                <a:sym typeface="Arial"/>
              </a:rPr>
              <a:t>.</a:t>
            </a:r>
            <a:endParaRPr/>
          </a:p>
        </p:txBody>
      </p:sp>
      <p:sp>
        <p:nvSpPr>
          <p:cNvPr id="365" name="Google Shape;365;p23"/>
          <p:cNvSpPr txBox="1"/>
          <p:nvPr/>
        </p:nvSpPr>
        <p:spPr>
          <a:xfrm>
            <a:off x="1524000" y="1066800"/>
            <a:ext cx="6553200" cy="519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39933"/>
              </a:buClr>
              <a:buSzPts val="2800"/>
              <a:buFont typeface="Arial"/>
              <a:buNone/>
            </a:pPr>
            <a:r>
              <a:rPr lang="en-US" sz="2800" b="0" i="0" u="sng">
                <a:solidFill>
                  <a:srgbClr val="339933"/>
                </a:solidFill>
                <a:latin typeface="Arial"/>
                <a:ea typeface="Arial"/>
                <a:cs typeface="Arial"/>
                <a:sym typeface="Arial"/>
              </a:rPr>
              <a:t>Introduction</a:t>
            </a:r>
            <a:endParaRPr/>
          </a:p>
        </p:txBody>
      </p:sp>
      <p:graphicFrame>
        <p:nvGraphicFramePr>
          <p:cNvPr id="366" name="Google Shape;366;p23"/>
          <p:cNvGraphicFramePr/>
          <p:nvPr/>
        </p:nvGraphicFramePr>
        <p:xfrm>
          <a:off x="1600200" y="3733800"/>
          <a:ext cx="3000000" cy="3000000"/>
        </p:xfrm>
        <a:graphic>
          <a:graphicData uri="http://schemas.openxmlformats.org/drawingml/2006/table">
            <a:tbl>
              <a:tblPr>
                <a:noFill/>
                <a:tableStyleId>{397577B6-D47A-466E-84E6-29D3DF76FDB9}</a:tableStyleId>
              </a:tblPr>
              <a:tblGrid>
                <a:gridCol w="982650">
                  <a:extLst>
                    <a:ext uri="{9D8B030D-6E8A-4147-A177-3AD203B41FA5}">
                      <a16:colId xmlns:a16="http://schemas.microsoft.com/office/drawing/2014/main" val="20000"/>
                    </a:ext>
                  </a:extLst>
                </a:gridCol>
                <a:gridCol w="922325">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452425">
                <a:tc gridSpan="4">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Examples of a Tautology and a Contradiction.</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7EDE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260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a:solidFill>
                            <a:schemeClr val="dk1"/>
                          </a:solidFill>
                          <a:latin typeface="Arial"/>
                          <a:ea typeface="Arial"/>
                          <a:cs typeface="Arial"/>
                          <a:sym typeface="Arial"/>
                        </a:rPr>
                        <a:t>p</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p</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p</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a:t>
                      </a:r>
                      <a:r>
                        <a:rPr lang="en-US" sz="1600" b="0" i="0" u="none">
                          <a:solidFill>
                            <a:schemeClr val="dk1"/>
                          </a:solidFill>
                          <a:latin typeface="Arial"/>
                          <a:ea typeface="Arial"/>
                          <a:cs typeface="Arial"/>
                          <a:sym typeface="Arial"/>
                        </a:rPr>
                        <a:t>Λ</a:t>
                      </a: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p</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9375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367" name="Google Shape;367;p23"/>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2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Propositional Equivalences</a:t>
            </a:r>
            <a:endParaRPr/>
          </a:p>
        </p:txBody>
      </p:sp>
      <p:graphicFrame>
        <p:nvGraphicFramePr>
          <p:cNvPr id="373" name="Google Shape;373;p24"/>
          <p:cNvGraphicFramePr/>
          <p:nvPr/>
        </p:nvGraphicFramePr>
        <p:xfrm>
          <a:off x="1600200" y="3733800"/>
          <a:ext cx="3000000" cy="3000000"/>
        </p:xfrm>
        <a:graphic>
          <a:graphicData uri="http://schemas.openxmlformats.org/drawingml/2006/table">
            <a:tbl>
              <a:tblPr>
                <a:noFill/>
                <a:tableStyleId>{397577B6-D47A-466E-84E6-29D3DF76FDB9}</a:tableStyleId>
              </a:tblPr>
              <a:tblGrid>
                <a:gridCol w="982650">
                  <a:extLst>
                    <a:ext uri="{9D8B030D-6E8A-4147-A177-3AD203B41FA5}">
                      <a16:colId xmlns:a16="http://schemas.microsoft.com/office/drawing/2014/main" val="20000"/>
                    </a:ext>
                  </a:extLst>
                </a:gridCol>
                <a:gridCol w="922325">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452425">
                <a:tc gridSpan="4">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Examples of a Tautology and a Contradiction.</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7EDE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260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a:solidFill>
                            <a:schemeClr val="dk1"/>
                          </a:solidFill>
                          <a:latin typeface="Arial"/>
                          <a:ea typeface="Arial"/>
                          <a:cs typeface="Arial"/>
                          <a:sym typeface="Arial"/>
                        </a:rPr>
                        <a:t>p</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p</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p</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a:t>
                      </a:r>
                      <a:r>
                        <a:rPr lang="en-US" sz="1600" b="0" i="0" u="none">
                          <a:solidFill>
                            <a:schemeClr val="dk1"/>
                          </a:solidFill>
                          <a:latin typeface="Arial"/>
                          <a:ea typeface="Arial"/>
                          <a:cs typeface="Arial"/>
                          <a:sym typeface="Arial"/>
                        </a:rPr>
                        <a:t>Λ</a:t>
                      </a: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p</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9375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374" name="Google Shape;374;p24"/>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898989"/>
              </a:buClr>
              <a:buSzPts val="1000"/>
              <a:buFont typeface="Arial"/>
              <a:buNone/>
            </a:pPr>
            <a:fld id="{00000000-1234-1234-1234-123412341234}" type="slidenum">
              <a:rPr lang="en-US" sz="1000" b="0" i="0" u="none">
                <a:solidFill>
                  <a:srgbClr val="898989"/>
                </a:solidFill>
                <a:latin typeface="Arial"/>
                <a:ea typeface="Arial"/>
                <a:cs typeface="Arial"/>
                <a:sym typeface="Arial"/>
              </a:rPr>
              <a:t>27</a:t>
            </a:fld>
            <a:endParaRPr/>
          </a:p>
        </p:txBody>
      </p:sp>
      <p:sp>
        <p:nvSpPr>
          <p:cNvPr id="375" name="Google Shape;375;p24"/>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76" name="Google Shape;376;p24"/>
          <p:cNvSpPr txBox="1"/>
          <p:nvPr/>
        </p:nvSpPr>
        <p:spPr>
          <a:xfrm>
            <a:off x="685800" y="1524000"/>
            <a:ext cx="8153400" cy="1878012"/>
          </a:xfrm>
          <a:prstGeom prst="rect">
            <a:avLst/>
          </a:prstGeom>
          <a:solidFill>
            <a:srgbClr val="EBECE8"/>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DEFINITION 1</a:t>
            </a:r>
            <a:endParaRPr/>
          </a:p>
          <a:p>
            <a:pPr marL="0" marR="0" lvl="0" indent="0" algn="l" rtl="0">
              <a:lnSpc>
                <a:spcPct val="100000"/>
              </a:lnSpc>
              <a:spcBef>
                <a:spcPts val="0"/>
              </a:spcBef>
              <a:spcAft>
                <a:spcPts val="0"/>
              </a:spcAft>
              <a:buClr>
                <a:schemeClr val="dk1"/>
              </a:buClr>
              <a:buSzPts val="800"/>
              <a:buFont typeface="Arial"/>
              <a:buNone/>
            </a:pPr>
            <a:endParaRPr sz="800" b="0" i="0" u="none">
              <a:solidFill>
                <a:schemeClr val="dk1"/>
              </a:solidFill>
              <a:latin typeface="Arial"/>
              <a:ea typeface="Arial"/>
              <a:cs typeface="Arial"/>
              <a:sym typeface="Arial"/>
            </a:endParaRPr>
          </a:p>
          <a:p>
            <a:pPr marL="457200" marR="0" lvl="1" indent="-1143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  A compound proposition that is always true, no matter what the truth values of the propositions that occurs in it, is called a</a:t>
            </a:r>
            <a:r>
              <a:rPr lang="en-US" sz="1800" b="0" i="1" u="none" strike="noStrike" cap="none">
                <a:solidFill>
                  <a:schemeClr val="dk1"/>
                </a:solidFill>
                <a:latin typeface="Arial"/>
                <a:ea typeface="Arial"/>
                <a:cs typeface="Arial"/>
                <a:sym typeface="Arial"/>
              </a:rPr>
              <a:t> </a:t>
            </a:r>
            <a:r>
              <a:rPr lang="en-US" sz="1800" b="0" i="1" u="none" strike="noStrike" cap="none">
                <a:solidFill>
                  <a:srgbClr val="FF0000"/>
                </a:solidFill>
                <a:latin typeface="Arial"/>
                <a:ea typeface="Arial"/>
                <a:cs typeface="Arial"/>
                <a:sym typeface="Arial"/>
              </a:rPr>
              <a:t>tautology</a:t>
            </a:r>
            <a:r>
              <a:rPr lang="en-US" sz="1800" b="0" i="0" u="none" strike="noStrike" cap="none">
                <a:solidFill>
                  <a:schemeClr val="dk1"/>
                </a:solidFill>
                <a:latin typeface="Arial"/>
                <a:ea typeface="Arial"/>
                <a:cs typeface="Arial"/>
                <a:sym typeface="Arial"/>
              </a:rPr>
              <a:t>. </a:t>
            </a:r>
            <a:endParaRPr/>
          </a:p>
          <a:p>
            <a:pPr marL="457200" marR="0" lvl="1" indent="-1143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  A compound proposition that is always false is called a </a:t>
            </a:r>
            <a:r>
              <a:rPr lang="en-US" sz="1800" b="0" i="1" u="none" strike="noStrike" cap="none">
                <a:solidFill>
                  <a:srgbClr val="FF0000"/>
                </a:solidFill>
                <a:latin typeface="Arial"/>
                <a:ea typeface="Arial"/>
                <a:cs typeface="Arial"/>
                <a:sym typeface="Arial"/>
              </a:rPr>
              <a:t>contradiction</a:t>
            </a:r>
            <a:r>
              <a:rPr lang="en-US" sz="1800" b="0" i="0" u="none" strike="noStrike" cap="none">
                <a:solidFill>
                  <a:srgbClr val="FF0000"/>
                </a:solidFill>
                <a:latin typeface="Arial"/>
                <a:ea typeface="Arial"/>
                <a:cs typeface="Arial"/>
                <a:sym typeface="Arial"/>
              </a:rPr>
              <a:t>.</a:t>
            </a:r>
            <a:r>
              <a:rPr lang="en-US" sz="1800" b="0" i="0" u="none" strike="noStrike" cap="none">
                <a:solidFill>
                  <a:schemeClr val="dk1"/>
                </a:solidFill>
                <a:latin typeface="Arial"/>
                <a:ea typeface="Arial"/>
                <a:cs typeface="Arial"/>
                <a:sym typeface="Arial"/>
              </a:rPr>
              <a:t> </a:t>
            </a:r>
            <a:endParaRPr/>
          </a:p>
          <a:p>
            <a:pPr marL="457200" marR="0" lvl="1" indent="-1143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  A compound proposition that is neither a tautology or a contradiction is called a </a:t>
            </a:r>
            <a:r>
              <a:rPr lang="en-US" sz="1800" b="0" i="1" u="none" strike="noStrike" cap="none">
                <a:solidFill>
                  <a:srgbClr val="FF0000"/>
                </a:solidFill>
                <a:latin typeface="Arial"/>
                <a:ea typeface="Arial"/>
                <a:cs typeface="Arial"/>
                <a:sym typeface="Arial"/>
              </a:rPr>
              <a:t>contingency</a:t>
            </a:r>
            <a:r>
              <a:rPr lang="en-US" sz="1800" b="0" i="0" u="none" strike="noStrike" cap="none">
                <a:solidFill>
                  <a:schemeClr val="dk1"/>
                </a:solidFill>
                <a:latin typeface="Arial"/>
                <a:ea typeface="Arial"/>
                <a:cs typeface="Arial"/>
                <a:sym typeface="Arial"/>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1.2 Propositional Equivalences</a:t>
            </a:r>
            <a:endParaRPr/>
          </a:p>
        </p:txBody>
      </p:sp>
      <p:sp>
        <p:nvSpPr>
          <p:cNvPr id="382" name="Google Shape;382;p25"/>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83" name="Google Shape;383;p25"/>
          <p:cNvSpPr txBox="1"/>
          <p:nvPr/>
        </p:nvSpPr>
        <p:spPr>
          <a:xfrm>
            <a:off x="685800" y="1619250"/>
            <a:ext cx="8001000" cy="1322387"/>
          </a:xfrm>
          <a:prstGeom prst="rect">
            <a:avLst/>
          </a:prstGeom>
          <a:solidFill>
            <a:srgbClr val="EBECE8"/>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DEFINITION 2</a:t>
            </a:r>
            <a:endParaRPr/>
          </a:p>
          <a:p>
            <a:pPr marL="0" marR="0" lvl="0" indent="0" algn="l" rtl="0">
              <a:lnSpc>
                <a:spcPct val="100000"/>
              </a:lnSpc>
              <a:spcBef>
                <a:spcPts val="0"/>
              </a:spcBef>
              <a:spcAft>
                <a:spcPts val="0"/>
              </a:spcAft>
              <a:buClr>
                <a:schemeClr val="dk1"/>
              </a:buClr>
              <a:buSzPts val="800"/>
              <a:buFont typeface="Arial"/>
              <a:buNone/>
            </a:pPr>
            <a:endParaRPr sz="800" b="0" i="0" u="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The compound propositions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are called </a:t>
            </a:r>
            <a:r>
              <a:rPr lang="en-US" sz="1800" b="0" i="1" u="none" strike="noStrike" cap="none">
                <a:solidFill>
                  <a:schemeClr val="dk1"/>
                </a:solidFill>
                <a:latin typeface="Arial"/>
                <a:ea typeface="Arial"/>
                <a:cs typeface="Arial"/>
                <a:sym typeface="Arial"/>
              </a:rPr>
              <a:t>logically equivalent</a:t>
            </a:r>
            <a:r>
              <a:rPr lang="en-US" sz="1800" b="0" i="0" u="none" strike="noStrike" cap="none">
                <a:solidFill>
                  <a:schemeClr val="dk1"/>
                </a:solidFill>
                <a:latin typeface="Arial"/>
                <a:ea typeface="Arial"/>
                <a:cs typeface="Arial"/>
                <a:sym typeface="Arial"/>
              </a:rPr>
              <a:t> if </a:t>
            </a:r>
            <a:r>
              <a:rPr lang="en-US" sz="1800" b="0" i="1" u="none" strike="noStrike" cap="none">
                <a:solidFill>
                  <a:schemeClr val="dk1"/>
                </a:solidFill>
                <a:latin typeface="Arial"/>
                <a:ea typeface="Arial"/>
                <a:cs typeface="Arial"/>
                <a:sym typeface="Arial"/>
              </a:rPr>
              <a:t>p </a:t>
            </a:r>
            <a:r>
              <a:rPr lang="en-US" sz="1800" b="0" i="0" u="none" strike="noStrike" cap="none">
                <a:solidFill>
                  <a:schemeClr val="dk1"/>
                </a:solidFill>
                <a:latin typeface="Arial"/>
                <a:ea typeface="Arial"/>
                <a:cs typeface="Arial"/>
                <a:sym typeface="Arial"/>
              </a:rPr>
              <a:t>↔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is a tautology. The notation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denotes that </a:t>
            </a:r>
            <a:r>
              <a:rPr lang="en-US" sz="1800" b="0" i="1" u="none" strike="noStrike" cap="none">
                <a:solidFill>
                  <a:schemeClr val="dk1"/>
                </a:solidFill>
                <a:latin typeface="Arial"/>
                <a:ea typeface="Arial"/>
                <a:cs typeface="Arial"/>
                <a:sym typeface="Arial"/>
              </a:rPr>
              <a:t>p</a:t>
            </a:r>
            <a:r>
              <a:rPr lang="en-US" sz="1800" b="0" i="0" u="none" strike="noStrike" cap="none">
                <a:solidFill>
                  <a:schemeClr val="dk1"/>
                </a:solidFill>
                <a:latin typeface="Arial"/>
                <a:ea typeface="Arial"/>
                <a:cs typeface="Arial"/>
                <a:sym typeface="Arial"/>
              </a:rPr>
              <a:t> and </a:t>
            </a:r>
            <a:r>
              <a:rPr lang="en-US" sz="1800" b="0" i="1" u="none" strike="noStrike" cap="none">
                <a:solidFill>
                  <a:schemeClr val="dk1"/>
                </a:solidFill>
                <a:latin typeface="Arial"/>
                <a:ea typeface="Arial"/>
                <a:cs typeface="Arial"/>
                <a:sym typeface="Arial"/>
              </a:rPr>
              <a:t>q</a:t>
            </a:r>
            <a:r>
              <a:rPr lang="en-US" sz="1800" b="0" i="0" u="none" strike="noStrike" cap="none">
                <a:solidFill>
                  <a:schemeClr val="dk1"/>
                </a:solidFill>
                <a:latin typeface="Arial"/>
                <a:ea typeface="Arial"/>
                <a:cs typeface="Arial"/>
                <a:sym typeface="Arial"/>
              </a:rPr>
              <a:t> are logically equivalent.</a:t>
            </a:r>
            <a:endParaRPr/>
          </a:p>
        </p:txBody>
      </p:sp>
      <p:sp>
        <p:nvSpPr>
          <p:cNvPr id="384" name="Google Shape;384;p25"/>
          <p:cNvSpPr txBox="1"/>
          <p:nvPr/>
        </p:nvSpPr>
        <p:spPr>
          <a:xfrm>
            <a:off x="1524000" y="1066800"/>
            <a:ext cx="6553200" cy="519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39933"/>
              </a:buClr>
              <a:buSzPts val="2800"/>
              <a:buFont typeface="Arial"/>
              <a:buNone/>
            </a:pPr>
            <a:r>
              <a:rPr lang="en-US" sz="2800" b="0" i="0" u="sng">
                <a:solidFill>
                  <a:srgbClr val="339933"/>
                </a:solidFill>
                <a:latin typeface="Arial"/>
                <a:ea typeface="Arial"/>
                <a:cs typeface="Arial"/>
                <a:sym typeface="Arial"/>
              </a:rPr>
              <a:t>Logical Equivalences</a:t>
            </a:r>
            <a:endParaRPr/>
          </a:p>
        </p:txBody>
      </p:sp>
      <p:graphicFrame>
        <p:nvGraphicFramePr>
          <p:cNvPr id="385" name="Google Shape;385;p25"/>
          <p:cNvGraphicFramePr/>
          <p:nvPr/>
        </p:nvGraphicFramePr>
        <p:xfrm>
          <a:off x="1524000" y="4267200"/>
          <a:ext cx="3000000" cy="3000000"/>
        </p:xfrm>
        <a:graphic>
          <a:graphicData uri="http://schemas.openxmlformats.org/drawingml/2006/table">
            <a:tbl>
              <a:tblPr>
                <a:noFill/>
                <a:tableStyleId>{397577B6-D47A-466E-84E6-29D3DF76FDB9}</a:tableStyleId>
              </a:tblPr>
              <a:tblGrid>
                <a:gridCol w="700075">
                  <a:extLst>
                    <a:ext uri="{9D8B030D-6E8A-4147-A177-3AD203B41FA5}">
                      <a16:colId xmlns:a16="http://schemas.microsoft.com/office/drawing/2014/main" val="20000"/>
                    </a:ext>
                  </a:extLst>
                </a:gridCol>
                <a:gridCol w="612775">
                  <a:extLst>
                    <a:ext uri="{9D8B030D-6E8A-4147-A177-3AD203B41FA5}">
                      <a16:colId xmlns:a16="http://schemas.microsoft.com/office/drawing/2014/main" val="20001"/>
                    </a:ext>
                  </a:extLst>
                </a:gridCol>
                <a:gridCol w="1054100">
                  <a:extLst>
                    <a:ext uri="{9D8B030D-6E8A-4147-A177-3AD203B41FA5}">
                      <a16:colId xmlns:a16="http://schemas.microsoft.com/office/drawing/2014/main" val="20002"/>
                    </a:ext>
                  </a:extLst>
                </a:gridCol>
                <a:gridCol w="962025">
                  <a:extLst>
                    <a:ext uri="{9D8B030D-6E8A-4147-A177-3AD203B41FA5}">
                      <a16:colId xmlns:a16="http://schemas.microsoft.com/office/drawing/2014/main" val="20003"/>
                    </a:ext>
                  </a:extLst>
                </a:gridCol>
                <a:gridCol w="1547800">
                  <a:extLst>
                    <a:ext uri="{9D8B030D-6E8A-4147-A177-3AD203B41FA5}">
                      <a16:colId xmlns:a16="http://schemas.microsoft.com/office/drawing/2014/main" val="20004"/>
                    </a:ext>
                  </a:extLst>
                </a:gridCol>
              </a:tblGrid>
              <a:tr h="452425">
                <a:tc gridSpan="5">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Truth Tables for </a:t>
                      </a:r>
                      <a:r>
                        <a:rPr lang="en-US" sz="1800" b="0" i="0" u="none">
                          <a:solidFill>
                            <a:schemeClr val="dk1"/>
                          </a:solidFill>
                          <a:latin typeface="Arial"/>
                          <a:ea typeface="Arial"/>
                          <a:cs typeface="Arial"/>
                          <a:sym typeface="Arial"/>
                        </a:rPr>
                        <a:t>¬</a:t>
                      </a:r>
                      <a:r>
                        <a:rPr lang="en-US" sz="1800" b="0" i="1" u="none">
                          <a:solidFill>
                            <a:schemeClr val="dk1"/>
                          </a:solidFill>
                          <a:latin typeface="Arial"/>
                          <a:ea typeface="Arial"/>
                          <a:cs typeface="Arial"/>
                          <a:sym typeface="Arial"/>
                        </a:rPr>
                        <a:t>p</a:t>
                      </a:r>
                      <a:r>
                        <a:rPr lang="en-US" sz="1800" b="0" i="0" u="none">
                          <a:solidFill>
                            <a:schemeClr val="dk1"/>
                          </a:solidFill>
                          <a:latin typeface="Arial"/>
                          <a:ea typeface="Arial"/>
                          <a:cs typeface="Arial"/>
                          <a:sym typeface="Arial"/>
                        </a:rPr>
                        <a:t> ν </a:t>
                      </a:r>
                      <a:r>
                        <a:rPr lang="en-US" sz="1800" b="0" i="1" u="none">
                          <a:solidFill>
                            <a:schemeClr val="dk1"/>
                          </a:solidFill>
                          <a:latin typeface="Arial"/>
                          <a:ea typeface="Arial"/>
                          <a:cs typeface="Arial"/>
                          <a:sym typeface="Arial"/>
                        </a:rPr>
                        <a:t>q</a:t>
                      </a:r>
                      <a:r>
                        <a:rPr lang="en-US" sz="1800" b="0" i="0" u="none">
                          <a:solidFill>
                            <a:schemeClr val="dk1"/>
                          </a:solidFill>
                          <a:latin typeface="Arial"/>
                          <a:ea typeface="Arial"/>
                          <a:cs typeface="Arial"/>
                          <a:sym typeface="Arial"/>
                        </a:rPr>
                        <a:t> and </a:t>
                      </a:r>
                      <a:r>
                        <a:rPr lang="en-US" sz="1800" b="0" i="1" u="none">
                          <a:solidFill>
                            <a:schemeClr val="dk1"/>
                          </a:solidFill>
                          <a:latin typeface="Arial"/>
                          <a:ea typeface="Arial"/>
                          <a:cs typeface="Arial"/>
                          <a:sym typeface="Arial"/>
                        </a:rPr>
                        <a:t>p</a:t>
                      </a:r>
                      <a:r>
                        <a:rPr lang="en-US" sz="1800" b="0" i="0" u="none">
                          <a:solidFill>
                            <a:schemeClr val="dk1"/>
                          </a:solidFill>
                          <a:latin typeface="Arial"/>
                          <a:ea typeface="Arial"/>
                          <a:cs typeface="Arial"/>
                          <a:sym typeface="Arial"/>
                        </a:rPr>
                        <a:t> → </a:t>
                      </a:r>
                      <a:r>
                        <a:rPr lang="en-US" sz="1800" b="0" i="1" u="none">
                          <a:solidFill>
                            <a:schemeClr val="dk1"/>
                          </a:solidFill>
                          <a:latin typeface="Arial"/>
                          <a:ea typeface="Arial"/>
                          <a:cs typeface="Arial"/>
                          <a:sym typeface="Arial"/>
                        </a:rPr>
                        <a:t>q</a:t>
                      </a:r>
                      <a:r>
                        <a:rPr lang="en-US" sz="1800" b="0" i="0" u="none">
                          <a:solidFill>
                            <a:schemeClr val="dk1"/>
                          </a:solidFill>
                          <a:latin typeface="Arial"/>
                          <a:ea typeface="Arial"/>
                          <a:cs typeface="Arial"/>
                          <a:sym typeface="Arial"/>
                        </a:rPr>
                        <a:t> </a:t>
                      </a:r>
                      <a:r>
                        <a:rPr lang="en-US" sz="2000" b="0" i="0" u="none">
                          <a:solidFill>
                            <a:schemeClr val="dk1"/>
                          </a:solidFill>
                          <a:latin typeface="Arial"/>
                          <a:ea typeface="Arial"/>
                          <a:cs typeface="Arial"/>
                          <a:sym typeface="Arial"/>
                        </a:rPr>
                        <a:t>.</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7EDE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1950">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a:solidFill>
                            <a:schemeClr val="dk1"/>
                          </a:solidFill>
                          <a:latin typeface="Arial"/>
                          <a:ea typeface="Arial"/>
                          <a:cs typeface="Arial"/>
                          <a:sym typeface="Arial"/>
                        </a:rPr>
                        <a:t>p</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a:solidFill>
                            <a:schemeClr val="dk1"/>
                          </a:solidFill>
                          <a:latin typeface="Arial"/>
                          <a:ea typeface="Arial"/>
                          <a:cs typeface="Arial"/>
                          <a:sym typeface="Arial"/>
                        </a:rPr>
                        <a:t>q</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p</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a:t>
                      </a:r>
                      <a:r>
                        <a:rPr lang="en-US" sz="1800" b="0" i="0" u="none">
                          <a:solidFill>
                            <a:schemeClr val="dk1"/>
                          </a:solidFill>
                          <a:latin typeface="Arial"/>
                          <a:ea typeface="Arial"/>
                          <a:cs typeface="Arial"/>
                          <a:sym typeface="Arial"/>
                        </a:rPr>
                        <a:t>→</a:t>
                      </a: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q</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493825">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F</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p>
                      <a:pPr marL="0" marR="0" lvl="0" indent="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386" name="Google Shape;386;p25"/>
          <p:cNvSpPr txBox="1">
            <a:spLocks noGrp="1"/>
          </p:cNvSpPr>
          <p:nvPr>
            <p:ph type="body" idx="1"/>
          </p:nvPr>
        </p:nvSpPr>
        <p:spPr>
          <a:xfrm>
            <a:off x="609600" y="3048000"/>
            <a:ext cx="8305800" cy="12954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Compound propositions that have the same truth values in all possible cases are called </a:t>
            </a:r>
            <a:r>
              <a:rPr lang="en-US" sz="2000" b="0" i="0" u="none">
                <a:solidFill>
                  <a:schemeClr val="hlink"/>
                </a:solidFill>
                <a:latin typeface="Arial"/>
                <a:ea typeface="Arial"/>
                <a:cs typeface="Arial"/>
                <a:sym typeface="Arial"/>
              </a:rPr>
              <a:t>logically equivalent</a:t>
            </a:r>
            <a:r>
              <a:rPr lang="en-US" sz="2000" b="0" i="0" u="none">
                <a:solidFill>
                  <a:schemeClr val="dk1"/>
                </a:solidFill>
                <a:latin typeface="Arial"/>
                <a:ea typeface="Arial"/>
                <a:cs typeface="Arial"/>
                <a:sym typeface="Arial"/>
              </a:rPr>
              <a:t>.</a:t>
            </a:r>
            <a:endParaRPr/>
          </a:p>
          <a:p>
            <a:pPr marL="342900" lvl="0" indent="-342900" algn="l" rtl="0">
              <a:lnSpc>
                <a:spcPct val="10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Example: Show that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and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are logically equivalent.</a:t>
            </a:r>
            <a:endParaRPr/>
          </a:p>
        </p:txBody>
      </p:sp>
      <p:sp>
        <p:nvSpPr>
          <p:cNvPr id="387" name="Google Shape;387;p25"/>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2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1.2 Propositional Equivalences</a:t>
            </a:r>
            <a:endParaRPr/>
          </a:p>
        </p:txBody>
      </p:sp>
      <p:sp>
        <p:nvSpPr>
          <p:cNvPr id="393" name="Google Shape;393;p26"/>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94" name="Google Shape;394;p26"/>
          <p:cNvSpPr txBox="1">
            <a:spLocks noGrp="1"/>
          </p:cNvSpPr>
          <p:nvPr>
            <p:ph type="body" idx="1"/>
          </p:nvPr>
        </p:nvSpPr>
        <p:spPr>
          <a:xfrm>
            <a:off x="609600" y="1676400"/>
            <a:ext cx="8305800" cy="12954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In general, 2</a:t>
            </a:r>
            <a:r>
              <a:rPr lang="en-US" sz="2000" b="0" i="1" u="none" baseline="30000">
                <a:solidFill>
                  <a:schemeClr val="dk1"/>
                </a:solidFill>
                <a:latin typeface="Arial"/>
                <a:ea typeface="Arial"/>
                <a:cs typeface="Arial"/>
                <a:sym typeface="Arial"/>
              </a:rPr>
              <a:t>n</a:t>
            </a:r>
            <a:r>
              <a:rPr lang="en-US" sz="2000" b="0" i="0" u="none">
                <a:solidFill>
                  <a:schemeClr val="dk1"/>
                </a:solidFill>
                <a:latin typeface="Arial"/>
                <a:ea typeface="Arial"/>
                <a:cs typeface="Arial"/>
                <a:sym typeface="Arial"/>
              </a:rPr>
              <a:t> rows are required if a compound proposition involves </a:t>
            </a:r>
            <a:r>
              <a:rPr lang="en-US" sz="2000" b="0" i="1" u="none">
                <a:solidFill>
                  <a:schemeClr val="dk1"/>
                </a:solidFill>
                <a:latin typeface="Arial"/>
                <a:ea typeface="Arial"/>
                <a:cs typeface="Arial"/>
                <a:sym typeface="Arial"/>
              </a:rPr>
              <a:t>n</a:t>
            </a:r>
            <a:r>
              <a:rPr lang="en-US" sz="2000" b="0" i="0" u="none">
                <a:solidFill>
                  <a:schemeClr val="dk1"/>
                </a:solidFill>
                <a:latin typeface="Arial"/>
                <a:ea typeface="Arial"/>
                <a:cs typeface="Arial"/>
                <a:sym typeface="Arial"/>
              </a:rPr>
              <a:t> propositional variables in order to get the combination of all truth values.</a:t>
            </a:r>
            <a:endParaRPr/>
          </a:p>
          <a:p>
            <a:pPr marL="342900" lvl="0" indent="-342900" algn="l" rtl="0">
              <a:lnSpc>
                <a:spcPct val="90000"/>
              </a:lnSpc>
              <a:spcBef>
                <a:spcPts val="40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See page 27 for more logical equivalences.</a:t>
            </a:r>
            <a:endParaRPr/>
          </a:p>
          <a:p>
            <a:pPr marL="342900" lvl="0" indent="-215900" algn="l" rtl="0">
              <a:spcBef>
                <a:spcPts val="400"/>
              </a:spcBef>
              <a:spcAft>
                <a:spcPts val="0"/>
              </a:spcAft>
              <a:buSzPts val="2000"/>
              <a:buNone/>
            </a:pPr>
            <a:endParaRPr sz="2000" b="0" i="0" u="none">
              <a:solidFill>
                <a:schemeClr val="dk1"/>
              </a:solidFill>
              <a:latin typeface="Arial"/>
              <a:ea typeface="Arial"/>
              <a:cs typeface="Arial"/>
              <a:sym typeface="Arial"/>
            </a:endParaRPr>
          </a:p>
        </p:txBody>
      </p:sp>
      <p:sp>
        <p:nvSpPr>
          <p:cNvPr id="395" name="Google Shape;395;p26"/>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2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Logical Equivalences</a:t>
            </a:r>
            <a:endParaRPr/>
          </a:p>
        </p:txBody>
      </p:sp>
      <p:graphicFrame>
        <p:nvGraphicFramePr>
          <p:cNvPr id="401" name="Google Shape;401;p27"/>
          <p:cNvGraphicFramePr/>
          <p:nvPr/>
        </p:nvGraphicFramePr>
        <p:xfrm>
          <a:off x="990600" y="1371600"/>
          <a:ext cx="3000000" cy="3000000"/>
        </p:xfrm>
        <a:graphic>
          <a:graphicData uri="http://schemas.openxmlformats.org/drawingml/2006/table">
            <a:tbl>
              <a:tblPr>
                <a:noFill/>
                <a:tableStyleId>{397577B6-D47A-466E-84E6-29D3DF76FDB9}</a:tableStyleId>
              </a:tblPr>
              <a:tblGrid>
                <a:gridCol w="4592625">
                  <a:extLst>
                    <a:ext uri="{9D8B030D-6E8A-4147-A177-3AD203B41FA5}">
                      <a16:colId xmlns:a16="http://schemas.microsoft.com/office/drawing/2014/main" val="20000"/>
                    </a:ext>
                  </a:extLst>
                </a:gridCol>
                <a:gridCol w="2493950">
                  <a:extLst>
                    <a:ext uri="{9D8B030D-6E8A-4147-A177-3AD203B41FA5}">
                      <a16:colId xmlns:a16="http://schemas.microsoft.com/office/drawing/2014/main" val="20001"/>
                    </a:ext>
                  </a:extLst>
                </a:gridCol>
              </a:tblGrid>
              <a:tr h="396875">
                <a:tc>
                  <a:txBody>
                    <a:bodyPr/>
                    <a:lstStyle/>
                    <a:p>
                      <a:pPr marL="0" marR="0" lvl="0" indent="0" algn="l" rtl="0">
                        <a:lnSpc>
                          <a:spcPct val="100000"/>
                        </a:lnSpc>
                        <a:spcBef>
                          <a:spcPts val="0"/>
                        </a:spcBef>
                        <a:spcAft>
                          <a:spcPts val="0"/>
                        </a:spcAft>
                        <a:buClr>
                          <a:srgbClr val="FF0000"/>
                        </a:buClr>
                        <a:buSzPts val="2000"/>
                        <a:buFont typeface="Calibri"/>
                        <a:buNone/>
                      </a:pPr>
                      <a:r>
                        <a:rPr lang="en-US" sz="2000" b="1" i="1" u="none">
                          <a:solidFill>
                            <a:srgbClr val="FF0000"/>
                          </a:solidFill>
                          <a:latin typeface="Calibri"/>
                          <a:ea typeface="Calibri"/>
                          <a:cs typeface="Calibri"/>
                          <a:sym typeface="Calibri"/>
                        </a:rPr>
                        <a:t>Equivalence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2000"/>
                        <a:buFont typeface="Calibri"/>
                        <a:buNone/>
                      </a:pPr>
                      <a:r>
                        <a:rPr lang="en-US" sz="2000" b="1" i="1" u="none">
                          <a:solidFill>
                            <a:srgbClr val="FF0000"/>
                          </a:solidFill>
                          <a:latin typeface="Calibri"/>
                          <a:ea typeface="Calibri"/>
                          <a:cs typeface="Calibri"/>
                          <a:sym typeface="Calibri"/>
                        </a:rPr>
                        <a:t>Name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39750">
                <a:tc>
                  <a:txBody>
                    <a:bodyPr/>
                    <a:lstStyle/>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Λ </a:t>
                      </a:r>
                      <a:r>
                        <a:rPr lang="en-US" sz="1800" b="1" i="0" u="none">
                          <a:solidFill>
                            <a:schemeClr val="dk1"/>
                          </a:solidFill>
                          <a:latin typeface="Calibri"/>
                          <a:ea typeface="Calibri"/>
                          <a:cs typeface="Calibri"/>
                          <a:sym typeface="Calibri"/>
                        </a:rPr>
                        <a:t>T</a:t>
                      </a:r>
                      <a:r>
                        <a:rPr lang="en-US" sz="1800" b="0" i="0" u="none">
                          <a:solidFill>
                            <a:schemeClr val="dk1"/>
                          </a:solidFill>
                          <a:latin typeface="Calibri"/>
                          <a:ea typeface="Calibri"/>
                          <a:cs typeface="Calibri"/>
                          <a:sym typeface="Calibri"/>
                        </a:rPr>
                        <a:t> ≡ </a:t>
                      </a:r>
                      <a:r>
                        <a:rPr lang="en-US" sz="1800" b="0" i="1" u="none">
                          <a:solidFill>
                            <a:schemeClr val="dk1"/>
                          </a:solidFill>
                          <a:latin typeface="Calibri"/>
                          <a:ea typeface="Calibri"/>
                          <a:cs typeface="Calibri"/>
                          <a:sym typeface="Calibri"/>
                        </a:rPr>
                        <a:t>p</a:t>
                      </a:r>
                      <a:endParaRPr sz="2000" b="0" i="1"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V </a:t>
                      </a:r>
                      <a:r>
                        <a:rPr lang="en-US" sz="1800" b="1" i="0" u="none">
                          <a:solidFill>
                            <a:schemeClr val="dk1"/>
                          </a:solidFill>
                          <a:latin typeface="Calibri"/>
                          <a:ea typeface="Calibri"/>
                          <a:cs typeface="Calibri"/>
                          <a:sym typeface="Calibri"/>
                        </a:rPr>
                        <a:t>F </a:t>
                      </a:r>
                      <a:r>
                        <a:rPr lang="en-US" sz="1800" b="0" i="0" u="none">
                          <a:solidFill>
                            <a:schemeClr val="dk1"/>
                          </a:solidFill>
                          <a:latin typeface="Calibri"/>
                          <a:ea typeface="Calibri"/>
                          <a:cs typeface="Calibri"/>
                          <a:sym typeface="Calibri"/>
                        </a:rPr>
                        <a:t>≡ P</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Identity Laws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39750">
                <a:tc>
                  <a:txBody>
                    <a:bodyPr/>
                    <a:lstStyle/>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V </a:t>
                      </a:r>
                      <a:r>
                        <a:rPr lang="en-US" sz="1800" b="1" i="0" u="none">
                          <a:solidFill>
                            <a:schemeClr val="dk1"/>
                          </a:solidFill>
                          <a:latin typeface="Calibri"/>
                          <a:ea typeface="Calibri"/>
                          <a:cs typeface="Calibri"/>
                          <a:sym typeface="Calibri"/>
                        </a:rPr>
                        <a:t>T</a:t>
                      </a:r>
                      <a:r>
                        <a:rPr lang="en-US" sz="1800" b="0" i="0" u="none">
                          <a:solidFill>
                            <a:schemeClr val="dk1"/>
                          </a:solidFill>
                          <a:latin typeface="Calibri"/>
                          <a:ea typeface="Calibri"/>
                          <a:cs typeface="Calibri"/>
                          <a:sym typeface="Calibri"/>
                        </a:rPr>
                        <a:t> ≡ </a:t>
                      </a:r>
                      <a:r>
                        <a:rPr lang="en-US" sz="1800" b="1" i="0" u="none">
                          <a:solidFill>
                            <a:schemeClr val="dk1"/>
                          </a:solidFill>
                          <a:latin typeface="Calibri"/>
                          <a:ea typeface="Calibri"/>
                          <a:cs typeface="Calibri"/>
                          <a:sym typeface="Calibri"/>
                        </a:rPr>
                        <a:t>T</a:t>
                      </a:r>
                      <a:endParaRPr sz="2000" b="1"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Ʌ </a:t>
                      </a:r>
                      <a:r>
                        <a:rPr lang="en-US" sz="1800" b="1" i="0" u="none">
                          <a:solidFill>
                            <a:schemeClr val="dk1"/>
                          </a:solidFill>
                          <a:latin typeface="Calibri"/>
                          <a:ea typeface="Calibri"/>
                          <a:cs typeface="Calibri"/>
                          <a:sym typeface="Calibri"/>
                        </a:rPr>
                        <a:t>F </a:t>
                      </a:r>
                      <a:r>
                        <a:rPr lang="en-US" sz="1800" b="0" i="0" u="none">
                          <a:solidFill>
                            <a:schemeClr val="dk1"/>
                          </a:solidFill>
                          <a:latin typeface="Calibri"/>
                          <a:ea typeface="Calibri"/>
                          <a:cs typeface="Calibri"/>
                          <a:sym typeface="Calibri"/>
                        </a:rPr>
                        <a:t>≡ </a:t>
                      </a:r>
                      <a:r>
                        <a:rPr lang="en-US" sz="1800" b="1" i="0" u="none">
                          <a:solidFill>
                            <a:schemeClr val="dk1"/>
                          </a:solidFill>
                          <a:latin typeface="Calibri"/>
                          <a:ea typeface="Calibri"/>
                          <a:cs typeface="Calibri"/>
                          <a:sym typeface="Calibri"/>
                        </a:rPr>
                        <a:t>F</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Domination Laws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39750">
                <a:tc>
                  <a:txBody>
                    <a:bodyPr/>
                    <a:lstStyle/>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V </a:t>
                      </a:r>
                      <a:r>
                        <a:rPr lang="en-US" sz="1800" b="0" i="1" u="none">
                          <a:solidFill>
                            <a:schemeClr val="dk1"/>
                          </a:solidFill>
                          <a:latin typeface="Calibri"/>
                          <a:ea typeface="Calibri"/>
                          <a:cs typeface="Calibri"/>
                          <a:sym typeface="Calibri"/>
                        </a:rPr>
                        <a:t>p</a:t>
                      </a:r>
                      <a:r>
                        <a:rPr lang="en-US" sz="1800" b="0" i="0" u="none">
                          <a:solidFill>
                            <a:schemeClr val="dk1"/>
                          </a:solidFill>
                          <a:latin typeface="Calibri"/>
                          <a:ea typeface="Calibri"/>
                          <a:cs typeface="Calibri"/>
                          <a:sym typeface="Calibri"/>
                        </a:rPr>
                        <a:t> ≡ </a:t>
                      </a:r>
                      <a:r>
                        <a:rPr lang="en-US" sz="1800" b="0" i="1" u="none">
                          <a:solidFill>
                            <a:schemeClr val="dk1"/>
                          </a:solidFill>
                          <a:latin typeface="Calibri"/>
                          <a:ea typeface="Calibri"/>
                          <a:cs typeface="Calibri"/>
                          <a:sym typeface="Calibri"/>
                        </a:rPr>
                        <a:t>p</a:t>
                      </a:r>
                      <a:endParaRPr sz="2000" b="0" i="1"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Ʌ </a:t>
                      </a:r>
                      <a:r>
                        <a:rPr lang="en-US" sz="1800" b="0" i="1" u="none">
                          <a:solidFill>
                            <a:schemeClr val="dk1"/>
                          </a:solidFill>
                          <a:latin typeface="Calibri"/>
                          <a:ea typeface="Calibri"/>
                          <a:cs typeface="Calibri"/>
                          <a:sym typeface="Calibri"/>
                        </a:rPr>
                        <a:t>p</a:t>
                      </a:r>
                      <a:r>
                        <a:rPr lang="en-US" sz="1800" b="1" i="0" u="none">
                          <a:solidFill>
                            <a:schemeClr val="dk1"/>
                          </a:solidFill>
                          <a:latin typeface="Calibri"/>
                          <a:ea typeface="Calibri"/>
                          <a:cs typeface="Calibri"/>
                          <a:sym typeface="Calibri"/>
                        </a:rPr>
                        <a:t> </a:t>
                      </a:r>
                      <a:r>
                        <a:rPr lang="en-US" sz="1800" b="0" i="0" u="none">
                          <a:solidFill>
                            <a:schemeClr val="dk1"/>
                          </a:solidFill>
                          <a:latin typeface="Calibri"/>
                          <a:ea typeface="Calibri"/>
                          <a:cs typeface="Calibri"/>
                          <a:sym typeface="Calibri"/>
                        </a:rPr>
                        <a:t>≡ </a:t>
                      </a:r>
                      <a:r>
                        <a:rPr lang="en-US" sz="1800" b="0" i="1" u="none">
                          <a:solidFill>
                            <a:schemeClr val="dk1"/>
                          </a:solidFill>
                          <a:latin typeface="Calibri"/>
                          <a:ea typeface="Calibri"/>
                          <a:cs typeface="Calibri"/>
                          <a:sym typeface="Calibri"/>
                        </a:rPr>
                        <a:t>p</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Idempotent Laws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3050">
                <a:tc>
                  <a:txBody>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a:t>
                      </a:r>
                      <a:r>
                        <a:rPr lang="en-US" sz="1800" b="0" i="1" u="none">
                          <a:solidFill>
                            <a:schemeClr val="dk1"/>
                          </a:solidFill>
                          <a:latin typeface="Calibri"/>
                          <a:ea typeface="Calibri"/>
                          <a:cs typeface="Calibri"/>
                          <a:sym typeface="Calibri"/>
                        </a:rPr>
                        <a:t>p</a:t>
                      </a:r>
                      <a:r>
                        <a:rPr lang="en-US" sz="1800" b="0" i="0" u="none">
                          <a:solidFill>
                            <a:schemeClr val="dk1"/>
                          </a:solidFill>
                          <a:latin typeface="Calibri"/>
                          <a:ea typeface="Calibri"/>
                          <a:cs typeface="Calibri"/>
                          <a:sym typeface="Calibri"/>
                        </a:rPr>
                        <a:t>) ≡ </a:t>
                      </a:r>
                      <a:r>
                        <a:rPr lang="en-US" sz="1800" b="0" i="1" u="none">
                          <a:solidFill>
                            <a:schemeClr val="dk1"/>
                          </a:solidFill>
                          <a:latin typeface="Calibri"/>
                          <a:ea typeface="Calibri"/>
                          <a:cs typeface="Calibri"/>
                          <a:sym typeface="Calibri"/>
                        </a:rPr>
                        <a:t> p</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Double negation Law</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639750">
                <a:tc>
                  <a:txBody>
                    <a:bodyPr/>
                    <a:lstStyle/>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V </a:t>
                      </a:r>
                      <a:r>
                        <a:rPr lang="en-US" sz="1800" b="0" i="1" u="none">
                          <a:solidFill>
                            <a:schemeClr val="dk1"/>
                          </a:solidFill>
                          <a:latin typeface="Calibri"/>
                          <a:ea typeface="Calibri"/>
                          <a:cs typeface="Calibri"/>
                          <a:sym typeface="Calibri"/>
                        </a:rPr>
                        <a:t>q</a:t>
                      </a:r>
                      <a:r>
                        <a:rPr lang="en-US" sz="1800" b="0" i="0" u="none">
                          <a:solidFill>
                            <a:schemeClr val="dk1"/>
                          </a:solidFill>
                          <a:latin typeface="Calibri"/>
                          <a:ea typeface="Calibri"/>
                          <a:cs typeface="Calibri"/>
                          <a:sym typeface="Calibri"/>
                        </a:rPr>
                        <a:t> ≡ </a:t>
                      </a:r>
                      <a:r>
                        <a:rPr lang="en-US" sz="1800" b="0" i="1" u="none">
                          <a:solidFill>
                            <a:schemeClr val="dk1"/>
                          </a:solidFill>
                          <a:latin typeface="Calibri"/>
                          <a:ea typeface="Calibri"/>
                          <a:cs typeface="Calibri"/>
                          <a:sym typeface="Calibri"/>
                        </a:rPr>
                        <a:t>q </a:t>
                      </a:r>
                      <a:r>
                        <a:rPr lang="en-US" sz="1800" b="0" i="0" u="none">
                          <a:solidFill>
                            <a:schemeClr val="dk1"/>
                          </a:solidFill>
                          <a:latin typeface="Calibri"/>
                          <a:ea typeface="Calibri"/>
                          <a:cs typeface="Calibri"/>
                          <a:sym typeface="Calibri"/>
                        </a:rPr>
                        <a:t> V </a:t>
                      </a:r>
                      <a:r>
                        <a:rPr lang="en-US" sz="1800" b="0" i="1" u="none">
                          <a:solidFill>
                            <a:schemeClr val="dk1"/>
                          </a:solidFill>
                          <a:latin typeface="Calibri"/>
                          <a:ea typeface="Calibri"/>
                          <a:cs typeface="Calibri"/>
                          <a:sym typeface="Calibri"/>
                        </a:rPr>
                        <a:t>p</a:t>
                      </a:r>
                      <a:r>
                        <a:rPr lang="en-US" sz="1800" b="0" i="0" u="none">
                          <a:solidFill>
                            <a:schemeClr val="dk1"/>
                          </a:solidFill>
                          <a:latin typeface="Calibri"/>
                          <a:ea typeface="Calibri"/>
                          <a:cs typeface="Calibri"/>
                          <a:sym typeface="Calibri"/>
                        </a:rPr>
                        <a:t> </a:t>
                      </a:r>
                      <a:endParaRPr sz="2000" b="0" i="1"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Ʌ </a:t>
                      </a:r>
                      <a:r>
                        <a:rPr lang="en-US" sz="1800" b="0" i="1" u="none">
                          <a:solidFill>
                            <a:schemeClr val="dk1"/>
                          </a:solidFill>
                          <a:latin typeface="Calibri"/>
                          <a:ea typeface="Calibri"/>
                          <a:cs typeface="Calibri"/>
                          <a:sym typeface="Calibri"/>
                        </a:rPr>
                        <a:t>q</a:t>
                      </a:r>
                      <a:r>
                        <a:rPr lang="en-US" sz="1800" b="1" i="0" u="none">
                          <a:solidFill>
                            <a:schemeClr val="dk1"/>
                          </a:solidFill>
                          <a:latin typeface="Calibri"/>
                          <a:ea typeface="Calibri"/>
                          <a:cs typeface="Calibri"/>
                          <a:sym typeface="Calibri"/>
                        </a:rPr>
                        <a:t> </a:t>
                      </a:r>
                      <a:r>
                        <a:rPr lang="en-US" sz="1800" b="0" i="0" u="none">
                          <a:solidFill>
                            <a:schemeClr val="dk1"/>
                          </a:solidFill>
                          <a:latin typeface="Calibri"/>
                          <a:ea typeface="Calibri"/>
                          <a:cs typeface="Calibri"/>
                          <a:sym typeface="Calibri"/>
                        </a:rPr>
                        <a:t>≡ </a:t>
                      </a:r>
                      <a:r>
                        <a:rPr lang="en-US" sz="1800" b="0" i="1" u="none">
                          <a:solidFill>
                            <a:schemeClr val="dk1"/>
                          </a:solidFill>
                          <a:latin typeface="Calibri"/>
                          <a:ea typeface="Calibri"/>
                          <a:cs typeface="Calibri"/>
                          <a:sym typeface="Calibri"/>
                        </a:rPr>
                        <a:t>q </a:t>
                      </a:r>
                      <a:r>
                        <a:rPr lang="en-US" sz="1800" b="0" i="0" u="none">
                          <a:solidFill>
                            <a:schemeClr val="dk1"/>
                          </a:solidFill>
                          <a:latin typeface="Calibri"/>
                          <a:ea typeface="Calibri"/>
                          <a:cs typeface="Calibri"/>
                          <a:sym typeface="Calibri"/>
                        </a:rPr>
                        <a:t> Ʌ </a:t>
                      </a:r>
                      <a:r>
                        <a:rPr lang="en-US" sz="1800" b="0" i="1" u="none">
                          <a:solidFill>
                            <a:schemeClr val="dk1"/>
                          </a:solidFill>
                          <a:latin typeface="Calibri"/>
                          <a:ea typeface="Calibri"/>
                          <a:cs typeface="Calibri"/>
                          <a:sym typeface="Calibri"/>
                        </a:rPr>
                        <a:t>p</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Commutative Laws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641350">
                <a:tc>
                  <a:txBody>
                    <a:bodyPr/>
                    <a:lstStyle/>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V </a:t>
                      </a:r>
                      <a:r>
                        <a:rPr lang="en-US" sz="1800" b="0" i="1" u="none">
                          <a:solidFill>
                            <a:schemeClr val="dk1"/>
                          </a:solidFill>
                          <a:latin typeface="Calibri"/>
                          <a:ea typeface="Calibri"/>
                          <a:cs typeface="Calibri"/>
                          <a:sym typeface="Calibri"/>
                        </a:rPr>
                        <a:t>q) </a:t>
                      </a:r>
                      <a:r>
                        <a:rPr lang="en-US" sz="1800" b="0" i="0" u="none">
                          <a:solidFill>
                            <a:schemeClr val="dk1"/>
                          </a:solidFill>
                          <a:latin typeface="Calibri"/>
                          <a:ea typeface="Calibri"/>
                          <a:cs typeface="Calibri"/>
                          <a:sym typeface="Calibri"/>
                        </a:rPr>
                        <a:t>V</a:t>
                      </a:r>
                      <a:r>
                        <a:rPr lang="en-US" sz="1800" b="0" i="1" u="none">
                          <a:solidFill>
                            <a:schemeClr val="dk1"/>
                          </a:solidFill>
                          <a:latin typeface="Calibri"/>
                          <a:ea typeface="Calibri"/>
                          <a:cs typeface="Calibri"/>
                          <a:sym typeface="Calibri"/>
                        </a:rPr>
                        <a:t> </a:t>
                      </a:r>
                      <a:r>
                        <a:rPr lang="en-US" sz="1800" b="0" i="0" u="none">
                          <a:solidFill>
                            <a:schemeClr val="dk1"/>
                          </a:solidFill>
                          <a:latin typeface="Calibri"/>
                          <a:ea typeface="Calibri"/>
                          <a:cs typeface="Calibri"/>
                          <a:sym typeface="Calibri"/>
                        </a:rPr>
                        <a:t>r ≡ </a:t>
                      </a: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V (</a:t>
                      </a:r>
                      <a:r>
                        <a:rPr lang="en-US" sz="1800" b="0" i="1" u="none">
                          <a:solidFill>
                            <a:schemeClr val="dk1"/>
                          </a:solidFill>
                          <a:latin typeface="Calibri"/>
                          <a:ea typeface="Calibri"/>
                          <a:cs typeface="Calibri"/>
                          <a:sym typeface="Calibri"/>
                        </a:rPr>
                        <a:t>q V </a:t>
                      </a:r>
                      <a:r>
                        <a:rPr lang="en-US" sz="1800" b="0" i="0" u="none">
                          <a:solidFill>
                            <a:schemeClr val="dk1"/>
                          </a:solidFill>
                          <a:latin typeface="Calibri"/>
                          <a:ea typeface="Calibri"/>
                          <a:cs typeface="Calibri"/>
                          <a:sym typeface="Calibri"/>
                        </a:rPr>
                        <a:t>r)</a:t>
                      </a:r>
                      <a:endParaRPr sz="2000" b="0" i="1"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Ʌ </a:t>
                      </a:r>
                      <a:r>
                        <a:rPr lang="en-US" sz="1800" b="0" i="1" u="none">
                          <a:solidFill>
                            <a:schemeClr val="dk1"/>
                          </a:solidFill>
                          <a:latin typeface="Calibri"/>
                          <a:ea typeface="Calibri"/>
                          <a:cs typeface="Calibri"/>
                          <a:sym typeface="Calibri"/>
                        </a:rPr>
                        <a:t>q) </a:t>
                      </a:r>
                      <a:r>
                        <a:rPr lang="en-US" sz="1800" b="0" i="0" u="none">
                          <a:solidFill>
                            <a:schemeClr val="dk1"/>
                          </a:solidFill>
                          <a:latin typeface="Calibri"/>
                          <a:ea typeface="Calibri"/>
                          <a:cs typeface="Calibri"/>
                          <a:sym typeface="Calibri"/>
                        </a:rPr>
                        <a:t>Ʌ r ≡ </a:t>
                      </a: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Ʌ (</a:t>
                      </a:r>
                      <a:r>
                        <a:rPr lang="en-US" sz="1800" b="0" i="1" u="none">
                          <a:solidFill>
                            <a:schemeClr val="dk1"/>
                          </a:solidFill>
                          <a:latin typeface="Calibri"/>
                          <a:ea typeface="Calibri"/>
                          <a:cs typeface="Calibri"/>
                          <a:sym typeface="Calibri"/>
                        </a:rPr>
                        <a:t>q </a:t>
                      </a:r>
                      <a:r>
                        <a:rPr lang="en-US" sz="1800" b="0" i="0" u="none">
                          <a:solidFill>
                            <a:schemeClr val="dk1"/>
                          </a:solidFill>
                          <a:latin typeface="Calibri"/>
                          <a:ea typeface="Calibri"/>
                          <a:cs typeface="Calibri"/>
                          <a:sym typeface="Calibri"/>
                        </a:rPr>
                        <a:t>Ʌ</a:t>
                      </a:r>
                      <a:r>
                        <a:rPr lang="en-US" sz="1800" b="0" i="1" u="none">
                          <a:solidFill>
                            <a:schemeClr val="dk1"/>
                          </a:solidFill>
                          <a:latin typeface="Calibri"/>
                          <a:ea typeface="Calibri"/>
                          <a:cs typeface="Calibri"/>
                          <a:sym typeface="Calibri"/>
                        </a:rPr>
                        <a:t> </a:t>
                      </a:r>
                      <a:r>
                        <a:rPr lang="en-US" sz="1800" b="0" i="0" u="none">
                          <a:solidFill>
                            <a:schemeClr val="dk1"/>
                          </a:solidFill>
                          <a:latin typeface="Calibri"/>
                          <a:ea typeface="Calibri"/>
                          <a:cs typeface="Calibri"/>
                          <a:sym typeface="Calibri"/>
                        </a:rPr>
                        <a:t>r)</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Associative Laws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639750">
                <a:tc>
                  <a:txBody>
                    <a:bodyPr/>
                    <a:lstStyle/>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V (</a:t>
                      </a:r>
                      <a:r>
                        <a:rPr lang="en-US" sz="1800" b="0" i="1" u="none">
                          <a:solidFill>
                            <a:schemeClr val="dk1"/>
                          </a:solidFill>
                          <a:latin typeface="Calibri"/>
                          <a:ea typeface="Calibri"/>
                          <a:cs typeface="Calibri"/>
                          <a:sym typeface="Calibri"/>
                        </a:rPr>
                        <a:t>q </a:t>
                      </a:r>
                      <a:r>
                        <a:rPr lang="en-US" sz="1800" b="0" i="0" u="none">
                          <a:solidFill>
                            <a:schemeClr val="dk1"/>
                          </a:solidFill>
                          <a:latin typeface="Calibri"/>
                          <a:ea typeface="Calibri"/>
                          <a:cs typeface="Calibri"/>
                          <a:sym typeface="Calibri"/>
                        </a:rPr>
                        <a:t>Ʌ</a:t>
                      </a:r>
                      <a:r>
                        <a:rPr lang="en-US" sz="1800" b="0" i="1" u="none">
                          <a:solidFill>
                            <a:schemeClr val="dk1"/>
                          </a:solidFill>
                          <a:latin typeface="Calibri"/>
                          <a:ea typeface="Calibri"/>
                          <a:cs typeface="Calibri"/>
                          <a:sym typeface="Calibri"/>
                        </a:rPr>
                        <a:t> </a:t>
                      </a:r>
                      <a:r>
                        <a:rPr lang="en-US" sz="1800" b="0" i="0" u="none">
                          <a:solidFill>
                            <a:schemeClr val="dk1"/>
                          </a:solidFill>
                          <a:latin typeface="Calibri"/>
                          <a:ea typeface="Calibri"/>
                          <a:cs typeface="Calibri"/>
                          <a:sym typeface="Calibri"/>
                        </a:rPr>
                        <a:t>r) ≡ (</a:t>
                      </a: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V</a:t>
                      </a:r>
                      <a:r>
                        <a:rPr lang="en-US" sz="1800" b="0" i="1" u="none">
                          <a:solidFill>
                            <a:schemeClr val="dk1"/>
                          </a:solidFill>
                          <a:latin typeface="Calibri"/>
                          <a:ea typeface="Calibri"/>
                          <a:cs typeface="Calibri"/>
                          <a:sym typeface="Calibri"/>
                        </a:rPr>
                        <a:t> q </a:t>
                      </a:r>
                      <a:r>
                        <a:rPr lang="en-US" sz="1800" b="0" i="0" u="none">
                          <a:solidFill>
                            <a:schemeClr val="dk1"/>
                          </a:solidFill>
                          <a:latin typeface="Calibri"/>
                          <a:ea typeface="Calibri"/>
                          <a:cs typeface="Calibri"/>
                          <a:sym typeface="Calibri"/>
                        </a:rPr>
                        <a:t>) Ʌ ( </a:t>
                      </a: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V</a:t>
                      </a:r>
                      <a:r>
                        <a:rPr lang="en-US" sz="1800" b="0" i="1" u="none">
                          <a:solidFill>
                            <a:schemeClr val="dk1"/>
                          </a:solidFill>
                          <a:latin typeface="Calibri"/>
                          <a:ea typeface="Calibri"/>
                          <a:cs typeface="Calibri"/>
                          <a:sym typeface="Calibri"/>
                        </a:rPr>
                        <a:t> </a:t>
                      </a:r>
                      <a:r>
                        <a:rPr lang="en-US" sz="1800" b="0" i="0" u="none">
                          <a:solidFill>
                            <a:schemeClr val="dk1"/>
                          </a:solidFill>
                          <a:latin typeface="Calibri"/>
                          <a:ea typeface="Calibri"/>
                          <a:cs typeface="Calibri"/>
                          <a:sym typeface="Calibri"/>
                        </a:rPr>
                        <a:t>r)</a:t>
                      </a:r>
                      <a:endParaRPr sz="2000" b="0" i="1"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Ʌ (</a:t>
                      </a:r>
                      <a:r>
                        <a:rPr lang="en-US" sz="1800" b="0" i="1" u="none">
                          <a:solidFill>
                            <a:schemeClr val="dk1"/>
                          </a:solidFill>
                          <a:latin typeface="Calibri"/>
                          <a:ea typeface="Calibri"/>
                          <a:cs typeface="Calibri"/>
                          <a:sym typeface="Calibri"/>
                        </a:rPr>
                        <a:t>q </a:t>
                      </a:r>
                      <a:r>
                        <a:rPr lang="en-US" sz="1800" b="0" i="0" u="none">
                          <a:solidFill>
                            <a:schemeClr val="dk1"/>
                          </a:solidFill>
                          <a:latin typeface="Calibri"/>
                          <a:ea typeface="Calibri"/>
                          <a:cs typeface="Calibri"/>
                          <a:sym typeface="Calibri"/>
                        </a:rPr>
                        <a:t>V r)  ≡ (</a:t>
                      </a: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 Ʌ </a:t>
                      </a:r>
                      <a:r>
                        <a:rPr lang="en-US" sz="1800" b="0" i="1" u="none">
                          <a:solidFill>
                            <a:schemeClr val="dk1"/>
                          </a:solidFill>
                          <a:latin typeface="Calibri"/>
                          <a:ea typeface="Calibri"/>
                          <a:cs typeface="Calibri"/>
                          <a:sym typeface="Calibri"/>
                        </a:rPr>
                        <a:t>q</a:t>
                      </a:r>
                      <a:r>
                        <a:rPr lang="en-US" sz="1800" b="0" i="0" u="none">
                          <a:solidFill>
                            <a:schemeClr val="dk1"/>
                          </a:solidFill>
                          <a:latin typeface="Calibri"/>
                          <a:ea typeface="Calibri"/>
                          <a:cs typeface="Calibri"/>
                          <a:sym typeface="Calibri"/>
                        </a:rPr>
                        <a:t>) V</a:t>
                      </a:r>
                      <a:r>
                        <a:rPr lang="en-US" sz="1800" b="0" i="1" u="none">
                          <a:solidFill>
                            <a:schemeClr val="dk1"/>
                          </a:solidFill>
                          <a:latin typeface="Calibri"/>
                          <a:ea typeface="Calibri"/>
                          <a:cs typeface="Calibri"/>
                          <a:sym typeface="Calibri"/>
                        </a:rPr>
                        <a:t> </a:t>
                      </a:r>
                      <a:r>
                        <a:rPr lang="en-US" sz="1800" b="0" i="0" u="none">
                          <a:solidFill>
                            <a:schemeClr val="dk1"/>
                          </a:solidFill>
                          <a:latin typeface="Calibri"/>
                          <a:ea typeface="Calibri"/>
                          <a:cs typeface="Calibri"/>
                          <a:sym typeface="Calibri"/>
                        </a:rPr>
                        <a:t>(</a:t>
                      </a: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Ʌ</a:t>
                      </a:r>
                      <a:r>
                        <a:rPr lang="en-US" sz="1800" b="0" i="1" u="none">
                          <a:solidFill>
                            <a:schemeClr val="dk1"/>
                          </a:solidFill>
                          <a:latin typeface="Calibri"/>
                          <a:ea typeface="Calibri"/>
                          <a:cs typeface="Calibri"/>
                          <a:sym typeface="Calibri"/>
                        </a:rPr>
                        <a:t> </a:t>
                      </a:r>
                      <a:r>
                        <a:rPr lang="en-US" sz="1800" b="0" i="0" u="none">
                          <a:solidFill>
                            <a:schemeClr val="dk1"/>
                          </a:solidFill>
                          <a:latin typeface="Calibri"/>
                          <a:ea typeface="Calibri"/>
                          <a:cs typeface="Calibri"/>
                          <a:sym typeface="Calibri"/>
                        </a:rPr>
                        <a:t>r)</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Distributive Laws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639750">
                <a:tc>
                  <a:txBody>
                    <a:bodyPr/>
                    <a:lstStyle/>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a:t>
                      </a:r>
                      <a:r>
                        <a:rPr lang="en-US" sz="1800" b="0" i="0" u="none">
                          <a:solidFill>
                            <a:schemeClr val="dk1"/>
                          </a:solidFill>
                          <a:latin typeface="Calibri"/>
                          <a:ea typeface="Calibri"/>
                          <a:cs typeface="Calibri"/>
                          <a:sym typeface="Calibri"/>
                        </a:rPr>
                        <a:t>( </a:t>
                      </a: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Ʌ</a:t>
                      </a:r>
                      <a:r>
                        <a:rPr lang="en-US" sz="1800" b="0" i="1" u="none">
                          <a:solidFill>
                            <a:schemeClr val="dk1"/>
                          </a:solidFill>
                          <a:latin typeface="Calibri"/>
                          <a:ea typeface="Calibri"/>
                          <a:cs typeface="Calibri"/>
                          <a:sym typeface="Calibri"/>
                        </a:rPr>
                        <a:t> q</a:t>
                      </a:r>
                      <a:r>
                        <a:rPr lang="en-US" sz="1800" b="0" i="0" u="none">
                          <a:solidFill>
                            <a:schemeClr val="dk1"/>
                          </a:solidFill>
                          <a:latin typeface="Calibri"/>
                          <a:ea typeface="Calibri"/>
                          <a:cs typeface="Calibri"/>
                          <a:sym typeface="Calibri"/>
                        </a:rPr>
                        <a:t>)</a:t>
                      </a:r>
                      <a:r>
                        <a:rPr lang="en-US" sz="1800" b="0" i="1" u="none">
                          <a:solidFill>
                            <a:schemeClr val="dk1"/>
                          </a:solidFill>
                          <a:latin typeface="Calibri"/>
                          <a:ea typeface="Calibri"/>
                          <a:cs typeface="Calibri"/>
                          <a:sym typeface="Calibri"/>
                        </a:rPr>
                        <a:t>  </a:t>
                      </a:r>
                      <a:r>
                        <a:rPr lang="en-US" sz="1800" b="0" i="0" u="none">
                          <a:solidFill>
                            <a:schemeClr val="dk1"/>
                          </a:solidFill>
                          <a:latin typeface="Calibri"/>
                          <a:ea typeface="Calibri"/>
                          <a:cs typeface="Calibri"/>
                          <a:sym typeface="Calibri"/>
                        </a:rPr>
                        <a:t>≡  </a:t>
                      </a:r>
                      <a:r>
                        <a:rPr lang="en-US" sz="1800" b="0" i="1" u="none">
                          <a:solidFill>
                            <a:schemeClr val="dk1"/>
                          </a:solidFill>
                          <a:latin typeface="Calibri"/>
                          <a:ea typeface="Calibri"/>
                          <a:cs typeface="Calibri"/>
                          <a:sym typeface="Calibri"/>
                        </a:rPr>
                        <a:t>┐p V ┐q</a:t>
                      </a:r>
                      <a:endParaRPr/>
                    </a:p>
                    <a:p>
                      <a:pPr marL="0" marR="0" lvl="0" indent="0" algn="l" rtl="0">
                        <a:lnSpc>
                          <a:spcPct val="100000"/>
                        </a:lnSpc>
                        <a:spcBef>
                          <a:spcPts val="0"/>
                        </a:spcBef>
                        <a:spcAft>
                          <a:spcPts val="0"/>
                        </a:spcAft>
                        <a:buClr>
                          <a:schemeClr val="dk1"/>
                        </a:buClr>
                        <a:buSzPts val="1800"/>
                        <a:buFont typeface="Calibri"/>
                        <a:buNone/>
                      </a:pPr>
                      <a:r>
                        <a:rPr lang="en-US" sz="1800" b="0" i="1" u="none">
                          <a:solidFill>
                            <a:schemeClr val="dk1"/>
                          </a:solidFill>
                          <a:latin typeface="Calibri"/>
                          <a:ea typeface="Calibri"/>
                          <a:cs typeface="Calibri"/>
                          <a:sym typeface="Calibri"/>
                        </a:rPr>
                        <a:t>┐</a:t>
                      </a:r>
                      <a:r>
                        <a:rPr lang="en-US" sz="1800" b="0" i="0" u="none">
                          <a:solidFill>
                            <a:schemeClr val="dk1"/>
                          </a:solidFill>
                          <a:latin typeface="Calibri"/>
                          <a:ea typeface="Calibri"/>
                          <a:cs typeface="Calibri"/>
                          <a:sym typeface="Calibri"/>
                        </a:rPr>
                        <a:t>( </a:t>
                      </a: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V</a:t>
                      </a:r>
                      <a:r>
                        <a:rPr lang="en-US" sz="1800" b="0" i="1" u="none">
                          <a:solidFill>
                            <a:schemeClr val="dk1"/>
                          </a:solidFill>
                          <a:latin typeface="Calibri"/>
                          <a:ea typeface="Calibri"/>
                          <a:cs typeface="Calibri"/>
                          <a:sym typeface="Calibri"/>
                        </a:rPr>
                        <a:t> q</a:t>
                      </a:r>
                      <a:r>
                        <a:rPr lang="en-US" sz="1800" b="0" i="0" u="none">
                          <a:solidFill>
                            <a:schemeClr val="dk1"/>
                          </a:solidFill>
                          <a:latin typeface="Calibri"/>
                          <a:ea typeface="Calibri"/>
                          <a:cs typeface="Calibri"/>
                          <a:sym typeface="Calibri"/>
                        </a:rPr>
                        <a:t>)</a:t>
                      </a:r>
                      <a:r>
                        <a:rPr lang="en-US" sz="1800" b="0" i="1" u="none">
                          <a:solidFill>
                            <a:schemeClr val="dk1"/>
                          </a:solidFill>
                          <a:latin typeface="Calibri"/>
                          <a:ea typeface="Calibri"/>
                          <a:cs typeface="Calibri"/>
                          <a:sym typeface="Calibri"/>
                        </a:rPr>
                        <a:t>  </a:t>
                      </a:r>
                      <a:r>
                        <a:rPr lang="en-US" sz="1800" b="0" i="0" u="none">
                          <a:solidFill>
                            <a:schemeClr val="dk1"/>
                          </a:solidFill>
                          <a:latin typeface="Calibri"/>
                          <a:ea typeface="Calibri"/>
                          <a:cs typeface="Calibri"/>
                          <a:sym typeface="Calibri"/>
                        </a:rPr>
                        <a:t>≡  </a:t>
                      </a:r>
                      <a:r>
                        <a:rPr lang="en-US" sz="1800" b="0" i="1" u="none">
                          <a:solidFill>
                            <a:schemeClr val="dk1"/>
                          </a:solidFill>
                          <a:latin typeface="Calibri"/>
                          <a:ea typeface="Calibri"/>
                          <a:cs typeface="Calibri"/>
                          <a:sym typeface="Calibri"/>
                        </a:rPr>
                        <a:t>┐p </a:t>
                      </a:r>
                      <a:r>
                        <a:rPr lang="en-US" sz="1800" b="0" i="0" u="none">
                          <a:solidFill>
                            <a:schemeClr val="dk1"/>
                          </a:solidFill>
                          <a:latin typeface="Calibri"/>
                          <a:ea typeface="Calibri"/>
                          <a:cs typeface="Calibri"/>
                          <a:sym typeface="Calibri"/>
                        </a:rPr>
                        <a:t>Ʌ</a:t>
                      </a:r>
                      <a:r>
                        <a:rPr lang="en-US" sz="1800" b="0" i="1" u="none">
                          <a:solidFill>
                            <a:schemeClr val="dk1"/>
                          </a:solidFill>
                          <a:latin typeface="Calibri"/>
                          <a:ea typeface="Calibri"/>
                          <a:cs typeface="Calibri"/>
                          <a:sym typeface="Calibri"/>
                        </a:rPr>
                        <a:t> ┐q</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 Morgan’s Laws</a:t>
                      </a:r>
                      <a:endParaRPr/>
                    </a:p>
                    <a:p>
                      <a:pPr marL="0" marR="0" lvl="0" indent="0" algn="l" rtl="0">
                        <a:spcBef>
                          <a:spcPts val="0"/>
                        </a:spcBef>
                        <a:spcAft>
                          <a:spcPts val="0"/>
                        </a:spcAft>
                        <a:buNone/>
                      </a:pPr>
                      <a:endParaRPr sz="1800" b="0" i="0" u="none">
                        <a:solidFill>
                          <a:schemeClr val="dk1"/>
                        </a:solidFill>
                        <a:latin typeface="Calibri"/>
                        <a:ea typeface="Calibri"/>
                        <a:cs typeface="Calibri"/>
                        <a:sym typeface="Calibri"/>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402" name="Google Shape;402;p27"/>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898989"/>
              </a:buClr>
              <a:buSzPts val="1000"/>
              <a:buFont typeface="Arial"/>
              <a:buNone/>
            </a:pPr>
            <a:fld id="{00000000-1234-1234-1234-123412341234}" type="slidenum">
              <a:rPr lang="en-US" sz="1000" b="0" i="0" u="none">
                <a:solidFill>
                  <a:srgbClr val="898989"/>
                </a:solidFill>
                <a:latin typeface="Arial"/>
                <a:ea typeface="Arial"/>
                <a:cs typeface="Arial"/>
                <a:sym typeface="Arial"/>
              </a:rPr>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2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2"/>
              </a:buClr>
              <a:buSzPts val="3400"/>
              <a:buFont typeface="Arial"/>
              <a:buNone/>
            </a:pPr>
            <a:r>
              <a:rPr lang="en-US" sz="3400" b="0" i="0" u="none">
                <a:solidFill>
                  <a:schemeClr val="dk2"/>
                </a:solidFill>
                <a:latin typeface="Arial"/>
                <a:ea typeface="Arial"/>
                <a:cs typeface="Arial"/>
                <a:sym typeface="Arial"/>
              </a:rPr>
              <a:t>Constructing New Logical Equivalences</a:t>
            </a:r>
            <a:endParaRPr/>
          </a:p>
        </p:txBody>
      </p:sp>
      <p:sp>
        <p:nvSpPr>
          <p:cNvPr id="408" name="Google Shape;408;p28"/>
          <p:cNvSpPr txBox="1">
            <a:spLocks noGrp="1"/>
          </p:cNvSpPr>
          <p:nvPr>
            <p:ph type="body" idx="1"/>
          </p:nvPr>
        </p:nvSpPr>
        <p:spPr>
          <a:xfrm>
            <a:off x="228600" y="1524000"/>
            <a:ext cx="89154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Example: Show that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 and </a:t>
            </a:r>
            <a:r>
              <a:rPr lang="en-US" sz="2000" b="0" i="1" u="none">
                <a:solidFill>
                  <a:schemeClr val="dk1"/>
                </a:solidFill>
                <a:latin typeface="Arial"/>
                <a:ea typeface="Arial"/>
                <a:cs typeface="Arial"/>
                <a:sym typeface="Arial"/>
              </a:rPr>
              <a:t>p</a:t>
            </a:r>
            <a:r>
              <a:rPr lang="en-US" sz="1600" b="0" i="0" u="none">
                <a:solidFill>
                  <a:schemeClr val="dk1"/>
                </a:solidFill>
                <a:latin typeface="Arial"/>
                <a:ea typeface="Arial"/>
                <a:cs typeface="Arial"/>
                <a:sym typeface="Arial"/>
              </a:rPr>
              <a:t> Λ </a:t>
            </a: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q  </a:t>
            </a:r>
            <a:r>
              <a:rPr lang="en-US" sz="2000" b="0" i="0" u="none">
                <a:solidFill>
                  <a:schemeClr val="dk1"/>
                </a:solidFill>
                <a:latin typeface="Arial"/>
                <a:ea typeface="Arial"/>
                <a:cs typeface="Arial"/>
                <a:sym typeface="Arial"/>
              </a:rPr>
              <a:t>are logically equivalent. </a:t>
            </a:r>
            <a:endParaRPr/>
          </a:p>
          <a:p>
            <a:pPr marL="342900" lvl="0" indent="-34290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Solution:</a:t>
            </a:r>
            <a:endParaRPr/>
          </a:p>
          <a:p>
            <a:pPr marL="342900" lvl="0" indent="-34290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 ≡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a:t>
            </a:r>
            <a:endParaRPr sz="2000" b="0" i="1" u="none">
              <a:solidFill>
                <a:schemeClr val="dk1"/>
              </a:solidFill>
              <a:latin typeface="Arial"/>
              <a:ea typeface="Arial"/>
              <a:cs typeface="Arial"/>
              <a:sym typeface="Arial"/>
            </a:endParaRPr>
          </a:p>
          <a:p>
            <a:pPr marL="342900" lvl="0" indent="-34290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a:t>
            </a:r>
            <a:r>
              <a:rPr lang="en-US" sz="1600" b="0" i="0" u="none">
                <a:solidFill>
                  <a:schemeClr val="dk1"/>
                </a:solidFill>
                <a:latin typeface="Arial"/>
                <a:ea typeface="Arial"/>
                <a:cs typeface="Arial"/>
                <a:sym typeface="Arial"/>
              </a:rPr>
              <a:t>Λ </a:t>
            </a: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q 		by the second De Morgan law</a:t>
            </a:r>
            <a:endParaRPr/>
          </a:p>
          <a:p>
            <a:pPr marL="342900" lvl="0" indent="-342900" algn="l" rtl="0">
              <a:lnSpc>
                <a:spcPct val="90000"/>
              </a:lnSpc>
              <a:spcBef>
                <a:spcPts val="400"/>
              </a:spcBef>
              <a:spcAft>
                <a:spcPts val="0"/>
              </a:spcAft>
              <a:buSzPts val="2000"/>
              <a:buNone/>
            </a:pPr>
            <a:r>
              <a:rPr lang="en-US" sz="2000" b="0" i="1" u="none">
                <a:solidFill>
                  <a:schemeClr val="dk1"/>
                </a:solidFill>
                <a:latin typeface="Arial"/>
                <a:ea typeface="Arial"/>
                <a:cs typeface="Arial"/>
                <a:sym typeface="Arial"/>
              </a:rPr>
              <a:t>			    </a:t>
            </a: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p</a:t>
            </a:r>
            <a:r>
              <a:rPr lang="en-US" sz="1600" b="0" i="0" u="none">
                <a:solidFill>
                  <a:schemeClr val="dk1"/>
                </a:solidFill>
                <a:latin typeface="Arial"/>
                <a:ea typeface="Arial"/>
                <a:cs typeface="Arial"/>
                <a:sym typeface="Arial"/>
              </a:rPr>
              <a:t> Λ </a:t>
            </a: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q 		by the double negation law</a:t>
            </a:r>
            <a:endParaRPr/>
          </a:p>
          <a:p>
            <a:pPr marL="342900" lvl="0" indent="-342900" algn="l" rtl="0">
              <a:lnSpc>
                <a:spcPct val="90000"/>
              </a:lnSpc>
              <a:spcBef>
                <a:spcPts val="400"/>
              </a:spcBef>
              <a:spcAft>
                <a:spcPts val="0"/>
              </a:spcAft>
              <a:buClr>
                <a:schemeClr val="accent1"/>
              </a:buClr>
              <a:buSzPts val="2000"/>
              <a:buFont typeface="Noto Sans Symbols"/>
              <a:buChar char="●"/>
            </a:pPr>
            <a:r>
              <a:rPr lang="en-US" sz="2000" b="0" i="1" u="none">
                <a:solidFill>
                  <a:schemeClr val="dk1"/>
                </a:solidFill>
                <a:latin typeface="Arial"/>
                <a:ea typeface="Arial"/>
                <a:cs typeface="Arial"/>
                <a:sym typeface="Arial"/>
              </a:rPr>
              <a:t>Example: Show that (p</a:t>
            </a:r>
            <a:r>
              <a:rPr lang="en-US" sz="1600" b="0" i="0" u="none">
                <a:solidFill>
                  <a:schemeClr val="dk1"/>
                </a:solidFill>
                <a:latin typeface="Arial"/>
                <a:ea typeface="Arial"/>
                <a:cs typeface="Arial"/>
                <a:sym typeface="Arial"/>
              </a:rPr>
              <a:t> Λ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is a tautology.</a:t>
            </a:r>
            <a:endParaRPr/>
          </a:p>
          <a:p>
            <a:pPr marL="342900" lvl="0" indent="-34290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Solution: To show that this statement is a tautology, we will use logical equivalences to demonstrate that it is logically equivalent to T. </a:t>
            </a:r>
            <a:endParaRPr/>
          </a:p>
          <a:p>
            <a:pPr marL="342900" lvl="0" indent="-34290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(p</a:t>
            </a:r>
            <a:r>
              <a:rPr lang="en-US" sz="1600" b="0" i="0" u="none">
                <a:solidFill>
                  <a:schemeClr val="dk1"/>
                </a:solidFill>
                <a:latin typeface="Arial"/>
                <a:ea typeface="Arial"/>
                <a:cs typeface="Arial"/>
                <a:sym typeface="Arial"/>
              </a:rPr>
              <a:t> Λ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p</a:t>
            </a:r>
            <a:r>
              <a:rPr lang="en-US" sz="1600" b="0" i="0" u="none">
                <a:solidFill>
                  <a:schemeClr val="dk1"/>
                </a:solidFill>
                <a:latin typeface="Arial"/>
                <a:ea typeface="Arial"/>
                <a:cs typeface="Arial"/>
                <a:sym typeface="Arial"/>
              </a:rPr>
              <a:t> Λ </a:t>
            </a:r>
            <a:r>
              <a:rPr lang="en-US" sz="2000" b="0" i="1" u="none">
                <a:solidFill>
                  <a:schemeClr val="dk1"/>
                </a:solidFill>
                <a:latin typeface="Arial"/>
                <a:ea typeface="Arial"/>
                <a:cs typeface="Arial"/>
                <a:sym typeface="Arial"/>
              </a:rPr>
              <a:t>q) </a:t>
            </a:r>
            <a:r>
              <a:rPr lang="en-US" sz="2000" b="0" i="0" u="none">
                <a:solidFill>
                  <a:schemeClr val="dk1"/>
                </a:solidFill>
                <a:latin typeface="Arial"/>
                <a:ea typeface="Arial"/>
                <a:cs typeface="Arial"/>
                <a:sym typeface="Arial"/>
              </a:rPr>
              <a:t>ν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a:t>
            </a:r>
            <a:endParaRPr/>
          </a:p>
          <a:p>
            <a:pPr marL="342900" lvl="0" indent="-34290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 p</a:t>
            </a:r>
            <a:r>
              <a:rPr lang="en-US" sz="1600" b="0" i="0" u="none">
                <a:solidFill>
                  <a:schemeClr val="dk1"/>
                </a:solidFill>
                <a:latin typeface="Arial"/>
                <a:ea typeface="Arial"/>
                <a:cs typeface="Arial"/>
                <a:sym typeface="Arial"/>
              </a:rPr>
              <a:t> </a:t>
            </a:r>
            <a:r>
              <a:rPr lang="en-US" sz="2000" b="0" i="0" u="none">
                <a:solidFill>
                  <a:schemeClr val="dk1"/>
                </a:solidFill>
                <a:latin typeface="Arial"/>
                <a:ea typeface="Arial"/>
                <a:cs typeface="Arial"/>
                <a:sym typeface="Arial"/>
              </a:rPr>
              <a:t>ν</a:t>
            </a:r>
            <a:r>
              <a:rPr lang="en-US" sz="1600" b="0" i="0" u="none">
                <a:solidFill>
                  <a:schemeClr val="dk1"/>
                </a:solidFill>
                <a:latin typeface="Arial"/>
                <a:ea typeface="Arial"/>
                <a:cs typeface="Arial"/>
                <a:sym typeface="Arial"/>
              </a:rPr>
              <a:t> </a:t>
            </a: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q) </a:t>
            </a:r>
            <a:r>
              <a:rPr lang="en-US" sz="2000" b="0" i="0" u="none">
                <a:solidFill>
                  <a:schemeClr val="dk1"/>
                </a:solidFill>
                <a:latin typeface="Arial"/>
                <a:ea typeface="Arial"/>
                <a:cs typeface="Arial"/>
                <a:sym typeface="Arial"/>
              </a:rPr>
              <a:t>ν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by the first De Morgan law</a:t>
            </a:r>
            <a:endParaRPr/>
          </a:p>
          <a:p>
            <a:pPr marL="342900" lvl="0" indent="-34290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 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p) </a:t>
            </a:r>
            <a:r>
              <a:rPr lang="en-US" sz="2000" b="0" i="0" u="none">
                <a:solidFill>
                  <a:schemeClr val="dk1"/>
                </a:solidFill>
                <a:latin typeface="Arial"/>
                <a:ea typeface="Arial"/>
                <a:cs typeface="Arial"/>
                <a:sym typeface="Arial"/>
              </a:rPr>
              <a:t>ν (¬</a:t>
            </a:r>
            <a:r>
              <a:rPr lang="en-US" sz="2000" b="0" i="1" u="none">
                <a:solidFill>
                  <a:schemeClr val="dk1"/>
                </a:solidFill>
                <a:latin typeface="Arial"/>
                <a:ea typeface="Arial"/>
                <a:cs typeface="Arial"/>
                <a:sym typeface="Arial"/>
              </a:rPr>
              <a:t> q</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  by the associative and      						   commutative law for disjunction</a:t>
            </a:r>
            <a:endParaRPr/>
          </a:p>
          <a:p>
            <a:pPr marL="342900" lvl="0" indent="-34290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 T ν T	  From tautology example	     </a:t>
            </a:r>
            <a:endParaRPr/>
          </a:p>
          <a:p>
            <a:pPr marL="342900" lvl="0" indent="-342900" algn="l" rtl="0">
              <a:lnSpc>
                <a:spcPct val="90000"/>
              </a:lnSpc>
              <a:spcBef>
                <a:spcPts val="400"/>
              </a:spcBef>
              <a:spcAft>
                <a:spcPts val="0"/>
              </a:spcAft>
              <a:buSzPts val="2000"/>
              <a:buNone/>
            </a:pPr>
            <a:r>
              <a:rPr lang="en-US" sz="2000" b="0" i="0" u="none">
                <a:solidFill>
                  <a:schemeClr val="dk1"/>
                </a:solidFill>
                <a:latin typeface="Arial"/>
                <a:ea typeface="Arial"/>
                <a:cs typeface="Arial"/>
                <a:sym typeface="Arial"/>
              </a:rPr>
              <a:t>			      ≡ T</a:t>
            </a:r>
            <a:endParaRPr sz="2000" b="0" i="0" u="none">
              <a:solidFill>
                <a:schemeClr val="dk1"/>
              </a:solidFill>
              <a:latin typeface="Arial"/>
              <a:ea typeface="Arial"/>
              <a:cs typeface="Arial"/>
              <a:sym typeface="Arial"/>
            </a:endParaRPr>
          </a:p>
          <a:p>
            <a:pPr marL="342900" lvl="0" indent="-342900" algn="l" rtl="0">
              <a:lnSpc>
                <a:spcPct val="90000"/>
              </a:lnSpc>
              <a:spcBef>
                <a:spcPts val="400"/>
              </a:spcBef>
              <a:spcAft>
                <a:spcPts val="0"/>
              </a:spcAft>
              <a:buClr>
                <a:schemeClr val="accent1"/>
              </a:buClr>
              <a:buSzPts val="2000"/>
              <a:buFont typeface="Noto Sans Symbols"/>
              <a:buChar char="●"/>
            </a:pPr>
            <a:r>
              <a:rPr lang="en-US" sz="2000" b="0" i="1" u="none">
                <a:solidFill>
                  <a:schemeClr val="dk1"/>
                </a:solidFill>
                <a:latin typeface="Arial"/>
                <a:ea typeface="Arial"/>
                <a:cs typeface="Arial"/>
                <a:sym typeface="Arial"/>
              </a:rPr>
              <a:t>Note: The above examples can also be done using truth tables</a:t>
            </a:r>
            <a:r>
              <a:rPr lang="en-US" sz="2000" b="0" i="0" u="none">
                <a:solidFill>
                  <a:schemeClr val="dk1"/>
                </a:solidFill>
                <a:latin typeface="Arial"/>
                <a:ea typeface="Arial"/>
                <a:cs typeface="Arial"/>
                <a:sym typeface="Arial"/>
              </a:rPr>
              <a:t>. </a:t>
            </a:r>
            <a:endParaRPr/>
          </a:p>
        </p:txBody>
      </p:sp>
      <p:sp>
        <p:nvSpPr>
          <p:cNvPr id="409" name="Google Shape;409;p28"/>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898989"/>
              </a:buClr>
              <a:buSzPts val="1000"/>
              <a:buFont typeface="Arial"/>
              <a:buNone/>
            </a:pPr>
            <a:fld id="{00000000-1234-1234-1234-123412341234}" type="slidenum">
              <a:rPr lang="en-US" sz="1000" b="0" i="0" u="none">
                <a:solidFill>
                  <a:srgbClr val="898989"/>
                </a:solidFill>
                <a:latin typeface="Arial"/>
                <a:ea typeface="Arial"/>
                <a:cs typeface="Arial"/>
                <a:sym typeface="Arial"/>
              </a:rPr>
              <a:t>31</a:t>
            </a:fld>
            <a:endParaRPr/>
          </a:p>
        </p:txBody>
      </p:sp>
      <p:sp>
        <p:nvSpPr>
          <p:cNvPr id="410" name="Google Shape;410;p28"/>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2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1.2 Propositional Equivalences</a:t>
            </a:r>
            <a:endParaRPr/>
          </a:p>
        </p:txBody>
      </p:sp>
      <p:sp>
        <p:nvSpPr>
          <p:cNvPr id="416" name="Google Shape;416;p29"/>
          <p:cNvSpPr txBox="1"/>
          <p:nvPr/>
        </p:nvSpPr>
        <p:spPr>
          <a:xfrm>
            <a:off x="6324600" y="3581400"/>
            <a:ext cx="1841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17" name="Google Shape;417;p29"/>
          <p:cNvSpPr txBox="1"/>
          <p:nvPr/>
        </p:nvSpPr>
        <p:spPr>
          <a:xfrm>
            <a:off x="1524000" y="1066800"/>
            <a:ext cx="6553200" cy="519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39933"/>
              </a:buClr>
              <a:buSzPts val="2800"/>
              <a:buFont typeface="Arial"/>
              <a:buNone/>
            </a:pPr>
            <a:r>
              <a:rPr lang="en-US" sz="2800" b="0" i="0" u="sng">
                <a:solidFill>
                  <a:srgbClr val="339933"/>
                </a:solidFill>
                <a:latin typeface="Arial"/>
                <a:ea typeface="Arial"/>
                <a:cs typeface="Arial"/>
                <a:sym typeface="Arial"/>
              </a:rPr>
              <a:t>Constructing New Logical Equivalences</a:t>
            </a:r>
            <a:endParaRPr/>
          </a:p>
        </p:txBody>
      </p:sp>
      <p:sp>
        <p:nvSpPr>
          <p:cNvPr id="418" name="Google Shape;418;p29"/>
          <p:cNvSpPr txBox="1">
            <a:spLocks noGrp="1"/>
          </p:cNvSpPr>
          <p:nvPr>
            <p:ph type="body" idx="1"/>
          </p:nvPr>
        </p:nvSpPr>
        <p:spPr>
          <a:xfrm>
            <a:off x="228600" y="1524000"/>
            <a:ext cx="8915400" cy="53340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accent1"/>
              </a:buClr>
              <a:buSzPts val="2000"/>
              <a:buFont typeface="Noto Sans Symbols"/>
              <a:buChar char="●"/>
            </a:pPr>
            <a:r>
              <a:rPr lang="en-US" sz="2000" b="0" i="0" u="none">
                <a:solidFill>
                  <a:schemeClr val="dk1"/>
                </a:solidFill>
                <a:latin typeface="Arial"/>
                <a:ea typeface="Arial"/>
                <a:cs typeface="Arial"/>
                <a:sym typeface="Arial"/>
              </a:rPr>
              <a:t>Example: Show that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 and </a:t>
            </a:r>
            <a:r>
              <a:rPr lang="en-US" sz="2000" b="0" i="1" u="none">
                <a:solidFill>
                  <a:schemeClr val="dk1"/>
                </a:solidFill>
                <a:latin typeface="Arial"/>
                <a:ea typeface="Arial"/>
                <a:cs typeface="Arial"/>
                <a:sym typeface="Arial"/>
              </a:rPr>
              <a:t>p</a:t>
            </a:r>
            <a:r>
              <a:rPr lang="en-US" sz="1600" b="0" i="0" u="none">
                <a:solidFill>
                  <a:schemeClr val="dk1"/>
                </a:solidFill>
                <a:latin typeface="Arial"/>
                <a:ea typeface="Arial"/>
                <a:cs typeface="Arial"/>
                <a:sym typeface="Arial"/>
              </a:rPr>
              <a:t> Λ </a:t>
            </a: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q  </a:t>
            </a:r>
            <a:r>
              <a:rPr lang="en-US" sz="2000" b="0" i="0" u="none">
                <a:solidFill>
                  <a:schemeClr val="dk1"/>
                </a:solidFill>
                <a:latin typeface="Arial"/>
                <a:ea typeface="Arial"/>
                <a:cs typeface="Arial"/>
                <a:sym typeface="Arial"/>
              </a:rPr>
              <a:t>are logically equivalent. </a:t>
            </a:r>
            <a:endParaRPr/>
          </a:p>
          <a:p>
            <a:pPr marL="342900" lvl="0" indent="-342900" algn="l" rtl="0">
              <a:lnSpc>
                <a:spcPct val="100000"/>
              </a:lnSpc>
              <a:spcBef>
                <a:spcPts val="400"/>
              </a:spcBef>
              <a:spcAft>
                <a:spcPts val="0"/>
              </a:spcAft>
              <a:buSzPts val="2000"/>
              <a:buNone/>
            </a:pPr>
            <a:r>
              <a:rPr lang="en-US" sz="2000" b="0" i="0" u="none">
                <a:solidFill>
                  <a:schemeClr val="dk1"/>
                </a:solidFill>
                <a:latin typeface="Arial"/>
                <a:ea typeface="Arial"/>
                <a:cs typeface="Arial"/>
                <a:sym typeface="Arial"/>
              </a:rPr>
              <a:t>     Solution:</a:t>
            </a:r>
            <a:endParaRPr/>
          </a:p>
          <a:p>
            <a:pPr marL="342900" lvl="0" indent="-342900" algn="l" rtl="0">
              <a:lnSpc>
                <a:spcPct val="100000"/>
              </a:lnSpc>
              <a:spcBef>
                <a:spcPts val="400"/>
              </a:spcBef>
              <a:spcAft>
                <a:spcPts val="0"/>
              </a:spcAft>
              <a:buSzPts val="2000"/>
              <a:buNone/>
            </a:pP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 ≡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by example on slide 21</a:t>
            </a:r>
            <a:endParaRPr/>
          </a:p>
          <a:p>
            <a:pPr marL="342900" lvl="0" indent="-342900" algn="l" rtl="0">
              <a:lnSpc>
                <a:spcPct val="100000"/>
              </a:lnSpc>
              <a:spcBef>
                <a:spcPts val="400"/>
              </a:spcBef>
              <a:spcAft>
                <a:spcPts val="0"/>
              </a:spcAft>
              <a:buSzPts val="2000"/>
              <a:buNone/>
            </a:pP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a:t>
            </a:r>
            <a:r>
              <a:rPr lang="en-US" sz="1600" b="0" i="0" u="none">
                <a:solidFill>
                  <a:schemeClr val="dk1"/>
                </a:solidFill>
                <a:latin typeface="Arial"/>
                <a:ea typeface="Arial"/>
                <a:cs typeface="Arial"/>
                <a:sym typeface="Arial"/>
              </a:rPr>
              <a:t>Λ </a:t>
            </a: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q 		by the second De Morgan law</a:t>
            </a:r>
            <a:endParaRPr/>
          </a:p>
          <a:p>
            <a:pPr marL="342900" lvl="0" indent="-342900" algn="l" rtl="0">
              <a:lnSpc>
                <a:spcPct val="100000"/>
              </a:lnSpc>
              <a:spcBef>
                <a:spcPts val="400"/>
              </a:spcBef>
              <a:spcAft>
                <a:spcPts val="0"/>
              </a:spcAft>
              <a:buSzPts val="2000"/>
              <a:buNone/>
            </a:pPr>
            <a:r>
              <a:rPr lang="en-US" sz="2000" b="0" i="1" u="none">
                <a:solidFill>
                  <a:schemeClr val="dk1"/>
                </a:solidFill>
                <a:latin typeface="Arial"/>
                <a:ea typeface="Arial"/>
                <a:cs typeface="Arial"/>
                <a:sym typeface="Arial"/>
              </a:rPr>
              <a:t>			    </a:t>
            </a: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p</a:t>
            </a:r>
            <a:r>
              <a:rPr lang="en-US" sz="1600" b="0" i="0" u="none">
                <a:solidFill>
                  <a:schemeClr val="dk1"/>
                </a:solidFill>
                <a:latin typeface="Arial"/>
                <a:ea typeface="Arial"/>
                <a:cs typeface="Arial"/>
                <a:sym typeface="Arial"/>
              </a:rPr>
              <a:t> Λ </a:t>
            </a: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q 		by the double negation law</a:t>
            </a:r>
            <a:endParaRPr/>
          </a:p>
          <a:p>
            <a:pPr marL="342900" lvl="0" indent="-342900" algn="l" rtl="0">
              <a:lnSpc>
                <a:spcPct val="100000"/>
              </a:lnSpc>
              <a:spcBef>
                <a:spcPts val="400"/>
              </a:spcBef>
              <a:spcAft>
                <a:spcPts val="0"/>
              </a:spcAft>
              <a:buClr>
                <a:schemeClr val="accent1"/>
              </a:buClr>
              <a:buSzPts val="2000"/>
              <a:buFont typeface="Noto Sans Symbols"/>
              <a:buChar char="●"/>
            </a:pPr>
            <a:r>
              <a:rPr lang="en-US" sz="2000" b="0" i="1" u="none">
                <a:solidFill>
                  <a:schemeClr val="dk1"/>
                </a:solidFill>
                <a:latin typeface="Arial"/>
                <a:ea typeface="Arial"/>
                <a:cs typeface="Arial"/>
                <a:sym typeface="Arial"/>
              </a:rPr>
              <a:t>Example: Show that (p</a:t>
            </a:r>
            <a:r>
              <a:rPr lang="en-US" sz="1600" b="0" i="0" u="none">
                <a:solidFill>
                  <a:schemeClr val="dk1"/>
                </a:solidFill>
                <a:latin typeface="Arial"/>
                <a:ea typeface="Arial"/>
                <a:cs typeface="Arial"/>
                <a:sym typeface="Arial"/>
              </a:rPr>
              <a:t> Λ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is a tautology.</a:t>
            </a:r>
            <a:endParaRPr/>
          </a:p>
          <a:p>
            <a:pPr marL="342900" lvl="0" indent="-342900" algn="l" rtl="0">
              <a:lnSpc>
                <a:spcPct val="100000"/>
              </a:lnSpc>
              <a:spcBef>
                <a:spcPts val="400"/>
              </a:spcBef>
              <a:spcAft>
                <a:spcPts val="0"/>
              </a:spcAft>
              <a:buSzPts val="2000"/>
              <a:buNone/>
            </a:pPr>
            <a:r>
              <a:rPr lang="en-US" sz="2000" b="0" i="0" u="none">
                <a:solidFill>
                  <a:schemeClr val="dk1"/>
                </a:solidFill>
                <a:latin typeface="Arial"/>
                <a:ea typeface="Arial"/>
                <a:cs typeface="Arial"/>
                <a:sym typeface="Arial"/>
              </a:rPr>
              <a:t>	Solution: To show that this statement is a tautology, we will use logical equivalences to demonstrate that it is logically equivalent to T. </a:t>
            </a:r>
            <a:endParaRPr/>
          </a:p>
          <a:p>
            <a:pPr marL="342900" lvl="0" indent="-342900" algn="l" rtl="0">
              <a:lnSpc>
                <a:spcPct val="100000"/>
              </a:lnSpc>
              <a:spcBef>
                <a:spcPts val="400"/>
              </a:spcBef>
              <a:spcAft>
                <a:spcPts val="0"/>
              </a:spcAft>
              <a:buSzPts val="2000"/>
              <a:buNone/>
            </a:pP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(p</a:t>
            </a:r>
            <a:r>
              <a:rPr lang="en-US" sz="1600" b="0" i="0" u="none">
                <a:solidFill>
                  <a:schemeClr val="dk1"/>
                </a:solidFill>
                <a:latin typeface="Arial"/>
                <a:ea typeface="Arial"/>
                <a:cs typeface="Arial"/>
                <a:sym typeface="Arial"/>
              </a:rPr>
              <a:t> Λ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p</a:t>
            </a:r>
            <a:r>
              <a:rPr lang="en-US" sz="1600" b="0" i="0" u="none">
                <a:solidFill>
                  <a:schemeClr val="dk1"/>
                </a:solidFill>
                <a:latin typeface="Arial"/>
                <a:ea typeface="Arial"/>
                <a:cs typeface="Arial"/>
                <a:sym typeface="Arial"/>
              </a:rPr>
              <a:t> Λ </a:t>
            </a:r>
            <a:r>
              <a:rPr lang="en-US" sz="2000" b="0" i="1" u="none">
                <a:solidFill>
                  <a:schemeClr val="dk1"/>
                </a:solidFill>
                <a:latin typeface="Arial"/>
                <a:ea typeface="Arial"/>
                <a:cs typeface="Arial"/>
                <a:sym typeface="Arial"/>
              </a:rPr>
              <a:t>q) </a:t>
            </a:r>
            <a:r>
              <a:rPr lang="en-US" sz="2000" b="0" i="0" u="none">
                <a:solidFill>
                  <a:schemeClr val="dk1"/>
                </a:solidFill>
                <a:latin typeface="Arial"/>
                <a:ea typeface="Arial"/>
                <a:cs typeface="Arial"/>
                <a:sym typeface="Arial"/>
              </a:rPr>
              <a:t>ν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by example on slide 21</a:t>
            </a:r>
            <a:endParaRPr/>
          </a:p>
          <a:p>
            <a:pPr marL="342900" lvl="0" indent="-342900" algn="l" rtl="0">
              <a:lnSpc>
                <a:spcPct val="100000"/>
              </a:lnSpc>
              <a:spcBef>
                <a:spcPts val="400"/>
              </a:spcBef>
              <a:spcAft>
                <a:spcPts val="0"/>
              </a:spcAft>
              <a:buSzPts val="2000"/>
              <a:buNone/>
            </a:pP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 p</a:t>
            </a:r>
            <a:r>
              <a:rPr lang="en-US" sz="1600" b="0" i="0" u="none">
                <a:solidFill>
                  <a:schemeClr val="dk1"/>
                </a:solidFill>
                <a:latin typeface="Arial"/>
                <a:ea typeface="Arial"/>
                <a:cs typeface="Arial"/>
                <a:sym typeface="Arial"/>
              </a:rPr>
              <a:t> </a:t>
            </a:r>
            <a:r>
              <a:rPr lang="en-US" sz="2000" b="0" i="0" u="none">
                <a:solidFill>
                  <a:schemeClr val="dk1"/>
                </a:solidFill>
                <a:latin typeface="Arial"/>
                <a:ea typeface="Arial"/>
                <a:cs typeface="Arial"/>
                <a:sym typeface="Arial"/>
              </a:rPr>
              <a:t>ν</a:t>
            </a:r>
            <a:r>
              <a:rPr lang="en-US" sz="1600" b="0" i="0" u="none">
                <a:solidFill>
                  <a:schemeClr val="dk1"/>
                </a:solidFill>
                <a:latin typeface="Arial"/>
                <a:ea typeface="Arial"/>
                <a:cs typeface="Arial"/>
                <a:sym typeface="Arial"/>
              </a:rPr>
              <a:t> </a:t>
            </a:r>
            <a:r>
              <a:rPr lang="en-US" sz="2000" b="0" i="0" u="none">
                <a:solidFill>
                  <a:schemeClr val="dk1"/>
                </a:solidFill>
                <a:latin typeface="Arial"/>
                <a:ea typeface="Arial"/>
                <a:cs typeface="Arial"/>
                <a:sym typeface="Arial"/>
              </a:rPr>
              <a:t>¬</a:t>
            </a:r>
            <a:r>
              <a:rPr lang="en-US" sz="2000" b="0" i="1" u="none">
                <a:solidFill>
                  <a:schemeClr val="dk1"/>
                </a:solidFill>
                <a:latin typeface="Arial"/>
                <a:ea typeface="Arial"/>
                <a:cs typeface="Arial"/>
                <a:sym typeface="Arial"/>
              </a:rPr>
              <a:t>q) </a:t>
            </a:r>
            <a:r>
              <a:rPr lang="en-US" sz="2000" b="0" i="0" u="none">
                <a:solidFill>
                  <a:schemeClr val="dk1"/>
                </a:solidFill>
                <a:latin typeface="Arial"/>
                <a:ea typeface="Arial"/>
                <a:cs typeface="Arial"/>
                <a:sym typeface="Arial"/>
              </a:rPr>
              <a:t>ν (</a:t>
            </a:r>
            <a:r>
              <a:rPr lang="en-US" sz="2000" b="0" i="1" u="none">
                <a:solidFill>
                  <a:schemeClr val="dk1"/>
                </a:solidFill>
                <a:latin typeface="Arial"/>
                <a:ea typeface="Arial"/>
                <a:cs typeface="Arial"/>
                <a:sym typeface="Arial"/>
              </a:rPr>
              <a:t>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a:t>
            </a:r>
            <a:r>
              <a:rPr lang="en-US" sz="2000" b="0" i="0" u="none">
                <a:solidFill>
                  <a:schemeClr val="dk1"/>
                </a:solidFill>
                <a:latin typeface="Arial"/>
                <a:ea typeface="Arial"/>
                <a:cs typeface="Arial"/>
                <a:sym typeface="Arial"/>
              </a:rPr>
              <a:t>)   </a:t>
            </a:r>
            <a:r>
              <a:rPr lang="en-US" sz="2000" b="0" i="1" u="none">
                <a:solidFill>
                  <a:schemeClr val="dk1"/>
                </a:solidFill>
                <a:latin typeface="Arial"/>
                <a:ea typeface="Arial"/>
                <a:cs typeface="Arial"/>
                <a:sym typeface="Arial"/>
              </a:rPr>
              <a:t>by the first De Morgan law</a:t>
            </a:r>
            <a:endParaRPr/>
          </a:p>
          <a:p>
            <a:pPr marL="342900" lvl="0" indent="-342900" algn="l" rtl="0">
              <a:lnSpc>
                <a:spcPct val="100000"/>
              </a:lnSpc>
              <a:spcBef>
                <a:spcPts val="400"/>
              </a:spcBef>
              <a:spcAft>
                <a:spcPts val="0"/>
              </a:spcAft>
              <a:buSzPts val="2000"/>
              <a:buNone/>
            </a:pPr>
            <a:r>
              <a:rPr lang="en-US" sz="2000" b="0" i="0" u="none">
                <a:solidFill>
                  <a:schemeClr val="dk1"/>
                </a:solidFill>
                <a:latin typeface="Arial"/>
                <a:ea typeface="Arial"/>
                <a:cs typeface="Arial"/>
                <a:sym typeface="Arial"/>
              </a:rPr>
              <a:t>			      ≡ (¬</a:t>
            </a:r>
            <a:r>
              <a:rPr lang="en-US" sz="2000" b="0" i="1" u="none">
                <a:solidFill>
                  <a:schemeClr val="dk1"/>
                </a:solidFill>
                <a:latin typeface="Arial"/>
                <a:ea typeface="Arial"/>
                <a:cs typeface="Arial"/>
                <a:sym typeface="Arial"/>
              </a:rPr>
              <a:t> p</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p) </a:t>
            </a:r>
            <a:r>
              <a:rPr lang="en-US" sz="2000" b="0" i="0" u="none">
                <a:solidFill>
                  <a:schemeClr val="dk1"/>
                </a:solidFill>
                <a:latin typeface="Arial"/>
                <a:ea typeface="Arial"/>
                <a:cs typeface="Arial"/>
                <a:sym typeface="Arial"/>
              </a:rPr>
              <a:t>ν (¬</a:t>
            </a:r>
            <a:r>
              <a:rPr lang="en-US" sz="2000" b="0" i="1" u="none">
                <a:solidFill>
                  <a:schemeClr val="dk1"/>
                </a:solidFill>
                <a:latin typeface="Arial"/>
                <a:ea typeface="Arial"/>
                <a:cs typeface="Arial"/>
                <a:sym typeface="Arial"/>
              </a:rPr>
              <a:t> q</a:t>
            </a:r>
            <a:r>
              <a:rPr lang="en-US" sz="2000" b="0" i="0" u="none">
                <a:solidFill>
                  <a:schemeClr val="dk1"/>
                </a:solidFill>
                <a:latin typeface="Arial"/>
                <a:ea typeface="Arial"/>
                <a:cs typeface="Arial"/>
                <a:sym typeface="Arial"/>
              </a:rPr>
              <a:t> ν </a:t>
            </a:r>
            <a:r>
              <a:rPr lang="en-US" sz="2000" b="0" i="1" u="none">
                <a:solidFill>
                  <a:schemeClr val="dk1"/>
                </a:solidFill>
                <a:latin typeface="Arial"/>
                <a:ea typeface="Arial"/>
                <a:cs typeface="Arial"/>
                <a:sym typeface="Arial"/>
              </a:rPr>
              <a:t>q)  by the associative and      						   communicative law for disjunction</a:t>
            </a:r>
            <a:endParaRPr/>
          </a:p>
          <a:p>
            <a:pPr marL="342900" lvl="0" indent="-342900" algn="l" rtl="0">
              <a:lnSpc>
                <a:spcPct val="100000"/>
              </a:lnSpc>
              <a:spcBef>
                <a:spcPts val="400"/>
              </a:spcBef>
              <a:spcAft>
                <a:spcPts val="0"/>
              </a:spcAft>
              <a:buSzPts val="2000"/>
              <a:buNone/>
            </a:pPr>
            <a:r>
              <a:rPr lang="en-US" sz="2000" b="0" i="0" u="none">
                <a:solidFill>
                  <a:schemeClr val="dk1"/>
                </a:solidFill>
                <a:latin typeface="Arial"/>
                <a:ea typeface="Arial"/>
                <a:cs typeface="Arial"/>
                <a:sym typeface="Arial"/>
              </a:rPr>
              <a:t>			      ≡ T ν T		     </a:t>
            </a:r>
            <a:endParaRPr/>
          </a:p>
          <a:p>
            <a:pPr marL="342900" lvl="0" indent="-342900" algn="l" rtl="0">
              <a:lnSpc>
                <a:spcPct val="100000"/>
              </a:lnSpc>
              <a:spcBef>
                <a:spcPts val="400"/>
              </a:spcBef>
              <a:spcAft>
                <a:spcPts val="0"/>
              </a:spcAft>
              <a:buSzPts val="2000"/>
              <a:buNone/>
            </a:pPr>
            <a:r>
              <a:rPr lang="en-US" sz="2000" b="0" i="0" u="none">
                <a:solidFill>
                  <a:schemeClr val="dk1"/>
                </a:solidFill>
                <a:latin typeface="Arial"/>
                <a:ea typeface="Arial"/>
                <a:cs typeface="Arial"/>
                <a:sym typeface="Arial"/>
              </a:rPr>
              <a:t>			      ≡ T</a:t>
            </a:r>
            <a:endParaRPr sz="2000" b="0" i="0" u="none">
              <a:solidFill>
                <a:schemeClr val="dk1"/>
              </a:solidFill>
              <a:latin typeface="Arial"/>
              <a:ea typeface="Arial"/>
              <a:cs typeface="Arial"/>
              <a:sym typeface="Arial"/>
            </a:endParaRPr>
          </a:p>
          <a:p>
            <a:pPr marL="342900" lvl="0" indent="-342900" algn="l" rtl="0">
              <a:lnSpc>
                <a:spcPct val="100000"/>
              </a:lnSpc>
              <a:spcBef>
                <a:spcPts val="400"/>
              </a:spcBef>
              <a:spcAft>
                <a:spcPts val="0"/>
              </a:spcAft>
              <a:buClr>
                <a:schemeClr val="accent1"/>
              </a:buClr>
              <a:buSzPts val="2000"/>
              <a:buFont typeface="Noto Sans Symbols"/>
              <a:buChar char="●"/>
            </a:pPr>
            <a:r>
              <a:rPr lang="en-US" sz="2000" b="0" i="1" u="none">
                <a:solidFill>
                  <a:schemeClr val="dk1"/>
                </a:solidFill>
                <a:latin typeface="Arial"/>
                <a:ea typeface="Arial"/>
                <a:cs typeface="Arial"/>
                <a:sym typeface="Arial"/>
              </a:rPr>
              <a:t>Note: The above examples can also be done using truth tables</a:t>
            </a:r>
            <a:r>
              <a:rPr lang="en-US" sz="2000" b="0" i="0" u="none">
                <a:solidFill>
                  <a:schemeClr val="dk1"/>
                </a:solidFill>
                <a:latin typeface="Arial"/>
                <a:ea typeface="Arial"/>
                <a:cs typeface="Arial"/>
                <a:sym typeface="Arial"/>
              </a:rPr>
              <a:t>. </a:t>
            </a:r>
            <a:endParaRPr/>
          </a:p>
        </p:txBody>
      </p:sp>
      <p:sp>
        <p:nvSpPr>
          <p:cNvPr id="419" name="Google Shape;419;p29"/>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Some solutions of exercises</a:t>
            </a:r>
            <a:endParaRPr/>
          </a:p>
        </p:txBody>
      </p:sp>
      <p:sp>
        <p:nvSpPr>
          <p:cNvPr id="425" name="Google Shape;425;p30"/>
          <p:cNvSpPr txBox="1">
            <a:spLocks noGrp="1"/>
          </p:cNvSpPr>
          <p:nvPr>
            <p:ph type="body" idx="1"/>
          </p:nvPr>
        </p:nvSpPr>
        <p:spPr>
          <a:xfrm>
            <a:off x="457200" y="1371600"/>
            <a:ext cx="8534400" cy="4876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1"/>
              </a:buClr>
              <a:buSzPts val="2400"/>
              <a:buFont typeface="Arial"/>
              <a:buChar char="•"/>
            </a:pPr>
            <a:r>
              <a:rPr lang="en-US" sz="2400" b="0" i="0" u="none">
                <a:solidFill>
                  <a:srgbClr val="FF0000"/>
                </a:solidFill>
                <a:latin typeface="Arial"/>
                <a:ea typeface="Arial"/>
                <a:cs typeface="Arial"/>
                <a:sym typeface="Arial"/>
              </a:rPr>
              <a:t>Problem 1</a:t>
            </a:r>
            <a:r>
              <a:rPr lang="en-US" sz="2400" b="0" i="0" u="none">
                <a:solidFill>
                  <a:schemeClr val="dk1"/>
                </a:solidFill>
                <a:latin typeface="Arial"/>
                <a:ea typeface="Arial"/>
                <a:cs typeface="Arial"/>
                <a:sym typeface="Arial"/>
              </a:rPr>
              <a:t>: Let </a:t>
            </a:r>
            <a:r>
              <a:rPr lang="en-US" sz="2400" b="0" i="1" u="none">
                <a:solidFill>
                  <a:schemeClr val="dk1"/>
                </a:solidFill>
                <a:latin typeface="Arial"/>
                <a:ea typeface="Arial"/>
                <a:cs typeface="Arial"/>
                <a:sym typeface="Arial"/>
              </a:rPr>
              <a:t>p</a:t>
            </a:r>
            <a:r>
              <a:rPr lang="en-US" sz="2400" b="0" i="0" u="none">
                <a:solidFill>
                  <a:schemeClr val="dk1"/>
                </a:solidFill>
                <a:latin typeface="Arial"/>
                <a:ea typeface="Arial"/>
                <a:cs typeface="Arial"/>
                <a:sym typeface="Arial"/>
              </a:rPr>
              <a:t> : You drive over 65 miles/hour.</a:t>
            </a:r>
            <a:endParaRPr/>
          </a:p>
          <a:p>
            <a:pPr marL="342900" marR="0" lvl="0" indent="-342900" algn="l" rtl="0">
              <a:lnSpc>
                <a:spcPct val="100000"/>
              </a:lnSpc>
              <a:spcBef>
                <a:spcPts val="480"/>
              </a:spcBef>
              <a:spcAft>
                <a:spcPts val="0"/>
              </a:spcAft>
              <a:buClr>
                <a:schemeClr val="accent1"/>
              </a:buClr>
              <a:buSzPts val="2400"/>
              <a:buFont typeface="Noto Sans Symbols"/>
              <a:buNone/>
            </a:pPr>
            <a:r>
              <a:rPr lang="en-US" sz="2400" b="0" i="0" u="none">
                <a:solidFill>
                  <a:schemeClr val="dk1"/>
                </a:solidFill>
                <a:latin typeface="Arial"/>
                <a:ea typeface="Arial"/>
                <a:cs typeface="Arial"/>
                <a:sym typeface="Arial"/>
              </a:rPr>
              <a:t>			   </a:t>
            </a:r>
            <a:r>
              <a:rPr lang="en-US" sz="2400" b="0" i="1" u="none">
                <a:solidFill>
                  <a:schemeClr val="dk1"/>
                </a:solidFill>
                <a:latin typeface="Arial"/>
                <a:ea typeface="Arial"/>
                <a:cs typeface="Arial"/>
                <a:sym typeface="Arial"/>
              </a:rPr>
              <a:t>q</a:t>
            </a:r>
            <a:r>
              <a:rPr lang="en-US" sz="2400" b="0" i="0" u="none">
                <a:solidFill>
                  <a:schemeClr val="dk1"/>
                </a:solidFill>
                <a:latin typeface="Arial"/>
                <a:ea typeface="Arial"/>
                <a:cs typeface="Arial"/>
                <a:sym typeface="Arial"/>
              </a:rPr>
              <a:t> : You get a speeding ticket.</a:t>
            </a:r>
            <a:endParaRPr/>
          </a:p>
          <a:p>
            <a:pPr marL="342900" marR="0" lvl="0" indent="-342900" algn="l" rtl="0">
              <a:lnSpc>
                <a:spcPct val="100000"/>
              </a:lnSpc>
              <a:spcBef>
                <a:spcPts val="480"/>
              </a:spcBef>
              <a:spcAft>
                <a:spcPts val="0"/>
              </a:spcAft>
              <a:buClr>
                <a:schemeClr val="accent1"/>
              </a:buClr>
              <a:buSzPts val="2400"/>
              <a:buFont typeface="Noto Sans Symbols"/>
              <a:buNone/>
            </a:pPr>
            <a:r>
              <a:rPr lang="en-US" sz="2400" b="0" i="0" u="none">
                <a:solidFill>
                  <a:schemeClr val="dk1"/>
                </a:solidFill>
                <a:latin typeface="Arial"/>
                <a:ea typeface="Arial"/>
                <a:cs typeface="Arial"/>
                <a:sym typeface="Arial"/>
              </a:rPr>
              <a:t>	Write the following propositions using logical connectives:</a:t>
            </a:r>
            <a:endParaRPr/>
          </a:p>
          <a:p>
            <a:pPr marL="857250" marR="0" lvl="1" indent="-457200" algn="l" rtl="0">
              <a:lnSpc>
                <a:spcPct val="100000"/>
              </a:lnSpc>
              <a:spcBef>
                <a:spcPts val="400"/>
              </a:spcBef>
              <a:spcAft>
                <a:spcPts val="0"/>
              </a:spcAft>
              <a:buClr>
                <a:schemeClr val="accent1"/>
              </a:buClr>
              <a:buSzPts val="2000"/>
              <a:buFont typeface="Arial"/>
              <a:buAutoNum type="alphaLcParenR"/>
            </a:pPr>
            <a:r>
              <a:rPr lang="en-US" sz="2000" b="0" i="0" u="none" strike="noStrike" cap="none">
                <a:solidFill>
                  <a:schemeClr val="dk1"/>
                </a:solidFill>
                <a:latin typeface="Arial"/>
                <a:ea typeface="Arial"/>
                <a:cs typeface="Arial"/>
                <a:sym typeface="Arial"/>
              </a:rPr>
              <a:t>You will get a speeding ticket if you drive over 65 miles/hours. </a:t>
            </a:r>
            <a:endParaRPr/>
          </a:p>
          <a:p>
            <a:pPr marL="857250" marR="0" lvl="1" indent="-457200" algn="l" rtl="0">
              <a:lnSpc>
                <a:spcPct val="100000"/>
              </a:lnSpc>
              <a:spcBef>
                <a:spcPts val="400"/>
              </a:spcBef>
              <a:spcAft>
                <a:spcPts val="0"/>
              </a:spcAft>
              <a:buClr>
                <a:schemeClr val="accent1"/>
              </a:buClr>
              <a:buSzPts val="2000"/>
              <a:buFont typeface="Arial"/>
              <a:buAutoNum type="alphaLcParenR"/>
            </a:pPr>
            <a:r>
              <a:rPr lang="en-US" sz="2000" b="0" i="0" u="none" strike="noStrike" cap="none">
                <a:solidFill>
                  <a:schemeClr val="dk1"/>
                </a:solidFill>
                <a:latin typeface="Arial"/>
                <a:ea typeface="Arial"/>
                <a:cs typeface="Arial"/>
                <a:sym typeface="Arial"/>
              </a:rPr>
              <a:t>You get a speeding ticket, but you don’t drive over 65 miles/hours.</a:t>
            </a:r>
            <a:endParaRPr/>
          </a:p>
          <a:p>
            <a:pPr marL="857250" marR="0" lvl="1" indent="-457200" algn="l" rtl="0">
              <a:lnSpc>
                <a:spcPct val="100000"/>
              </a:lnSpc>
              <a:spcBef>
                <a:spcPts val="400"/>
              </a:spcBef>
              <a:spcAft>
                <a:spcPts val="0"/>
              </a:spcAft>
              <a:buClr>
                <a:schemeClr val="accent1"/>
              </a:buClr>
              <a:buSzPts val="2000"/>
              <a:buFont typeface="Noto Sans Symbols"/>
              <a:buNone/>
            </a:pPr>
            <a:r>
              <a:rPr lang="en-US" sz="2000" b="0" i="0" u="none" strike="noStrike" cap="none">
                <a:solidFill>
                  <a:schemeClr val="dk1"/>
                </a:solidFill>
                <a:latin typeface="Arial"/>
                <a:ea typeface="Arial"/>
                <a:cs typeface="Arial"/>
                <a:sym typeface="Arial"/>
              </a:rPr>
              <a:t>	</a:t>
            </a:r>
            <a:endParaRPr/>
          </a:p>
          <a:p>
            <a:pPr marL="342900" marR="0" lvl="0" indent="-342900" algn="l" rtl="0">
              <a:lnSpc>
                <a:spcPct val="100000"/>
              </a:lnSpc>
              <a:spcBef>
                <a:spcPts val="480"/>
              </a:spcBef>
              <a:spcAft>
                <a:spcPts val="0"/>
              </a:spcAft>
              <a:buClr>
                <a:schemeClr val="accent1"/>
              </a:buClr>
              <a:buSzPts val="2400"/>
              <a:buFont typeface="Arial"/>
              <a:buChar char="•"/>
            </a:pPr>
            <a:r>
              <a:rPr lang="en-US" sz="2400" b="0" i="0" u="none">
                <a:solidFill>
                  <a:srgbClr val="FF0000"/>
                </a:solidFill>
                <a:latin typeface="Arial"/>
                <a:ea typeface="Arial"/>
                <a:cs typeface="Arial"/>
                <a:sym typeface="Arial"/>
              </a:rPr>
              <a:t>Problem 2</a:t>
            </a:r>
            <a:r>
              <a:rPr lang="en-US" sz="2400" b="0" i="0" u="none">
                <a:solidFill>
                  <a:schemeClr val="dk1"/>
                </a:solidFill>
                <a:latin typeface="Arial"/>
                <a:ea typeface="Arial"/>
                <a:cs typeface="Arial"/>
                <a:sym typeface="Arial"/>
              </a:rPr>
              <a:t>: For each of the following sentences, state what the sentence means if the or is an inclusive or exclusive or. Which of these meanings of or do you think is intended?</a:t>
            </a:r>
            <a:endParaRPr/>
          </a:p>
          <a:p>
            <a:pPr marL="857250" marR="0" lvl="1" indent="-457200" algn="l" rtl="0">
              <a:lnSpc>
                <a:spcPct val="100000"/>
              </a:lnSpc>
              <a:spcBef>
                <a:spcPts val="400"/>
              </a:spcBef>
              <a:spcAft>
                <a:spcPts val="0"/>
              </a:spcAft>
              <a:buClr>
                <a:schemeClr val="accent1"/>
              </a:buClr>
              <a:buSzPts val="2000"/>
              <a:buFont typeface="Arial"/>
              <a:buAutoNum type="alphaLcParenR"/>
            </a:pPr>
            <a:r>
              <a:rPr lang="en-US" sz="2000" b="0" i="0" u="none" strike="noStrike" cap="none">
                <a:solidFill>
                  <a:schemeClr val="dk1"/>
                </a:solidFill>
                <a:latin typeface="Arial"/>
                <a:ea typeface="Arial"/>
                <a:cs typeface="Arial"/>
                <a:sym typeface="Arial"/>
              </a:rPr>
              <a:t>	To take discrete mathematics, you must have taken calculus or a course in computer science. </a:t>
            </a:r>
            <a:endParaRPr/>
          </a:p>
          <a:p>
            <a:pPr marL="857250" marR="0" lvl="1" indent="-457200" algn="l" rtl="0">
              <a:lnSpc>
                <a:spcPct val="100000"/>
              </a:lnSpc>
              <a:spcBef>
                <a:spcPts val="400"/>
              </a:spcBef>
              <a:spcAft>
                <a:spcPts val="0"/>
              </a:spcAft>
              <a:buClr>
                <a:schemeClr val="accent1"/>
              </a:buClr>
              <a:buSzPts val="2000"/>
              <a:buFont typeface="Arial"/>
              <a:buAutoNum type="alphaLcParenR"/>
            </a:pPr>
            <a:r>
              <a:rPr lang="en-US" sz="2000" b="0" i="0" u="none" strike="noStrike" cap="none">
                <a:solidFill>
                  <a:schemeClr val="dk1"/>
                </a:solidFill>
                <a:latin typeface="Arial"/>
                <a:ea typeface="Arial"/>
                <a:cs typeface="Arial"/>
                <a:sym typeface="Arial"/>
              </a:rPr>
              <a:t>Dinner for two includes two items from column A or three items for column B. 		</a:t>
            </a:r>
            <a:endParaRPr/>
          </a:p>
        </p:txBody>
      </p:sp>
      <p:sp>
        <p:nvSpPr>
          <p:cNvPr id="426" name="Google Shape;426;p30"/>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898989"/>
              </a:buClr>
              <a:buSzPts val="1000"/>
              <a:buFont typeface="Arial"/>
              <a:buNone/>
            </a:pPr>
            <a:fld id="{00000000-1234-1234-1234-123412341234}" type="slidenum">
              <a:rPr lang="en-US" sz="1000" b="0" i="0" u="none">
                <a:solidFill>
                  <a:srgbClr val="898989"/>
                </a:solidFill>
                <a:latin typeface="Arial"/>
                <a:ea typeface="Arial"/>
                <a:cs typeface="Arial"/>
                <a:sym typeface="Arial"/>
              </a:rPr>
              <a:t>33</a:t>
            </a:fld>
            <a:endParaRPr/>
          </a:p>
        </p:txBody>
      </p:sp>
      <p:sp>
        <p:nvSpPr>
          <p:cNvPr id="427" name="Google Shape;427;p30"/>
          <p:cNvSpPr txBox="1"/>
          <p:nvPr/>
        </p:nvSpPr>
        <p:spPr>
          <a:xfrm>
            <a:off x="7543800" y="2667000"/>
            <a:ext cx="9906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Arial"/>
              <a:buNone/>
            </a:pPr>
            <a:r>
              <a:rPr lang="en-US" sz="1800" b="0" i="1" u="none">
                <a:solidFill>
                  <a:srgbClr val="FF0000"/>
                </a:solidFill>
                <a:latin typeface="Arial"/>
                <a:ea typeface="Arial"/>
                <a:cs typeface="Arial"/>
                <a:sym typeface="Arial"/>
              </a:rPr>
              <a:t>p → q</a:t>
            </a:r>
            <a:endParaRPr/>
          </a:p>
        </p:txBody>
      </p:sp>
      <p:sp>
        <p:nvSpPr>
          <p:cNvPr id="428" name="Google Shape;428;p30"/>
          <p:cNvSpPr txBox="1"/>
          <p:nvPr/>
        </p:nvSpPr>
        <p:spPr>
          <a:xfrm>
            <a:off x="7391400" y="3429000"/>
            <a:ext cx="9906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Arial"/>
              <a:buNone/>
            </a:pPr>
            <a:r>
              <a:rPr lang="en-US" sz="1800" b="0" i="1" u="none">
                <a:solidFill>
                  <a:srgbClr val="FF0000"/>
                </a:solidFill>
                <a:latin typeface="Arial"/>
                <a:ea typeface="Arial"/>
                <a:cs typeface="Arial"/>
                <a:sym typeface="Arial"/>
              </a:rPr>
              <a:t>q Ʌ ┐p</a:t>
            </a:r>
            <a:endParaRPr/>
          </a:p>
        </p:txBody>
      </p:sp>
      <p:sp>
        <p:nvSpPr>
          <p:cNvPr id="429" name="Google Shape;429;p30"/>
          <p:cNvSpPr txBox="1"/>
          <p:nvPr/>
        </p:nvSpPr>
        <p:spPr>
          <a:xfrm>
            <a:off x="3657600" y="5257800"/>
            <a:ext cx="16764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Arial"/>
              <a:buNone/>
            </a:pPr>
            <a:r>
              <a:rPr lang="en-US" sz="1800" b="0" i="0" u="none">
                <a:solidFill>
                  <a:srgbClr val="FF0000"/>
                </a:solidFill>
                <a:latin typeface="Arial"/>
                <a:ea typeface="Arial"/>
                <a:cs typeface="Arial"/>
                <a:sym typeface="Arial"/>
              </a:rPr>
              <a:t>Inclusive or</a:t>
            </a:r>
            <a:endParaRPr/>
          </a:p>
        </p:txBody>
      </p:sp>
      <p:sp>
        <p:nvSpPr>
          <p:cNvPr id="430" name="Google Shape;430;p30"/>
          <p:cNvSpPr txBox="1"/>
          <p:nvPr/>
        </p:nvSpPr>
        <p:spPr>
          <a:xfrm>
            <a:off x="2514600" y="5943600"/>
            <a:ext cx="16764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Arial"/>
              <a:buNone/>
            </a:pPr>
            <a:r>
              <a:rPr lang="en-US" sz="1800" b="0" i="0" u="none">
                <a:solidFill>
                  <a:srgbClr val="FF0000"/>
                </a:solidFill>
                <a:latin typeface="Arial"/>
                <a:ea typeface="Arial"/>
                <a:cs typeface="Arial"/>
                <a:sym typeface="Arial"/>
              </a:rPr>
              <a:t>exclusive or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7"/>
                                        </p:tgtEl>
                                        <p:attrNameLst>
                                          <p:attrName>style.visibility</p:attrName>
                                        </p:attrNameLst>
                                      </p:cBhvr>
                                      <p:to>
                                        <p:strVal val="visible"/>
                                      </p:to>
                                    </p:set>
                                    <p:anim calcmode="lin" valueType="num">
                                      <p:cBhvr additive="base">
                                        <p:cTn id="7" dur="500"/>
                                        <p:tgtEl>
                                          <p:spTgt spid="427"/>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28"/>
                                        </p:tgtEl>
                                        <p:attrNameLst>
                                          <p:attrName>style.visibility</p:attrName>
                                        </p:attrNameLst>
                                      </p:cBhvr>
                                      <p:to>
                                        <p:strVal val="visible"/>
                                      </p:to>
                                    </p:set>
                                    <p:anim calcmode="lin" valueType="num">
                                      <p:cBhvr additive="base">
                                        <p:cTn id="12" dur="500"/>
                                        <p:tgtEl>
                                          <p:spTgt spid="428"/>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29"/>
                                        </p:tgtEl>
                                        <p:attrNameLst>
                                          <p:attrName>style.visibility</p:attrName>
                                        </p:attrNameLst>
                                      </p:cBhvr>
                                      <p:to>
                                        <p:strVal val="visible"/>
                                      </p:to>
                                    </p:set>
                                    <p:anim calcmode="lin" valueType="num">
                                      <p:cBhvr additive="base">
                                        <p:cTn id="17" dur="500"/>
                                        <p:tgtEl>
                                          <p:spTgt spid="429"/>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30"/>
                                        </p:tgtEl>
                                        <p:attrNameLst>
                                          <p:attrName>style.visibility</p:attrName>
                                        </p:attrNameLst>
                                      </p:cBhvr>
                                      <p:to>
                                        <p:strVal val="visible"/>
                                      </p:to>
                                    </p:set>
                                    <p:anim calcmode="lin" valueType="num">
                                      <p:cBhvr additive="base">
                                        <p:cTn id="22" dur="500"/>
                                        <p:tgtEl>
                                          <p:spTgt spid="4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1"/>
          <p:cNvSpPr txBox="1">
            <a:spLocks noGrp="1"/>
          </p:cNvSpPr>
          <p:nvPr>
            <p:ph type="title"/>
          </p:nvPr>
        </p:nvSpPr>
        <p:spPr>
          <a:xfrm>
            <a:off x="457200" y="274637"/>
            <a:ext cx="8229600" cy="944562"/>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Some solutions of exercises</a:t>
            </a:r>
            <a:endParaRPr/>
          </a:p>
        </p:txBody>
      </p:sp>
      <p:sp>
        <p:nvSpPr>
          <p:cNvPr id="436" name="Google Shape;436;p31"/>
          <p:cNvSpPr txBox="1">
            <a:spLocks noGrp="1"/>
          </p:cNvSpPr>
          <p:nvPr>
            <p:ph type="body" idx="1"/>
          </p:nvPr>
        </p:nvSpPr>
        <p:spPr>
          <a:xfrm>
            <a:off x="381000" y="1219200"/>
            <a:ext cx="8534400" cy="1143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1"/>
              </a:buClr>
              <a:buSzPts val="2400"/>
              <a:buFont typeface="Noto Sans Symbols"/>
              <a:buChar char="●"/>
            </a:pPr>
            <a:r>
              <a:rPr lang="en-US" sz="2400" b="0" i="0" u="none">
                <a:solidFill>
                  <a:srgbClr val="FF0000"/>
                </a:solidFill>
                <a:latin typeface="Arial"/>
                <a:ea typeface="Arial"/>
                <a:cs typeface="Arial"/>
                <a:sym typeface="Arial"/>
              </a:rPr>
              <a:t>Problem 3: </a:t>
            </a:r>
            <a:r>
              <a:rPr lang="en-US" sz="2400" b="0" i="0" u="none">
                <a:solidFill>
                  <a:schemeClr val="dk1"/>
                </a:solidFill>
                <a:latin typeface="Arial"/>
                <a:ea typeface="Arial"/>
                <a:cs typeface="Arial"/>
                <a:sym typeface="Arial"/>
              </a:rPr>
              <a:t>Construct the truth table for the following compound statement:  (</a:t>
            </a:r>
            <a:r>
              <a:rPr lang="en-US" sz="2400" b="1" i="1" u="none">
                <a:solidFill>
                  <a:schemeClr val="dk1"/>
                </a:solidFill>
                <a:latin typeface="Arial"/>
                <a:ea typeface="Arial"/>
                <a:cs typeface="Arial"/>
                <a:sym typeface="Arial"/>
              </a:rPr>
              <a:t>p → q) Ʌ (┐ p → r) </a:t>
            </a:r>
            <a:endParaRPr/>
          </a:p>
        </p:txBody>
      </p:sp>
      <p:sp>
        <p:nvSpPr>
          <p:cNvPr id="437" name="Google Shape;437;p31"/>
          <p:cNvSpPr txBox="1"/>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898989"/>
              </a:buClr>
              <a:buSzPts val="1000"/>
              <a:buFont typeface="Arial"/>
              <a:buNone/>
            </a:pPr>
            <a:fld id="{00000000-1234-1234-1234-123412341234}" type="slidenum">
              <a:rPr lang="en-US" sz="1000" b="0" i="0" u="none">
                <a:solidFill>
                  <a:srgbClr val="898989"/>
                </a:solidFill>
                <a:latin typeface="Arial"/>
                <a:ea typeface="Arial"/>
                <a:cs typeface="Arial"/>
                <a:sym typeface="Arial"/>
              </a:rPr>
              <a:t>34</a:t>
            </a:fld>
            <a:endParaRPr/>
          </a:p>
        </p:txBody>
      </p:sp>
      <p:graphicFrame>
        <p:nvGraphicFramePr>
          <p:cNvPr id="438" name="Google Shape;438;p31"/>
          <p:cNvGraphicFramePr/>
          <p:nvPr/>
        </p:nvGraphicFramePr>
        <p:xfrm>
          <a:off x="1600200" y="2514600"/>
          <a:ext cx="3000000" cy="3000000"/>
        </p:xfrm>
        <a:graphic>
          <a:graphicData uri="http://schemas.openxmlformats.org/drawingml/2006/table">
            <a:tbl>
              <a:tblPr>
                <a:noFill/>
                <a:tableStyleId>{397577B6-D47A-466E-84E6-29D3DF76FDB9}</a:tableStyleId>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295400">
                  <a:extLst>
                    <a:ext uri="{9D8B030D-6E8A-4147-A177-3AD203B41FA5}">
                      <a16:colId xmlns:a16="http://schemas.microsoft.com/office/drawing/2014/main" val="20005"/>
                    </a:ext>
                  </a:extLst>
                </a:gridCol>
                <a:gridCol w="838200">
                  <a:extLst>
                    <a:ext uri="{9D8B030D-6E8A-4147-A177-3AD203B41FA5}">
                      <a16:colId xmlns:a16="http://schemas.microsoft.com/office/drawing/2014/main" val="20006"/>
                    </a:ext>
                  </a:extLst>
                </a:gridCol>
              </a:tblGrid>
              <a:tr h="639750">
                <a:tc>
                  <a:txBody>
                    <a:bodyPr/>
                    <a:lstStyle/>
                    <a:p>
                      <a:pPr marL="0" marR="0" lvl="0" indent="0" algn="ctr" rtl="0">
                        <a:lnSpc>
                          <a:spcPct val="100000"/>
                        </a:lnSpc>
                        <a:spcBef>
                          <a:spcPts val="0"/>
                        </a:spcBef>
                        <a:spcAft>
                          <a:spcPts val="0"/>
                        </a:spcAft>
                        <a:buClr>
                          <a:schemeClr val="dk1"/>
                        </a:buClr>
                        <a:buSzPts val="1800"/>
                        <a:buFont typeface="Arial"/>
                        <a:buNone/>
                      </a:pPr>
                      <a:r>
                        <a:rPr lang="en-US" sz="1800" b="1" i="1" u="none">
                          <a:solidFill>
                            <a:schemeClr val="dk1"/>
                          </a:solidFill>
                          <a:latin typeface="Arial"/>
                          <a:ea typeface="Arial"/>
                          <a:cs typeface="Arial"/>
                          <a:sym typeface="Arial"/>
                        </a:rPr>
                        <a:t>p</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i="1" u="none">
                          <a:solidFill>
                            <a:schemeClr val="dk1"/>
                          </a:solidFill>
                          <a:latin typeface="Arial"/>
                          <a:ea typeface="Arial"/>
                          <a:cs typeface="Arial"/>
                          <a:sym typeface="Arial"/>
                        </a:rPr>
                        <a:t>q</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i="1" u="none">
                          <a:solidFill>
                            <a:schemeClr val="dk1"/>
                          </a:solidFill>
                          <a:latin typeface="Arial"/>
                          <a:ea typeface="Arial"/>
                          <a:cs typeface="Arial"/>
                          <a:sym typeface="Arial"/>
                        </a:rPr>
                        <a:t>r</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i="1" u="none">
                          <a:solidFill>
                            <a:schemeClr val="dk1"/>
                          </a:solidFill>
                          <a:latin typeface="Arial"/>
                          <a:ea typeface="Arial"/>
                          <a:cs typeface="Arial"/>
                          <a:sym typeface="Arial"/>
                        </a:rPr>
                        <a:t>┐ p</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i="1" u="none">
                          <a:solidFill>
                            <a:schemeClr val="dk1"/>
                          </a:solidFill>
                          <a:latin typeface="Arial"/>
                          <a:ea typeface="Arial"/>
                          <a:cs typeface="Arial"/>
                          <a:sym typeface="Arial"/>
                        </a:rPr>
                        <a:t>p → q = x</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i="1" u="none">
                          <a:solidFill>
                            <a:schemeClr val="dk1"/>
                          </a:solidFill>
                          <a:latin typeface="Arial"/>
                          <a:ea typeface="Arial"/>
                          <a:cs typeface="Arial"/>
                          <a:sym typeface="Arial"/>
                        </a:rPr>
                        <a:t>┐ p → r = y</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i="1" u="none">
                          <a:solidFill>
                            <a:schemeClr val="dk1"/>
                          </a:solidFill>
                          <a:latin typeface="Arial"/>
                          <a:ea typeface="Arial"/>
                          <a:cs typeface="Arial"/>
                          <a:sym typeface="Arial"/>
                        </a:rPr>
                        <a:t>x Ʌ y</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71475">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9875">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71475">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9875">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71475">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71475">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69875">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371475">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a:t>
                      </a:r>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spTree>
  </p:cSld>
  <p:clrMapOvr>
    <a:masterClrMapping/>
  </p:clrMapOvr>
</p:sld>
</file>

<file path=ppt/theme/theme1.xml><?xml version="1.0" encoding="utf-8"?>
<a:theme xmlns:a="http://schemas.openxmlformats.org/drawingml/2006/main" name="1_Watermark">
  <a:themeElements>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atermark">
  <a:themeElements>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3820</Words>
  <Application>Microsoft Office PowerPoint</Application>
  <PresentationFormat>On-screen Show (4:3)</PresentationFormat>
  <Paragraphs>638</Paragraphs>
  <Slides>34</Slides>
  <Notes>34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34</vt:i4>
      </vt:variant>
    </vt:vector>
  </HeadingPairs>
  <TitlesOfParts>
    <vt:vector size="39" baseType="lpstr">
      <vt:lpstr>Arial</vt:lpstr>
      <vt:lpstr>Calibri</vt:lpstr>
      <vt:lpstr>Noto Sans Symbols</vt:lpstr>
      <vt:lpstr>1_Watermark</vt:lpstr>
      <vt:lpstr>Watermark</vt:lpstr>
      <vt:lpstr>PowerPoint Presentation</vt:lpstr>
      <vt:lpstr>Reference Books</vt:lpstr>
      <vt:lpstr>1.1 Propositional Logic</vt:lpstr>
      <vt:lpstr>Propositions</vt:lpstr>
      <vt:lpstr>1.1 Propositional Logic</vt:lpstr>
      <vt:lpstr>1.1 Propositional Logic</vt:lpstr>
      <vt:lpstr>1.1 Propositional Logic</vt:lpstr>
      <vt:lpstr>1.1 Propositional Logic</vt:lpstr>
      <vt:lpstr>1.1 Propositional Logic</vt:lpstr>
      <vt:lpstr>1.1 Propositional Logic</vt:lpstr>
      <vt:lpstr>1.1 Propositional Logic</vt:lpstr>
      <vt:lpstr>1.1 Propositional Logic</vt:lpstr>
      <vt:lpstr>1.1 Propositional Logic</vt:lpstr>
      <vt:lpstr>1.1 Propositional Logic</vt:lpstr>
      <vt:lpstr>1.1 Propositional Logic</vt:lpstr>
      <vt:lpstr>1.1 Propositional Logic</vt:lpstr>
      <vt:lpstr>1.1 Propositional Logic</vt:lpstr>
      <vt:lpstr>1.1 Propositional Logic</vt:lpstr>
      <vt:lpstr>1.1 Propositional Logic</vt:lpstr>
      <vt:lpstr>Arguments</vt:lpstr>
      <vt:lpstr>1.1 Propositional Logic</vt:lpstr>
      <vt:lpstr>1.1 Propositional Logic</vt:lpstr>
      <vt:lpstr>1.1 Propositional Logic</vt:lpstr>
      <vt:lpstr>1.1 Propositional Logic</vt:lpstr>
      <vt:lpstr>Logic and Bit Operations</vt:lpstr>
      <vt:lpstr>1.2 Propositional Equivalences</vt:lpstr>
      <vt:lpstr>Propositional Equivalences</vt:lpstr>
      <vt:lpstr>1.2 Propositional Equivalences</vt:lpstr>
      <vt:lpstr>1.2 Propositional Equivalences</vt:lpstr>
      <vt:lpstr>Logical Equivalences</vt:lpstr>
      <vt:lpstr>Constructing New Logical Equivalences</vt:lpstr>
      <vt:lpstr>1.2 Propositional Equivalences</vt:lpstr>
      <vt:lpstr>Some solutions of exercises</vt:lpstr>
      <vt:lpstr>Some solutions of 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profile</dc:creator>
  <cp:lastModifiedBy>Zobaer Zihad</cp:lastModifiedBy>
  <cp:revision>1</cp:revision>
  <dcterms:created xsi:type="dcterms:W3CDTF">2008-01-06T01:37:51Z</dcterms:created>
  <dcterms:modified xsi:type="dcterms:W3CDTF">2026-01-05T17:36:07Z</dcterms:modified>
</cp:coreProperties>
</file>