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7" r:id="rId23"/>
    <p:sldId id="278" r:id="rId24"/>
    <p:sldId id="279" r:id="rId25"/>
    <p:sldId id="288" r:id="rId26"/>
    <p:sldId id="289" r:id="rId27"/>
    <p:sldId id="280" r:id="rId28"/>
    <p:sldId id="290" r:id="rId29"/>
    <p:sldId id="291" r:id="rId30"/>
    <p:sldId id="283" r:id="rId31"/>
    <p:sldId id="284" r:id="rId32"/>
    <p:sldId id="285" r:id="rId33"/>
    <p:sldId id="286" r:id="rId34"/>
  </p:sldIdLst>
  <p:sldSz cx="9144000" cy="6858000" type="screen4x3"/>
  <p:notesSz cx="6858000" cy="89249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RhzM1r8vQG9coYJvJ2Ac+xKlo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ACD59A-51BB-4FE3-AD6C-F3FF0CF9378A}">
  <a:tblStyle styleId="{73ACD59A-51BB-4FE3-AD6C-F3FF0CF937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4582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4582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00d2579b4_1_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1100d2579b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3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00d2579b4_1_6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1100d2579b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3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00d2579b4_1_15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1100d2579b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3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00d2579b4_1_22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1100d2579b4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3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00d2579b4_1_3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1100d2579b4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494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3714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33656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763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40076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>
            <a:spLocks noGrp="1"/>
          </p:cNvSpPr>
          <p:nvPr>
            <p:ph type="body" idx="1"/>
          </p:nvPr>
        </p:nvSpPr>
        <p:spPr>
          <a:xfrm>
            <a:off x="914400" y="4267200"/>
            <a:ext cx="50292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685800"/>
            <a:ext cx="4470400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Predicates &amp; Quantifiers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lang="en-US">
                <a:solidFill>
                  <a:srgbClr val="FF0000"/>
                </a:solidFill>
              </a:rPr>
              <a:t>CSE-103</a:t>
            </a:r>
            <a:r>
              <a:rPr lang="en-US" sz="32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Discrete Mathematics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Predicate Logic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Predicate logic 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an extension of propositional logic that permits concise reasoning about whole 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entities.</a:t>
            </a:r>
            <a:endParaRPr sz="32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E.g.,	“x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&gt;1”,  “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x+y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=10”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Statements involving variables.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statements are neither true or false when the values of the variables are not specified.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Subjects and Predicates</a:t>
            </a:r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proposition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“x is greater than 3”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has two parts: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 variable x” denotes 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subject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the sentence is about.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“is greater than 3” denotes 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property that the subject can have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00d2579b4_1_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Subjects and Predicates</a:t>
            </a:r>
            <a:endParaRPr/>
          </a:p>
        </p:txBody>
      </p:sp>
      <p:sp>
        <p:nvSpPr>
          <p:cNvPr id="110" name="Google Shape;110;g1100d2579b4_1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Predicates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“x is greater than 3” 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“x is greater than Y” </a:t>
            </a:r>
            <a:endParaRPr/>
          </a:p>
          <a:p>
            <a:pPr marL="3429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 “x is greater than Y and Z” </a:t>
            </a:r>
            <a:endParaRPr/>
          </a:p>
          <a:p>
            <a:pPr marL="3429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 “x can speak english” 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p(x)=x is greater than 3 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x=2 then p(2)= 2 is greater than 3 —&gt; F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Solved others example.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11" name="Google Shape;111;g1100d2579b4_1_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Functions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modeled as a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from objects to propositions.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denotes the predicate “is greater than 3”---refers to the property that the subject of the statement can have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value has been assigned to the variable x, the statement P(x) becomes a proposition and has a truth value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“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1”,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then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is the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“3 is greater than 1.”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predicate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itself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P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=“is sleeping”) is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proposition (not a complete sentence).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00d2579b4_1_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Functions</a:t>
            </a:r>
            <a:endParaRPr/>
          </a:p>
        </p:txBody>
      </p:sp>
      <p:sp>
        <p:nvSpPr>
          <p:cNvPr id="124" name="Google Shape;124;g1100d2579b4_1_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 1:</a:t>
            </a:r>
            <a:endParaRPr sz="2800"/>
          </a:p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Let P(x) denote the statement “x &gt; 3.” What are the truth values of P(4) and P(2)?</a:t>
            </a:r>
            <a:endParaRPr sz="280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Solution: We obtain the statement P(4) by setting x = 4 in the statement “x &gt; 3.” Hence,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P(4), which is the statement “4 &gt; 3,” is true.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However,P(2), which is the statement “2 &gt; 3,” is false.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</p:txBody>
      </p:sp>
      <p:sp>
        <p:nvSpPr>
          <p:cNvPr id="125" name="Google Shape;125;g1100d2579b4_1_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00d2579b4_1_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Functions</a:t>
            </a:r>
            <a:endParaRPr/>
          </a:p>
        </p:txBody>
      </p:sp>
      <p:sp>
        <p:nvSpPr>
          <p:cNvPr id="131" name="Google Shape;131;g1100d2579b4_1_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EXAMPLE 2 : 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Let Q(x, y) denote the statement “x = y + 3.” What are the truth values of the propositions Q(1, 2) and Q(3, 0)?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Solution: To obtain Q(1, 2), set x = 1 and y = 2 in the statement Q(x, y). Hence, Q(1, 2) is the statement “1 = 2 + 3,” which is false. The statement Q(3, 0) is the proposition “3 = 0 + 3,” which is true.</a:t>
            </a: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/>
          </a:p>
        </p:txBody>
      </p:sp>
      <p:sp>
        <p:nvSpPr>
          <p:cNvPr id="132" name="Google Shape;132;g1100d2579b4_1_1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Functions</a:t>
            </a: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534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Predicate logic includes propositional functions of </a:t>
            </a:r>
            <a:r>
              <a:rPr lang="en-US" sz="28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number of arguments.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e.g.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let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y,z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“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gave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grade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  	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“Mike”,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=“Mary”,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=“A”,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“Mike gave Mary the grade A.”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R(x, y, z) denotes the statement x + y = z. What would be the truth values of the propositions  R(1, 2, 3) and R(0, 0, 1)?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For R(1, 2, 3) the statement would be 1 + 2 =3; which is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where x =1, y=2 and z=3.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For R(0, 0, 1) the statement would be 0 + 0 =1; which is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where x =0, y=0 and z=1.</a:t>
            </a:r>
            <a:endParaRPr sz="2400" b="0" i="0" u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Quantifiers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way of creating proposition from propositional function-----</a:t>
            </a:r>
            <a:r>
              <a:rPr lang="en-US" sz="3200" b="0" i="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Quantification.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quantification is discussed: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Universal Quantification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Existential Quantification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Quantification expresses the extent to which a predicate is true over a range of elements.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Universe of Discourse</a:t>
            </a:r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8077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property is true for all values of a variable in a particular domain called </a:t>
            </a:r>
            <a:r>
              <a:rPr lang="en-US" sz="3200" b="0" i="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universe of discourse.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collection of values that a variable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take is called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</a:t>
            </a:r>
            <a:r>
              <a:rPr lang="en-US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universe of discourse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e.g.,  let </a:t>
            </a:r>
            <a:r>
              <a:rPr lang="en-US" sz="2800" b="0" i="1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0" i="1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)=“</a:t>
            </a:r>
            <a:r>
              <a:rPr lang="en-US" sz="2800" b="0" i="1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+1&gt;</a:t>
            </a:r>
            <a:r>
              <a:rPr lang="en-US" sz="2800" b="0" i="1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”. 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define the course of universe as the </a:t>
            </a:r>
            <a:r>
              <a:rPr lang="en-US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integers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Quantification</a:t>
            </a:r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609600" y="2819400"/>
            <a:ext cx="83058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notation  “</a:t>
            </a:r>
            <a:r>
              <a:rPr lang="en-US" sz="2400" b="0" i="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∀ x P(x)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denotes the universal quantification of x, where ∀ is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universal quantifier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proposition ∀ x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expressed as: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“for all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(x)” or “for every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(x)”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x in the u.d., P holds.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Let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is “x + 1 &gt; x”. What would be the truth value of ∀ x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if u. d. is the set of all real numbers?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Since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is true for all real number , the quantification ∀ x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533400" y="1371600"/>
            <a:ext cx="8382000" cy="12001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1: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universal quantification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is the proposition  “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is true for all values of x in the universe of discourse.”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00d2579b4_1_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Quantification</a:t>
            </a:r>
            <a:endParaRPr/>
          </a:p>
        </p:txBody>
      </p:sp>
      <p:sp>
        <p:nvSpPr>
          <p:cNvPr id="167" name="Google Shape;167;g1100d2579b4_1_22"/>
          <p:cNvSpPr txBox="1">
            <a:spLocks noGrp="1"/>
          </p:cNvSpPr>
          <p:nvPr>
            <p:ph type="body" idx="1"/>
          </p:nvPr>
        </p:nvSpPr>
        <p:spPr>
          <a:xfrm>
            <a:off x="419100" y="1477900"/>
            <a:ext cx="83058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 b="1"/>
              <a:t>EXAMPL</a:t>
            </a:r>
            <a:r>
              <a:rPr lang="en-US" sz="2400"/>
              <a:t>E: Let Q(x) be the statement “x &lt; 2.” What is the truth value of the quantification ∀xQ(x), where,the domain consists of all real numbers?</a:t>
            </a:r>
            <a:endParaRPr sz="240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/>
              <a:t>Solution: Q(x) is not true for every real number x, because, for instance, Q(3) is false. That is, x = 3 is a counterexample for the statement ∀xQ(x). Thus,∀xQ(x)  is false.</a:t>
            </a:r>
            <a:endParaRPr sz="2400"/>
          </a:p>
          <a:p>
            <a:pPr marL="3429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8" name="Google Shape;168;g1100d2579b4_1_2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Existential Quantification</a:t>
            </a:r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533400" y="2514600"/>
            <a:ext cx="83058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notation  “</a:t>
            </a:r>
            <a:r>
              <a:rPr lang="en-US" sz="2400" b="0" i="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∃ x </a:t>
            </a:r>
            <a:r>
              <a:rPr lang="en-US" sz="2400" b="0" i="1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(x)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for  the existential quantification of P(x), where ∃ is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existential quantifier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proposition ∃ x </a:t>
            </a:r>
            <a:r>
              <a:rPr lang="en-US" sz="24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expressed as: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“There is an x such that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(x)” or “There is at least one x such that P(x)”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some x in the u.d., P holds.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What is the truth value of ∃ x </a:t>
            </a:r>
            <a:r>
              <a:rPr lang="en-US" sz="20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where P(x) is the statements  “x </a:t>
            </a:r>
            <a:r>
              <a:rPr lang="en-US" sz="2000" b="0" i="0" u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10</a:t>
            </a:r>
            <a:r>
              <a:rPr lang="en-US" sz="2000" b="0" i="0" u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and the u. d. consists of the positive integers not exceeding 4?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Since u.d. is {1, 2, 3, 4}, then the proposition ∃ x </a:t>
            </a:r>
            <a:r>
              <a:rPr lang="en-US" sz="20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is the disjunction:  P(1)∨P(2) ∨P(3) ∨P(4). Since </a:t>
            </a:r>
            <a:r>
              <a:rPr lang="en-US" sz="20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(4) is the statement “4</a:t>
            </a:r>
            <a:r>
              <a:rPr lang="en-US" sz="2000" b="0" i="0" u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10” is true as a result ∃ x </a:t>
            </a:r>
            <a:r>
              <a:rPr lang="en-US" sz="20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is true. 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533400" y="1371600"/>
            <a:ext cx="8382000" cy="10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2: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existential quantification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is the proposition  “There exists an element x in the universe of discourse such that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 is true.”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00d2579b4_1_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Existential Quantification</a:t>
            </a:r>
            <a:endParaRPr/>
          </a:p>
        </p:txBody>
      </p:sp>
      <p:sp>
        <p:nvSpPr>
          <p:cNvPr id="182" name="Google Shape;182;g1100d2579b4_1_30"/>
          <p:cNvSpPr txBox="1">
            <a:spLocks noGrp="1"/>
          </p:cNvSpPr>
          <p:nvPr>
            <p:ph type="body" idx="1"/>
          </p:nvPr>
        </p:nvSpPr>
        <p:spPr>
          <a:xfrm>
            <a:off x="457200" y="1536675"/>
            <a:ext cx="8305800" cy="43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400" dirty="0"/>
              <a:t>EXAMPLE 13 Let P(x) denote the statement “x &gt; 3.” What is the truth value of the quantification ∃</a:t>
            </a:r>
            <a:r>
              <a:rPr lang="en-US" sz="2400" dirty="0" err="1"/>
              <a:t>xP</a:t>
            </a:r>
            <a:r>
              <a:rPr lang="en-US" sz="2400" dirty="0"/>
              <a:t>(x),where the domain consists of all real numbers?</a:t>
            </a:r>
            <a:endParaRPr sz="24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400" dirty="0"/>
              <a:t>Solution: Because “x &gt; 3” is sometimes true—for instance, when x = 4—the existential quantification of P(x), which is ∃</a:t>
            </a:r>
            <a:r>
              <a:rPr lang="en-US" sz="2400" dirty="0" err="1"/>
              <a:t>xP</a:t>
            </a:r>
            <a:r>
              <a:rPr lang="en-US" sz="2400" dirty="0"/>
              <a:t>(x), is true. ◂</a:t>
            </a:r>
            <a:endParaRPr sz="2400" dirty="0"/>
          </a:p>
          <a:p>
            <a:pPr marL="342900">
              <a:spcBef>
                <a:spcPts val="400"/>
              </a:spcBef>
            </a:pPr>
            <a:r>
              <a:rPr lang="en-US" sz="2400" dirty="0"/>
              <a:t>Observe that the statement ∃</a:t>
            </a:r>
            <a:r>
              <a:rPr lang="en-US" sz="2400" dirty="0" err="1"/>
              <a:t>xP</a:t>
            </a:r>
            <a:r>
              <a:rPr lang="en-US" sz="2400" dirty="0"/>
              <a:t>(x) is false if and only if there is no element x in the </a:t>
            </a:r>
            <a:r>
              <a:rPr lang="en-US" sz="2400" dirty="0" err="1"/>
              <a:t>domainfor</a:t>
            </a:r>
            <a:r>
              <a:rPr lang="en-US" sz="2400" dirty="0"/>
              <a:t> which P(x) is true. That is, ∃</a:t>
            </a:r>
            <a:r>
              <a:rPr lang="en-US" sz="2400" dirty="0" err="1"/>
              <a:t>xP</a:t>
            </a:r>
            <a:r>
              <a:rPr lang="en-US" sz="2400" dirty="0"/>
              <a:t>(x) is false if and only if P(x) is false for every element of the domain.</a:t>
            </a:r>
            <a:endParaRPr sz="2400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83" name="Google Shape;183;g1100d2579b4_1_3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Quantifier Equivalence Laws</a:t>
            </a:r>
            <a:endParaRPr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Definitions of quantifiers: If u.d.=a,b,c,… </a:t>
            </a:r>
            <a:b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∧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∧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∧ …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means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conjunctions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values.</a:t>
            </a:r>
            <a:b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∨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∨ </a:t>
            </a:r>
            <a:r>
              <a:rPr lang="en-US" sz="28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∨ …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which means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disjunctions</a:t>
            </a:r>
            <a:r>
              <a:rPr lang="en-US" sz="24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among values.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/>
          </a:p>
        </p:txBody>
      </p:sp>
      <p:graphicFrame>
        <p:nvGraphicFramePr>
          <p:cNvPr id="191" name="Google Shape;191;p10"/>
          <p:cNvGraphicFramePr/>
          <p:nvPr/>
        </p:nvGraphicFramePr>
        <p:xfrm>
          <a:off x="685800" y="4191000"/>
          <a:ext cx="8153400" cy="1676410"/>
        </p:xfrm>
        <a:graphic>
          <a:graphicData uri="http://schemas.openxmlformats.org/drawingml/2006/table">
            <a:tbl>
              <a:tblPr>
                <a:noFill/>
                <a:tableStyleId>{73ACD59A-51BB-4FE3-AD6C-F3FF0CF9378A}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1: Quantifiers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Statements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true?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false?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P(x) is true for every x.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an x for which P(x) is false.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an x for which P(x) is true.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P(x) is false for every x.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Quantifier of two variables</a:t>
            </a:r>
            <a:endParaRPr/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382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Let Q(x, y, z) be the statement “x + y =z”. What are the truth values of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∀x ∀y ∃z Q(x, y, z) 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∃z ∀x ∀y Q(x, y, z)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x and y are assigned values and z is real number such that x + y =z.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Then the quantification </a:t>
            </a: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∀x ∀y ∃z Q(x, y, z) 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 the statement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“For all real number x and for all real number y there is a real number z such that x + y = z” is </a:t>
            </a: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order of quantifier is important here.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Now the quantification </a:t>
            </a: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∃z ∀x ∀y Q(x, y, z) 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statement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“ There is a real number z that for all real number x and for all real number y is true that x + y = z” which is </a:t>
            </a:r>
            <a:r>
              <a:rPr lang="en-US" sz="2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since there is no value of z for all values of x and y that satisfy “x + y = z”.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Quantifier of two variables</a:t>
            </a:r>
            <a:endParaRPr/>
          </a:p>
        </p:txBody>
      </p:sp>
      <p:graphicFrame>
        <p:nvGraphicFramePr>
          <p:cNvPr id="204" name="Google Shape;204;p12"/>
          <p:cNvGraphicFramePr/>
          <p:nvPr/>
        </p:nvGraphicFramePr>
        <p:xfrm>
          <a:off x="457200" y="1600200"/>
          <a:ext cx="8458175" cy="4038550"/>
        </p:xfrm>
        <a:graphic>
          <a:graphicData uri="http://schemas.openxmlformats.org/drawingml/2006/table">
            <a:tbl>
              <a:tblPr>
                <a:noFill/>
                <a:tableStyleId>{73ACD59A-51BB-4FE3-AD6C-F3FF0CF9378A}</a:tableStyleId>
              </a:tblPr>
              <a:tblGrid>
                <a:gridCol w="15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50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2: Quantifier of two variables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Statements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true?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false?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P(x, y) is true for every pair of x, y.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 pair x, y for which P(x, y) is false.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every x there is a y for which P(x, y) is true.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an x such that P(x, y) is false for every y.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an x such that P(x, y) is true for every y.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every x there is a y for which P(x, y) is false.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 P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a pair x, y for which P(x,y) is true.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P(x,y) is false for every pair x, y.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" name="Google Shape;205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Negation</a:t>
            </a:r>
            <a:endParaRPr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negation of a statement is required. Consider the following statement: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“Every student in your class has taken a course in calculus” ……….negation???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“It is not the case that every student in your class has taken a course in calculus” can be express as: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∃x ┐P(x)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the following equivalence: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┐∀x P(x) ⇔ Ex ┐P(x)</a:t>
            </a:r>
            <a:endParaRPr/>
          </a:p>
        </p:txBody>
      </p:sp>
      <p:sp>
        <p:nvSpPr>
          <p:cNvPr id="212" name="Google Shape;21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Equivalence Laws</a:t>
            </a:r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b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¬∀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⇔ 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∧ 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⇔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∧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Q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∨ 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⇔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∨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Q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of Quantifiers</a:t>
            </a:r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part of a logical expression to which a quantifier is applied is called the scope of this quantifier.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e.g., 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∧ 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e.g., 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∧ 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Translating from English into Logical Expressions</a:t>
            </a:r>
            <a:endParaRPr dirty="0"/>
          </a:p>
        </p:txBody>
      </p:sp>
      <p:sp>
        <p:nvSpPr>
          <p:cNvPr id="240" name="Google Shape;240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1CEE1-20C1-455C-BE9D-D38FACC8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56" y="1520825"/>
            <a:ext cx="70104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A0467-DD14-425D-AB3F-E0C5C8440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7" y="136525"/>
            <a:ext cx="6438900" cy="1762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4D0934-804E-40EC-A3B1-07EC320D6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57" y="1599143"/>
            <a:ext cx="6096000" cy="525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87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Using Quantifiers in System Specifications</a:t>
            </a:r>
            <a:endParaRPr dirty="0"/>
          </a:p>
        </p:txBody>
      </p:sp>
      <p:sp>
        <p:nvSpPr>
          <p:cNvPr id="251" name="Google Shape;251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B24A7-96E5-4C75-A1FF-1BBFA510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79" y="1788054"/>
            <a:ext cx="6868054" cy="34951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457200" y="984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Quantifiers</a:t>
            </a:r>
            <a:endParaRPr dirty="0"/>
          </a:p>
        </p:txBody>
      </p:sp>
      <p:sp>
        <p:nvSpPr>
          <p:cNvPr id="258" name="Google Shape;258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4419600" y="5410200"/>
            <a:ext cx="304800" cy="3048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endParaRPr b="0" i="0" dirty="0">
              <a:ln w="9525" cap="flat" cmpd="sng">
                <a:solidFill>
                  <a:srgbClr val="CC99FF"/>
                </a:solidFill>
                <a:prstDash val="solid"/>
                <a:miter lim="800000"/>
                <a:headEnd type="none" w="sm" len="sm"/>
                <a:tailEnd type="none" w="sm" len="sm"/>
              </a:ln>
              <a:gradFill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0"/>
              </a:gradFill>
              <a:latin typeface="Impac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17F27-A92A-4B49-9C50-E2909824E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471" y="1241425"/>
            <a:ext cx="6144507" cy="5114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457200" y="984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Quantifiers</a:t>
            </a:r>
            <a:endParaRPr dirty="0"/>
          </a:p>
        </p:txBody>
      </p:sp>
      <p:sp>
        <p:nvSpPr>
          <p:cNvPr id="258" name="Google Shape;258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4419600" y="5410200"/>
            <a:ext cx="304800" cy="3048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endParaRPr b="0" i="0" dirty="0">
              <a:ln w="9525" cap="flat" cmpd="sng">
                <a:solidFill>
                  <a:srgbClr val="CC99FF"/>
                </a:solidFill>
                <a:prstDash val="solid"/>
                <a:miter lim="800000"/>
                <a:headEnd type="none" w="sm" len="sm"/>
                <a:tailEnd type="none" w="sm" len="sm"/>
              </a:ln>
              <a:gradFill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0"/>
              </a:gradFill>
              <a:latin typeface="Impac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714B89-C771-4BD3-8533-206A6ED0A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1052336"/>
            <a:ext cx="66770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457200" y="984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Quantifiers</a:t>
            </a:r>
            <a:endParaRPr dirty="0"/>
          </a:p>
        </p:txBody>
      </p:sp>
      <p:sp>
        <p:nvSpPr>
          <p:cNvPr id="258" name="Google Shape;258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4419600" y="5410200"/>
            <a:ext cx="304800" cy="3048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endParaRPr b="0" i="0" dirty="0">
              <a:ln w="9525" cap="flat" cmpd="sng">
                <a:solidFill>
                  <a:srgbClr val="CC99FF"/>
                </a:solidFill>
                <a:prstDash val="solid"/>
                <a:miter lim="800000"/>
                <a:headEnd type="none" w="sm" len="sm"/>
                <a:tailEnd type="none" w="sm" len="sm"/>
              </a:ln>
              <a:gradFill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0"/>
              </a:gradFill>
              <a:latin typeface="Impac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74A0D-F1BE-4E6A-832A-04D322D5D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4462"/>
            <a:ext cx="82296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BDB07-6801-4C7B-B45F-C7E833385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" y="295275"/>
            <a:ext cx="8943975" cy="62674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D96D4-788E-491E-A246-604DA75D8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104900"/>
            <a:ext cx="84201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19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FEE64-0111-4E6F-8F1D-A64013AA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343025"/>
            <a:ext cx="85153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31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from Exercise</a:t>
            </a:r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4582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Let P(x) is “x can speak Russian” and Q(x) is “x knows the computer language C++ ”. Universe of discourse is all students of your class.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“There is a student at your class who can speak Russian and who knows C++” can be expressed as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∃x (P(x) Ʌ Q(x))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“There is a student at your class who can speak Russian but who doesn’t knows C++” can be expressed as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∃x (P(x) Ʌ ┐Q(x))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“Every student at your class either can speak Russian or knows C++” can be expressed as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∀x (P(x) V Q(x))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“No student at your class can speak Russian or knows C++” can be expressed as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∀x ┐(P(x) Ʌ Q(x))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from Exercise</a:t>
            </a:r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382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Suppose the universe of discourse of the propositional function P(x, y) consists of pairs x and y where x and y can be 1, 2 or 3.  Write out the following propositions using disjunctions and conjunctions.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∃x P(x, 3) ⇔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P(1, 3)V P(2, 3)V P(3, 3)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∀y P(1, y) ⇔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P(1, 1) Ʌ P(1, 2) Ʌ P(1, 3)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∀x ∀y P(x, y) ⇔ 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P(1,1) Ʌ P(1,2) Ʌ P(1,3) Ʌ P(2,1) Ʌ P(2,2) Ʌ P(2,3) Ʌ P(3,1) Ʌ P(3,2) Ʌ P(3,3)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∃x ∃y P(x, y) ⇔ 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P(1,1) V P(1,2) V P(1,3) V P(2,1) V P(2,2) V P(2,3) V P(3,1) V P(3,2) V P(3,3)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∃x ∀y P(x, y) ⇔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(P(1,1) Ʌ P(1,2) Ʌ P(1,3)) V (P(2,1) Ʌ P(2,2) Ʌ P(2,3)) V (P(3,1) Ʌ P(3,2) Ʌ P(3,3))</a:t>
            </a:r>
            <a:endParaRPr/>
          </a:p>
          <a:p>
            <a:pPr marL="914400" marR="0" lvl="1" indent="-514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∀y  ∃x P(x, y) ⇔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(P(1,1) V P(2,1) Ʌ P(3,1)) Ʌ (P(1,2) V P(2,2) V P(3,2)) Ʌ (P(1, 3) V P(2, 3) V P(3,3))</a:t>
            </a:r>
            <a:endParaRPr/>
          </a:p>
          <a:p>
            <a:pPr marL="914400" marR="0" lvl="1" indent="-3873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from Exercise</a:t>
            </a:r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Determine the truth value of the following statements if the universe of discourse for all variables is the set of all integers.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∀n (n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≥ 0)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∀n ∃m (n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m)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∃n ∃m (n + m =4 Ʌ n – m = 1)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∀n ∀m ∃p (p = (m+n)/2) is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all the solved problem from your text book.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solve related problems from exercise.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2970</Words>
  <Application>Microsoft Office PowerPoint</Application>
  <PresentationFormat>On-screen Show (4:3)</PresentationFormat>
  <Paragraphs>200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Impact</vt:lpstr>
      <vt:lpstr>Times New Roman</vt:lpstr>
      <vt:lpstr>Office Theme</vt:lpstr>
      <vt:lpstr>Predicates &amp; Quantifiers</vt:lpstr>
      <vt:lpstr>Predicate Logic</vt:lpstr>
      <vt:lpstr>Subjects and Predicates</vt:lpstr>
      <vt:lpstr>Subjects and Predicates</vt:lpstr>
      <vt:lpstr>Propositional Functions</vt:lpstr>
      <vt:lpstr>Propositional Functions</vt:lpstr>
      <vt:lpstr>Propositional Functions</vt:lpstr>
      <vt:lpstr>Propositional Functions</vt:lpstr>
      <vt:lpstr>Quantifiers</vt:lpstr>
      <vt:lpstr>Universe of Discourse</vt:lpstr>
      <vt:lpstr>Universal Quantification</vt:lpstr>
      <vt:lpstr>Universal Quantification</vt:lpstr>
      <vt:lpstr>Existential Quantification</vt:lpstr>
      <vt:lpstr>Existential Quantification</vt:lpstr>
      <vt:lpstr>Quantifier Equivalence Laws</vt:lpstr>
      <vt:lpstr>Quantifier of two variables</vt:lpstr>
      <vt:lpstr>Quantifier of two variables</vt:lpstr>
      <vt:lpstr>Negation</vt:lpstr>
      <vt:lpstr>More Equivalence Laws</vt:lpstr>
      <vt:lpstr>Scope of Quantifiers</vt:lpstr>
      <vt:lpstr>Translating from English into Logical Expressions</vt:lpstr>
      <vt:lpstr>PowerPoint Presentation</vt:lpstr>
      <vt:lpstr>Using Quantifiers in System Specifications</vt:lpstr>
      <vt:lpstr>Nested Quantifiers</vt:lpstr>
      <vt:lpstr>Nested Quantifiers</vt:lpstr>
      <vt:lpstr>Nested Quantifiers</vt:lpstr>
      <vt:lpstr>PowerPoint Presentation</vt:lpstr>
      <vt:lpstr>PowerPoint Presentation</vt:lpstr>
      <vt:lpstr>PowerPoint Presentation</vt:lpstr>
      <vt:lpstr>Solution from Exercise</vt:lpstr>
      <vt:lpstr>Solution from Exercise</vt:lpstr>
      <vt:lpstr>Solution from 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&amp; Quantifiers</dc:title>
  <dc:creator>James</dc:creator>
  <cp:lastModifiedBy>Student</cp:lastModifiedBy>
  <cp:revision>7</cp:revision>
  <dcterms:created xsi:type="dcterms:W3CDTF">2001-01-08T01:48:20Z</dcterms:created>
  <dcterms:modified xsi:type="dcterms:W3CDTF">2022-02-08T11:02:46Z</dcterms:modified>
</cp:coreProperties>
</file>