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0" r:id="rId2"/>
    <p:sldMasterId id="2147483662" r:id="rId3"/>
  </p:sldMasterIdLst>
  <p:notesMasterIdLst>
    <p:notesMasterId r:id="rId21"/>
  </p:notesMasterIdLst>
  <p:sldIdLst>
    <p:sldId id="256" r:id="rId4"/>
    <p:sldId id="257" r:id="rId5"/>
    <p:sldId id="258" r:id="rId6"/>
    <p:sldId id="259" r:id="rId7"/>
    <p:sldId id="260" r:id="rId8"/>
    <p:sldId id="261" r:id="rId9"/>
    <p:sldId id="262" r:id="rId10"/>
    <p:sldId id="272" r:id="rId11"/>
    <p:sldId id="273" r:id="rId12"/>
    <p:sldId id="263" r:id="rId13"/>
    <p:sldId id="264" r:id="rId14"/>
    <p:sldId id="265" r:id="rId15"/>
    <p:sldId id="266" r:id="rId16"/>
    <p:sldId id="267" r:id="rId17"/>
    <p:sldId id="268" r:id="rId18"/>
    <p:sldId id="269" r:id="rId19"/>
    <p:sldId id="270" r:id="rId20"/>
  </p:sldIdLst>
  <p:sldSz cx="9144000" cy="6858000" type="screen4x3"/>
  <p:notesSz cx="6858000" cy="9144000"/>
  <p:embeddedFontLst>
    <p:embeddedFont>
      <p:font typeface="Libre Baskerville" panose="020F0502020204030204" pitchFamily="2"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b6eO6yTUprX0lRn/+Yj3DXNhH/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customschemas.google.com/relationships/presentationmetadata" Target="metadata"/><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DEACE22-39AB-D655-7B01-975AACB398E9}"/>
            </a:ext>
          </a:extLst>
        </p:cNvPr>
        <p:cNvGrpSpPr/>
        <p:nvPr/>
      </p:nvGrpSpPr>
      <p:grpSpPr>
        <a:xfrm>
          <a:off x="0" y="0"/>
          <a:ext cx="0" cy="0"/>
          <a:chOff x="0" y="0"/>
          <a:chExt cx="0" cy="0"/>
        </a:xfrm>
      </p:grpSpPr>
      <p:sp>
        <p:nvSpPr>
          <p:cNvPr id="156" name="Google Shape;156;p7:notes">
            <a:extLst>
              <a:ext uri="{FF2B5EF4-FFF2-40B4-BE49-F238E27FC236}">
                <a16:creationId xmlns:a16="http://schemas.microsoft.com/office/drawing/2014/main" id="{EE536D55-ACB4-729F-CD39-C8078E3EEC0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7:notes">
            <a:extLst>
              <a:ext uri="{FF2B5EF4-FFF2-40B4-BE49-F238E27FC236}">
                <a16:creationId xmlns:a16="http://schemas.microsoft.com/office/drawing/2014/main" id="{01C1ACDF-183B-FCBB-F3D6-C5B2D83779E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7604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388FE0A-974B-989B-1585-878FFA04CD2C}"/>
            </a:ext>
          </a:extLst>
        </p:cNvPr>
        <p:cNvGrpSpPr/>
        <p:nvPr/>
      </p:nvGrpSpPr>
      <p:grpSpPr>
        <a:xfrm>
          <a:off x="0" y="0"/>
          <a:ext cx="0" cy="0"/>
          <a:chOff x="0" y="0"/>
          <a:chExt cx="0" cy="0"/>
        </a:xfrm>
      </p:grpSpPr>
      <p:sp>
        <p:nvSpPr>
          <p:cNvPr id="156" name="Google Shape;156;p7:notes">
            <a:extLst>
              <a:ext uri="{FF2B5EF4-FFF2-40B4-BE49-F238E27FC236}">
                <a16:creationId xmlns:a16="http://schemas.microsoft.com/office/drawing/2014/main" id="{E9CD995F-6ACE-9284-83F3-D2CD1001D427}"/>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7:notes">
            <a:extLst>
              <a:ext uri="{FF2B5EF4-FFF2-40B4-BE49-F238E27FC236}">
                <a16:creationId xmlns:a16="http://schemas.microsoft.com/office/drawing/2014/main" id="{83D4924F-A95D-B96A-3D8D-B43489A6F2F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0639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 name="Google Shape;30;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
        <p:cNvGrpSpPr/>
        <p:nvPr/>
      </p:nvGrpSpPr>
      <p:grpSpPr>
        <a:xfrm>
          <a:off x="0" y="0"/>
          <a:ext cx="0" cy="0"/>
          <a:chOff x="0" y="0"/>
          <a:chExt cx="0" cy="0"/>
        </a:xfrm>
      </p:grpSpPr>
      <p:sp>
        <p:nvSpPr>
          <p:cNvPr id="34" name="Google Shape;34;p2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24"/>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 name="Google Shape;36;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1" name="Google Shape;41;p25"/>
          <p:cNvSpPr>
            <a:spLocks noGrp="1"/>
          </p:cNvSpPr>
          <p:nvPr>
            <p:ph type="pic" idx="2"/>
          </p:nvPr>
        </p:nvSpPr>
        <p:spPr>
          <a:xfrm>
            <a:off x="1792288" y="612775"/>
            <a:ext cx="5486400" cy="4114800"/>
          </a:xfrm>
          <a:prstGeom prst="rect">
            <a:avLst/>
          </a:prstGeom>
          <a:noFill/>
          <a:ln>
            <a:noFill/>
          </a:ln>
        </p:spPr>
      </p:sp>
      <p:sp>
        <p:nvSpPr>
          <p:cNvPr id="42" name="Google Shape;42;p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3" name="Google Shape;43;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2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2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49" name="Google Shape;49;p2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0" name="Google Shape;50;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2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9" name="Google Shape;59;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2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2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5" name="Google Shape;65;p2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6" name="Google Shape;66;p2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7" name="Google Shape;67;p2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8" name="Google Shape;68;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1"/>
        <p:cNvGrpSpPr/>
        <p:nvPr/>
      </p:nvGrpSpPr>
      <p:grpSpPr>
        <a:xfrm>
          <a:off x="0" y="0"/>
          <a:ext cx="0" cy="0"/>
          <a:chOff x="0" y="0"/>
          <a:chExt cx="0" cy="0"/>
        </a:xfrm>
      </p:grpSpPr>
      <p:sp>
        <p:nvSpPr>
          <p:cNvPr id="72" name="Google Shape;72;p3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3" name="Google Shape;73;p3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4" name="Google Shape;74;p3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5" name="Google Shape;75;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sp>
        <p:nvSpPr>
          <p:cNvPr id="79" name="Google Shape;79;p3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3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81" name="Google Shape;81;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4 Content" type="fourObj">
  <p:cSld name="FOUR_OBJECTS">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1370013" y="301625"/>
            <a:ext cx="7313612"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1370013" y="1827213"/>
            <a:ext cx="3579812"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 name="Google Shape;93;p20"/>
          <p:cNvSpPr txBox="1">
            <a:spLocks noGrp="1"/>
          </p:cNvSpPr>
          <p:nvPr>
            <p:ph type="body" idx="2"/>
          </p:nvPr>
        </p:nvSpPr>
        <p:spPr>
          <a:xfrm>
            <a:off x="5102225" y="1827213"/>
            <a:ext cx="35814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4" name="Google Shape;94;p20"/>
          <p:cNvSpPr txBox="1">
            <a:spLocks noGrp="1"/>
          </p:cNvSpPr>
          <p:nvPr>
            <p:ph type="body" idx="3"/>
          </p:nvPr>
        </p:nvSpPr>
        <p:spPr>
          <a:xfrm>
            <a:off x="1370013" y="3960813"/>
            <a:ext cx="3579812"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5" name="Google Shape;95;p20"/>
          <p:cNvSpPr txBox="1">
            <a:spLocks noGrp="1"/>
          </p:cNvSpPr>
          <p:nvPr>
            <p:ph type="body" idx="4"/>
          </p:nvPr>
        </p:nvSpPr>
        <p:spPr>
          <a:xfrm>
            <a:off x="5102225" y="3960813"/>
            <a:ext cx="35814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6" name="Google Shape;96;p20"/>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1370013" y="301625"/>
            <a:ext cx="7313612"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1370013" y="1827213"/>
            <a:ext cx="3579812"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8" name="Google Shape;108;p22"/>
          <p:cNvSpPr txBox="1">
            <a:spLocks noGrp="1"/>
          </p:cNvSpPr>
          <p:nvPr>
            <p:ph type="body" idx="2"/>
          </p:nvPr>
        </p:nvSpPr>
        <p:spPr>
          <a:xfrm>
            <a:off x="5102225" y="1827213"/>
            <a:ext cx="35814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9" name="Google Shape;109;p22"/>
          <p:cNvSpPr txBox="1">
            <a:spLocks noGrp="1"/>
          </p:cNvSpPr>
          <p:nvPr>
            <p:ph type="body" idx="3"/>
          </p:nvPr>
        </p:nvSpPr>
        <p:spPr>
          <a:xfrm>
            <a:off x="5102225" y="3960813"/>
            <a:ext cx="3581400" cy="1981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0" name="Google Shape;110;p22"/>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2"/>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1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6" name="Google Shape;86;p19"/>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p19"/>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8" name="Google Shape;88;p1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9" name="Google Shape;89;p19"/>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01" name="Google Shape;101;p2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2" name="Google Shape;102;p21"/>
          <p:cNvSpPr txBox="1">
            <a:spLocks noGrp="1"/>
          </p:cNvSpPr>
          <p:nvPr>
            <p:ph type="dt" idx="10"/>
          </p:nvPr>
        </p:nvSpPr>
        <p:spPr>
          <a:xfrm>
            <a:off x="457200" y="6248400"/>
            <a:ext cx="21336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3" name="Google Shape;103;p2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4" name="Google Shape;104;p21"/>
          <p:cNvSpPr txBox="1">
            <a:spLocks noGrp="1"/>
          </p:cNvSpPr>
          <p:nvPr>
            <p:ph type="sldNum" idx="12"/>
          </p:nvPr>
        </p:nvSpPr>
        <p:spPr>
          <a:xfrm>
            <a:off x="6553200" y="6248400"/>
            <a:ext cx="2133600" cy="457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Counting</a:t>
            </a:r>
            <a:endParaRPr/>
          </a:p>
        </p:txBody>
      </p:sp>
      <p:sp>
        <p:nvSpPr>
          <p:cNvPr id="118" name="Google Shape;118;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98989"/>
              </a:buClr>
              <a:buSzPts val="3200"/>
              <a:buNone/>
            </a:pPr>
            <a:r>
              <a:rPr lang="en-US">
                <a:solidFill>
                  <a:srgbClr val="898989"/>
                </a:solidFill>
              </a:rPr>
              <a:t>CSE-103</a:t>
            </a:r>
            <a:r>
              <a:rPr lang="en-US" sz="3200" b="0" i="0" u="none">
                <a:solidFill>
                  <a:srgbClr val="898989"/>
                </a:solidFill>
                <a:latin typeface="Calibri"/>
                <a:ea typeface="Calibri"/>
                <a:cs typeface="Calibri"/>
                <a:sym typeface="Calibri"/>
              </a:rPr>
              <a:t>: Discrete Mathematics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
          <p:cNvSpPr txBox="1">
            <a:spLocks noGrp="1"/>
          </p:cNvSpPr>
          <p:nvPr>
            <p:ph type="title"/>
          </p:nvPr>
        </p:nvSpPr>
        <p:spPr>
          <a:xfrm>
            <a:off x="457200" y="274637"/>
            <a:ext cx="8229600" cy="7159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Counting Basics</a:t>
            </a:r>
            <a:endParaRPr/>
          </a:p>
        </p:txBody>
      </p:sp>
      <p:sp>
        <p:nvSpPr>
          <p:cNvPr id="124" name="Google Shape;124;p2"/>
          <p:cNvSpPr txBox="1">
            <a:spLocks noGrp="1"/>
          </p:cNvSpPr>
          <p:nvPr>
            <p:ph type="body" idx="1"/>
          </p:nvPr>
        </p:nvSpPr>
        <p:spPr>
          <a:xfrm>
            <a:off x="381000" y="990600"/>
            <a:ext cx="8458200" cy="5257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Two basic counting principles are:</a:t>
            </a:r>
            <a:endParaRPr/>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Sum Rule</a:t>
            </a:r>
            <a:endParaRPr/>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Product Rule</a:t>
            </a:r>
            <a:endParaRPr/>
          </a:p>
        </p:txBody>
      </p:sp>
      <p:sp>
        <p:nvSpPr>
          <p:cNvPr id="125" name="Google Shape;125;p2"/>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
          <p:cNvSpPr txBox="1">
            <a:spLocks noGrp="1"/>
          </p:cNvSpPr>
          <p:nvPr>
            <p:ph type="title"/>
          </p:nvPr>
        </p:nvSpPr>
        <p:spPr>
          <a:xfrm>
            <a:off x="457200" y="274637"/>
            <a:ext cx="8229600" cy="8683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The Product Rule</a:t>
            </a:r>
            <a:endParaRPr/>
          </a:p>
        </p:txBody>
      </p:sp>
      <p:sp>
        <p:nvSpPr>
          <p:cNvPr id="131" name="Google Shape;131;p3"/>
          <p:cNvSpPr txBox="1">
            <a:spLocks noGrp="1"/>
          </p:cNvSpPr>
          <p:nvPr>
            <p:ph type="body" idx="1"/>
          </p:nvPr>
        </p:nvSpPr>
        <p:spPr>
          <a:xfrm>
            <a:off x="457200" y="1143000"/>
            <a:ext cx="83058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Suppose that a procedure can be broken down into a sequence of two tasks. If there are n</a:t>
            </a:r>
            <a:r>
              <a:rPr lang="en-US" sz="2400" b="0" i="0" u="none" strike="noStrike" cap="none" baseline="-25000">
                <a:solidFill>
                  <a:schemeClr val="dk1"/>
                </a:solidFill>
                <a:latin typeface="Calibri"/>
                <a:ea typeface="Calibri"/>
                <a:cs typeface="Calibri"/>
                <a:sym typeface="Calibri"/>
              </a:rPr>
              <a:t>1</a:t>
            </a:r>
            <a:r>
              <a:rPr lang="en-US" sz="2400" b="0" i="0" u="none" strike="noStrike" cap="none">
                <a:solidFill>
                  <a:schemeClr val="dk1"/>
                </a:solidFill>
                <a:latin typeface="Calibri"/>
                <a:ea typeface="Calibri"/>
                <a:cs typeface="Calibri"/>
                <a:sym typeface="Calibri"/>
              </a:rPr>
              <a:t> way to do the first task and for each of these ways of doing then first task there are n</a:t>
            </a:r>
            <a:r>
              <a:rPr lang="en-US" sz="2400" b="0" i="0" u="none" strike="noStrike" cap="none" baseline="-25000">
                <a:solidFill>
                  <a:schemeClr val="dk1"/>
                </a:solidFill>
                <a:latin typeface="Calibri"/>
                <a:ea typeface="Calibri"/>
                <a:cs typeface="Calibri"/>
                <a:sym typeface="Calibri"/>
              </a:rPr>
              <a:t>2</a:t>
            </a:r>
            <a:r>
              <a:rPr lang="en-US" sz="2400" b="0" i="0" u="none" strike="noStrike" cap="none">
                <a:solidFill>
                  <a:schemeClr val="dk1"/>
                </a:solidFill>
                <a:latin typeface="Calibri"/>
                <a:ea typeface="Calibri"/>
                <a:cs typeface="Calibri"/>
                <a:sym typeface="Calibri"/>
              </a:rPr>
              <a:t> ways of doing  the second task, then there are  n</a:t>
            </a:r>
            <a:r>
              <a:rPr lang="en-US" sz="2400" b="0" i="0" u="none" strike="noStrike" cap="none" baseline="-25000">
                <a:solidFill>
                  <a:schemeClr val="dk1"/>
                </a:solidFill>
                <a:latin typeface="Calibri"/>
                <a:ea typeface="Calibri"/>
                <a:cs typeface="Calibri"/>
                <a:sym typeface="Calibri"/>
              </a:rPr>
              <a:t>1</a:t>
            </a:r>
            <a:r>
              <a:rPr lang="en-US" sz="2400" b="0" i="0" u="none" strike="noStrike" cap="none">
                <a:solidFill>
                  <a:schemeClr val="dk1"/>
                </a:solidFill>
                <a:latin typeface="Calibri"/>
                <a:ea typeface="Calibri"/>
                <a:cs typeface="Calibri"/>
                <a:sym typeface="Calibri"/>
              </a:rPr>
              <a:t> n</a:t>
            </a:r>
            <a:r>
              <a:rPr lang="en-US" sz="2400" b="0" i="0" u="none" strike="noStrike" cap="none" baseline="-25000">
                <a:solidFill>
                  <a:schemeClr val="dk1"/>
                </a:solidFill>
                <a:latin typeface="Calibri"/>
                <a:ea typeface="Calibri"/>
                <a:cs typeface="Calibri"/>
                <a:sym typeface="Calibri"/>
              </a:rPr>
              <a:t>2</a:t>
            </a:r>
            <a:r>
              <a:rPr lang="en-US" sz="2400" b="0" i="0" u="none" strike="noStrike" cap="none">
                <a:solidFill>
                  <a:schemeClr val="dk1"/>
                </a:solidFill>
                <a:latin typeface="Calibri"/>
                <a:ea typeface="Calibri"/>
                <a:cs typeface="Calibri"/>
                <a:sym typeface="Calibri"/>
              </a:rPr>
              <a:t> ways to do the procedure.</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sng" strike="noStrike" cap="none">
                <a:solidFill>
                  <a:schemeClr val="dk1"/>
                </a:solidFill>
                <a:latin typeface="Calibri"/>
                <a:ea typeface="Calibri"/>
                <a:cs typeface="Calibri"/>
                <a:sym typeface="Calibri"/>
              </a:rPr>
              <a:t>Example: </a:t>
            </a:r>
            <a:r>
              <a:rPr lang="en-US" sz="2000" b="0" i="0" u="none" strike="noStrike" cap="none">
                <a:solidFill>
                  <a:schemeClr val="dk1"/>
                </a:solidFill>
                <a:latin typeface="Calibri"/>
                <a:ea typeface="Calibri"/>
                <a:cs typeface="Calibri"/>
                <a:sym typeface="Calibri"/>
              </a:rPr>
              <a:t>The chairs of an auditorium are to be labeled with a letter and a positive integer not exceeding 100. what is the largest number of chairs can be labeled differently?</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sng" strike="noStrike" cap="none">
                <a:solidFill>
                  <a:schemeClr val="dk1"/>
                </a:solidFill>
                <a:latin typeface="Calibri"/>
                <a:ea typeface="Calibri"/>
                <a:cs typeface="Calibri"/>
                <a:sym typeface="Calibri"/>
              </a:rPr>
              <a:t>Solution:  </a:t>
            </a:r>
            <a:r>
              <a:rPr lang="en-US" sz="2000" b="0" i="0" u="none" strike="noStrike" cap="none">
                <a:solidFill>
                  <a:schemeClr val="dk1"/>
                </a:solidFill>
                <a:latin typeface="Calibri"/>
                <a:ea typeface="Calibri"/>
                <a:cs typeface="Calibri"/>
                <a:sym typeface="Calibri"/>
              </a:rPr>
              <a:t>To label a chair we can use any one from 26 letters in alphabet and then assign one of the 100 possible integer.  According to product rule the largest number of chairs that can be labeled is</a:t>
            </a:r>
            <a:endParaRPr/>
          </a:p>
          <a:p>
            <a:pPr marL="742950" marR="0" lvl="1" indent="-285750" algn="l" rtl="0">
              <a:lnSpc>
                <a:spcPct val="100000"/>
              </a:lnSpc>
              <a:spcBef>
                <a:spcPts val="400"/>
              </a:spcBef>
              <a:spcAft>
                <a:spcPts val="0"/>
              </a:spcAft>
              <a:buClr>
                <a:schemeClr val="dk1"/>
              </a:buClr>
              <a:buSzPts val="2000"/>
              <a:buFont typeface="Arial"/>
              <a:buNone/>
            </a:pPr>
            <a:r>
              <a:rPr lang="en-US" sz="2000" b="0" i="0" u="none" strike="noStrike" cap="none">
                <a:solidFill>
                  <a:schemeClr val="dk1"/>
                </a:solidFill>
                <a:latin typeface="Calibri"/>
                <a:ea typeface="Calibri"/>
                <a:cs typeface="Calibri"/>
                <a:sym typeface="Calibri"/>
              </a:rPr>
              <a:t>	26 . 100 = 2600.</a:t>
            </a:r>
            <a:endParaRPr/>
          </a:p>
        </p:txBody>
      </p:sp>
      <p:sp>
        <p:nvSpPr>
          <p:cNvPr id="132" name="Google Shape;132;p3"/>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 calcmode="lin" valueType="num">
                                      <p:cBhvr additive="base">
                                        <p:cTn id="7" dur="500"/>
                                        <p:tgtEl>
                                          <p:spTgt spid="13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1">
                                            <p:txEl>
                                              <p:pRg st="1" end="1"/>
                                            </p:txEl>
                                          </p:spTgt>
                                        </p:tgtEl>
                                        <p:attrNameLst>
                                          <p:attrName>style.visibility</p:attrName>
                                        </p:attrNameLst>
                                      </p:cBhvr>
                                      <p:to>
                                        <p:strVal val="visible"/>
                                      </p:to>
                                    </p:set>
                                    <p:anim calcmode="lin" valueType="num">
                                      <p:cBhvr additive="base">
                                        <p:cTn id="12" dur="500"/>
                                        <p:tgtEl>
                                          <p:spTgt spid="13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1">
                                            <p:txEl>
                                              <p:pRg st="2" end="2"/>
                                            </p:txEl>
                                          </p:spTgt>
                                        </p:tgtEl>
                                        <p:attrNameLst>
                                          <p:attrName>style.visibility</p:attrName>
                                        </p:attrNameLst>
                                      </p:cBhvr>
                                      <p:to>
                                        <p:strVal val="visible"/>
                                      </p:to>
                                    </p:set>
                                    <p:anim calcmode="lin" valueType="num">
                                      <p:cBhvr additive="base">
                                        <p:cTn id="17" dur="500"/>
                                        <p:tgtEl>
                                          <p:spTgt spid="13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31">
                                            <p:txEl>
                                              <p:pRg st="3" end="3"/>
                                            </p:txEl>
                                          </p:spTgt>
                                        </p:tgtEl>
                                        <p:attrNameLst>
                                          <p:attrName>style.visibility</p:attrName>
                                        </p:attrNameLst>
                                      </p:cBhvr>
                                      <p:to>
                                        <p:strVal val="visible"/>
                                      </p:to>
                                    </p:set>
                                    <p:anim calcmode="lin" valueType="num">
                                      <p:cBhvr additive="base">
                                        <p:cTn id="22" dur="500"/>
                                        <p:tgtEl>
                                          <p:spTgt spid="13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4"/>
          <p:cNvSpPr txBox="1">
            <a:spLocks noGrp="1"/>
          </p:cNvSpPr>
          <p:nvPr>
            <p:ph type="title"/>
          </p:nvPr>
        </p:nvSpPr>
        <p:spPr>
          <a:xfrm>
            <a:off x="457200" y="274637"/>
            <a:ext cx="8229600" cy="7159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The Sum Rule</a:t>
            </a:r>
            <a:endParaRPr/>
          </a:p>
        </p:txBody>
      </p:sp>
      <p:sp>
        <p:nvSpPr>
          <p:cNvPr id="138" name="Google Shape;138;p4"/>
          <p:cNvSpPr txBox="1">
            <a:spLocks noGrp="1"/>
          </p:cNvSpPr>
          <p:nvPr>
            <p:ph type="body" idx="1"/>
          </p:nvPr>
        </p:nvSpPr>
        <p:spPr>
          <a:xfrm>
            <a:off x="381000" y="990600"/>
            <a:ext cx="8382000" cy="5105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If a procedure can be done either in one of  n</a:t>
            </a:r>
            <a:r>
              <a:rPr lang="en-US" sz="2400" b="0" i="0" u="none" strike="noStrike" cap="none" baseline="-25000">
                <a:solidFill>
                  <a:schemeClr val="dk1"/>
                </a:solidFill>
                <a:latin typeface="Calibri"/>
                <a:ea typeface="Calibri"/>
                <a:cs typeface="Calibri"/>
                <a:sym typeface="Calibri"/>
              </a:rPr>
              <a:t>1</a:t>
            </a:r>
            <a:r>
              <a:rPr lang="en-US" sz="2400" b="0" i="0" u="none" strike="noStrike" cap="none">
                <a:solidFill>
                  <a:schemeClr val="dk1"/>
                </a:solidFill>
                <a:latin typeface="Calibri"/>
                <a:ea typeface="Calibri"/>
                <a:cs typeface="Calibri"/>
                <a:sym typeface="Calibri"/>
              </a:rPr>
              <a:t> ways or in one of n</a:t>
            </a:r>
            <a:r>
              <a:rPr lang="en-US" sz="2400" b="0" i="0" u="none" strike="noStrike" cap="none" baseline="-25000">
                <a:solidFill>
                  <a:schemeClr val="dk1"/>
                </a:solidFill>
                <a:latin typeface="Calibri"/>
                <a:ea typeface="Calibri"/>
                <a:cs typeface="Calibri"/>
                <a:sym typeface="Calibri"/>
              </a:rPr>
              <a:t>2</a:t>
            </a:r>
            <a:r>
              <a:rPr lang="en-US" sz="2400" b="0" i="0" u="none" strike="noStrike" cap="none">
                <a:solidFill>
                  <a:schemeClr val="dk1"/>
                </a:solidFill>
                <a:latin typeface="Calibri"/>
                <a:ea typeface="Calibri"/>
                <a:cs typeface="Calibri"/>
                <a:sym typeface="Calibri"/>
              </a:rPr>
              <a:t> ways, where none of the set of n</a:t>
            </a:r>
            <a:r>
              <a:rPr lang="en-US" sz="2400" b="0" i="0" u="none" strike="noStrike" cap="none" baseline="-25000">
                <a:solidFill>
                  <a:schemeClr val="dk1"/>
                </a:solidFill>
                <a:latin typeface="Calibri"/>
                <a:ea typeface="Calibri"/>
                <a:cs typeface="Calibri"/>
                <a:sym typeface="Calibri"/>
              </a:rPr>
              <a:t>1</a:t>
            </a:r>
            <a:r>
              <a:rPr lang="en-US" sz="2400" b="0" i="0" u="none" strike="noStrike" cap="none">
                <a:solidFill>
                  <a:schemeClr val="dk1"/>
                </a:solidFill>
                <a:latin typeface="Calibri"/>
                <a:ea typeface="Calibri"/>
                <a:cs typeface="Calibri"/>
                <a:sym typeface="Calibri"/>
              </a:rPr>
              <a:t> ways is same as any of the set n</a:t>
            </a:r>
            <a:r>
              <a:rPr lang="en-US" sz="2400" b="0" i="0" u="none" strike="noStrike" cap="none" baseline="-25000">
                <a:solidFill>
                  <a:schemeClr val="dk1"/>
                </a:solidFill>
                <a:latin typeface="Calibri"/>
                <a:ea typeface="Calibri"/>
                <a:cs typeface="Calibri"/>
                <a:sym typeface="Calibri"/>
              </a:rPr>
              <a:t>2</a:t>
            </a:r>
            <a:r>
              <a:rPr lang="en-US" sz="2400" b="0" i="0" u="none" strike="noStrike" cap="none">
                <a:solidFill>
                  <a:schemeClr val="dk1"/>
                </a:solidFill>
                <a:latin typeface="Calibri"/>
                <a:ea typeface="Calibri"/>
                <a:cs typeface="Calibri"/>
                <a:sym typeface="Calibri"/>
              </a:rPr>
              <a:t> ways, then there are n</a:t>
            </a:r>
            <a:r>
              <a:rPr lang="en-US" sz="2400" b="0" i="0" u="none" strike="noStrike" cap="none" baseline="-25000">
                <a:solidFill>
                  <a:schemeClr val="dk1"/>
                </a:solidFill>
                <a:latin typeface="Calibri"/>
                <a:ea typeface="Calibri"/>
                <a:cs typeface="Calibri"/>
                <a:sym typeface="Calibri"/>
              </a:rPr>
              <a:t>1</a:t>
            </a:r>
            <a:r>
              <a:rPr lang="en-US" sz="2400" b="0" i="0" u="none" strike="noStrike" cap="none">
                <a:solidFill>
                  <a:schemeClr val="dk1"/>
                </a:solidFill>
                <a:latin typeface="Calibri"/>
                <a:ea typeface="Calibri"/>
                <a:cs typeface="Calibri"/>
                <a:sym typeface="Calibri"/>
              </a:rPr>
              <a:t> + n</a:t>
            </a:r>
            <a:r>
              <a:rPr lang="en-US" sz="2400" b="0" i="0" u="none" strike="noStrike" cap="none" baseline="-25000">
                <a:solidFill>
                  <a:schemeClr val="dk1"/>
                </a:solidFill>
                <a:latin typeface="Calibri"/>
                <a:ea typeface="Calibri"/>
                <a:cs typeface="Calibri"/>
                <a:sym typeface="Calibri"/>
              </a:rPr>
              <a:t>2</a:t>
            </a:r>
            <a:r>
              <a:rPr lang="en-US" sz="2400" b="0" i="0" u="none" strike="noStrike" cap="none">
                <a:solidFill>
                  <a:schemeClr val="dk1"/>
                </a:solidFill>
                <a:latin typeface="Calibri"/>
                <a:ea typeface="Calibri"/>
                <a:cs typeface="Calibri"/>
                <a:sym typeface="Calibri"/>
              </a:rPr>
              <a:t> ways to do the task.</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sng" strike="noStrike" cap="none">
                <a:solidFill>
                  <a:schemeClr val="dk1"/>
                </a:solidFill>
                <a:latin typeface="Calibri"/>
                <a:ea typeface="Calibri"/>
                <a:cs typeface="Calibri"/>
                <a:sym typeface="Calibri"/>
              </a:rPr>
              <a:t>Example</a:t>
            </a:r>
            <a:r>
              <a:rPr lang="en-US" sz="2000" b="0" i="0" u="none" strike="noStrike" cap="none">
                <a:solidFill>
                  <a:schemeClr val="dk1"/>
                </a:solidFill>
                <a:latin typeface="Calibri"/>
                <a:ea typeface="Calibri"/>
                <a:cs typeface="Calibri"/>
                <a:sym typeface="Calibri"/>
              </a:rPr>
              <a:t>: A student can choose a project from one of the three lists. The three lists contain 23, 15 and 19 possible projects, respectively. No project is on in more than one list. How many possible projects are there to choose from?</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sng" strike="noStrike" cap="none">
                <a:solidFill>
                  <a:schemeClr val="dk1"/>
                </a:solidFill>
                <a:latin typeface="Calibri"/>
                <a:ea typeface="Calibri"/>
                <a:cs typeface="Calibri"/>
                <a:sym typeface="Calibri"/>
              </a:rPr>
              <a:t>Solution</a:t>
            </a:r>
            <a:r>
              <a:rPr lang="en-US" sz="2000" b="0" i="0" u="none" strike="noStrike" cap="none">
                <a:solidFill>
                  <a:schemeClr val="dk1"/>
                </a:solidFill>
                <a:latin typeface="Calibri"/>
                <a:ea typeface="Calibri"/>
                <a:cs typeface="Calibri"/>
                <a:sym typeface="Calibri"/>
              </a:rPr>
              <a:t>: A student can choose any one project from any one of the three list. As there is no common project in one of the lists,  according to sum rule a student can choose project in 23 + 15 + 19 =  57 ways.   </a:t>
            </a:r>
            <a:endParaRPr/>
          </a:p>
        </p:txBody>
      </p:sp>
      <p:sp>
        <p:nvSpPr>
          <p:cNvPr id="139" name="Google Shape;139;p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anim calcmode="lin" valueType="num">
                                      <p:cBhvr additive="base">
                                        <p:cTn id="7" dur="500"/>
                                        <p:tgtEl>
                                          <p:spTgt spid="13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8">
                                            <p:txEl>
                                              <p:pRg st="1" end="1"/>
                                            </p:txEl>
                                          </p:spTgt>
                                        </p:tgtEl>
                                        <p:attrNameLst>
                                          <p:attrName>style.visibility</p:attrName>
                                        </p:attrNameLst>
                                      </p:cBhvr>
                                      <p:to>
                                        <p:strVal val="visible"/>
                                      </p:to>
                                    </p:set>
                                    <p:anim calcmode="lin" valueType="num">
                                      <p:cBhvr additive="base">
                                        <p:cTn id="12" dur="500"/>
                                        <p:tgtEl>
                                          <p:spTgt spid="13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8">
                                            <p:txEl>
                                              <p:pRg st="2" end="2"/>
                                            </p:txEl>
                                          </p:spTgt>
                                        </p:tgtEl>
                                        <p:attrNameLst>
                                          <p:attrName>style.visibility</p:attrName>
                                        </p:attrNameLst>
                                      </p:cBhvr>
                                      <p:to>
                                        <p:strVal val="visible"/>
                                      </p:to>
                                    </p:set>
                                    <p:anim calcmode="lin" valueType="num">
                                      <p:cBhvr additive="base">
                                        <p:cTn id="17" dur="500"/>
                                        <p:tgtEl>
                                          <p:spTgt spid="138">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title"/>
          </p:nvPr>
        </p:nvSpPr>
        <p:spPr>
          <a:xfrm>
            <a:off x="457200" y="274637"/>
            <a:ext cx="8229600" cy="8683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The Pigeonhole Principle</a:t>
            </a:r>
            <a:endParaRPr/>
          </a:p>
        </p:txBody>
      </p:sp>
      <p:sp>
        <p:nvSpPr>
          <p:cNvPr id="145" name="Google Shape;145;p5"/>
          <p:cNvSpPr txBox="1">
            <a:spLocks noGrp="1"/>
          </p:cNvSpPr>
          <p:nvPr>
            <p:ph type="body" idx="1"/>
          </p:nvPr>
        </p:nvSpPr>
        <p:spPr>
          <a:xfrm>
            <a:off x="457200" y="1219200"/>
            <a:ext cx="8305800" cy="1981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If </a:t>
            </a:r>
            <a:r>
              <a:rPr lang="en-US" sz="2400" b="0" i="1" u="none" strike="noStrike" cap="none">
                <a:solidFill>
                  <a:schemeClr val="dk1"/>
                </a:solidFill>
                <a:latin typeface="Calibri"/>
                <a:ea typeface="Calibri"/>
                <a:cs typeface="Calibri"/>
                <a:sym typeface="Calibri"/>
              </a:rPr>
              <a:t>k</a:t>
            </a:r>
            <a:r>
              <a:rPr lang="en-US" sz="2400" b="0" i="0" u="none" strike="noStrike" cap="none">
                <a:solidFill>
                  <a:schemeClr val="dk1"/>
                </a:solidFill>
                <a:latin typeface="Calibri"/>
                <a:ea typeface="Calibri"/>
                <a:cs typeface="Calibri"/>
                <a:sym typeface="Calibri"/>
              </a:rPr>
              <a:t> is a positive integer and </a:t>
            </a:r>
            <a:r>
              <a:rPr lang="en-US" sz="2400" b="0" i="1" u="none" strike="noStrike" cap="none">
                <a:solidFill>
                  <a:schemeClr val="dk1"/>
                </a:solidFill>
                <a:latin typeface="Calibri"/>
                <a:ea typeface="Calibri"/>
                <a:cs typeface="Calibri"/>
                <a:sym typeface="Calibri"/>
              </a:rPr>
              <a:t>k </a:t>
            </a:r>
            <a:r>
              <a:rPr lang="en-US" sz="2400" b="0" i="0" u="none" strike="noStrike" cap="none">
                <a:solidFill>
                  <a:schemeClr val="dk1"/>
                </a:solidFill>
                <a:latin typeface="Calibri"/>
                <a:ea typeface="Calibri"/>
                <a:cs typeface="Calibri"/>
                <a:sym typeface="Calibri"/>
              </a:rPr>
              <a:t>+</a:t>
            </a:r>
            <a:r>
              <a:rPr lang="en-US" sz="2400" b="0" i="1" u="none" strike="noStrike" cap="none">
                <a:solidFill>
                  <a:schemeClr val="dk1"/>
                </a:solidFill>
                <a:latin typeface="Calibri"/>
                <a:ea typeface="Calibri"/>
                <a:cs typeface="Calibri"/>
                <a:sym typeface="Calibri"/>
              </a:rPr>
              <a:t> 1 </a:t>
            </a:r>
            <a:r>
              <a:rPr lang="en-US" sz="2400" b="0" i="0" u="none" strike="noStrike" cap="none">
                <a:solidFill>
                  <a:schemeClr val="dk1"/>
                </a:solidFill>
                <a:latin typeface="Calibri"/>
                <a:ea typeface="Calibri"/>
                <a:cs typeface="Calibri"/>
                <a:sym typeface="Calibri"/>
              </a:rPr>
              <a:t>or more objects are placed into </a:t>
            </a:r>
            <a:r>
              <a:rPr lang="en-US" sz="2400" b="0" i="1" u="none" strike="noStrike" cap="none">
                <a:solidFill>
                  <a:schemeClr val="dk1"/>
                </a:solidFill>
                <a:latin typeface="Calibri"/>
                <a:ea typeface="Calibri"/>
                <a:cs typeface="Calibri"/>
                <a:sym typeface="Calibri"/>
              </a:rPr>
              <a:t>k</a:t>
            </a:r>
            <a:r>
              <a:rPr lang="en-US" sz="2400" b="0" i="0" u="none" strike="noStrike" cap="none">
                <a:solidFill>
                  <a:schemeClr val="dk1"/>
                </a:solidFill>
                <a:latin typeface="Calibri"/>
                <a:ea typeface="Calibri"/>
                <a:cs typeface="Calibri"/>
                <a:sym typeface="Calibri"/>
              </a:rPr>
              <a:t> boxes, then there is at least one box containing two or  more of the objects.</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Libre Baskerville"/>
                <a:ea typeface="Libre Baskerville"/>
                <a:cs typeface="Libre Baskerville"/>
                <a:sym typeface="Libre Baskerville"/>
              </a:rPr>
              <a:t>The pigeonhole principle is also known as the </a:t>
            </a:r>
            <a:r>
              <a:rPr lang="en-US" sz="2000" b="0" i="1" u="none" strike="noStrike" cap="none">
                <a:solidFill>
                  <a:schemeClr val="dk1"/>
                </a:solidFill>
                <a:latin typeface="Libre Baskerville"/>
                <a:ea typeface="Libre Baskerville"/>
                <a:cs typeface="Libre Baskerville"/>
                <a:sym typeface="Libre Baskerville"/>
              </a:rPr>
              <a:t>Dirichlet drawer principle</a:t>
            </a:r>
            <a:r>
              <a:rPr lang="en-US" sz="2000" b="0" i="0" u="none" strike="noStrike" cap="none">
                <a:solidFill>
                  <a:schemeClr val="dk1"/>
                </a:solidFill>
                <a:latin typeface="Libre Baskerville"/>
                <a:ea typeface="Libre Baskerville"/>
                <a:cs typeface="Libre Baskerville"/>
                <a:sym typeface="Libre Baskerville"/>
              </a:rPr>
              <a:t>, or the </a:t>
            </a:r>
            <a:r>
              <a:rPr lang="en-US" sz="2000" b="0" i="1" u="none" strike="noStrike" cap="none">
                <a:solidFill>
                  <a:schemeClr val="dk1"/>
                </a:solidFill>
                <a:latin typeface="Libre Baskerville"/>
                <a:ea typeface="Libre Baskerville"/>
                <a:cs typeface="Libre Baskerville"/>
                <a:sym typeface="Libre Baskerville"/>
              </a:rPr>
              <a:t>shoebox principle</a:t>
            </a:r>
            <a:r>
              <a:rPr lang="en-US" sz="2000" b="0" i="0" u="none" strike="noStrike" cap="none">
                <a:solidFill>
                  <a:schemeClr val="dk1"/>
                </a:solidFill>
                <a:latin typeface="Libre Baskerville"/>
                <a:ea typeface="Libre Baskerville"/>
                <a:cs typeface="Libre Baskerville"/>
                <a:sym typeface="Libre Baskerville"/>
              </a:rPr>
              <a:t>.</a:t>
            </a:r>
            <a:endParaRPr/>
          </a:p>
        </p:txBody>
      </p:sp>
      <p:graphicFrame>
        <p:nvGraphicFramePr>
          <p:cNvPr id="146" name="Google Shape;146;p5"/>
          <p:cNvGraphicFramePr/>
          <p:nvPr/>
        </p:nvGraphicFramePr>
        <p:xfrm>
          <a:off x="914400" y="3505200"/>
          <a:ext cx="7772400" cy="2209800"/>
        </p:xfrm>
        <a:graphic>
          <a:graphicData uri="http://schemas.openxmlformats.org/presentationml/2006/ole">
            <mc:AlternateContent xmlns:mc="http://schemas.openxmlformats.org/markup-compatibility/2006">
              <mc:Choice xmlns:v="urn:schemas-microsoft-com:vml" Requires="v">
                <p:oleObj r:id="rId3" imgW="7772400" imgH="2209800" progId="MS_ClipArt_Gallery.5">
                  <p:embed/>
                </p:oleObj>
              </mc:Choice>
              <mc:Fallback>
                <p:oleObj r:id="rId3" imgW="7772400" imgH="2209800" progId="MS_ClipArt_Gallery.5">
                  <p:embed/>
                  <p:pic>
                    <p:nvPicPr>
                      <p:cNvPr id="146" name="Google Shape;146;p5"/>
                      <p:cNvPicPr preferRelativeResize="0"/>
                      <p:nvPr/>
                    </p:nvPicPr>
                    <p:blipFill rotWithShape="1">
                      <a:blip r:embed="rId4">
                        <a:alphaModFix/>
                      </a:blip>
                      <a:srcRect/>
                      <a:stretch/>
                    </p:blipFill>
                    <p:spPr>
                      <a:xfrm>
                        <a:off x="914400" y="3505200"/>
                        <a:ext cx="7772400" cy="2209800"/>
                      </a:xfrm>
                      <a:prstGeom prst="rect">
                        <a:avLst/>
                      </a:prstGeom>
                      <a:noFill/>
                      <a:ln>
                        <a:noFill/>
                      </a:ln>
                    </p:spPr>
                  </p:pic>
                </p:oleObj>
              </mc:Fallback>
            </mc:AlternateContent>
          </a:graphicData>
        </a:graphic>
      </p:graphicFrame>
      <p:sp>
        <p:nvSpPr>
          <p:cNvPr id="147" name="Google Shape;147;p5"/>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a:spLocks noGrp="1"/>
          </p:cNvSpPr>
          <p:nvPr>
            <p:ph type="title"/>
          </p:nvPr>
        </p:nvSpPr>
        <p:spPr>
          <a:xfrm>
            <a:off x="457200" y="274637"/>
            <a:ext cx="8229600" cy="9445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Examples-- Pigeonhole Principle</a:t>
            </a:r>
            <a:endParaRPr/>
          </a:p>
        </p:txBody>
      </p:sp>
      <p:sp>
        <p:nvSpPr>
          <p:cNvPr id="153" name="Google Shape;153;p6"/>
          <p:cNvSpPr txBox="1">
            <a:spLocks noGrp="1"/>
          </p:cNvSpPr>
          <p:nvPr>
            <p:ph type="body" idx="1"/>
          </p:nvPr>
        </p:nvSpPr>
        <p:spPr>
          <a:xfrm>
            <a:off x="457200" y="13716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1" u="none" strike="noStrike" cap="none">
                <a:solidFill>
                  <a:schemeClr val="dk1"/>
                </a:solidFill>
                <a:latin typeface="Calibri"/>
                <a:ea typeface="Calibri"/>
                <a:cs typeface="Calibri"/>
                <a:sym typeface="Calibri"/>
              </a:rPr>
              <a:t>Question:</a:t>
            </a:r>
            <a:r>
              <a:rPr lang="en-US" sz="2400" b="0" i="0" u="none" strike="noStrike" cap="none">
                <a:solidFill>
                  <a:schemeClr val="dk1"/>
                </a:solidFill>
                <a:latin typeface="Calibri"/>
                <a:ea typeface="Calibri"/>
                <a:cs typeface="Calibri"/>
                <a:sym typeface="Calibri"/>
              </a:rPr>
              <a:t> How many students must be in a class to guarantee that at least two students will get same score in the final exam, if the exam is graded on a scale from 0 to 100?</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 </a:t>
            </a:r>
            <a:r>
              <a:rPr lang="en-US" sz="2400" b="0" i="1" u="none" strike="noStrike" cap="none">
                <a:solidFill>
                  <a:schemeClr val="dk1"/>
                </a:solidFill>
                <a:latin typeface="Calibri"/>
                <a:ea typeface="Calibri"/>
                <a:cs typeface="Calibri"/>
                <a:sym typeface="Calibri"/>
              </a:rPr>
              <a:t>Answer:</a:t>
            </a:r>
            <a:r>
              <a:rPr lang="en-US" sz="2400" b="0" i="0" u="none" strike="noStrike" cap="none">
                <a:solidFill>
                  <a:schemeClr val="dk1"/>
                </a:solidFill>
                <a:latin typeface="Calibri"/>
                <a:ea typeface="Calibri"/>
                <a:cs typeface="Calibri"/>
                <a:sym typeface="Calibri"/>
              </a:rPr>
              <a:t> There are 101 possible score in the exam. According to pigeonhole principle there must be at least 102 students to get 2 students with same score.</a:t>
            </a:r>
            <a:endParaRPr/>
          </a:p>
        </p:txBody>
      </p:sp>
      <p:sp>
        <p:nvSpPr>
          <p:cNvPr id="154" name="Google Shape;154;p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7"/>
          <p:cNvSpPr txBox="1">
            <a:spLocks noGrp="1"/>
          </p:cNvSpPr>
          <p:nvPr>
            <p:ph type="title"/>
          </p:nvPr>
        </p:nvSpPr>
        <p:spPr>
          <a:xfrm>
            <a:off x="457200" y="274637"/>
            <a:ext cx="8229600" cy="9445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Generalized Pigeonhole Principle</a:t>
            </a:r>
            <a:endParaRPr/>
          </a:p>
        </p:txBody>
      </p:sp>
      <p:sp>
        <p:nvSpPr>
          <p:cNvPr id="160" name="Google Shape;160;p7"/>
          <p:cNvSpPr txBox="1">
            <a:spLocks noGrp="1"/>
          </p:cNvSpPr>
          <p:nvPr>
            <p:ph type="body" idx="1"/>
          </p:nvPr>
        </p:nvSpPr>
        <p:spPr>
          <a:xfrm>
            <a:off x="457200" y="1447800"/>
            <a:ext cx="8229600" cy="1524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If N objects are objects are into k boxes, then there are at least one box containing at least         objects.</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Example: </a:t>
            </a:r>
            <a:endParaRPr/>
          </a:p>
        </p:txBody>
      </p:sp>
      <p:pic>
        <p:nvPicPr>
          <p:cNvPr id="161" name="Google Shape;161;p7"/>
          <p:cNvPicPr preferRelativeResize="0"/>
          <p:nvPr/>
        </p:nvPicPr>
        <p:blipFill rotWithShape="1">
          <a:blip r:embed="rId3">
            <a:alphaModFix/>
          </a:blip>
          <a:srcRect/>
          <a:stretch/>
        </p:blipFill>
        <p:spPr>
          <a:xfrm>
            <a:off x="4953000" y="1828800"/>
            <a:ext cx="463550" cy="630237"/>
          </a:xfrm>
          <a:prstGeom prst="rect">
            <a:avLst/>
          </a:prstGeom>
          <a:noFill/>
          <a:ln>
            <a:noFill/>
          </a:ln>
        </p:spPr>
      </p:pic>
      <p:sp>
        <p:nvSpPr>
          <p:cNvPr id="162" name="Google Shape;162;p7"/>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7</a:t>
            </a:fld>
            <a:endParaRPr/>
          </a:p>
        </p:txBody>
      </p:sp>
      <p:pic>
        <p:nvPicPr>
          <p:cNvPr id="163" name="Google Shape;163;p7"/>
          <p:cNvPicPr preferRelativeResize="0"/>
          <p:nvPr/>
        </p:nvPicPr>
        <p:blipFill rotWithShape="1">
          <a:blip r:embed="rId4">
            <a:alphaModFix/>
          </a:blip>
          <a:srcRect/>
          <a:stretch/>
        </p:blipFill>
        <p:spPr>
          <a:xfrm>
            <a:off x="457200" y="2895600"/>
            <a:ext cx="8458200" cy="2632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4741251-69E2-0FD3-C27B-0F0B2ED67CF2}"/>
            </a:ext>
          </a:extLst>
        </p:cNvPr>
        <p:cNvGrpSpPr/>
        <p:nvPr/>
      </p:nvGrpSpPr>
      <p:grpSpPr>
        <a:xfrm>
          <a:off x="0" y="0"/>
          <a:ext cx="0" cy="0"/>
          <a:chOff x="0" y="0"/>
          <a:chExt cx="0" cy="0"/>
        </a:xfrm>
      </p:grpSpPr>
      <p:sp>
        <p:nvSpPr>
          <p:cNvPr id="159" name="Google Shape;159;p7">
            <a:extLst>
              <a:ext uri="{FF2B5EF4-FFF2-40B4-BE49-F238E27FC236}">
                <a16:creationId xmlns:a16="http://schemas.microsoft.com/office/drawing/2014/main" id="{C4CC3DDE-8064-CEE7-3C90-D44EECE077A3}"/>
              </a:ext>
            </a:extLst>
          </p:cNvPr>
          <p:cNvSpPr txBox="1">
            <a:spLocks noGrp="1"/>
          </p:cNvSpPr>
          <p:nvPr>
            <p:ph type="title"/>
          </p:nvPr>
        </p:nvSpPr>
        <p:spPr>
          <a:xfrm>
            <a:off x="457200" y="274637"/>
            <a:ext cx="8229600" cy="9445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Generalized Pigeonhole Principle</a:t>
            </a:r>
            <a:endParaRPr/>
          </a:p>
        </p:txBody>
      </p:sp>
      <p:sp>
        <p:nvSpPr>
          <p:cNvPr id="160" name="Google Shape;160;p7">
            <a:extLst>
              <a:ext uri="{FF2B5EF4-FFF2-40B4-BE49-F238E27FC236}">
                <a16:creationId xmlns:a16="http://schemas.microsoft.com/office/drawing/2014/main" id="{35B3CFDF-52A9-8A8E-1AE1-9D026B6CE0F7}"/>
              </a:ext>
            </a:extLst>
          </p:cNvPr>
          <p:cNvSpPr txBox="1">
            <a:spLocks noGrp="1"/>
          </p:cNvSpPr>
          <p:nvPr>
            <p:ph type="body" idx="1"/>
          </p:nvPr>
        </p:nvSpPr>
        <p:spPr>
          <a:xfrm>
            <a:off x="457200" y="1447800"/>
            <a:ext cx="8229600" cy="1524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strike="noStrike" cap="none" dirty="0">
                <a:solidFill>
                  <a:schemeClr val="dk1"/>
                </a:solidFill>
                <a:latin typeface="Calibri"/>
                <a:ea typeface="Calibri"/>
                <a:cs typeface="Calibri"/>
                <a:sym typeface="Calibri"/>
              </a:rPr>
              <a:t>If N objects are objects are into k boxes, then there are at least one box containing at least         objects.</a:t>
            </a:r>
            <a:endParaRPr dirty="0"/>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dirty="0">
                <a:solidFill>
                  <a:schemeClr val="dk1"/>
                </a:solidFill>
                <a:latin typeface="Calibri"/>
                <a:ea typeface="Calibri"/>
                <a:cs typeface="Calibri"/>
                <a:sym typeface="Calibri"/>
              </a:rPr>
              <a:t>Example: </a:t>
            </a:r>
            <a:endParaRPr dirty="0"/>
          </a:p>
        </p:txBody>
      </p:sp>
      <p:pic>
        <p:nvPicPr>
          <p:cNvPr id="161" name="Google Shape;161;p7">
            <a:extLst>
              <a:ext uri="{FF2B5EF4-FFF2-40B4-BE49-F238E27FC236}">
                <a16:creationId xmlns:a16="http://schemas.microsoft.com/office/drawing/2014/main" id="{F597DF01-2451-6EAE-D5E7-EEFDAFA348B8}"/>
              </a:ext>
            </a:extLst>
          </p:cNvPr>
          <p:cNvPicPr preferRelativeResize="0"/>
          <p:nvPr/>
        </p:nvPicPr>
        <p:blipFill rotWithShape="1">
          <a:blip r:embed="rId3">
            <a:alphaModFix/>
          </a:blip>
          <a:srcRect/>
          <a:stretch/>
        </p:blipFill>
        <p:spPr>
          <a:xfrm>
            <a:off x="4953000" y="1828800"/>
            <a:ext cx="463550" cy="630237"/>
          </a:xfrm>
          <a:prstGeom prst="rect">
            <a:avLst/>
          </a:prstGeom>
          <a:noFill/>
          <a:ln>
            <a:noFill/>
          </a:ln>
        </p:spPr>
      </p:pic>
      <p:sp>
        <p:nvSpPr>
          <p:cNvPr id="162" name="Google Shape;162;p7">
            <a:extLst>
              <a:ext uri="{FF2B5EF4-FFF2-40B4-BE49-F238E27FC236}">
                <a16:creationId xmlns:a16="http://schemas.microsoft.com/office/drawing/2014/main" id="{B4C720F3-AE28-A48B-5D46-9609D4D19FF7}"/>
              </a:ext>
            </a:extLst>
          </p:cNvPr>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8</a:t>
            </a:fld>
            <a:endParaRPr/>
          </a:p>
        </p:txBody>
      </p:sp>
      <p:pic>
        <p:nvPicPr>
          <p:cNvPr id="3" name="Picture 2">
            <a:extLst>
              <a:ext uri="{FF2B5EF4-FFF2-40B4-BE49-F238E27FC236}">
                <a16:creationId xmlns:a16="http://schemas.microsoft.com/office/drawing/2014/main" id="{2DED5CF8-C5BA-324F-AF03-7E56BA653FC9}"/>
              </a:ext>
            </a:extLst>
          </p:cNvPr>
          <p:cNvPicPr>
            <a:picLocks noChangeAspect="1"/>
          </p:cNvPicPr>
          <p:nvPr/>
        </p:nvPicPr>
        <p:blipFill>
          <a:blip r:embed="rId4"/>
          <a:stretch>
            <a:fillRect/>
          </a:stretch>
        </p:blipFill>
        <p:spPr>
          <a:xfrm>
            <a:off x="353961" y="2907224"/>
            <a:ext cx="8790039" cy="2502976"/>
          </a:xfrm>
          <a:prstGeom prst="rect">
            <a:avLst/>
          </a:prstGeom>
        </p:spPr>
      </p:pic>
    </p:spTree>
    <p:extLst>
      <p:ext uri="{BB962C8B-B14F-4D97-AF65-F5344CB8AC3E}">
        <p14:creationId xmlns:p14="http://schemas.microsoft.com/office/powerpoint/2010/main" val="1850715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97D00BF-1FC5-2D09-4F74-65EB4377DE62}"/>
            </a:ext>
          </a:extLst>
        </p:cNvPr>
        <p:cNvGrpSpPr/>
        <p:nvPr/>
      </p:nvGrpSpPr>
      <p:grpSpPr>
        <a:xfrm>
          <a:off x="0" y="0"/>
          <a:ext cx="0" cy="0"/>
          <a:chOff x="0" y="0"/>
          <a:chExt cx="0" cy="0"/>
        </a:xfrm>
      </p:grpSpPr>
      <p:sp>
        <p:nvSpPr>
          <p:cNvPr id="159" name="Google Shape;159;p7">
            <a:extLst>
              <a:ext uri="{FF2B5EF4-FFF2-40B4-BE49-F238E27FC236}">
                <a16:creationId xmlns:a16="http://schemas.microsoft.com/office/drawing/2014/main" id="{EA4F56B3-75C0-F2BF-6F88-CECFADB6D230}"/>
              </a:ext>
            </a:extLst>
          </p:cNvPr>
          <p:cNvSpPr txBox="1">
            <a:spLocks noGrp="1"/>
          </p:cNvSpPr>
          <p:nvPr>
            <p:ph type="title"/>
          </p:nvPr>
        </p:nvSpPr>
        <p:spPr>
          <a:xfrm>
            <a:off x="457200" y="274637"/>
            <a:ext cx="8229600" cy="9445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Generalized Pigeonhole Principle</a:t>
            </a:r>
            <a:endParaRPr/>
          </a:p>
        </p:txBody>
      </p:sp>
      <p:sp>
        <p:nvSpPr>
          <p:cNvPr id="162" name="Google Shape;162;p7">
            <a:extLst>
              <a:ext uri="{FF2B5EF4-FFF2-40B4-BE49-F238E27FC236}">
                <a16:creationId xmlns:a16="http://schemas.microsoft.com/office/drawing/2014/main" id="{6F9FDAA4-F558-BB66-F8C9-398407F851B9}"/>
              </a:ext>
            </a:extLst>
          </p:cNvPr>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9</a:t>
            </a:fld>
            <a:endParaRPr/>
          </a:p>
        </p:txBody>
      </p:sp>
      <p:pic>
        <p:nvPicPr>
          <p:cNvPr id="4" name="Picture 3">
            <a:extLst>
              <a:ext uri="{FF2B5EF4-FFF2-40B4-BE49-F238E27FC236}">
                <a16:creationId xmlns:a16="http://schemas.microsoft.com/office/drawing/2014/main" id="{C488E996-A958-F5F8-AC38-BD1BE12AF92A}"/>
              </a:ext>
            </a:extLst>
          </p:cNvPr>
          <p:cNvPicPr>
            <a:picLocks noChangeAspect="1"/>
          </p:cNvPicPr>
          <p:nvPr/>
        </p:nvPicPr>
        <p:blipFill>
          <a:blip r:embed="rId3"/>
          <a:stretch>
            <a:fillRect/>
          </a:stretch>
        </p:blipFill>
        <p:spPr>
          <a:xfrm>
            <a:off x="880754" y="1337187"/>
            <a:ext cx="7382491" cy="4532672"/>
          </a:xfrm>
          <a:prstGeom prst="rect">
            <a:avLst/>
          </a:prstGeom>
        </p:spPr>
      </p:pic>
    </p:spTree>
    <p:extLst>
      <p:ext uri="{BB962C8B-B14F-4D97-AF65-F5344CB8AC3E}">
        <p14:creationId xmlns:p14="http://schemas.microsoft.com/office/powerpoint/2010/main" val="542052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8"/>
          <p:cNvSpPr txBox="1"/>
          <p:nvPr/>
        </p:nvSpPr>
        <p:spPr>
          <a:xfrm>
            <a:off x="6553200" y="6248400"/>
            <a:ext cx="2133600" cy="4572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10</a:t>
            </a:fld>
            <a:endParaRPr/>
          </a:p>
        </p:txBody>
      </p:sp>
      <p:sp>
        <p:nvSpPr>
          <p:cNvPr id="169" name="Google Shape;169;p8"/>
          <p:cNvSpPr txBox="1">
            <a:spLocks noGrp="1"/>
          </p:cNvSpPr>
          <p:nvPr>
            <p:ph type="title"/>
          </p:nvPr>
        </p:nvSpPr>
        <p:spPr>
          <a:xfrm>
            <a:off x="381000" y="152400"/>
            <a:ext cx="7924800" cy="457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0" i="0" u="none">
                <a:solidFill>
                  <a:schemeClr val="dk1"/>
                </a:solidFill>
                <a:latin typeface="Calibri"/>
                <a:ea typeface="Calibri"/>
                <a:cs typeface="Calibri"/>
                <a:sym typeface="Calibri"/>
              </a:rPr>
              <a:t>Permutations</a:t>
            </a:r>
            <a:endParaRPr/>
          </a:p>
        </p:txBody>
      </p:sp>
      <p:pic>
        <p:nvPicPr>
          <p:cNvPr id="170" name="Google Shape;170;p8"/>
          <p:cNvPicPr preferRelativeResize="0">
            <a:picLocks noGrp="1"/>
          </p:cNvPicPr>
          <p:nvPr>
            <p:ph type="body" idx="1"/>
          </p:nvPr>
        </p:nvPicPr>
        <p:blipFill rotWithShape="1">
          <a:blip r:embed="rId3">
            <a:alphaModFix/>
          </a:blip>
          <a:srcRect/>
          <a:stretch/>
        </p:blipFill>
        <p:spPr>
          <a:xfrm>
            <a:off x="381000" y="1600200"/>
            <a:ext cx="8458200" cy="912812"/>
          </a:xfrm>
          <a:prstGeom prst="rect">
            <a:avLst/>
          </a:prstGeom>
          <a:noFill/>
          <a:ln>
            <a:noFill/>
          </a:ln>
        </p:spPr>
      </p:pic>
      <p:pic>
        <p:nvPicPr>
          <p:cNvPr id="171" name="Google Shape;171;p8"/>
          <p:cNvPicPr preferRelativeResize="0"/>
          <p:nvPr/>
        </p:nvPicPr>
        <p:blipFill rotWithShape="1">
          <a:blip r:embed="rId4">
            <a:alphaModFix/>
          </a:blip>
          <a:srcRect/>
          <a:stretch/>
        </p:blipFill>
        <p:spPr>
          <a:xfrm>
            <a:off x="381000" y="2514600"/>
            <a:ext cx="8458200" cy="674687"/>
          </a:xfrm>
          <a:prstGeom prst="rect">
            <a:avLst/>
          </a:prstGeom>
          <a:noFill/>
          <a:ln>
            <a:noFill/>
          </a:ln>
        </p:spPr>
      </p:pic>
      <p:pic>
        <p:nvPicPr>
          <p:cNvPr id="172" name="Google Shape;172;p8"/>
          <p:cNvPicPr preferRelativeResize="0">
            <a:picLocks noGrp="1"/>
          </p:cNvPicPr>
          <p:nvPr>
            <p:ph type="body" idx="2"/>
          </p:nvPr>
        </p:nvPicPr>
        <p:blipFill rotWithShape="1">
          <a:blip r:embed="rId5">
            <a:alphaModFix/>
          </a:blip>
          <a:srcRect/>
          <a:stretch/>
        </p:blipFill>
        <p:spPr>
          <a:xfrm>
            <a:off x="609600" y="3352800"/>
            <a:ext cx="8382000" cy="606425"/>
          </a:xfrm>
          <a:prstGeom prst="rect">
            <a:avLst/>
          </a:prstGeom>
          <a:noFill/>
          <a:ln>
            <a:noFill/>
          </a:ln>
        </p:spPr>
      </p:pic>
      <p:pic>
        <p:nvPicPr>
          <p:cNvPr id="173" name="Google Shape;173;p8"/>
          <p:cNvPicPr preferRelativeResize="0"/>
          <p:nvPr/>
        </p:nvPicPr>
        <p:blipFill rotWithShape="1">
          <a:blip r:embed="rId6">
            <a:alphaModFix/>
          </a:blip>
          <a:srcRect/>
          <a:stretch/>
        </p:blipFill>
        <p:spPr>
          <a:xfrm>
            <a:off x="304800" y="4495800"/>
            <a:ext cx="8610600" cy="1487487"/>
          </a:xfrm>
          <a:prstGeom prst="rect">
            <a:avLst/>
          </a:prstGeom>
          <a:noFill/>
          <a:ln>
            <a:noFill/>
          </a:ln>
        </p:spPr>
      </p:pic>
      <p:sp>
        <p:nvSpPr>
          <p:cNvPr id="174" name="Google Shape;174;p8"/>
          <p:cNvSpPr txBox="1"/>
          <p:nvPr/>
        </p:nvSpPr>
        <p:spPr>
          <a:xfrm>
            <a:off x="381000" y="914400"/>
            <a:ext cx="83058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A </a:t>
            </a:r>
            <a:r>
              <a:rPr lang="en-US" sz="1800" b="1" i="1" u="none" strike="noStrike" cap="none">
                <a:solidFill>
                  <a:schemeClr val="dk1"/>
                </a:solidFill>
                <a:latin typeface="Arial"/>
                <a:ea typeface="Arial"/>
                <a:cs typeface="Arial"/>
                <a:sym typeface="Arial"/>
              </a:rPr>
              <a:t>permutation</a:t>
            </a:r>
            <a:r>
              <a:rPr lang="en-US" sz="1800" b="0" i="0" u="none" strike="noStrike" cap="none">
                <a:solidFill>
                  <a:schemeClr val="dk1"/>
                </a:solidFill>
                <a:latin typeface="Arial"/>
                <a:ea typeface="Arial"/>
                <a:cs typeface="Arial"/>
                <a:sym typeface="Arial"/>
              </a:rPr>
              <a:t> of a distinct objects is an ordered arrangement of those objects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9"/>
          <p:cNvSpPr txBox="1">
            <a:spLocks noGrp="1"/>
          </p:cNvSpPr>
          <p:nvPr>
            <p:ph type="title"/>
          </p:nvPr>
        </p:nvSpPr>
        <p:spPr>
          <a:xfrm>
            <a:off x="457200" y="274637"/>
            <a:ext cx="8229600" cy="7159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en-US" sz="3600" b="0" i="0" u="none">
                <a:solidFill>
                  <a:schemeClr val="dk1"/>
                </a:solidFill>
                <a:latin typeface="Calibri"/>
                <a:ea typeface="Calibri"/>
                <a:cs typeface="Calibri"/>
                <a:sym typeface="Calibri"/>
              </a:rPr>
              <a:t>Example -- permutation</a:t>
            </a:r>
            <a:endParaRPr/>
          </a:p>
        </p:txBody>
      </p:sp>
      <p:sp>
        <p:nvSpPr>
          <p:cNvPr id="180" name="Google Shape;180;p9"/>
          <p:cNvSpPr txBox="1">
            <a:spLocks noGrp="1"/>
          </p:cNvSpPr>
          <p:nvPr>
            <p:ph type="body" idx="1"/>
          </p:nvPr>
        </p:nvSpPr>
        <p:spPr>
          <a:xfrm>
            <a:off x="381000" y="1219200"/>
            <a:ext cx="8458200" cy="4800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Let </a:t>
            </a:r>
            <a:r>
              <a:rPr lang="en-US" sz="2400" b="0" i="1" u="none" strike="noStrike" cap="none">
                <a:solidFill>
                  <a:schemeClr val="dk1"/>
                </a:solidFill>
                <a:latin typeface="Calibri"/>
                <a:ea typeface="Calibri"/>
                <a:cs typeface="Calibri"/>
                <a:sym typeface="Calibri"/>
              </a:rPr>
              <a:t>S</a:t>
            </a:r>
            <a:r>
              <a:rPr lang="en-US" sz="2400" b="0" i="0" u="none" strike="noStrike" cap="none">
                <a:solidFill>
                  <a:schemeClr val="dk1"/>
                </a:solidFill>
                <a:latin typeface="Calibri"/>
                <a:ea typeface="Calibri"/>
                <a:cs typeface="Calibri"/>
                <a:sym typeface="Calibri"/>
              </a:rPr>
              <a:t> = {a, b, c}. The 2-permutation of </a:t>
            </a:r>
            <a:r>
              <a:rPr lang="en-US" sz="2400" b="0" i="1" u="none" strike="noStrike" cap="none">
                <a:solidFill>
                  <a:schemeClr val="dk1"/>
                </a:solidFill>
                <a:latin typeface="Calibri"/>
                <a:ea typeface="Calibri"/>
                <a:cs typeface="Calibri"/>
                <a:sym typeface="Calibri"/>
              </a:rPr>
              <a:t>S</a:t>
            </a:r>
            <a:r>
              <a:rPr lang="en-US" sz="2400" b="0" i="0" u="none" strike="noStrike" cap="none">
                <a:solidFill>
                  <a:schemeClr val="dk1"/>
                </a:solidFill>
                <a:latin typeface="Calibri"/>
                <a:ea typeface="Calibri"/>
                <a:cs typeface="Calibri"/>
                <a:sym typeface="Calibri"/>
              </a:rPr>
              <a:t> are ordered arrangements  a, b; a, c; b, a; b, c; c, a; and c, b. i. e. there are six 2-permutation of the three elements .</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For the first element there are three ways to choose then two ways to choose the second element of the element because it must be different from the first element.</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P(3, 2) = 3. 2 = 6</a:t>
            </a:r>
            <a:endParaRPr/>
          </a:p>
        </p:txBody>
      </p:sp>
      <p:sp>
        <p:nvSpPr>
          <p:cNvPr id="181" name="Google Shape;181;p9"/>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0"/>
          <p:cNvSpPr txBox="1"/>
          <p:nvPr/>
        </p:nvSpPr>
        <p:spPr>
          <a:xfrm>
            <a:off x="6553200" y="6248400"/>
            <a:ext cx="2133600" cy="4572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12</a:t>
            </a:fld>
            <a:endParaRPr/>
          </a:p>
        </p:txBody>
      </p:sp>
      <p:sp>
        <p:nvSpPr>
          <p:cNvPr id="187" name="Google Shape;187;p10"/>
          <p:cNvSpPr txBox="1">
            <a:spLocks noGrp="1"/>
          </p:cNvSpPr>
          <p:nvPr>
            <p:ph type="title"/>
          </p:nvPr>
        </p:nvSpPr>
        <p:spPr>
          <a:xfrm>
            <a:off x="838200" y="304800"/>
            <a:ext cx="7313612" cy="457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0" i="0" u="none">
                <a:solidFill>
                  <a:schemeClr val="dk1"/>
                </a:solidFill>
                <a:latin typeface="Calibri"/>
                <a:ea typeface="Calibri"/>
                <a:cs typeface="Calibri"/>
                <a:sym typeface="Calibri"/>
              </a:rPr>
              <a:t>Permutations</a:t>
            </a:r>
            <a:endParaRPr/>
          </a:p>
        </p:txBody>
      </p:sp>
      <p:pic>
        <p:nvPicPr>
          <p:cNvPr id="188" name="Google Shape;188;p10"/>
          <p:cNvPicPr preferRelativeResize="0">
            <a:picLocks noGrp="1"/>
          </p:cNvPicPr>
          <p:nvPr>
            <p:ph type="body" idx="1"/>
          </p:nvPr>
        </p:nvPicPr>
        <p:blipFill rotWithShape="1">
          <a:blip r:embed="rId3">
            <a:alphaModFix/>
          </a:blip>
          <a:srcRect/>
          <a:stretch/>
        </p:blipFill>
        <p:spPr>
          <a:xfrm>
            <a:off x="304800" y="1066800"/>
            <a:ext cx="8305800" cy="3170237"/>
          </a:xfrm>
          <a:prstGeom prst="rect">
            <a:avLst/>
          </a:prstGeom>
          <a:noFill/>
          <a:ln>
            <a:noFill/>
          </a:ln>
        </p:spPr>
      </p:pic>
      <p:pic>
        <p:nvPicPr>
          <p:cNvPr id="189" name="Google Shape;189;p10"/>
          <p:cNvPicPr preferRelativeResize="0"/>
          <p:nvPr/>
        </p:nvPicPr>
        <p:blipFill rotWithShape="1">
          <a:blip r:embed="rId4">
            <a:alphaModFix/>
          </a:blip>
          <a:srcRect/>
          <a:stretch/>
        </p:blipFill>
        <p:spPr>
          <a:xfrm>
            <a:off x="304800" y="4495800"/>
            <a:ext cx="8610600" cy="16430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1"/>
          <p:cNvSpPr txBox="1">
            <a:spLocks noGrp="1"/>
          </p:cNvSpPr>
          <p:nvPr>
            <p:ph type="title"/>
          </p:nvPr>
        </p:nvSpPr>
        <p:spPr>
          <a:xfrm>
            <a:off x="457200" y="274637"/>
            <a:ext cx="8229600" cy="7921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000"/>
              <a:buFont typeface="Calibri"/>
              <a:buNone/>
            </a:pPr>
            <a:r>
              <a:rPr lang="en-US" sz="4000" b="0" i="0" u="none">
                <a:solidFill>
                  <a:schemeClr val="dk1"/>
                </a:solidFill>
                <a:latin typeface="Calibri"/>
                <a:ea typeface="Calibri"/>
                <a:cs typeface="Calibri"/>
                <a:sym typeface="Calibri"/>
              </a:rPr>
              <a:t>Example-- Permutation</a:t>
            </a:r>
            <a:endParaRPr/>
          </a:p>
        </p:txBody>
      </p:sp>
      <p:sp>
        <p:nvSpPr>
          <p:cNvPr id="195" name="Google Shape;195;p11"/>
          <p:cNvSpPr txBox="1">
            <a:spLocks noGrp="1"/>
          </p:cNvSpPr>
          <p:nvPr>
            <p:ph type="body" idx="1"/>
          </p:nvPr>
        </p:nvSpPr>
        <p:spPr>
          <a:xfrm>
            <a:off x="457200" y="1143000"/>
            <a:ext cx="8458200" cy="5181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000"/>
              <a:buFont typeface="Arial"/>
              <a:buChar char="•"/>
            </a:pPr>
            <a:r>
              <a:rPr lang="en-US" sz="2000" b="0" i="1" u="none" strike="noStrike" cap="none">
                <a:solidFill>
                  <a:schemeClr val="dk1"/>
                </a:solidFill>
                <a:latin typeface="Calibri"/>
                <a:ea typeface="Calibri"/>
                <a:cs typeface="Calibri"/>
                <a:sym typeface="Calibri"/>
              </a:rPr>
              <a:t>Question:</a:t>
            </a:r>
            <a:r>
              <a:rPr lang="en-US" sz="2000" b="0" i="0" u="none" strike="noStrike" cap="none">
                <a:solidFill>
                  <a:schemeClr val="dk1"/>
                </a:solidFill>
                <a:latin typeface="Calibri"/>
                <a:ea typeface="Calibri"/>
                <a:cs typeface="Calibri"/>
                <a:sym typeface="Calibri"/>
              </a:rPr>
              <a:t> How many ways are there to select a 1</a:t>
            </a:r>
            <a:r>
              <a:rPr lang="en-US" sz="2000" b="0" i="0" u="none" strike="noStrike" cap="none" baseline="30000">
                <a:solidFill>
                  <a:schemeClr val="dk1"/>
                </a:solidFill>
                <a:latin typeface="Calibri"/>
                <a:ea typeface="Calibri"/>
                <a:cs typeface="Calibri"/>
                <a:sym typeface="Calibri"/>
              </a:rPr>
              <a:t>st</a:t>
            </a:r>
            <a:r>
              <a:rPr lang="en-US" sz="2000" b="0" i="0" u="none" strike="noStrike" cap="none">
                <a:solidFill>
                  <a:schemeClr val="dk1"/>
                </a:solidFill>
                <a:latin typeface="Calibri"/>
                <a:ea typeface="Calibri"/>
                <a:cs typeface="Calibri"/>
                <a:sym typeface="Calibri"/>
              </a:rPr>
              <a:t> prize, 2</a:t>
            </a:r>
            <a:r>
              <a:rPr lang="en-US" sz="2000" b="0" i="0" u="none" strike="noStrike" cap="none" baseline="30000">
                <a:solidFill>
                  <a:schemeClr val="dk1"/>
                </a:solidFill>
                <a:latin typeface="Calibri"/>
                <a:ea typeface="Calibri"/>
                <a:cs typeface="Calibri"/>
                <a:sym typeface="Calibri"/>
              </a:rPr>
              <a:t>nd</a:t>
            </a:r>
            <a:r>
              <a:rPr lang="en-US" sz="2000" b="0" i="0" u="none" strike="noStrike" cap="none">
                <a:solidFill>
                  <a:schemeClr val="dk1"/>
                </a:solidFill>
                <a:latin typeface="Calibri"/>
                <a:ea typeface="Calibri"/>
                <a:cs typeface="Calibri"/>
                <a:sym typeface="Calibri"/>
              </a:rPr>
              <a:t> prize  and 3</a:t>
            </a:r>
            <a:r>
              <a:rPr lang="en-US" sz="2000" b="0" i="0" u="none" strike="noStrike" cap="none" baseline="30000">
                <a:solidFill>
                  <a:schemeClr val="dk1"/>
                </a:solidFill>
                <a:latin typeface="Calibri"/>
                <a:ea typeface="Calibri"/>
                <a:cs typeface="Calibri"/>
                <a:sym typeface="Calibri"/>
              </a:rPr>
              <a:t>rd</a:t>
            </a:r>
            <a:r>
              <a:rPr lang="en-US" sz="2000" b="0" i="0" u="none" strike="noStrike" cap="none">
                <a:solidFill>
                  <a:schemeClr val="dk1"/>
                </a:solidFill>
                <a:latin typeface="Calibri"/>
                <a:ea typeface="Calibri"/>
                <a:cs typeface="Calibri"/>
                <a:sym typeface="Calibri"/>
              </a:rPr>
              <a:t> prize winner among 100 people participating in a contest?</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1" u="none" strike="noStrike" cap="none">
                <a:solidFill>
                  <a:schemeClr val="dk1"/>
                </a:solidFill>
                <a:latin typeface="Calibri"/>
                <a:ea typeface="Calibri"/>
                <a:cs typeface="Calibri"/>
                <a:sym typeface="Calibri"/>
              </a:rPr>
              <a:t>Answer:</a:t>
            </a:r>
            <a:r>
              <a:rPr lang="en-US" sz="2000" b="0" i="0" u="none" strike="noStrike" cap="none">
                <a:solidFill>
                  <a:schemeClr val="dk1"/>
                </a:solidFill>
                <a:latin typeface="Calibri"/>
                <a:ea typeface="Calibri"/>
                <a:cs typeface="Calibri"/>
                <a:sym typeface="Calibri"/>
              </a:rPr>
              <a:t> The number of ways to select three prize winner is the number of ordered  selection of three elements from a set of 100 elements, i.e. the 3-permutation of 100 elements:</a:t>
            </a:r>
            <a:endParaRPr/>
          </a:p>
          <a:p>
            <a:pPr marL="742950" marR="0" lvl="1" indent="-28575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P(100, 3) = 100! / (100 - 3)! = (100. 99. 98. 97!)/ 97! = 100. 99. 98 = 970200.</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1" u="none" strike="noStrike" cap="none">
                <a:solidFill>
                  <a:schemeClr val="dk1"/>
                </a:solidFill>
                <a:latin typeface="Calibri"/>
                <a:ea typeface="Calibri"/>
                <a:cs typeface="Calibri"/>
                <a:sym typeface="Calibri"/>
              </a:rPr>
              <a:t>Question:</a:t>
            </a:r>
            <a:r>
              <a:rPr lang="en-US" sz="2000" b="0" i="0" u="none" strike="noStrike" cap="none">
                <a:solidFill>
                  <a:schemeClr val="dk1"/>
                </a:solidFill>
                <a:latin typeface="Calibri"/>
                <a:ea typeface="Calibri"/>
                <a:cs typeface="Calibri"/>
                <a:sym typeface="Calibri"/>
              </a:rPr>
              <a:t> How many permutation of the letters </a:t>
            </a:r>
            <a:r>
              <a:rPr lang="en-US" sz="2000" b="0" i="1" u="none" strike="noStrike" cap="none">
                <a:solidFill>
                  <a:schemeClr val="dk1"/>
                </a:solidFill>
                <a:latin typeface="Calibri"/>
                <a:ea typeface="Calibri"/>
                <a:cs typeface="Calibri"/>
                <a:sym typeface="Calibri"/>
              </a:rPr>
              <a:t>ABCDEFGH</a:t>
            </a:r>
            <a:r>
              <a:rPr lang="en-US" sz="2000" b="0" i="0" u="none" strike="noStrike" cap="none">
                <a:solidFill>
                  <a:schemeClr val="dk1"/>
                </a:solidFill>
                <a:latin typeface="Calibri"/>
                <a:ea typeface="Calibri"/>
                <a:cs typeface="Calibri"/>
                <a:sym typeface="Calibri"/>
              </a:rPr>
              <a:t> contain the block </a:t>
            </a:r>
            <a:r>
              <a:rPr lang="en-US" sz="2000" b="0" i="1" u="none" strike="noStrike" cap="none">
                <a:solidFill>
                  <a:schemeClr val="dk1"/>
                </a:solidFill>
                <a:latin typeface="Calibri"/>
                <a:ea typeface="Calibri"/>
                <a:cs typeface="Calibri"/>
                <a:sym typeface="Calibri"/>
              </a:rPr>
              <a:t>ABC</a:t>
            </a:r>
            <a:r>
              <a:rPr lang="en-US" sz="2000" b="0" i="0" u="none" strike="noStrike" cap="none">
                <a:solidFill>
                  <a:schemeClr val="dk1"/>
                </a:solidFill>
                <a:latin typeface="Calibri"/>
                <a:ea typeface="Calibri"/>
                <a:cs typeface="Calibri"/>
                <a:sym typeface="Calibri"/>
              </a:rPr>
              <a:t>?</a:t>
            </a:r>
            <a:endParaRPr/>
          </a:p>
          <a:p>
            <a:pPr marL="342900" marR="0" lvl="0" indent="-342900" algn="l" rtl="0">
              <a:lnSpc>
                <a:spcPct val="100000"/>
              </a:lnSpc>
              <a:spcBef>
                <a:spcPts val="400"/>
              </a:spcBef>
              <a:spcAft>
                <a:spcPts val="0"/>
              </a:spcAft>
              <a:buClr>
                <a:schemeClr val="dk1"/>
              </a:buClr>
              <a:buSzPts val="2000"/>
              <a:buFont typeface="Arial"/>
              <a:buChar char="•"/>
            </a:pPr>
            <a:r>
              <a:rPr lang="en-US" sz="2000" b="0" i="1" u="none" strike="noStrike" cap="none">
                <a:solidFill>
                  <a:schemeClr val="dk1"/>
                </a:solidFill>
                <a:latin typeface="Calibri"/>
                <a:ea typeface="Calibri"/>
                <a:cs typeface="Calibri"/>
                <a:sym typeface="Calibri"/>
              </a:rPr>
              <a:t>Answer</a:t>
            </a:r>
            <a:r>
              <a:rPr lang="en-US" sz="2000" b="0" i="0" u="none" strike="noStrike" cap="none">
                <a:solidFill>
                  <a:schemeClr val="dk1"/>
                </a:solidFill>
                <a:latin typeface="Calibri"/>
                <a:ea typeface="Calibri"/>
                <a:cs typeface="Calibri"/>
                <a:sym typeface="Calibri"/>
              </a:rPr>
              <a:t>: </a:t>
            </a:r>
            <a:r>
              <a:rPr lang="en-US" sz="2000" b="0" i="1" u="none" strike="noStrike" cap="none">
                <a:solidFill>
                  <a:schemeClr val="dk1"/>
                </a:solidFill>
                <a:latin typeface="Calibri"/>
                <a:ea typeface="Calibri"/>
                <a:cs typeface="Calibri"/>
                <a:sym typeface="Calibri"/>
              </a:rPr>
              <a:t>ABC</a:t>
            </a:r>
            <a:r>
              <a:rPr lang="en-US" sz="2000" b="0" i="0" u="none" strike="noStrike" cap="none">
                <a:solidFill>
                  <a:schemeClr val="dk1"/>
                </a:solidFill>
                <a:latin typeface="Calibri"/>
                <a:ea typeface="Calibri"/>
                <a:cs typeface="Calibri"/>
                <a:sym typeface="Calibri"/>
              </a:rPr>
              <a:t> occur in a block and the rest of individual letters are </a:t>
            </a:r>
            <a:r>
              <a:rPr lang="en-US" sz="2000" b="0" i="1" u="none" strike="noStrike" cap="none">
                <a:solidFill>
                  <a:schemeClr val="dk1"/>
                </a:solidFill>
                <a:latin typeface="Calibri"/>
                <a:ea typeface="Calibri"/>
                <a:cs typeface="Calibri"/>
                <a:sym typeface="Calibri"/>
              </a:rPr>
              <a:t>D, E, F, G,</a:t>
            </a:r>
            <a:r>
              <a:rPr lang="en-US" sz="2000" b="0" i="0" u="none" strike="noStrike" cap="none">
                <a:solidFill>
                  <a:schemeClr val="dk1"/>
                </a:solidFill>
                <a:latin typeface="Calibri"/>
                <a:ea typeface="Calibri"/>
                <a:cs typeface="Calibri"/>
                <a:sym typeface="Calibri"/>
              </a:rPr>
              <a:t> and </a:t>
            </a:r>
            <a:r>
              <a:rPr lang="en-US" sz="2000" b="0" i="1" u="none" strike="noStrike" cap="none">
                <a:solidFill>
                  <a:schemeClr val="dk1"/>
                </a:solidFill>
                <a:latin typeface="Calibri"/>
                <a:ea typeface="Calibri"/>
                <a:cs typeface="Calibri"/>
                <a:sym typeface="Calibri"/>
              </a:rPr>
              <a:t>H;</a:t>
            </a:r>
            <a:r>
              <a:rPr lang="en-US" sz="2000" b="0" i="0" u="none" strike="noStrike" cap="none">
                <a:solidFill>
                  <a:schemeClr val="dk1"/>
                </a:solidFill>
                <a:latin typeface="Calibri"/>
                <a:ea typeface="Calibri"/>
                <a:cs typeface="Calibri"/>
                <a:sym typeface="Calibri"/>
              </a:rPr>
              <a:t> i. e. total six letters can occur in any order, there  is </a:t>
            </a:r>
            <a:endParaRPr/>
          </a:p>
          <a:p>
            <a:pPr marL="742950" marR="0" lvl="1" indent="-28575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6! = 6. 5. 4. 3. 2. 1= 720 permutation of the letters </a:t>
            </a:r>
            <a:r>
              <a:rPr lang="en-US" sz="1800" b="0" i="1" u="none" strike="noStrike" cap="none">
                <a:solidFill>
                  <a:schemeClr val="dk1"/>
                </a:solidFill>
                <a:latin typeface="Calibri"/>
                <a:ea typeface="Calibri"/>
                <a:cs typeface="Calibri"/>
                <a:sym typeface="Calibri"/>
              </a:rPr>
              <a:t>ABCDEFGH</a:t>
            </a:r>
            <a:r>
              <a:rPr lang="en-US" sz="1800" b="0" i="0" u="none" strike="noStrike" cap="none">
                <a:solidFill>
                  <a:schemeClr val="dk1"/>
                </a:solidFill>
                <a:latin typeface="Calibri"/>
                <a:ea typeface="Calibri"/>
                <a:cs typeface="Calibri"/>
                <a:sym typeface="Calibri"/>
              </a:rPr>
              <a:t> contain the block </a:t>
            </a:r>
            <a:r>
              <a:rPr lang="en-US" sz="1800" b="0" i="1" u="none" strike="noStrike" cap="none">
                <a:solidFill>
                  <a:schemeClr val="dk1"/>
                </a:solidFill>
                <a:latin typeface="Calibri"/>
                <a:ea typeface="Calibri"/>
                <a:cs typeface="Calibri"/>
                <a:sym typeface="Calibri"/>
              </a:rPr>
              <a:t>ABC.</a:t>
            </a:r>
            <a:endParaRPr/>
          </a:p>
        </p:txBody>
      </p:sp>
      <p:sp>
        <p:nvSpPr>
          <p:cNvPr id="196" name="Google Shape;196;p11"/>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2"/>
          <p:cNvSpPr txBox="1"/>
          <p:nvPr/>
        </p:nvSpPr>
        <p:spPr>
          <a:xfrm>
            <a:off x="6553200" y="6248400"/>
            <a:ext cx="2133600" cy="4572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14</a:t>
            </a:fld>
            <a:endParaRPr/>
          </a:p>
        </p:txBody>
      </p:sp>
      <p:sp>
        <p:nvSpPr>
          <p:cNvPr id="202" name="Google Shape;202;p12"/>
          <p:cNvSpPr txBox="1">
            <a:spLocks noGrp="1"/>
          </p:cNvSpPr>
          <p:nvPr>
            <p:ph type="title"/>
          </p:nvPr>
        </p:nvSpPr>
        <p:spPr>
          <a:xfrm>
            <a:off x="457200" y="152400"/>
            <a:ext cx="7924800" cy="685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0" i="0" u="none">
                <a:solidFill>
                  <a:schemeClr val="dk1"/>
                </a:solidFill>
                <a:latin typeface="Calibri"/>
                <a:ea typeface="Calibri"/>
                <a:cs typeface="Calibri"/>
                <a:sym typeface="Calibri"/>
              </a:rPr>
              <a:t>Combinations</a:t>
            </a:r>
            <a:endParaRPr/>
          </a:p>
        </p:txBody>
      </p:sp>
      <p:pic>
        <p:nvPicPr>
          <p:cNvPr id="203" name="Google Shape;203;p12"/>
          <p:cNvPicPr preferRelativeResize="0">
            <a:picLocks noGrp="1"/>
          </p:cNvPicPr>
          <p:nvPr>
            <p:ph type="body" idx="1"/>
          </p:nvPr>
        </p:nvPicPr>
        <p:blipFill rotWithShape="1">
          <a:blip r:embed="rId3">
            <a:alphaModFix/>
          </a:blip>
          <a:srcRect/>
          <a:stretch/>
        </p:blipFill>
        <p:spPr>
          <a:xfrm>
            <a:off x="533400" y="1828800"/>
            <a:ext cx="8610600" cy="1576387"/>
          </a:xfrm>
          <a:prstGeom prst="rect">
            <a:avLst/>
          </a:prstGeom>
          <a:noFill/>
          <a:ln>
            <a:noFill/>
          </a:ln>
        </p:spPr>
      </p:pic>
      <p:pic>
        <p:nvPicPr>
          <p:cNvPr id="204" name="Google Shape;204;p12"/>
          <p:cNvPicPr preferRelativeResize="0"/>
          <p:nvPr/>
        </p:nvPicPr>
        <p:blipFill rotWithShape="1">
          <a:blip r:embed="rId4">
            <a:alphaModFix/>
          </a:blip>
          <a:srcRect/>
          <a:stretch/>
        </p:blipFill>
        <p:spPr>
          <a:xfrm>
            <a:off x="304800" y="3733800"/>
            <a:ext cx="8610600" cy="979487"/>
          </a:xfrm>
          <a:prstGeom prst="rect">
            <a:avLst/>
          </a:prstGeom>
          <a:noFill/>
          <a:ln>
            <a:noFill/>
          </a:ln>
        </p:spPr>
      </p:pic>
      <p:pic>
        <p:nvPicPr>
          <p:cNvPr id="205" name="Google Shape;205;p12"/>
          <p:cNvPicPr preferRelativeResize="0"/>
          <p:nvPr/>
        </p:nvPicPr>
        <p:blipFill rotWithShape="1">
          <a:blip r:embed="rId5">
            <a:alphaModFix/>
          </a:blip>
          <a:srcRect/>
          <a:stretch/>
        </p:blipFill>
        <p:spPr>
          <a:xfrm>
            <a:off x="457200" y="5257800"/>
            <a:ext cx="8686800" cy="933450"/>
          </a:xfrm>
          <a:prstGeom prst="rect">
            <a:avLst/>
          </a:prstGeom>
          <a:noFill/>
          <a:ln>
            <a:noFill/>
          </a:ln>
        </p:spPr>
      </p:pic>
      <p:sp>
        <p:nvSpPr>
          <p:cNvPr id="206" name="Google Shape;206;p12"/>
          <p:cNvSpPr txBox="1"/>
          <p:nvPr/>
        </p:nvSpPr>
        <p:spPr>
          <a:xfrm>
            <a:off x="685800" y="914400"/>
            <a:ext cx="8077200" cy="646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An </a:t>
            </a:r>
            <a:r>
              <a:rPr lang="en-US" sz="1800" b="1" i="1" u="none" strike="noStrike" cap="none">
                <a:solidFill>
                  <a:schemeClr val="dk1"/>
                </a:solidFill>
                <a:latin typeface="Arial"/>
                <a:ea typeface="Arial"/>
                <a:cs typeface="Arial"/>
                <a:sym typeface="Arial"/>
              </a:rPr>
              <a:t>r-combination</a:t>
            </a:r>
            <a:r>
              <a:rPr lang="en-US" sz="1800" b="0" i="0" u="none" strike="noStrike" cap="none">
                <a:solidFill>
                  <a:schemeClr val="dk1"/>
                </a:solidFill>
                <a:latin typeface="Arial"/>
                <a:ea typeface="Arial"/>
                <a:cs typeface="Arial"/>
                <a:sym typeface="Arial"/>
              </a:rPr>
              <a:t> of elements of a set is an unordered selection of r elements from the set.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3"/>
          <p:cNvSpPr txBox="1"/>
          <p:nvPr/>
        </p:nvSpPr>
        <p:spPr>
          <a:xfrm>
            <a:off x="6553200" y="6248400"/>
            <a:ext cx="2133600" cy="4572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15</a:t>
            </a:fld>
            <a:endParaRPr/>
          </a:p>
        </p:txBody>
      </p:sp>
      <p:sp>
        <p:nvSpPr>
          <p:cNvPr id="212" name="Google Shape;212;p13"/>
          <p:cNvSpPr txBox="1">
            <a:spLocks noGrp="1"/>
          </p:cNvSpPr>
          <p:nvPr>
            <p:ph type="title"/>
          </p:nvPr>
        </p:nvSpPr>
        <p:spPr>
          <a:xfrm>
            <a:off x="381000" y="152400"/>
            <a:ext cx="7924800" cy="533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US" sz="3200" b="0" i="0" u="none">
                <a:solidFill>
                  <a:schemeClr val="dk1"/>
                </a:solidFill>
                <a:latin typeface="Calibri"/>
                <a:ea typeface="Calibri"/>
                <a:cs typeface="Calibri"/>
                <a:sym typeface="Calibri"/>
              </a:rPr>
              <a:t>Combinations</a:t>
            </a:r>
            <a:endParaRPr/>
          </a:p>
        </p:txBody>
      </p:sp>
      <p:pic>
        <p:nvPicPr>
          <p:cNvPr id="213" name="Google Shape;213;p13"/>
          <p:cNvPicPr preferRelativeResize="0">
            <a:picLocks noGrp="1"/>
          </p:cNvPicPr>
          <p:nvPr>
            <p:ph type="body" idx="1"/>
          </p:nvPr>
        </p:nvPicPr>
        <p:blipFill rotWithShape="1">
          <a:blip r:embed="rId3">
            <a:alphaModFix/>
          </a:blip>
          <a:srcRect/>
          <a:stretch/>
        </p:blipFill>
        <p:spPr>
          <a:xfrm>
            <a:off x="152400" y="990600"/>
            <a:ext cx="8610600" cy="717550"/>
          </a:xfrm>
          <a:prstGeom prst="rect">
            <a:avLst/>
          </a:prstGeom>
          <a:noFill/>
          <a:ln>
            <a:noFill/>
          </a:ln>
        </p:spPr>
      </p:pic>
      <p:pic>
        <p:nvPicPr>
          <p:cNvPr id="214" name="Google Shape;214;p13"/>
          <p:cNvPicPr preferRelativeResize="0">
            <a:picLocks noGrp="1"/>
          </p:cNvPicPr>
          <p:nvPr>
            <p:ph type="body" idx="2"/>
          </p:nvPr>
        </p:nvPicPr>
        <p:blipFill rotWithShape="1">
          <a:blip r:embed="rId4">
            <a:alphaModFix/>
          </a:blip>
          <a:srcRect/>
          <a:stretch/>
        </p:blipFill>
        <p:spPr>
          <a:xfrm>
            <a:off x="457200" y="2079625"/>
            <a:ext cx="8458200" cy="1514475"/>
          </a:xfrm>
          <a:prstGeom prst="rect">
            <a:avLst/>
          </a:prstGeom>
          <a:noFill/>
          <a:ln>
            <a:noFill/>
          </a:ln>
        </p:spPr>
      </p:pic>
      <p:pic>
        <p:nvPicPr>
          <p:cNvPr id="215" name="Google Shape;215;p13"/>
          <p:cNvPicPr preferRelativeResize="0">
            <a:picLocks noGrp="1"/>
          </p:cNvPicPr>
          <p:nvPr>
            <p:ph type="body" idx="3"/>
          </p:nvPr>
        </p:nvPicPr>
        <p:blipFill rotWithShape="1">
          <a:blip r:embed="rId5">
            <a:alphaModFix/>
          </a:blip>
          <a:srcRect/>
          <a:stretch/>
        </p:blipFill>
        <p:spPr>
          <a:xfrm>
            <a:off x="609600" y="3657600"/>
            <a:ext cx="8305800" cy="1219200"/>
          </a:xfrm>
          <a:prstGeom prst="rect">
            <a:avLst/>
          </a:prstGeom>
          <a:noFill/>
          <a:ln>
            <a:noFill/>
          </a:ln>
        </p:spPr>
      </p:pic>
      <p:pic>
        <p:nvPicPr>
          <p:cNvPr id="216" name="Google Shape;216;p13"/>
          <p:cNvPicPr preferRelativeResize="0"/>
          <p:nvPr/>
        </p:nvPicPr>
        <p:blipFill rotWithShape="1">
          <a:blip r:embed="rId6">
            <a:alphaModFix/>
          </a:blip>
          <a:srcRect/>
          <a:stretch/>
        </p:blipFill>
        <p:spPr>
          <a:xfrm>
            <a:off x="685800" y="5181600"/>
            <a:ext cx="7467600" cy="10906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title"/>
          </p:nvPr>
        </p:nvSpPr>
        <p:spPr>
          <a:xfrm>
            <a:off x="457200" y="274637"/>
            <a:ext cx="8229600" cy="8683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600"/>
              <a:buFont typeface="Calibri"/>
              <a:buNone/>
            </a:pPr>
            <a:r>
              <a:rPr lang="en-US" sz="3600" b="0" i="0" u="none">
                <a:solidFill>
                  <a:schemeClr val="dk1"/>
                </a:solidFill>
                <a:latin typeface="Calibri"/>
                <a:ea typeface="Calibri"/>
                <a:cs typeface="Calibri"/>
                <a:sym typeface="Calibri"/>
              </a:rPr>
              <a:t>Example- Combination </a:t>
            </a:r>
            <a:endParaRPr/>
          </a:p>
        </p:txBody>
      </p:sp>
      <p:sp>
        <p:nvSpPr>
          <p:cNvPr id="222" name="Google Shape;222;p14"/>
          <p:cNvSpPr txBox="1">
            <a:spLocks noGrp="1"/>
          </p:cNvSpPr>
          <p:nvPr>
            <p:ph type="body" idx="1"/>
          </p:nvPr>
        </p:nvSpPr>
        <p:spPr>
          <a:xfrm>
            <a:off x="457200" y="1295400"/>
            <a:ext cx="8305800" cy="47244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1" u="none" strike="noStrike" cap="none">
                <a:solidFill>
                  <a:schemeClr val="dk1"/>
                </a:solidFill>
                <a:latin typeface="Calibri"/>
                <a:ea typeface="Calibri"/>
                <a:cs typeface="Calibri"/>
                <a:sym typeface="Calibri"/>
              </a:rPr>
              <a:t>Question</a:t>
            </a:r>
            <a:r>
              <a:rPr lang="en-US" sz="2400" b="0" i="0" u="none" strike="noStrike" cap="none">
                <a:solidFill>
                  <a:schemeClr val="dk1"/>
                </a:solidFill>
                <a:latin typeface="Calibri"/>
                <a:ea typeface="Calibri"/>
                <a:cs typeface="Calibri"/>
                <a:sym typeface="Calibri"/>
              </a:rPr>
              <a:t>: How many different committees of three student can be formed from a group of four student?</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1" u="none" strike="noStrike" cap="none">
                <a:solidFill>
                  <a:schemeClr val="dk1"/>
                </a:solidFill>
                <a:latin typeface="Calibri"/>
                <a:ea typeface="Calibri"/>
                <a:cs typeface="Calibri"/>
                <a:sym typeface="Calibri"/>
              </a:rPr>
              <a:t>Answer</a:t>
            </a:r>
            <a:r>
              <a:rPr lang="en-US" sz="2400" b="0" i="0" u="none" strike="noStrike" cap="none">
                <a:solidFill>
                  <a:schemeClr val="dk1"/>
                </a:solidFill>
                <a:latin typeface="Calibri"/>
                <a:ea typeface="Calibri"/>
                <a:cs typeface="Calibri"/>
                <a:sym typeface="Calibri"/>
              </a:rPr>
              <a:t>: We have to select three student from four students in any order, i.e. 3-combination of 4 elements:</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C(4, 3) = 4!/3!(4 - 3)! = (4. 3!)/ 3!. 1! = 4</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1" u="none" strike="noStrike" cap="none">
                <a:solidFill>
                  <a:schemeClr val="dk1"/>
                </a:solidFill>
                <a:latin typeface="Calibri"/>
                <a:ea typeface="Calibri"/>
                <a:cs typeface="Calibri"/>
                <a:sym typeface="Calibri"/>
              </a:rPr>
              <a:t>Question</a:t>
            </a:r>
            <a:r>
              <a:rPr lang="en-US" sz="2400" b="0" i="0" u="none" strike="noStrike" cap="none">
                <a:solidFill>
                  <a:schemeClr val="dk1"/>
                </a:solidFill>
                <a:latin typeface="Calibri"/>
                <a:ea typeface="Calibri"/>
                <a:cs typeface="Calibri"/>
                <a:sym typeface="Calibri"/>
              </a:rPr>
              <a:t>: A group of 30 people has been trained as astronauts to go to the 1</a:t>
            </a:r>
            <a:r>
              <a:rPr lang="en-US" sz="2400" b="0" i="0" u="none" strike="noStrike" cap="none" baseline="30000">
                <a:solidFill>
                  <a:schemeClr val="dk1"/>
                </a:solidFill>
                <a:latin typeface="Calibri"/>
                <a:ea typeface="Calibri"/>
                <a:cs typeface="Calibri"/>
                <a:sym typeface="Calibri"/>
              </a:rPr>
              <a:t>st</a:t>
            </a:r>
            <a:r>
              <a:rPr lang="en-US" sz="2400" b="0" i="0" u="none" strike="noStrike" cap="none">
                <a:solidFill>
                  <a:schemeClr val="dk1"/>
                </a:solidFill>
                <a:latin typeface="Calibri"/>
                <a:ea typeface="Calibri"/>
                <a:cs typeface="Calibri"/>
                <a:sym typeface="Calibri"/>
              </a:rPr>
              <a:t> mission on Mars. How many ways to select a crew of six people to go to the mission?</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1" u="none" strike="noStrike" cap="none">
                <a:solidFill>
                  <a:schemeClr val="dk1"/>
                </a:solidFill>
                <a:latin typeface="Calibri"/>
                <a:ea typeface="Calibri"/>
                <a:cs typeface="Calibri"/>
                <a:sym typeface="Calibri"/>
              </a:rPr>
              <a:t>Answer</a:t>
            </a:r>
            <a:r>
              <a:rPr lang="en-US" sz="2400" b="0" i="0" u="none" strike="noStrike" cap="none">
                <a:solidFill>
                  <a:schemeClr val="dk1"/>
                </a:solidFill>
                <a:latin typeface="Calibri"/>
                <a:ea typeface="Calibri"/>
                <a:cs typeface="Calibri"/>
                <a:sym typeface="Calibri"/>
              </a:rPr>
              <a:t>: As we assume all the crew have same job, so it is 6-combination of 30 elements, the order of the people chosen does not matter. Thus:</a:t>
            </a:r>
            <a:endParaRPr/>
          </a:p>
          <a:p>
            <a:pPr marL="742950" marR="0" lvl="1" indent="-28575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C(30,6) = 30!/6!(30-6)! = (30.29.28.27.26.25)/(6.5.4.3.2.1)= 593775</a:t>
            </a:r>
            <a:endParaRPr/>
          </a:p>
        </p:txBody>
      </p:sp>
      <p:sp>
        <p:nvSpPr>
          <p:cNvPr id="223" name="Google Shape;223;p14"/>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strike="noStrike" cap="none">
                <a:solidFill>
                  <a:srgbClr val="898989"/>
                </a:solidFill>
                <a:latin typeface="Calibri"/>
                <a:ea typeface="Calibri"/>
                <a:cs typeface="Calibri"/>
                <a:sym typeface="Calibri"/>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Thank You</a:t>
            </a:r>
            <a:endParaRPr/>
          </a:p>
        </p:txBody>
      </p:sp>
      <p:sp>
        <p:nvSpPr>
          <p:cNvPr id="229" name="Google Shape;229;p15" descr="Rectangle: Click to edit Master text styles &#10;Second level &#10;Third level &#10;Fourth level &#10;Fifth level"/>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Study all the solved problem from your text book.</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Try to solve related problems from exercise.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1005</Words>
  <Application>Microsoft Office PowerPoint</Application>
  <PresentationFormat>On-screen Show (4:3)</PresentationFormat>
  <Paragraphs>70</Paragraphs>
  <Slides>17</Slides>
  <Notes>17</Notes>
  <HiddenSlides>0</HiddenSlides>
  <MMClips>0</MMClips>
  <ScaleCrop>false</ScaleCrop>
  <HeadingPairs>
    <vt:vector size="8" baseType="variant">
      <vt:variant>
        <vt:lpstr>Fonts Used</vt:lpstr>
      </vt:variant>
      <vt:variant>
        <vt:i4>3</vt:i4>
      </vt:variant>
      <vt:variant>
        <vt:lpstr>Theme</vt:lpstr>
      </vt:variant>
      <vt:variant>
        <vt:i4>3</vt:i4>
      </vt:variant>
      <vt:variant>
        <vt:lpstr>Embedded OLE Servers</vt:lpstr>
      </vt:variant>
      <vt:variant>
        <vt:i4>1</vt:i4>
      </vt:variant>
      <vt:variant>
        <vt:lpstr>Slide Titles</vt:lpstr>
      </vt:variant>
      <vt:variant>
        <vt:i4>17</vt:i4>
      </vt:variant>
    </vt:vector>
  </HeadingPairs>
  <TitlesOfParts>
    <vt:vector size="24" baseType="lpstr">
      <vt:lpstr>Calibri</vt:lpstr>
      <vt:lpstr>Libre Baskerville</vt:lpstr>
      <vt:lpstr>Arial</vt:lpstr>
      <vt:lpstr>Office Theme</vt:lpstr>
      <vt:lpstr>1_Office Theme</vt:lpstr>
      <vt:lpstr>2_Office Theme</vt:lpstr>
      <vt:lpstr>MS_ClipArt_Gallery.5</vt:lpstr>
      <vt:lpstr>Counting</vt:lpstr>
      <vt:lpstr>Counting Basics</vt:lpstr>
      <vt:lpstr>The Product Rule</vt:lpstr>
      <vt:lpstr>The Sum Rule</vt:lpstr>
      <vt:lpstr>The Pigeonhole Principle</vt:lpstr>
      <vt:lpstr>Examples-- Pigeonhole Principle</vt:lpstr>
      <vt:lpstr>Generalized Pigeonhole Principle</vt:lpstr>
      <vt:lpstr>Generalized Pigeonhole Principle</vt:lpstr>
      <vt:lpstr>Generalized Pigeonhole Principle</vt:lpstr>
      <vt:lpstr>Permutations</vt:lpstr>
      <vt:lpstr>Example -- permutation</vt:lpstr>
      <vt:lpstr>Permutations</vt:lpstr>
      <vt:lpstr>Example-- Permutation</vt:lpstr>
      <vt:lpstr>Combinations</vt:lpstr>
      <vt:lpstr>Combinations</vt:lpstr>
      <vt:lpstr>Example- Combination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Zobaer Zihad</cp:lastModifiedBy>
  <cp:revision>1</cp:revision>
  <dcterms:created xsi:type="dcterms:W3CDTF">2011-07-22T18:38:19Z</dcterms:created>
  <dcterms:modified xsi:type="dcterms:W3CDTF">2026-04-19T15:05:34Z</dcterms:modified>
</cp:coreProperties>
</file>