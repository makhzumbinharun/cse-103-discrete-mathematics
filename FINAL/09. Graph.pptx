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</p:sldIdLst>
  <p:sldSz cx="9144000" cy="6858000" type="screen4x3"/>
  <p:notesSz cx="6858000" cy="9144000"/>
  <p:embeddedFontLst>
    <p:embeddedFont>
      <p:font typeface="Book Antiqua" panose="02040602050305030304" pitchFamily="18" charset="0"/>
      <p:regular r:id="rId130"/>
      <p:bold r:id="rId131"/>
      <p:italic r:id="rId132"/>
      <p:boldItalic r:id="rId133"/>
    </p:embeddedFont>
    <p:embeddedFont>
      <p:font typeface="Bookman Old Style" panose="02050604050505020204" pitchFamily="18" charset="0"/>
      <p:regular r:id="rId134"/>
      <p:bold r:id="rId135"/>
      <p:italic r:id="rId136"/>
      <p:boldItalic r:id="rId137"/>
    </p:embeddedFont>
    <p:embeddedFont>
      <p:font typeface="Tahoma" panose="020B0604030504040204" pitchFamily="34" charset="0"/>
      <p:regular r:id="rId138"/>
      <p:bold r:id="rId1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0" roundtripDataSignature="AMtx7mhKFez06WyO4X8XqPoG64WzgzKY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7F91D6-0CE9-4F42-9FCE-EE9CB4E48189}">
  <a:tblStyle styleId="{4E7F91D6-0CE9-4F42-9FCE-EE9CB4E481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9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5.fntdata"/><Relationship Id="rId139" Type="http://schemas.openxmlformats.org/officeDocument/2006/relationships/font" Target="fonts/font10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1.fntdata"/><Relationship Id="rId135" Type="http://schemas.openxmlformats.org/officeDocument/2006/relationships/font" Target="fonts/font6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2.fntdata"/><Relationship Id="rId136" Type="http://schemas.openxmlformats.org/officeDocument/2006/relationships/font" Target="fonts/font7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3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4.fntdata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4" name="Google Shape;234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83" name="Google Shape;283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34" name="Google Shape;334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46" name="Google Shape;346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53" name="Google Shape;353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60" name="Google Shape;360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67" name="Google Shape;367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74" name="Google Shape;374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81" name="Google Shape;381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89" name="Google Shape;389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97" name="Google Shape;397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04" name="Google Shape;404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11" name="Google Shape;411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18" name="Google Shape;418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25" name="Google Shape;425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32" name="Google Shape;432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39" name="Google Shape;439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2150"/>
            <a:ext cx="4554537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45" name="Google Shape;445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2150"/>
            <a:ext cx="4554537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18" name="Google Shape;718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2150"/>
            <a:ext cx="4554537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53" name="Google Shape;753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6025" rIns="92050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19" name="Google Shape;819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109" name="Google Shape;1109;p5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6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9" name="Google Shape;134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7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473" name="Google Shape;1473;p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9" name="Google Shape;154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8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8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8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8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8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7" name="Google Shape;1717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3" name="Google Shape;1723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9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747" name="Google Shape;1747;p9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9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3" name="Google Shape;1753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9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9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5" name="Google Shape;1765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9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8" name="Google Shape;1788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0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0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7" name="Google Shape;1817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0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6" name="Google Shape;182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0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10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0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0" name="Google Shape;1870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0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0" name="Google Shape;1910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1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7" name="Google Shape;1927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1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5" name="Google Shape;1945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1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3" name="Google Shape;1963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1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1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2" name="Google Shape;1992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8" name="Google Shape;2008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1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7" name="Google Shape;2027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1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1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2" name="Google Shape;2052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1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4" name="Google Shape;2074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097" name="Google Shape;2097;p1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1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3" name="Google Shape;2103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1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9" name="Google Shape;2109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5" name="Google Shape;2115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1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2" name="Google Shape;2122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1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8" name="Google Shape;2128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1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8" name="Google Shape;2198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1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4" name="Google Shape;2204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1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9" name="Google Shape;2239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1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1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3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3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3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7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7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8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38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9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9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139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7" name="Google Shape;77;p13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0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0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4" name="Google Shape;84;p14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0" name="Google Shape;90;p14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2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2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jp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103</a:t>
            </a:r>
            <a:b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Structures</a:t>
            </a:r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1"/>
          </p:nvPr>
        </p:nvSpPr>
        <p:spPr>
          <a:xfrm>
            <a:off x="457200" y="20574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Graphs</a:t>
            </a:r>
            <a:endParaRPr sz="3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These class notes are based on material from our textbook,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and Its Applications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</a:t>
            </a:r>
            <a:r>
              <a:rPr lang="en-US" sz="28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ed., by Kenneth H. Rosen, published by McGraw Hill, Boston, MA, 2006.  They are intended for classroom use only and are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substitute for reading the textbook.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31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Graph</a:t>
            </a:r>
            <a:endParaRPr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31187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graph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consists of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–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nonempty set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called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–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set of edges (unordered pairs of distinct elements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called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Notation: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</p:spTree>
  </p:cSld>
  <p:clrMapOvr>
    <a:masterClrMapping/>
  </p:clrMapOvr>
  <p:transition spd="slow" advTm="1024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53440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Graph Example</a:t>
            </a:r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304800" y="4495800"/>
            <a:ext cx="868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75" rIns="0" bIns="4607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simple graph represents a network.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network is made up of computers and telephone links between computers</a:t>
            </a:r>
            <a:endParaRPr/>
          </a:p>
        </p:txBody>
      </p:sp>
      <p:grpSp>
        <p:nvGrpSpPr>
          <p:cNvPr id="112" name="Google Shape;112;p3"/>
          <p:cNvGrpSpPr/>
          <p:nvPr/>
        </p:nvGrpSpPr>
        <p:grpSpPr>
          <a:xfrm>
            <a:off x="1752600" y="1889125"/>
            <a:ext cx="5710237" cy="2046287"/>
            <a:chOff x="1104" y="1190"/>
            <a:chExt cx="3597" cy="1289"/>
          </a:xfrm>
        </p:grpSpPr>
        <p:sp>
          <p:nvSpPr>
            <p:cNvPr id="113" name="Google Shape;113;p3"/>
            <p:cNvSpPr/>
            <p:nvPr/>
          </p:nvSpPr>
          <p:spPr>
            <a:xfrm rot="-1560000">
              <a:off x="1321" y="1768"/>
              <a:ext cx="86" cy="86"/>
            </a:xfrm>
            <a:prstGeom prst="ellipse">
              <a:avLst/>
            </a:prstGeom>
            <a:solidFill>
              <a:srgbClr val="FFFFFF"/>
            </a:solidFill>
            <a:ln w="284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" name="Google Shape;114;p3"/>
            <p:cNvCxnSpPr/>
            <p:nvPr/>
          </p:nvCxnSpPr>
          <p:spPr>
            <a:xfrm>
              <a:off x="1370" y="1855"/>
              <a:ext cx="125" cy="259"/>
            </a:xfrm>
            <a:prstGeom prst="straightConnector1">
              <a:avLst/>
            </a:prstGeom>
            <a:noFill/>
            <a:ln w="284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15" name="Google Shape;115;p3"/>
            <p:cNvSpPr/>
            <p:nvPr/>
          </p:nvSpPr>
          <p:spPr>
            <a:xfrm rot="-1560000">
              <a:off x="1484" y="2105"/>
              <a:ext cx="86" cy="86"/>
            </a:xfrm>
            <a:prstGeom prst="ellipse">
              <a:avLst/>
            </a:prstGeom>
            <a:solidFill>
              <a:srgbClr val="FFFFFF"/>
            </a:solidFill>
            <a:ln w="284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 rot="3300000">
              <a:off x="3327" y="1469"/>
              <a:ext cx="86" cy="86"/>
            </a:xfrm>
            <a:prstGeom prst="ellipse">
              <a:avLst/>
            </a:prstGeom>
            <a:solidFill>
              <a:srgbClr val="FFFFFF"/>
            </a:solidFill>
            <a:ln w="284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" name="Google Shape;117;p3"/>
            <p:cNvCxnSpPr/>
            <p:nvPr/>
          </p:nvCxnSpPr>
          <p:spPr>
            <a:xfrm flipH="1">
              <a:off x="3087" y="1526"/>
              <a:ext cx="240" cy="164"/>
            </a:xfrm>
            <a:prstGeom prst="straightConnector1">
              <a:avLst/>
            </a:prstGeom>
            <a:noFill/>
            <a:ln w="284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18" name="Google Shape;118;p3"/>
            <p:cNvSpPr/>
            <p:nvPr/>
          </p:nvSpPr>
          <p:spPr>
            <a:xfrm rot="3300000">
              <a:off x="3020" y="1682"/>
              <a:ext cx="86" cy="86"/>
            </a:xfrm>
            <a:prstGeom prst="ellipse">
              <a:avLst/>
            </a:prstGeom>
            <a:solidFill>
              <a:srgbClr val="FFFFFF"/>
            </a:solidFill>
            <a:ln w="284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" name="Google Shape;119;p3"/>
            <p:cNvCxnSpPr/>
            <p:nvPr/>
          </p:nvCxnSpPr>
          <p:spPr>
            <a:xfrm>
              <a:off x="1403" y="1807"/>
              <a:ext cx="806" cy="115"/>
            </a:xfrm>
            <a:prstGeom prst="straightConnector1">
              <a:avLst/>
            </a:prstGeom>
            <a:noFill/>
            <a:ln w="284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0" name="Google Shape;120;p3"/>
            <p:cNvCxnSpPr/>
            <p:nvPr/>
          </p:nvCxnSpPr>
          <p:spPr>
            <a:xfrm flipH="1">
              <a:off x="1517" y="1922"/>
              <a:ext cx="664" cy="259"/>
            </a:xfrm>
            <a:prstGeom prst="straightConnector1">
              <a:avLst/>
            </a:prstGeom>
            <a:noFill/>
            <a:ln w="284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1" name="Google Shape;121;p3"/>
            <p:cNvCxnSpPr/>
            <p:nvPr/>
          </p:nvCxnSpPr>
          <p:spPr>
            <a:xfrm>
              <a:off x="3356" y="1494"/>
              <a:ext cx="619" cy="134"/>
            </a:xfrm>
            <a:prstGeom prst="straightConnector1">
              <a:avLst/>
            </a:prstGeom>
            <a:noFill/>
            <a:ln w="284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2" name="Google Shape;122;p3"/>
            <p:cNvCxnSpPr/>
            <p:nvPr/>
          </p:nvCxnSpPr>
          <p:spPr>
            <a:xfrm rot="10800000" flipH="1">
              <a:off x="3043" y="1662"/>
              <a:ext cx="892" cy="59"/>
            </a:xfrm>
            <a:prstGeom prst="straightConnector1">
              <a:avLst/>
            </a:prstGeom>
            <a:noFill/>
            <a:ln w="284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3" name="Google Shape;123;p3"/>
            <p:cNvSpPr/>
            <p:nvPr/>
          </p:nvSpPr>
          <p:spPr>
            <a:xfrm>
              <a:off x="3705" y="1864"/>
              <a:ext cx="86" cy="87"/>
            </a:xfrm>
            <a:prstGeom prst="ellipse">
              <a:avLst/>
            </a:prstGeom>
            <a:solidFill>
              <a:srgbClr val="FFFFFF"/>
            </a:solidFill>
            <a:ln w="126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p3"/>
            <p:cNvCxnSpPr/>
            <p:nvPr/>
          </p:nvCxnSpPr>
          <p:spPr>
            <a:xfrm>
              <a:off x="3043" y="1749"/>
              <a:ext cx="719" cy="173"/>
            </a:xfrm>
            <a:prstGeom prst="straightConnector1">
              <a:avLst/>
            </a:prstGeom>
            <a:noFill/>
            <a:ln w="284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5" name="Google Shape;125;p3"/>
            <p:cNvCxnSpPr/>
            <p:nvPr/>
          </p:nvCxnSpPr>
          <p:spPr>
            <a:xfrm flipH="1">
              <a:off x="2208" y="1720"/>
              <a:ext cx="836" cy="173"/>
            </a:xfrm>
            <a:prstGeom prst="straightConnector1">
              <a:avLst/>
            </a:prstGeom>
            <a:noFill/>
            <a:ln w="284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6" name="Google Shape;126;p3"/>
            <p:cNvCxnSpPr/>
            <p:nvPr/>
          </p:nvCxnSpPr>
          <p:spPr>
            <a:xfrm flipH="1">
              <a:off x="3747" y="1663"/>
              <a:ext cx="225" cy="266"/>
            </a:xfrm>
            <a:prstGeom prst="straightConnector1">
              <a:avLst/>
            </a:prstGeom>
            <a:noFill/>
            <a:ln w="284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7" name="Google Shape;127;p3"/>
            <p:cNvSpPr/>
            <p:nvPr/>
          </p:nvSpPr>
          <p:spPr>
            <a:xfrm rot="2100000">
              <a:off x="3939" y="1605"/>
              <a:ext cx="86" cy="86"/>
            </a:xfrm>
            <a:prstGeom prst="ellipse">
              <a:avLst/>
            </a:prstGeom>
            <a:solidFill>
              <a:srgbClr val="FFFFFF"/>
            </a:solidFill>
            <a:ln w="126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1104" y="1526"/>
              <a:ext cx="1023" cy="233"/>
            </a:xfrm>
            <a:prstGeom prst="roundRect">
              <a:avLst>
                <a:gd name="adj" fmla="val 8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San Francisco</a:t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2112" y="1958"/>
              <a:ext cx="593" cy="233"/>
            </a:xfrm>
            <a:prstGeom prst="roundRect">
              <a:avLst>
                <a:gd name="adj" fmla="val 8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Denver</a:t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104" y="2246"/>
              <a:ext cx="926" cy="233"/>
            </a:xfrm>
            <a:prstGeom prst="roundRect">
              <a:avLst>
                <a:gd name="adj" fmla="val 8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Los Angeles</a:t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907" y="1401"/>
              <a:ext cx="794" cy="233"/>
            </a:xfrm>
            <a:prstGeom prst="roundRect">
              <a:avLst>
                <a:gd name="adj" fmla="val 8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New York</a:t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813" y="1833"/>
              <a:ext cx="655" cy="233"/>
            </a:xfrm>
            <a:prstGeom prst="roundRect">
              <a:avLst>
                <a:gd name="adj" fmla="val 8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Chicago</a:t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3562" y="2006"/>
              <a:ext cx="894" cy="233"/>
            </a:xfrm>
            <a:prstGeom prst="roundRect">
              <a:avLst>
                <a:gd name="adj" fmla="val 8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Washington</a:t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072" y="1190"/>
              <a:ext cx="574" cy="233"/>
            </a:xfrm>
            <a:prstGeom prst="roundRect">
              <a:avLst>
                <a:gd name="adj" fmla="val 8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Detroit</a:t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 rot="-2100000">
              <a:off x="2125" y="1857"/>
              <a:ext cx="86" cy="88"/>
            </a:xfrm>
            <a:prstGeom prst="ellipse">
              <a:avLst/>
            </a:prstGeom>
            <a:solidFill>
              <a:srgbClr val="FFFFFF"/>
            </a:solidFill>
            <a:ln w="126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 advTm="1024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Multigraph</a:t>
            </a:r>
            <a:endParaRPr/>
          </a:p>
        </p:txBody>
      </p:sp>
      <p:sp>
        <p:nvSpPr>
          <p:cNvPr id="141" name="Google Shape;141;p4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382000" cy="164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68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multigraph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have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edges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(two or more edges connecting the same pair of vertices).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 rot="-1500000">
            <a:off x="885825" y="3930650"/>
            <a:ext cx="119062" cy="114300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971550" y="4014787"/>
            <a:ext cx="323850" cy="59213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4" name="Google Shape;144;p4"/>
          <p:cNvCxnSpPr/>
          <p:nvPr/>
        </p:nvCxnSpPr>
        <p:spPr>
          <a:xfrm flipH="1">
            <a:off x="4857750" y="3438525"/>
            <a:ext cx="547687" cy="35718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5" name="Google Shape;145;p4"/>
          <p:cNvCxnSpPr/>
          <p:nvPr/>
        </p:nvCxnSpPr>
        <p:spPr>
          <a:xfrm>
            <a:off x="990600" y="3984625"/>
            <a:ext cx="1852612" cy="20637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6" name="Google Shape;146;p4"/>
          <p:cNvCxnSpPr/>
          <p:nvPr/>
        </p:nvCxnSpPr>
        <p:spPr>
          <a:xfrm flipH="1">
            <a:off x="1316037" y="4191000"/>
            <a:ext cx="1524000" cy="46672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7" name="Google Shape;147;p4"/>
          <p:cNvCxnSpPr/>
          <p:nvPr/>
        </p:nvCxnSpPr>
        <p:spPr>
          <a:xfrm>
            <a:off x="5413375" y="3441700"/>
            <a:ext cx="1409700" cy="21748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8" name="Google Shape;148;p4"/>
          <p:cNvCxnSpPr/>
          <p:nvPr/>
        </p:nvCxnSpPr>
        <p:spPr>
          <a:xfrm rot="10800000" flipH="1">
            <a:off x="4822825" y="3702050"/>
            <a:ext cx="2035175" cy="12858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9" name="Google Shape;149;p4"/>
          <p:cNvCxnSpPr/>
          <p:nvPr/>
        </p:nvCxnSpPr>
        <p:spPr>
          <a:xfrm>
            <a:off x="4824412" y="3848100"/>
            <a:ext cx="1652587" cy="31115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0" name="Google Shape;150;p4"/>
          <p:cNvCxnSpPr/>
          <p:nvPr/>
        </p:nvCxnSpPr>
        <p:spPr>
          <a:xfrm flipH="1">
            <a:off x="2894012" y="3848100"/>
            <a:ext cx="1920875" cy="31115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1" name="Google Shape;151;p4"/>
          <p:cNvSpPr/>
          <p:nvPr/>
        </p:nvSpPr>
        <p:spPr>
          <a:xfrm>
            <a:off x="457200" y="3598862"/>
            <a:ext cx="1731962" cy="369887"/>
          </a:xfrm>
          <a:prstGeom prst="roundRect">
            <a:avLst>
              <a:gd name="adj" fmla="val 9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San</a:t>
            </a:r>
            <a:r>
              <a:rPr lang="en-US" sz="2000" b="0" i="0" u="none">
                <a:solidFill>
                  <a:srgbClr val="FFFFB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Francisco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2838450" y="4322762"/>
            <a:ext cx="993775" cy="369887"/>
          </a:xfrm>
          <a:prstGeom prst="roundRect">
            <a:avLst>
              <a:gd name="adj" fmla="val 9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Denver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588962" y="4786312"/>
            <a:ext cx="1522412" cy="369887"/>
          </a:xfrm>
          <a:prstGeom prst="roundRect">
            <a:avLst>
              <a:gd name="adj" fmla="val 9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Los</a:t>
            </a:r>
            <a:r>
              <a:rPr lang="en-US" sz="2000" b="0" i="0" u="none">
                <a:solidFill>
                  <a:srgbClr val="FFFFB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Angeles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807200" y="3255962"/>
            <a:ext cx="1268412" cy="369887"/>
          </a:xfrm>
          <a:prstGeom prst="roundRect">
            <a:avLst>
              <a:gd name="adj" fmla="val 9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New</a:t>
            </a:r>
            <a:r>
              <a:rPr lang="en-US" sz="2000" b="0" i="0" u="none">
                <a:solidFill>
                  <a:srgbClr val="FFFFB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York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4452937" y="4030662"/>
            <a:ext cx="1074737" cy="369887"/>
          </a:xfrm>
          <a:prstGeom prst="roundRect">
            <a:avLst>
              <a:gd name="adj" fmla="val 9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Chicago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5815012" y="4330700"/>
            <a:ext cx="1514475" cy="369887"/>
          </a:xfrm>
          <a:prstGeom prst="roundRect">
            <a:avLst>
              <a:gd name="adj" fmla="val 9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Washington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5219700" y="3048000"/>
            <a:ext cx="960437" cy="369887"/>
          </a:xfrm>
          <a:prstGeom prst="roundRect">
            <a:avLst>
              <a:gd name="adj" fmla="val 9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Detroit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1295400" y="4210050"/>
            <a:ext cx="1525587" cy="508000"/>
          </a:xfrm>
          <a:custGeom>
            <a:avLst/>
            <a:gdLst/>
            <a:ahLst/>
            <a:cxnLst/>
            <a:rect l="l" t="t" r="r" b="b"/>
            <a:pathLst>
              <a:path w="4236" h="1410" extrusionOk="0">
                <a:moveTo>
                  <a:pt x="0" y="1208"/>
                </a:moveTo>
                <a:cubicBezTo>
                  <a:pt x="176" y="1279"/>
                  <a:pt x="352" y="1351"/>
                  <a:pt x="577" y="1380"/>
                </a:cubicBezTo>
                <a:cubicBezTo>
                  <a:pt x="802" y="1409"/>
                  <a:pt x="1090" y="1409"/>
                  <a:pt x="1347" y="1380"/>
                </a:cubicBezTo>
                <a:cubicBezTo>
                  <a:pt x="1604" y="1351"/>
                  <a:pt x="1860" y="1293"/>
                  <a:pt x="2117" y="1208"/>
                </a:cubicBezTo>
                <a:cubicBezTo>
                  <a:pt x="2374" y="1121"/>
                  <a:pt x="2598" y="1006"/>
                  <a:pt x="2887" y="862"/>
                </a:cubicBezTo>
                <a:cubicBezTo>
                  <a:pt x="3176" y="718"/>
                  <a:pt x="3625" y="489"/>
                  <a:pt x="3850" y="345"/>
                </a:cubicBezTo>
                <a:cubicBezTo>
                  <a:pt x="4074" y="201"/>
                  <a:pt x="4170" y="57"/>
                  <a:pt x="4235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825750" y="3829050"/>
            <a:ext cx="2052637" cy="482600"/>
          </a:xfrm>
          <a:custGeom>
            <a:avLst/>
            <a:gdLst/>
            <a:ahLst/>
            <a:cxnLst/>
            <a:rect l="l" t="t" r="r" b="b"/>
            <a:pathLst>
              <a:path w="5700" h="1342" extrusionOk="0">
                <a:moveTo>
                  <a:pt x="0" y="1006"/>
                </a:moveTo>
                <a:cubicBezTo>
                  <a:pt x="214" y="1126"/>
                  <a:pt x="428" y="1245"/>
                  <a:pt x="735" y="1293"/>
                </a:cubicBezTo>
                <a:cubicBezTo>
                  <a:pt x="1041" y="1341"/>
                  <a:pt x="1378" y="1341"/>
                  <a:pt x="1838" y="1293"/>
                </a:cubicBezTo>
                <a:cubicBezTo>
                  <a:pt x="2297" y="1245"/>
                  <a:pt x="3033" y="1101"/>
                  <a:pt x="3492" y="1006"/>
                </a:cubicBezTo>
                <a:cubicBezTo>
                  <a:pt x="3952" y="910"/>
                  <a:pt x="4289" y="814"/>
                  <a:pt x="4595" y="718"/>
                </a:cubicBezTo>
                <a:cubicBezTo>
                  <a:pt x="4902" y="622"/>
                  <a:pt x="5147" y="550"/>
                  <a:pt x="5331" y="430"/>
                </a:cubicBezTo>
                <a:cubicBezTo>
                  <a:pt x="5515" y="311"/>
                  <a:pt x="5637" y="71"/>
                  <a:pt x="5699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2819400" y="3703637"/>
            <a:ext cx="1981200" cy="434975"/>
          </a:xfrm>
          <a:custGeom>
            <a:avLst/>
            <a:gdLst/>
            <a:ahLst/>
            <a:cxnLst/>
            <a:rect l="l" t="t" r="r" b="b"/>
            <a:pathLst>
              <a:path w="5505" h="1209" extrusionOk="0">
                <a:moveTo>
                  <a:pt x="0" y="1208"/>
                </a:moveTo>
                <a:cubicBezTo>
                  <a:pt x="229" y="1043"/>
                  <a:pt x="458" y="880"/>
                  <a:pt x="733" y="755"/>
                </a:cubicBezTo>
                <a:cubicBezTo>
                  <a:pt x="1009" y="628"/>
                  <a:pt x="1192" y="553"/>
                  <a:pt x="1651" y="452"/>
                </a:cubicBezTo>
                <a:cubicBezTo>
                  <a:pt x="2109" y="352"/>
                  <a:pt x="2966" y="226"/>
                  <a:pt x="3485" y="150"/>
                </a:cubicBezTo>
                <a:cubicBezTo>
                  <a:pt x="4005" y="75"/>
                  <a:pt x="4433" y="0"/>
                  <a:pt x="4770" y="0"/>
                </a:cubicBezTo>
                <a:cubicBezTo>
                  <a:pt x="5106" y="0"/>
                  <a:pt x="5305" y="75"/>
                  <a:pt x="5504" y="15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400800" y="3673475"/>
            <a:ext cx="508000" cy="473075"/>
          </a:xfrm>
          <a:custGeom>
            <a:avLst/>
            <a:gdLst/>
            <a:ahLst/>
            <a:cxnLst/>
            <a:rect l="l" t="t" r="r" b="b"/>
            <a:pathLst>
              <a:path w="1412" h="1316" extrusionOk="0">
                <a:moveTo>
                  <a:pt x="1289" y="0"/>
                </a:moveTo>
                <a:cubicBezTo>
                  <a:pt x="1350" y="191"/>
                  <a:pt x="1411" y="382"/>
                  <a:pt x="1289" y="573"/>
                </a:cubicBezTo>
                <a:cubicBezTo>
                  <a:pt x="1166" y="765"/>
                  <a:pt x="736" y="1029"/>
                  <a:pt x="552" y="1148"/>
                </a:cubicBezTo>
                <a:cubicBezTo>
                  <a:pt x="368" y="1268"/>
                  <a:pt x="276" y="1268"/>
                  <a:pt x="184" y="1292"/>
                </a:cubicBezTo>
                <a:cubicBezTo>
                  <a:pt x="92" y="1315"/>
                  <a:pt x="46" y="1304"/>
                  <a:pt x="0" y="1292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4800600" y="3724275"/>
            <a:ext cx="1984375" cy="196850"/>
          </a:xfrm>
          <a:custGeom>
            <a:avLst/>
            <a:gdLst/>
            <a:ahLst/>
            <a:cxnLst/>
            <a:rect l="l" t="t" r="r" b="b"/>
            <a:pathLst>
              <a:path w="5513" h="547" extrusionOk="0">
                <a:moveTo>
                  <a:pt x="0" y="345"/>
                </a:moveTo>
                <a:cubicBezTo>
                  <a:pt x="382" y="416"/>
                  <a:pt x="765" y="488"/>
                  <a:pt x="1102" y="517"/>
                </a:cubicBezTo>
                <a:cubicBezTo>
                  <a:pt x="1439" y="546"/>
                  <a:pt x="1776" y="517"/>
                  <a:pt x="2021" y="517"/>
                </a:cubicBezTo>
                <a:cubicBezTo>
                  <a:pt x="2266" y="517"/>
                  <a:pt x="2235" y="546"/>
                  <a:pt x="2572" y="517"/>
                </a:cubicBezTo>
                <a:cubicBezTo>
                  <a:pt x="2909" y="488"/>
                  <a:pt x="3644" y="402"/>
                  <a:pt x="4042" y="345"/>
                </a:cubicBezTo>
                <a:cubicBezTo>
                  <a:pt x="4441" y="287"/>
                  <a:pt x="4716" y="230"/>
                  <a:pt x="4961" y="172"/>
                </a:cubicBezTo>
                <a:cubicBezTo>
                  <a:pt x="5206" y="115"/>
                  <a:pt x="5359" y="57"/>
                  <a:pt x="5512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4"/>
          <p:cNvCxnSpPr/>
          <p:nvPr/>
        </p:nvCxnSpPr>
        <p:spPr>
          <a:xfrm rot="10800000" flipH="1">
            <a:off x="6400800" y="3724275"/>
            <a:ext cx="463550" cy="41751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64" name="Google Shape;164;p4"/>
          <p:cNvGrpSpPr/>
          <p:nvPr/>
        </p:nvGrpSpPr>
        <p:grpSpPr>
          <a:xfrm>
            <a:off x="533400" y="5562600"/>
            <a:ext cx="8077200" cy="1017587"/>
            <a:chOff x="1920" y="3334"/>
            <a:chExt cx="3840" cy="502"/>
          </a:xfrm>
        </p:grpSpPr>
        <p:sp>
          <p:nvSpPr>
            <p:cNvPr id="165" name="Google Shape;165;p4"/>
            <p:cNvSpPr/>
            <p:nvPr/>
          </p:nvSpPr>
          <p:spPr>
            <a:xfrm>
              <a:off x="1920" y="3334"/>
              <a:ext cx="3840" cy="502"/>
            </a:xfrm>
            <a:prstGeom prst="roundRect">
              <a:avLst>
                <a:gd name="adj" fmla="val 43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1920" y="3334"/>
              <a:ext cx="3840" cy="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6075" rIns="0" bIns="46075" anchor="t" anchorCtr="0">
              <a:spAutoFit/>
            </a:bodyPr>
            <a:lstStyle/>
            <a:p>
              <a:pPr marL="341312" marR="0" lvl="0" indent="-341312" algn="l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There can be multiple telephone lines between two computers in the network.</a:t>
              </a:r>
              <a:endParaRPr/>
            </a:p>
          </p:txBody>
        </p:sp>
      </p:grpSp>
      <p:sp>
        <p:nvSpPr>
          <p:cNvPr id="167" name="Google Shape;167;p4"/>
          <p:cNvSpPr/>
          <p:nvPr/>
        </p:nvSpPr>
        <p:spPr>
          <a:xfrm rot="-1500000">
            <a:off x="1249362" y="4605337"/>
            <a:ext cx="119062" cy="114300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 rot="-1500000">
            <a:off x="2774950" y="4140200"/>
            <a:ext cx="117475" cy="114300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 rot="-1500000">
            <a:off x="4756150" y="3778250"/>
            <a:ext cx="119062" cy="114300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 rot="-1500000">
            <a:off x="6813550" y="3633787"/>
            <a:ext cx="119062" cy="114300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 rot="-1500000">
            <a:off x="5364162" y="3375025"/>
            <a:ext cx="119062" cy="114300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 rot="-1500000">
            <a:off x="6321425" y="4098925"/>
            <a:ext cx="119062" cy="114300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 advTm="1024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>
            <a:spLocks noGrp="1"/>
          </p:cNvSpPr>
          <p:nvPr>
            <p:ph type="title"/>
          </p:nvPr>
        </p:nvSpPr>
        <p:spPr>
          <a:xfrm>
            <a:off x="304800" y="2286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Pseudograph</a:t>
            </a:r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4963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68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Pseudograph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have multiple edges and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loops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(an edge connecting a vertex to itself).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2667000" y="5486400"/>
            <a:ext cx="624840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can be telephone lines in the network from a computer to itself.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 rot="-1560000">
            <a:off x="1035050" y="4079875"/>
            <a:ext cx="120650" cy="182562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5"/>
          <p:cNvCxnSpPr/>
          <p:nvPr/>
        </p:nvCxnSpPr>
        <p:spPr>
          <a:xfrm>
            <a:off x="1081087" y="4159250"/>
            <a:ext cx="385762" cy="102870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2" name="Google Shape;182;p5"/>
          <p:cNvCxnSpPr/>
          <p:nvPr/>
        </p:nvCxnSpPr>
        <p:spPr>
          <a:xfrm flipH="1">
            <a:off x="4975225" y="3505200"/>
            <a:ext cx="720725" cy="65087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3" name="Google Shape;183;p5"/>
          <p:cNvCxnSpPr/>
          <p:nvPr/>
        </p:nvCxnSpPr>
        <p:spPr>
          <a:xfrm>
            <a:off x="1192212" y="4162425"/>
            <a:ext cx="1779587" cy="33337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4" name="Google Shape;184;p5"/>
          <p:cNvCxnSpPr/>
          <p:nvPr/>
        </p:nvCxnSpPr>
        <p:spPr>
          <a:xfrm flipH="1">
            <a:off x="1450975" y="4413250"/>
            <a:ext cx="1585912" cy="77787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5" name="Google Shape;185;p5"/>
          <p:cNvCxnSpPr/>
          <p:nvPr/>
        </p:nvCxnSpPr>
        <p:spPr>
          <a:xfrm>
            <a:off x="5595937" y="3487737"/>
            <a:ext cx="1473200" cy="38258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6" name="Google Shape;186;p5"/>
          <p:cNvCxnSpPr/>
          <p:nvPr/>
        </p:nvCxnSpPr>
        <p:spPr>
          <a:xfrm rot="10800000" flipH="1">
            <a:off x="4886325" y="3810000"/>
            <a:ext cx="2124075" cy="23971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7" name="Google Shape;187;p5"/>
          <p:cNvCxnSpPr/>
          <p:nvPr/>
        </p:nvCxnSpPr>
        <p:spPr>
          <a:xfrm>
            <a:off x="4886325" y="4038600"/>
            <a:ext cx="1722437" cy="51911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8" name="Google Shape;188;p5"/>
          <p:cNvCxnSpPr/>
          <p:nvPr/>
        </p:nvCxnSpPr>
        <p:spPr>
          <a:xfrm flipH="1">
            <a:off x="3005137" y="4027487"/>
            <a:ext cx="2001837" cy="44608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9" name="Google Shape;189;p5"/>
          <p:cNvSpPr/>
          <p:nvPr/>
        </p:nvSpPr>
        <p:spPr>
          <a:xfrm>
            <a:off x="533400" y="3200400"/>
            <a:ext cx="1731962" cy="369887"/>
          </a:xfrm>
          <a:prstGeom prst="roundRect">
            <a:avLst>
              <a:gd name="adj" fmla="val 8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San Francisco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2590800" y="3505200"/>
            <a:ext cx="993775" cy="369887"/>
          </a:xfrm>
          <a:prstGeom prst="roundRect">
            <a:avLst>
              <a:gd name="adj" fmla="val 8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Denver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33400" y="5562600"/>
            <a:ext cx="1522412" cy="369887"/>
          </a:xfrm>
          <a:prstGeom prst="roundRect">
            <a:avLst>
              <a:gd name="adj" fmla="val 8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Los Angeles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858000" y="3124200"/>
            <a:ext cx="1268412" cy="369887"/>
          </a:xfrm>
          <a:prstGeom prst="roundRect">
            <a:avLst>
              <a:gd name="adj" fmla="val 8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New York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4038600" y="3124200"/>
            <a:ext cx="1074737" cy="369887"/>
          </a:xfrm>
          <a:prstGeom prst="roundRect">
            <a:avLst>
              <a:gd name="adj" fmla="val 8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Chicago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019800" y="4953000"/>
            <a:ext cx="1514475" cy="369887"/>
          </a:xfrm>
          <a:prstGeom prst="roundRect">
            <a:avLst>
              <a:gd name="adj" fmla="val 8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Washington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5257800" y="2590800"/>
            <a:ext cx="960437" cy="369887"/>
          </a:xfrm>
          <a:prstGeom prst="roundRect">
            <a:avLst>
              <a:gd name="adj" fmla="val 8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Detroit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1447800" y="4429125"/>
            <a:ext cx="1616075" cy="771525"/>
          </a:xfrm>
          <a:custGeom>
            <a:avLst/>
            <a:gdLst/>
            <a:ahLst/>
            <a:cxnLst/>
            <a:rect l="l" t="t" r="r" b="b"/>
            <a:pathLst>
              <a:path w="4221" h="1551" extrusionOk="0">
                <a:moveTo>
                  <a:pt x="0" y="1328"/>
                </a:moveTo>
                <a:cubicBezTo>
                  <a:pt x="175" y="1408"/>
                  <a:pt x="351" y="1487"/>
                  <a:pt x="575" y="1518"/>
                </a:cubicBezTo>
                <a:cubicBezTo>
                  <a:pt x="799" y="1550"/>
                  <a:pt x="1087" y="1550"/>
                  <a:pt x="1343" y="1518"/>
                </a:cubicBezTo>
                <a:cubicBezTo>
                  <a:pt x="1598" y="1487"/>
                  <a:pt x="1854" y="1423"/>
                  <a:pt x="2110" y="1328"/>
                </a:cubicBezTo>
                <a:cubicBezTo>
                  <a:pt x="2366" y="1233"/>
                  <a:pt x="2590" y="1107"/>
                  <a:pt x="2877" y="949"/>
                </a:cubicBezTo>
                <a:cubicBezTo>
                  <a:pt x="3165" y="790"/>
                  <a:pt x="3613" y="537"/>
                  <a:pt x="3837" y="379"/>
                </a:cubicBezTo>
                <a:cubicBezTo>
                  <a:pt x="4061" y="221"/>
                  <a:pt x="4157" y="63"/>
                  <a:pt x="4220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941637" y="4038600"/>
            <a:ext cx="2138362" cy="590550"/>
          </a:xfrm>
          <a:custGeom>
            <a:avLst/>
            <a:gdLst/>
            <a:ahLst/>
            <a:cxnLst/>
            <a:rect l="l" t="t" r="r" b="b"/>
            <a:pathLst>
              <a:path w="5585" h="1189" extrusionOk="0">
                <a:moveTo>
                  <a:pt x="0" y="891"/>
                </a:moveTo>
                <a:cubicBezTo>
                  <a:pt x="210" y="996"/>
                  <a:pt x="420" y="1103"/>
                  <a:pt x="720" y="1146"/>
                </a:cubicBezTo>
                <a:cubicBezTo>
                  <a:pt x="1020" y="1188"/>
                  <a:pt x="1350" y="1188"/>
                  <a:pt x="1801" y="1146"/>
                </a:cubicBezTo>
                <a:cubicBezTo>
                  <a:pt x="2251" y="1103"/>
                  <a:pt x="2972" y="976"/>
                  <a:pt x="3422" y="891"/>
                </a:cubicBezTo>
                <a:cubicBezTo>
                  <a:pt x="3872" y="805"/>
                  <a:pt x="4203" y="721"/>
                  <a:pt x="4503" y="636"/>
                </a:cubicBezTo>
                <a:cubicBezTo>
                  <a:pt x="4803" y="551"/>
                  <a:pt x="5043" y="488"/>
                  <a:pt x="5223" y="382"/>
                </a:cubicBezTo>
                <a:cubicBezTo>
                  <a:pt x="5403" y="275"/>
                  <a:pt x="5523" y="64"/>
                  <a:pt x="5584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2941637" y="3965575"/>
            <a:ext cx="2066925" cy="534987"/>
          </a:xfrm>
          <a:custGeom>
            <a:avLst/>
            <a:gdLst/>
            <a:ahLst/>
            <a:cxnLst/>
            <a:rect l="l" t="t" r="r" b="b"/>
            <a:pathLst>
              <a:path w="5403" h="1075" extrusionOk="0">
                <a:moveTo>
                  <a:pt x="0" y="1074"/>
                </a:moveTo>
                <a:cubicBezTo>
                  <a:pt x="225" y="927"/>
                  <a:pt x="450" y="782"/>
                  <a:pt x="720" y="670"/>
                </a:cubicBezTo>
                <a:cubicBezTo>
                  <a:pt x="990" y="559"/>
                  <a:pt x="1170" y="491"/>
                  <a:pt x="1620" y="402"/>
                </a:cubicBezTo>
                <a:cubicBezTo>
                  <a:pt x="2071" y="312"/>
                  <a:pt x="2911" y="201"/>
                  <a:pt x="3421" y="133"/>
                </a:cubicBezTo>
                <a:cubicBezTo>
                  <a:pt x="3932" y="66"/>
                  <a:pt x="4352" y="0"/>
                  <a:pt x="4682" y="0"/>
                </a:cubicBezTo>
                <a:cubicBezTo>
                  <a:pt x="5012" y="0"/>
                  <a:pt x="5207" y="66"/>
                  <a:pt x="5402" y="133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505575" y="3787775"/>
            <a:ext cx="528637" cy="792162"/>
          </a:xfrm>
          <a:custGeom>
            <a:avLst/>
            <a:gdLst/>
            <a:ahLst/>
            <a:cxnLst/>
            <a:rect l="l" t="t" r="r" b="b"/>
            <a:pathLst>
              <a:path w="1381" h="1597" extrusionOk="0">
                <a:moveTo>
                  <a:pt x="1260" y="0"/>
                </a:moveTo>
                <a:cubicBezTo>
                  <a:pt x="1320" y="232"/>
                  <a:pt x="1380" y="464"/>
                  <a:pt x="1260" y="697"/>
                </a:cubicBezTo>
                <a:cubicBezTo>
                  <a:pt x="1140" y="929"/>
                  <a:pt x="720" y="1248"/>
                  <a:pt x="540" y="1394"/>
                </a:cubicBezTo>
                <a:cubicBezTo>
                  <a:pt x="360" y="1539"/>
                  <a:pt x="270" y="1539"/>
                  <a:pt x="180" y="1568"/>
                </a:cubicBezTo>
                <a:cubicBezTo>
                  <a:pt x="90" y="1596"/>
                  <a:pt x="45" y="1583"/>
                  <a:pt x="0" y="1568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951412" y="3849687"/>
            <a:ext cx="2065337" cy="260350"/>
          </a:xfrm>
          <a:custGeom>
            <a:avLst/>
            <a:gdLst/>
            <a:ahLst/>
            <a:cxnLst/>
            <a:rect l="l" t="t" r="r" b="b"/>
            <a:pathLst>
              <a:path w="5398" h="525" extrusionOk="0">
                <a:moveTo>
                  <a:pt x="0" y="331"/>
                </a:moveTo>
                <a:cubicBezTo>
                  <a:pt x="374" y="400"/>
                  <a:pt x="749" y="469"/>
                  <a:pt x="1079" y="497"/>
                </a:cubicBezTo>
                <a:cubicBezTo>
                  <a:pt x="1409" y="524"/>
                  <a:pt x="1739" y="497"/>
                  <a:pt x="1979" y="497"/>
                </a:cubicBezTo>
                <a:cubicBezTo>
                  <a:pt x="2219" y="497"/>
                  <a:pt x="2189" y="524"/>
                  <a:pt x="2519" y="497"/>
                </a:cubicBezTo>
                <a:cubicBezTo>
                  <a:pt x="2848" y="469"/>
                  <a:pt x="3568" y="386"/>
                  <a:pt x="3958" y="331"/>
                </a:cubicBezTo>
                <a:cubicBezTo>
                  <a:pt x="4348" y="275"/>
                  <a:pt x="4618" y="221"/>
                  <a:pt x="4858" y="166"/>
                </a:cubicBezTo>
                <a:cubicBezTo>
                  <a:pt x="5098" y="110"/>
                  <a:pt x="5248" y="55"/>
                  <a:pt x="5397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5"/>
          <p:cNvCxnSpPr/>
          <p:nvPr/>
        </p:nvCxnSpPr>
        <p:spPr>
          <a:xfrm rot="10800000" flipH="1">
            <a:off x="6505575" y="3848100"/>
            <a:ext cx="482600" cy="69691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2" name="Google Shape;202;p5"/>
          <p:cNvSpPr/>
          <p:nvPr/>
        </p:nvSpPr>
        <p:spPr>
          <a:xfrm>
            <a:off x="6311900" y="4402137"/>
            <a:ext cx="412750" cy="520700"/>
          </a:xfrm>
          <a:prstGeom prst="ellipse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5410200" y="3048000"/>
            <a:ext cx="412750" cy="519112"/>
          </a:xfrm>
          <a:prstGeom prst="ellipse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7024687" y="3589337"/>
            <a:ext cx="412750" cy="519112"/>
          </a:xfrm>
          <a:prstGeom prst="ellipse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914400" y="3657600"/>
            <a:ext cx="412750" cy="519112"/>
          </a:xfrm>
          <a:prstGeom prst="ellipse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1143000" y="4953000"/>
            <a:ext cx="412750" cy="519112"/>
          </a:xfrm>
          <a:prstGeom prst="ellipse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724400" y="3505200"/>
            <a:ext cx="412750" cy="519112"/>
          </a:xfrm>
          <a:prstGeom prst="ellipse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2682875" y="3965575"/>
            <a:ext cx="412750" cy="519112"/>
          </a:xfrm>
          <a:prstGeom prst="ellipse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 rot="-1560000">
            <a:off x="1447800" y="5029200"/>
            <a:ext cx="120650" cy="182562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 rot="-1560000">
            <a:off x="2905125" y="4279900"/>
            <a:ext cx="120650" cy="182562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 rot="-1560000">
            <a:off x="4886325" y="3919537"/>
            <a:ext cx="120650" cy="182562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 rot="-1560000">
            <a:off x="5572125" y="3451225"/>
            <a:ext cx="120650" cy="182562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 rot="-1560000">
            <a:off x="6959600" y="3752850"/>
            <a:ext cx="120650" cy="185737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 rot="-1560000">
            <a:off x="6426200" y="4356100"/>
            <a:ext cx="120650" cy="182562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 advTm="1024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6"/>
          <p:cNvGrpSpPr/>
          <p:nvPr/>
        </p:nvGrpSpPr>
        <p:grpSpPr>
          <a:xfrm>
            <a:off x="533400" y="2286000"/>
            <a:ext cx="8001000" cy="3581400"/>
            <a:chOff x="336" y="1440"/>
            <a:chExt cx="5040" cy="2256"/>
          </a:xfrm>
        </p:grpSpPr>
        <p:sp>
          <p:nvSpPr>
            <p:cNvPr id="221" name="Google Shape;221;p6"/>
            <p:cNvSpPr/>
            <p:nvPr/>
          </p:nvSpPr>
          <p:spPr>
            <a:xfrm>
              <a:off x="336" y="1440"/>
              <a:ext cx="5040" cy="2256"/>
            </a:xfrm>
            <a:prstGeom prst="ellipse">
              <a:avLst/>
            </a:prstGeom>
            <a:solidFill>
              <a:srgbClr val="99CC00"/>
            </a:solidFill>
            <a:ln w="126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569" y="2061"/>
              <a:ext cx="1360" cy="294"/>
            </a:xfrm>
            <a:prstGeom prst="roundRect">
              <a:avLst>
                <a:gd name="adj" fmla="val 75"/>
              </a:avLst>
            </a:prstGeom>
            <a:noFill/>
            <a:ln>
              <a:noFill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ctr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lang="en-US" sz="2800" b="0" i="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Pseudographs</a:t>
              </a:r>
              <a:endParaRPr/>
            </a:p>
          </p:txBody>
        </p:sp>
      </p:grpSp>
      <p:grpSp>
        <p:nvGrpSpPr>
          <p:cNvPr id="223" name="Google Shape;223;p6"/>
          <p:cNvGrpSpPr/>
          <p:nvPr/>
        </p:nvGrpSpPr>
        <p:grpSpPr>
          <a:xfrm>
            <a:off x="3124200" y="2743200"/>
            <a:ext cx="5105400" cy="2667000"/>
            <a:chOff x="1968" y="1728"/>
            <a:chExt cx="3216" cy="1680"/>
          </a:xfrm>
        </p:grpSpPr>
        <p:sp>
          <p:nvSpPr>
            <p:cNvPr id="224" name="Google Shape;224;p6"/>
            <p:cNvSpPr/>
            <p:nvPr/>
          </p:nvSpPr>
          <p:spPr>
            <a:xfrm>
              <a:off x="1968" y="1728"/>
              <a:ext cx="3216" cy="1680"/>
            </a:xfrm>
            <a:prstGeom prst="ellipse">
              <a:avLst/>
            </a:prstGeom>
            <a:solidFill>
              <a:srgbClr val="CCFF99"/>
            </a:solidFill>
            <a:ln w="126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2045" y="2272"/>
              <a:ext cx="1210" cy="294"/>
            </a:xfrm>
            <a:prstGeom prst="roundRect">
              <a:avLst>
                <a:gd name="adj" fmla="val 75"/>
              </a:avLst>
            </a:prstGeom>
            <a:noFill/>
            <a:ln>
              <a:noFill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ctr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lang="en-US" sz="2800" b="0" i="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Multigraphs</a:t>
              </a:r>
              <a:endParaRPr/>
            </a:p>
          </p:txBody>
        </p:sp>
      </p:grpSp>
      <p:sp>
        <p:nvSpPr>
          <p:cNvPr id="226" name="Google Shape;226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31187" cy="114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Undirected Graphs</a:t>
            </a:r>
            <a:endParaRPr/>
          </a:p>
        </p:txBody>
      </p:sp>
      <p:grpSp>
        <p:nvGrpSpPr>
          <p:cNvPr id="227" name="Google Shape;227;p6"/>
          <p:cNvGrpSpPr/>
          <p:nvPr/>
        </p:nvGrpSpPr>
        <p:grpSpPr>
          <a:xfrm>
            <a:off x="5105400" y="3657600"/>
            <a:ext cx="2819400" cy="1143000"/>
            <a:chOff x="3216" y="2304"/>
            <a:chExt cx="1776" cy="720"/>
          </a:xfrm>
        </p:grpSpPr>
        <p:sp>
          <p:nvSpPr>
            <p:cNvPr id="228" name="Google Shape;228;p6"/>
            <p:cNvSpPr/>
            <p:nvPr/>
          </p:nvSpPr>
          <p:spPr>
            <a:xfrm>
              <a:off x="3216" y="2304"/>
              <a:ext cx="1776" cy="720"/>
            </a:xfrm>
            <a:prstGeom prst="ellipse">
              <a:avLst/>
            </a:prstGeom>
            <a:solidFill>
              <a:srgbClr val="3333FF"/>
            </a:solidFill>
            <a:ln w="126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9" name="Google Shape;229;p6"/>
            <p:cNvGrpSpPr/>
            <p:nvPr/>
          </p:nvGrpSpPr>
          <p:grpSpPr>
            <a:xfrm>
              <a:off x="3391" y="2493"/>
              <a:ext cx="1453" cy="294"/>
              <a:chOff x="3391" y="2493"/>
              <a:chExt cx="1453" cy="294"/>
            </a:xfrm>
          </p:grpSpPr>
          <p:sp>
            <p:nvSpPr>
              <p:cNvPr id="230" name="Google Shape;230;p6"/>
              <p:cNvSpPr/>
              <p:nvPr/>
            </p:nvSpPr>
            <p:spPr>
              <a:xfrm>
                <a:off x="3449" y="2496"/>
                <a:ext cx="1336" cy="288"/>
              </a:xfrm>
              <a:prstGeom prst="roundRect">
                <a:avLst>
                  <a:gd name="adj" fmla="val 75"/>
                </a:avLst>
              </a:prstGeom>
              <a:solidFill>
                <a:srgbClr val="3333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3391" y="2493"/>
                <a:ext cx="1453" cy="294"/>
              </a:xfrm>
              <a:prstGeom prst="roundRect">
                <a:avLst>
                  <a:gd name="adj" fmla="val 75"/>
                </a:avLst>
              </a:prstGeom>
              <a:noFill/>
              <a:ln>
                <a:noFill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8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Times New Roman"/>
                  <a:buNone/>
                </a:pPr>
                <a:r>
                  <a:rPr lang="en-US" sz="2800" b="0" i="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Simple Graphs</a:t>
                </a:r>
                <a:endParaRPr/>
              </a:p>
            </p:txBody>
          </p:sp>
        </p:grpSp>
      </p:grpSp>
    </p:spTree>
  </p:cSld>
  <p:clrMapOvr>
    <a:masterClrMapping/>
  </p:clrMapOvr>
  <p:transition spd="slow" advTm="1024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311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endParaRPr/>
          </a:p>
        </p:txBody>
      </p:sp>
      <p:sp>
        <p:nvSpPr>
          <p:cNvPr id="237" name="Google Shape;237;p7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534400" cy="1211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68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edges are ordered pairs of (not necessarily distinct) vertices.</a:t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 rot="-1320000">
            <a:off x="1082675" y="3651250"/>
            <a:ext cx="131762" cy="115887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39750" y="3276600"/>
            <a:ext cx="1624012" cy="369887"/>
          </a:xfrm>
          <a:prstGeom prst="roundRect">
            <a:avLst>
              <a:gd name="adj" fmla="val 10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 Francisco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3140075" y="4092575"/>
            <a:ext cx="941387" cy="369887"/>
          </a:xfrm>
          <a:prstGeom prst="roundRect">
            <a:avLst>
              <a:gd name="adj" fmla="val 10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Denver</a:t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684212" y="4616450"/>
            <a:ext cx="1470025" cy="369887"/>
          </a:xfrm>
          <a:prstGeom prst="roundRect">
            <a:avLst>
              <a:gd name="adj" fmla="val 10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Angeles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7461250" y="3228975"/>
            <a:ext cx="1260475" cy="369887"/>
          </a:xfrm>
          <a:prstGeom prst="roundRect">
            <a:avLst>
              <a:gd name="adj" fmla="val 10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York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4191000" y="3124200"/>
            <a:ext cx="1039812" cy="369887"/>
          </a:xfrm>
          <a:prstGeom prst="roundRect">
            <a:avLst>
              <a:gd name="adj" fmla="val 10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Chicago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384925" y="4103687"/>
            <a:ext cx="1419225" cy="369887"/>
          </a:xfrm>
          <a:prstGeom prst="roundRect">
            <a:avLst>
              <a:gd name="adj" fmla="val 10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Washington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735637" y="2659062"/>
            <a:ext cx="911225" cy="369887"/>
          </a:xfrm>
          <a:prstGeom prst="roundRect">
            <a:avLst>
              <a:gd name="adj" fmla="val 10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Detroit</a:t>
            </a:r>
            <a:endParaRPr/>
          </a:p>
        </p:txBody>
      </p:sp>
      <p:cxnSp>
        <p:nvCxnSpPr>
          <p:cNvPr id="246" name="Google Shape;246;p7"/>
          <p:cNvCxnSpPr/>
          <p:nvPr/>
        </p:nvCxnSpPr>
        <p:spPr>
          <a:xfrm>
            <a:off x="1189037" y="3711575"/>
            <a:ext cx="1009650" cy="10636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47" name="Google Shape;247;p7"/>
          <p:cNvCxnSpPr/>
          <p:nvPr/>
        </p:nvCxnSpPr>
        <p:spPr>
          <a:xfrm>
            <a:off x="2127250" y="3817937"/>
            <a:ext cx="938212" cy="11747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8" name="Google Shape;248;p7"/>
          <p:cNvCxnSpPr/>
          <p:nvPr/>
        </p:nvCxnSpPr>
        <p:spPr>
          <a:xfrm rot="10800000" flipH="1">
            <a:off x="7016750" y="3667125"/>
            <a:ext cx="304800" cy="25558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49" name="Google Shape;249;p7"/>
          <p:cNvCxnSpPr/>
          <p:nvPr/>
        </p:nvCxnSpPr>
        <p:spPr>
          <a:xfrm rot="10800000" flipH="1">
            <a:off x="7321550" y="3424237"/>
            <a:ext cx="288925" cy="24606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0" name="Google Shape;250;p7"/>
          <p:cNvCxnSpPr/>
          <p:nvPr/>
        </p:nvCxnSpPr>
        <p:spPr>
          <a:xfrm rot="10800000" flipH="1">
            <a:off x="5375275" y="3441700"/>
            <a:ext cx="1204912" cy="8731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51" name="Google Shape;251;p7"/>
          <p:cNvCxnSpPr/>
          <p:nvPr/>
        </p:nvCxnSpPr>
        <p:spPr>
          <a:xfrm rot="10800000" flipH="1">
            <a:off x="6494462" y="3351212"/>
            <a:ext cx="1117600" cy="9366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2" name="Google Shape;252;p7"/>
          <p:cNvCxnSpPr/>
          <p:nvPr/>
        </p:nvCxnSpPr>
        <p:spPr>
          <a:xfrm rot="10800000" flipH="1">
            <a:off x="1549400" y="4173537"/>
            <a:ext cx="839787" cy="22066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53" name="Google Shape;253;p7"/>
          <p:cNvCxnSpPr/>
          <p:nvPr/>
        </p:nvCxnSpPr>
        <p:spPr>
          <a:xfrm rot="10800000" flipH="1">
            <a:off x="2330450" y="3941762"/>
            <a:ext cx="779462" cy="24130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4" name="Google Shape;254;p7"/>
          <p:cNvCxnSpPr/>
          <p:nvPr/>
        </p:nvCxnSpPr>
        <p:spPr>
          <a:xfrm>
            <a:off x="1136650" y="3713162"/>
            <a:ext cx="257175" cy="40957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55" name="Google Shape;255;p7"/>
          <p:cNvCxnSpPr/>
          <p:nvPr/>
        </p:nvCxnSpPr>
        <p:spPr>
          <a:xfrm>
            <a:off x="1281112" y="3948112"/>
            <a:ext cx="288925" cy="46513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56" name="Google Shape;256;p7"/>
          <p:cNvSpPr/>
          <p:nvPr/>
        </p:nvSpPr>
        <p:spPr>
          <a:xfrm>
            <a:off x="2343150" y="3933825"/>
            <a:ext cx="866775" cy="407987"/>
          </a:xfrm>
          <a:custGeom>
            <a:avLst/>
            <a:gdLst/>
            <a:ahLst/>
            <a:cxnLst/>
            <a:rect l="l" t="t" r="r" b="b"/>
            <a:pathLst>
              <a:path w="2408" h="1133" extrusionOk="0">
                <a:moveTo>
                  <a:pt x="2407" y="0"/>
                </a:moveTo>
                <a:cubicBezTo>
                  <a:pt x="1805" y="310"/>
                  <a:pt x="1203" y="620"/>
                  <a:pt x="802" y="809"/>
                </a:cubicBezTo>
                <a:cubicBezTo>
                  <a:pt x="401" y="998"/>
                  <a:pt x="133" y="1078"/>
                  <a:pt x="0" y="1132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549400" y="4341812"/>
            <a:ext cx="793750" cy="136525"/>
          </a:xfrm>
          <a:custGeom>
            <a:avLst/>
            <a:gdLst/>
            <a:ahLst/>
            <a:cxnLst/>
            <a:rect l="l" t="t" r="r" b="b"/>
            <a:pathLst>
              <a:path w="2206" h="378" extrusionOk="0">
                <a:moveTo>
                  <a:pt x="2205" y="0"/>
                </a:moveTo>
                <a:cubicBezTo>
                  <a:pt x="1687" y="134"/>
                  <a:pt x="1169" y="269"/>
                  <a:pt x="802" y="323"/>
                </a:cubicBezTo>
                <a:cubicBezTo>
                  <a:pt x="434" y="377"/>
                  <a:pt x="133" y="323"/>
                  <a:pt x="0" y="323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202112" y="3592512"/>
            <a:ext cx="1168400" cy="344487"/>
          </a:xfrm>
          <a:custGeom>
            <a:avLst/>
            <a:gdLst/>
            <a:ahLst/>
            <a:cxnLst/>
            <a:rect l="l" t="t" r="r" b="b"/>
            <a:pathLst>
              <a:path w="3244" h="957" extrusionOk="0">
                <a:moveTo>
                  <a:pt x="3243" y="0"/>
                </a:moveTo>
                <a:cubicBezTo>
                  <a:pt x="2423" y="275"/>
                  <a:pt x="1603" y="548"/>
                  <a:pt x="1062" y="708"/>
                </a:cubicBezTo>
                <a:cubicBezTo>
                  <a:pt x="522" y="867"/>
                  <a:pt x="176" y="915"/>
                  <a:pt x="0" y="956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3221037" y="3917950"/>
            <a:ext cx="982662" cy="63500"/>
          </a:xfrm>
          <a:custGeom>
            <a:avLst/>
            <a:gdLst/>
            <a:ahLst/>
            <a:cxnLst/>
            <a:rect l="l" t="t" r="r" b="b"/>
            <a:pathLst>
              <a:path w="2730" h="178" extrusionOk="0">
                <a:moveTo>
                  <a:pt x="2729" y="49"/>
                </a:moveTo>
                <a:cubicBezTo>
                  <a:pt x="2069" y="113"/>
                  <a:pt x="1408" y="177"/>
                  <a:pt x="953" y="170"/>
                </a:cubicBezTo>
                <a:cubicBezTo>
                  <a:pt x="498" y="162"/>
                  <a:pt x="158" y="28"/>
                  <a:pt x="0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7"/>
          <p:cNvCxnSpPr/>
          <p:nvPr/>
        </p:nvCxnSpPr>
        <p:spPr>
          <a:xfrm rot="10800000" flipH="1">
            <a:off x="5375275" y="3328987"/>
            <a:ext cx="427037" cy="20002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61" name="Google Shape;261;p7"/>
          <p:cNvCxnSpPr/>
          <p:nvPr/>
        </p:nvCxnSpPr>
        <p:spPr>
          <a:xfrm rot="10800000" flipH="1">
            <a:off x="5772150" y="3117850"/>
            <a:ext cx="396875" cy="214312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62" name="Google Shape;262;p7"/>
          <p:cNvCxnSpPr/>
          <p:nvPr/>
        </p:nvCxnSpPr>
        <p:spPr>
          <a:xfrm>
            <a:off x="6097587" y="3070225"/>
            <a:ext cx="854075" cy="13493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63" name="Google Shape;263;p7"/>
          <p:cNvCxnSpPr/>
          <p:nvPr/>
        </p:nvCxnSpPr>
        <p:spPr>
          <a:xfrm>
            <a:off x="6891337" y="3205162"/>
            <a:ext cx="793750" cy="14763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64" name="Google Shape;264;p7"/>
          <p:cNvSpPr/>
          <p:nvPr/>
        </p:nvSpPr>
        <p:spPr>
          <a:xfrm>
            <a:off x="6202362" y="3671887"/>
            <a:ext cx="898525" cy="277812"/>
          </a:xfrm>
          <a:custGeom>
            <a:avLst/>
            <a:gdLst/>
            <a:ahLst/>
            <a:cxnLst/>
            <a:rect l="l" t="t" r="r" b="b"/>
            <a:pathLst>
              <a:path w="2498" h="771" extrusionOk="0">
                <a:moveTo>
                  <a:pt x="2497" y="770"/>
                </a:moveTo>
                <a:cubicBezTo>
                  <a:pt x="1873" y="561"/>
                  <a:pt x="1249" y="351"/>
                  <a:pt x="833" y="222"/>
                </a:cubicBezTo>
                <a:cubicBezTo>
                  <a:pt x="417" y="95"/>
                  <a:pt x="138" y="37"/>
                  <a:pt x="0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5375275" y="3562350"/>
            <a:ext cx="827087" cy="100012"/>
          </a:xfrm>
          <a:custGeom>
            <a:avLst/>
            <a:gdLst/>
            <a:ahLst/>
            <a:cxnLst/>
            <a:rect l="l" t="t" r="r" b="b"/>
            <a:pathLst>
              <a:path w="2298" h="276" extrusionOk="0">
                <a:moveTo>
                  <a:pt x="2297" y="275"/>
                </a:moveTo>
                <a:cubicBezTo>
                  <a:pt x="1759" y="179"/>
                  <a:pt x="1220" y="82"/>
                  <a:pt x="837" y="41"/>
                </a:cubicBezTo>
                <a:cubicBezTo>
                  <a:pt x="454" y="0"/>
                  <a:pt x="139" y="29"/>
                  <a:pt x="0" y="27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5961062" y="3859212"/>
            <a:ext cx="1022350" cy="96837"/>
          </a:xfrm>
          <a:custGeom>
            <a:avLst/>
            <a:gdLst/>
            <a:ahLst/>
            <a:cxnLst/>
            <a:rect l="l" t="t" r="r" b="b"/>
            <a:pathLst>
              <a:path w="2841" h="269" extrusionOk="0">
                <a:moveTo>
                  <a:pt x="2840" y="268"/>
                </a:moveTo>
                <a:cubicBezTo>
                  <a:pt x="2089" y="225"/>
                  <a:pt x="1338" y="183"/>
                  <a:pt x="865" y="137"/>
                </a:cubicBezTo>
                <a:cubicBezTo>
                  <a:pt x="391" y="93"/>
                  <a:pt x="143" y="22"/>
                  <a:pt x="0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399087" y="3530600"/>
            <a:ext cx="552450" cy="322262"/>
          </a:xfrm>
          <a:custGeom>
            <a:avLst/>
            <a:gdLst/>
            <a:ahLst/>
            <a:cxnLst/>
            <a:rect l="l" t="t" r="r" b="b"/>
            <a:pathLst>
              <a:path w="1534" h="896" extrusionOk="0">
                <a:moveTo>
                  <a:pt x="1533" y="895"/>
                </a:moveTo>
                <a:cubicBezTo>
                  <a:pt x="1085" y="738"/>
                  <a:pt x="636" y="581"/>
                  <a:pt x="381" y="432"/>
                </a:cubicBezTo>
                <a:cubicBezTo>
                  <a:pt x="124" y="283"/>
                  <a:pt x="63" y="71"/>
                  <a:pt x="0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5568950" y="3100387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1695" h="352" extrusionOk="0">
                <a:moveTo>
                  <a:pt x="1694" y="0"/>
                </a:moveTo>
                <a:cubicBezTo>
                  <a:pt x="988" y="145"/>
                  <a:pt x="282" y="292"/>
                  <a:pt x="0" y="351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5302250" y="3235325"/>
            <a:ext cx="288925" cy="349250"/>
          </a:xfrm>
          <a:custGeom>
            <a:avLst/>
            <a:gdLst/>
            <a:ahLst/>
            <a:cxnLst/>
            <a:rect l="l" t="t" r="r" b="b"/>
            <a:pathLst>
              <a:path w="804" h="972" extrusionOk="0">
                <a:moveTo>
                  <a:pt x="803" y="0"/>
                </a:moveTo>
                <a:cubicBezTo>
                  <a:pt x="568" y="112"/>
                  <a:pt x="334" y="226"/>
                  <a:pt x="200" y="388"/>
                </a:cubicBezTo>
                <a:cubicBezTo>
                  <a:pt x="66" y="550"/>
                  <a:pt x="33" y="874"/>
                  <a:pt x="0" y="971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2892425" y="3524250"/>
            <a:ext cx="433387" cy="349250"/>
          </a:xfrm>
          <a:prstGeom prst="ellipse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7"/>
          <p:cNvCxnSpPr/>
          <p:nvPr/>
        </p:nvCxnSpPr>
        <p:spPr>
          <a:xfrm>
            <a:off x="3036887" y="3535362"/>
            <a:ext cx="217487" cy="158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72" name="Google Shape;272;p7"/>
          <p:cNvSpPr/>
          <p:nvPr/>
        </p:nvSpPr>
        <p:spPr>
          <a:xfrm>
            <a:off x="4141787" y="3584575"/>
            <a:ext cx="1122362" cy="158750"/>
          </a:xfrm>
          <a:custGeom>
            <a:avLst/>
            <a:gdLst/>
            <a:ahLst/>
            <a:cxnLst/>
            <a:rect l="l" t="t" r="r" b="b"/>
            <a:pathLst>
              <a:path w="3117" h="439" extrusionOk="0">
                <a:moveTo>
                  <a:pt x="3116" y="0"/>
                </a:moveTo>
                <a:cubicBezTo>
                  <a:pt x="2336" y="107"/>
                  <a:pt x="1557" y="213"/>
                  <a:pt x="1036" y="286"/>
                </a:cubicBezTo>
                <a:cubicBezTo>
                  <a:pt x="517" y="359"/>
                  <a:pt x="172" y="412"/>
                  <a:pt x="0" y="438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3121025" y="3733800"/>
            <a:ext cx="1020762" cy="169862"/>
          </a:xfrm>
          <a:custGeom>
            <a:avLst/>
            <a:gdLst/>
            <a:ahLst/>
            <a:cxnLst/>
            <a:rect l="l" t="t" r="r" b="b"/>
            <a:pathLst>
              <a:path w="2837" h="473" extrusionOk="0">
                <a:moveTo>
                  <a:pt x="2836" y="0"/>
                </a:moveTo>
                <a:cubicBezTo>
                  <a:pt x="2168" y="105"/>
                  <a:pt x="1501" y="210"/>
                  <a:pt x="1028" y="289"/>
                </a:cubicBezTo>
                <a:cubicBezTo>
                  <a:pt x="555" y="367"/>
                  <a:pt x="171" y="442"/>
                  <a:pt x="0" y="472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304800" y="5257800"/>
            <a:ext cx="8610600" cy="137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telephone lines in the network may operate in only one direction. Those that operate in two directions are represented by pairs of edges in opposite directions.</a:t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 rot="-1320000">
            <a:off x="1524000" y="4367212"/>
            <a:ext cx="131762" cy="115887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 rot="-1320000">
            <a:off x="3063875" y="3859212"/>
            <a:ext cx="133350" cy="117475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 rot="-1320000">
            <a:off x="5273675" y="3495675"/>
            <a:ext cx="131762" cy="115887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 rot="-1320000">
            <a:off x="6096000" y="3054350"/>
            <a:ext cx="131762" cy="117475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 rot="-1320000">
            <a:off x="6950075" y="3873500"/>
            <a:ext cx="133350" cy="115887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 rot="-1320000">
            <a:off x="7559675" y="3306762"/>
            <a:ext cx="131762" cy="115887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 advTm="1024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5359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Multigraph</a:t>
            </a:r>
            <a:endParaRPr/>
          </a:p>
        </p:txBody>
      </p:sp>
      <p:sp>
        <p:nvSpPr>
          <p:cNvPr id="286" name="Google Shape;286;p8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534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directed multigraph is a directed graph with multiple edges between the same two distinct vertices.</a:t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381000" y="3311525"/>
            <a:ext cx="1731962" cy="369887"/>
          </a:xfrm>
          <a:prstGeom prst="roundRect">
            <a:avLst>
              <a:gd name="adj" fmla="val 10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San Francisco</a:t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2981325" y="4132262"/>
            <a:ext cx="993775" cy="369887"/>
          </a:xfrm>
          <a:prstGeom prst="roundRect">
            <a:avLst>
              <a:gd name="adj" fmla="val 10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Denver</a:t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525462" y="4662487"/>
            <a:ext cx="1522412" cy="369887"/>
          </a:xfrm>
          <a:prstGeom prst="roundRect">
            <a:avLst>
              <a:gd name="adj" fmla="val 10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Los Angeles</a:t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7308850" y="2922587"/>
            <a:ext cx="1268412" cy="369887"/>
          </a:xfrm>
          <a:prstGeom prst="roundRect">
            <a:avLst>
              <a:gd name="adj" fmla="val 10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New York</a:t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4032250" y="3157537"/>
            <a:ext cx="1074737" cy="369887"/>
          </a:xfrm>
          <a:prstGeom prst="roundRect">
            <a:avLst>
              <a:gd name="adj" fmla="val 10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Chicago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6226175" y="4143375"/>
            <a:ext cx="1514475" cy="369887"/>
          </a:xfrm>
          <a:prstGeom prst="roundRect">
            <a:avLst>
              <a:gd name="adj" fmla="val 10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Washington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5576887" y="2687637"/>
            <a:ext cx="960437" cy="369887"/>
          </a:xfrm>
          <a:prstGeom prst="roundRect">
            <a:avLst>
              <a:gd name="adj" fmla="val 10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Detroit</a:t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30287" y="3748087"/>
            <a:ext cx="1009650" cy="10795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968500" y="3856037"/>
            <a:ext cx="938212" cy="11747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6" name="Google Shape;296;p8"/>
          <p:cNvCxnSpPr/>
          <p:nvPr/>
        </p:nvCxnSpPr>
        <p:spPr>
          <a:xfrm rot="10800000" flipH="1">
            <a:off x="6858000" y="3705225"/>
            <a:ext cx="304800" cy="25717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97" name="Google Shape;297;p8"/>
          <p:cNvCxnSpPr/>
          <p:nvPr/>
        </p:nvCxnSpPr>
        <p:spPr>
          <a:xfrm rot="10800000" flipH="1">
            <a:off x="7162800" y="3460750"/>
            <a:ext cx="288925" cy="24765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8" name="Google Shape;298;p8"/>
          <p:cNvCxnSpPr/>
          <p:nvPr/>
        </p:nvCxnSpPr>
        <p:spPr>
          <a:xfrm rot="10800000" flipH="1">
            <a:off x="5216525" y="3475037"/>
            <a:ext cx="1204912" cy="8890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99" name="Google Shape;299;p8"/>
          <p:cNvCxnSpPr/>
          <p:nvPr/>
        </p:nvCxnSpPr>
        <p:spPr>
          <a:xfrm rot="10800000" flipH="1">
            <a:off x="6335712" y="3384550"/>
            <a:ext cx="1117600" cy="9525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00" name="Google Shape;300;p8"/>
          <p:cNvCxnSpPr/>
          <p:nvPr/>
        </p:nvCxnSpPr>
        <p:spPr>
          <a:xfrm rot="10800000" flipH="1">
            <a:off x="1390650" y="4213225"/>
            <a:ext cx="839787" cy="22383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01" name="Google Shape;301;p8"/>
          <p:cNvCxnSpPr/>
          <p:nvPr/>
        </p:nvCxnSpPr>
        <p:spPr>
          <a:xfrm rot="10800000" flipH="1">
            <a:off x="2171700" y="3981450"/>
            <a:ext cx="779462" cy="24288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02" name="Google Shape;302;p8"/>
          <p:cNvCxnSpPr/>
          <p:nvPr/>
        </p:nvCxnSpPr>
        <p:spPr>
          <a:xfrm>
            <a:off x="977900" y="3751262"/>
            <a:ext cx="257175" cy="41433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03" name="Google Shape;303;p8"/>
          <p:cNvCxnSpPr/>
          <p:nvPr/>
        </p:nvCxnSpPr>
        <p:spPr>
          <a:xfrm>
            <a:off x="1122362" y="3987800"/>
            <a:ext cx="288925" cy="46990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04" name="Google Shape;304;p8"/>
          <p:cNvSpPr/>
          <p:nvPr/>
        </p:nvSpPr>
        <p:spPr>
          <a:xfrm>
            <a:off x="2184400" y="3973512"/>
            <a:ext cx="866775" cy="411162"/>
          </a:xfrm>
          <a:custGeom>
            <a:avLst/>
            <a:gdLst/>
            <a:ahLst/>
            <a:cxnLst/>
            <a:rect l="l" t="t" r="r" b="b"/>
            <a:pathLst>
              <a:path w="2408" h="1142" extrusionOk="0">
                <a:moveTo>
                  <a:pt x="2407" y="0"/>
                </a:moveTo>
                <a:cubicBezTo>
                  <a:pt x="1805" y="312"/>
                  <a:pt x="1203" y="625"/>
                  <a:pt x="802" y="816"/>
                </a:cubicBezTo>
                <a:cubicBezTo>
                  <a:pt x="401" y="1006"/>
                  <a:pt x="133" y="1087"/>
                  <a:pt x="0" y="1141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390650" y="4384675"/>
            <a:ext cx="793750" cy="136525"/>
          </a:xfrm>
          <a:custGeom>
            <a:avLst/>
            <a:gdLst/>
            <a:ahLst/>
            <a:cxnLst/>
            <a:rect l="l" t="t" r="r" b="b"/>
            <a:pathLst>
              <a:path w="2206" h="381" extrusionOk="0">
                <a:moveTo>
                  <a:pt x="2205" y="0"/>
                </a:moveTo>
                <a:cubicBezTo>
                  <a:pt x="1687" y="136"/>
                  <a:pt x="1169" y="272"/>
                  <a:pt x="802" y="326"/>
                </a:cubicBezTo>
                <a:cubicBezTo>
                  <a:pt x="434" y="380"/>
                  <a:pt x="133" y="326"/>
                  <a:pt x="0" y="326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043362" y="3629025"/>
            <a:ext cx="1168400" cy="347662"/>
          </a:xfrm>
          <a:custGeom>
            <a:avLst/>
            <a:gdLst/>
            <a:ahLst/>
            <a:cxnLst/>
            <a:rect l="l" t="t" r="r" b="b"/>
            <a:pathLst>
              <a:path w="3244" h="965" extrusionOk="0">
                <a:moveTo>
                  <a:pt x="3243" y="0"/>
                </a:moveTo>
                <a:cubicBezTo>
                  <a:pt x="2423" y="277"/>
                  <a:pt x="1603" y="552"/>
                  <a:pt x="1062" y="714"/>
                </a:cubicBezTo>
                <a:cubicBezTo>
                  <a:pt x="522" y="874"/>
                  <a:pt x="176" y="922"/>
                  <a:pt x="0" y="964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048000" y="3962400"/>
            <a:ext cx="982662" cy="65087"/>
          </a:xfrm>
          <a:custGeom>
            <a:avLst/>
            <a:gdLst/>
            <a:ahLst/>
            <a:cxnLst/>
            <a:rect l="l" t="t" r="r" b="b"/>
            <a:pathLst>
              <a:path w="2730" h="180" extrusionOk="0">
                <a:moveTo>
                  <a:pt x="2729" y="50"/>
                </a:moveTo>
                <a:cubicBezTo>
                  <a:pt x="2069" y="114"/>
                  <a:pt x="1408" y="179"/>
                  <a:pt x="953" y="172"/>
                </a:cubicBezTo>
                <a:cubicBezTo>
                  <a:pt x="498" y="163"/>
                  <a:pt x="158" y="29"/>
                  <a:pt x="0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8"/>
          <p:cNvCxnSpPr/>
          <p:nvPr/>
        </p:nvCxnSpPr>
        <p:spPr>
          <a:xfrm rot="10800000" flipH="1">
            <a:off x="5216525" y="3363912"/>
            <a:ext cx="427037" cy="20002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09" name="Google Shape;309;p8"/>
          <p:cNvCxnSpPr/>
          <p:nvPr/>
        </p:nvCxnSpPr>
        <p:spPr>
          <a:xfrm rot="10800000" flipH="1">
            <a:off x="5613400" y="3151187"/>
            <a:ext cx="396875" cy="215900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0" name="Google Shape;310;p8"/>
          <p:cNvCxnSpPr/>
          <p:nvPr/>
        </p:nvCxnSpPr>
        <p:spPr>
          <a:xfrm>
            <a:off x="5938837" y="3101975"/>
            <a:ext cx="854075" cy="13493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11" name="Google Shape;311;p8"/>
          <p:cNvCxnSpPr/>
          <p:nvPr/>
        </p:nvCxnSpPr>
        <p:spPr>
          <a:xfrm>
            <a:off x="6732587" y="3238500"/>
            <a:ext cx="793750" cy="14763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12" name="Google Shape;312;p8"/>
          <p:cNvSpPr/>
          <p:nvPr/>
        </p:nvSpPr>
        <p:spPr>
          <a:xfrm>
            <a:off x="6043612" y="3708400"/>
            <a:ext cx="898525" cy="279400"/>
          </a:xfrm>
          <a:custGeom>
            <a:avLst/>
            <a:gdLst/>
            <a:ahLst/>
            <a:cxnLst/>
            <a:rect l="l" t="t" r="r" b="b"/>
            <a:pathLst>
              <a:path w="2498" h="778" extrusionOk="0">
                <a:moveTo>
                  <a:pt x="2497" y="777"/>
                </a:moveTo>
                <a:cubicBezTo>
                  <a:pt x="1873" y="565"/>
                  <a:pt x="1249" y="354"/>
                  <a:pt x="833" y="224"/>
                </a:cubicBezTo>
                <a:cubicBezTo>
                  <a:pt x="417" y="95"/>
                  <a:pt x="138" y="37"/>
                  <a:pt x="0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216525" y="3598862"/>
            <a:ext cx="827087" cy="100012"/>
          </a:xfrm>
          <a:custGeom>
            <a:avLst/>
            <a:gdLst/>
            <a:ahLst/>
            <a:cxnLst/>
            <a:rect l="l" t="t" r="r" b="b"/>
            <a:pathLst>
              <a:path w="2298" h="278" extrusionOk="0">
                <a:moveTo>
                  <a:pt x="2297" y="277"/>
                </a:moveTo>
                <a:cubicBezTo>
                  <a:pt x="1759" y="180"/>
                  <a:pt x="1220" y="82"/>
                  <a:pt x="837" y="42"/>
                </a:cubicBezTo>
                <a:cubicBezTo>
                  <a:pt x="454" y="0"/>
                  <a:pt x="139" y="29"/>
                  <a:pt x="0" y="27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802312" y="3898900"/>
            <a:ext cx="1022350" cy="98425"/>
          </a:xfrm>
          <a:custGeom>
            <a:avLst/>
            <a:gdLst/>
            <a:ahLst/>
            <a:cxnLst/>
            <a:rect l="l" t="t" r="r" b="b"/>
            <a:pathLst>
              <a:path w="2841" h="272" extrusionOk="0">
                <a:moveTo>
                  <a:pt x="2840" y="271"/>
                </a:moveTo>
                <a:cubicBezTo>
                  <a:pt x="2089" y="227"/>
                  <a:pt x="1338" y="185"/>
                  <a:pt x="865" y="139"/>
                </a:cubicBezTo>
                <a:cubicBezTo>
                  <a:pt x="391" y="93"/>
                  <a:pt x="143" y="22"/>
                  <a:pt x="0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240337" y="3567112"/>
            <a:ext cx="552450" cy="325437"/>
          </a:xfrm>
          <a:custGeom>
            <a:avLst/>
            <a:gdLst/>
            <a:ahLst/>
            <a:cxnLst/>
            <a:rect l="l" t="t" r="r" b="b"/>
            <a:pathLst>
              <a:path w="1534" h="904" extrusionOk="0">
                <a:moveTo>
                  <a:pt x="1533" y="903"/>
                </a:moveTo>
                <a:cubicBezTo>
                  <a:pt x="1085" y="745"/>
                  <a:pt x="636" y="587"/>
                  <a:pt x="381" y="436"/>
                </a:cubicBezTo>
                <a:cubicBezTo>
                  <a:pt x="124" y="286"/>
                  <a:pt x="63" y="72"/>
                  <a:pt x="0" y="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5410200" y="3133725"/>
            <a:ext cx="609600" cy="128587"/>
          </a:xfrm>
          <a:custGeom>
            <a:avLst/>
            <a:gdLst/>
            <a:ahLst/>
            <a:cxnLst/>
            <a:rect l="l" t="t" r="r" b="b"/>
            <a:pathLst>
              <a:path w="1695" h="355" extrusionOk="0">
                <a:moveTo>
                  <a:pt x="1694" y="0"/>
                </a:moveTo>
                <a:cubicBezTo>
                  <a:pt x="988" y="147"/>
                  <a:pt x="282" y="295"/>
                  <a:pt x="0" y="354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5143500" y="3268662"/>
            <a:ext cx="288925" cy="352425"/>
          </a:xfrm>
          <a:custGeom>
            <a:avLst/>
            <a:gdLst/>
            <a:ahLst/>
            <a:cxnLst/>
            <a:rect l="l" t="t" r="r" b="b"/>
            <a:pathLst>
              <a:path w="804" h="981" extrusionOk="0">
                <a:moveTo>
                  <a:pt x="803" y="0"/>
                </a:moveTo>
                <a:cubicBezTo>
                  <a:pt x="568" y="114"/>
                  <a:pt x="334" y="228"/>
                  <a:pt x="200" y="392"/>
                </a:cubicBezTo>
                <a:cubicBezTo>
                  <a:pt x="66" y="555"/>
                  <a:pt x="33" y="882"/>
                  <a:pt x="0" y="98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733675" y="3560762"/>
            <a:ext cx="433387" cy="352425"/>
          </a:xfrm>
          <a:prstGeom prst="ellipse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8"/>
          <p:cNvCxnSpPr/>
          <p:nvPr/>
        </p:nvCxnSpPr>
        <p:spPr>
          <a:xfrm>
            <a:off x="2878137" y="3571875"/>
            <a:ext cx="217487" cy="1587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20" name="Google Shape;320;p8"/>
          <p:cNvSpPr/>
          <p:nvPr/>
        </p:nvSpPr>
        <p:spPr>
          <a:xfrm>
            <a:off x="3983037" y="3619500"/>
            <a:ext cx="1122362" cy="158750"/>
          </a:xfrm>
          <a:custGeom>
            <a:avLst/>
            <a:gdLst/>
            <a:ahLst/>
            <a:cxnLst/>
            <a:rect l="l" t="t" r="r" b="b"/>
            <a:pathLst>
              <a:path w="3117" h="443" extrusionOk="0">
                <a:moveTo>
                  <a:pt x="3116" y="0"/>
                </a:moveTo>
                <a:cubicBezTo>
                  <a:pt x="2336" y="109"/>
                  <a:pt x="1557" y="216"/>
                  <a:pt x="1036" y="289"/>
                </a:cubicBezTo>
                <a:cubicBezTo>
                  <a:pt x="517" y="363"/>
                  <a:pt x="172" y="416"/>
                  <a:pt x="0" y="442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2962275" y="3771900"/>
            <a:ext cx="1020762" cy="171450"/>
          </a:xfrm>
          <a:custGeom>
            <a:avLst/>
            <a:gdLst/>
            <a:ahLst/>
            <a:cxnLst/>
            <a:rect l="l" t="t" r="r" b="b"/>
            <a:pathLst>
              <a:path w="2837" h="477" extrusionOk="0">
                <a:moveTo>
                  <a:pt x="2836" y="0"/>
                </a:moveTo>
                <a:cubicBezTo>
                  <a:pt x="2168" y="106"/>
                  <a:pt x="1501" y="212"/>
                  <a:pt x="1028" y="292"/>
                </a:cubicBezTo>
                <a:cubicBezTo>
                  <a:pt x="555" y="370"/>
                  <a:pt x="171" y="445"/>
                  <a:pt x="0" y="476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 rot="-1320000">
            <a:off x="2905125" y="3898900"/>
            <a:ext cx="133350" cy="117475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 rot="-1320000">
            <a:off x="5114925" y="3530600"/>
            <a:ext cx="133350" cy="117475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/>
          <p:nvPr/>
        </p:nvSpPr>
        <p:spPr>
          <a:xfrm rot="-1320000">
            <a:off x="5937250" y="3084512"/>
            <a:ext cx="133350" cy="117475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 rot="-1320000">
            <a:off x="6791325" y="3911600"/>
            <a:ext cx="133350" cy="117475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/>
          <p:nvPr/>
        </p:nvSpPr>
        <p:spPr>
          <a:xfrm rot="-1320000">
            <a:off x="7400925" y="3340100"/>
            <a:ext cx="131762" cy="117475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304800" y="5638800"/>
            <a:ext cx="86868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may be several one-way lines in the same direction from one computer to another in the network.</a:t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914400" y="3768725"/>
            <a:ext cx="514350" cy="701675"/>
          </a:xfrm>
          <a:custGeom>
            <a:avLst/>
            <a:gdLst/>
            <a:ahLst/>
            <a:cxnLst/>
            <a:rect l="l" t="t" r="r" b="b"/>
            <a:pathLst>
              <a:path w="1430" h="1947" extrusionOk="0">
                <a:moveTo>
                  <a:pt x="232" y="0"/>
                </a:moveTo>
                <a:cubicBezTo>
                  <a:pt x="116" y="254"/>
                  <a:pt x="0" y="507"/>
                  <a:pt x="33" y="800"/>
                </a:cubicBezTo>
                <a:cubicBezTo>
                  <a:pt x="66" y="1093"/>
                  <a:pt x="199" y="1573"/>
                  <a:pt x="432" y="1760"/>
                </a:cubicBezTo>
                <a:cubicBezTo>
                  <a:pt x="665" y="1946"/>
                  <a:pt x="1263" y="1893"/>
                  <a:pt x="1429" y="1920"/>
                </a:cubicBezTo>
              </a:path>
            </a:pathLst>
          </a:custGeom>
          <a:noFill/>
          <a:ln w="28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8"/>
          <p:cNvCxnSpPr/>
          <p:nvPr/>
        </p:nvCxnSpPr>
        <p:spPr>
          <a:xfrm>
            <a:off x="925512" y="4092575"/>
            <a:ext cx="73025" cy="161925"/>
          </a:xfrm>
          <a:prstGeom prst="straightConnector1">
            <a:avLst/>
          </a:prstGeom>
          <a:noFill/>
          <a:ln w="284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30" name="Google Shape;330;p8"/>
          <p:cNvSpPr/>
          <p:nvPr/>
        </p:nvSpPr>
        <p:spPr>
          <a:xfrm rot="-1320000">
            <a:off x="923925" y="3686175"/>
            <a:ext cx="133350" cy="117475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 rot="-1320000">
            <a:off x="1304925" y="4408487"/>
            <a:ext cx="133350" cy="117475"/>
          </a:xfrm>
          <a:prstGeom prst="ellipse">
            <a:avLst/>
          </a:prstGeom>
          <a:solidFill>
            <a:srgbClr val="FFFFFF"/>
          </a:solidFill>
          <a:ln w="284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Directed Graphs</a:t>
            </a:r>
            <a:endParaRPr/>
          </a:p>
        </p:txBody>
      </p:sp>
      <p:grpSp>
        <p:nvGrpSpPr>
          <p:cNvPr id="338" name="Google Shape;338;p9"/>
          <p:cNvGrpSpPr/>
          <p:nvPr/>
        </p:nvGrpSpPr>
        <p:grpSpPr>
          <a:xfrm>
            <a:off x="533400" y="2286000"/>
            <a:ext cx="8001000" cy="3581400"/>
            <a:chOff x="336" y="1440"/>
            <a:chExt cx="5040" cy="2256"/>
          </a:xfrm>
        </p:grpSpPr>
        <p:sp>
          <p:nvSpPr>
            <p:cNvPr id="339" name="Google Shape;339;p9"/>
            <p:cNvSpPr/>
            <p:nvPr/>
          </p:nvSpPr>
          <p:spPr>
            <a:xfrm>
              <a:off x="336" y="1440"/>
              <a:ext cx="5040" cy="2256"/>
            </a:xfrm>
            <a:prstGeom prst="ellipse">
              <a:avLst/>
            </a:prstGeom>
            <a:solidFill>
              <a:srgbClr val="99CC00"/>
            </a:solidFill>
            <a:ln w="126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644" y="1944"/>
              <a:ext cx="1210" cy="528"/>
            </a:xfrm>
            <a:prstGeom prst="roundRect">
              <a:avLst>
                <a:gd name="adj" fmla="val 41"/>
              </a:avLst>
            </a:prstGeom>
            <a:noFill/>
            <a:ln>
              <a:noFill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ctr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lang="en-US" sz="2800" b="0" i="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Directed</a:t>
              </a:r>
              <a:endParaRPr/>
            </a:p>
            <a:p>
              <a:pPr marL="0" marR="0" lvl="0" indent="0" algn="ctr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lang="en-US" sz="2800" b="0" i="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Multigraphs</a:t>
              </a:r>
              <a:endParaRPr/>
            </a:p>
          </p:txBody>
        </p:sp>
      </p:grpSp>
      <p:grpSp>
        <p:nvGrpSpPr>
          <p:cNvPr id="341" name="Google Shape;341;p9"/>
          <p:cNvGrpSpPr/>
          <p:nvPr/>
        </p:nvGrpSpPr>
        <p:grpSpPr>
          <a:xfrm>
            <a:off x="3138487" y="2743200"/>
            <a:ext cx="5105400" cy="2667000"/>
            <a:chOff x="1977" y="1728"/>
            <a:chExt cx="3216" cy="1680"/>
          </a:xfrm>
        </p:grpSpPr>
        <p:sp>
          <p:nvSpPr>
            <p:cNvPr id="342" name="Google Shape;342;p9"/>
            <p:cNvSpPr/>
            <p:nvPr/>
          </p:nvSpPr>
          <p:spPr>
            <a:xfrm>
              <a:off x="1977" y="1728"/>
              <a:ext cx="3216" cy="1680"/>
            </a:xfrm>
            <a:prstGeom prst="ellipse">
              <a:avLst/>
            </a:prstGeom>
            <a:solidFill>
              <a:srgbClr val="CCFF99"/>
            </a:solidFill>
            <a:ln w="126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2834" y="2445"/>
              <a:ext cx="1589" cy="294"/>
            </a:xfrm>
            <a:prstGeom prst="roundRect">
              <a:avLst>
                <a:gd name="adj" fmla="val 75"/>
              </a:avLst>
            </a:prstGeom>
            <a:noFill/>
            <a:ln>
              <a:noFill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ctr" rtl="0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lang="en-US" sz="2800" b="0" i="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Directed Graphs</a:t>
              </a:r>
              <a:endParaRPr/>
            </a:p>
          </p:txBody>
        </p:sp>
      </p:grpSp>
    </p:spTree>
  </p:cSld>
  <p:clrMapOvr>
    <a:masterClrMapping/>
  </p:clrMapOvr>
  <p:transition spd="slow" advTm="1024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31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Models</a:t>
            </a:r>
            <a:endParaRPr/>
          </a:p>
        </p:txBody>
      </p:sp>
      <p:sp>
        <p:nvSpPr>
          <p:cNvPr id="350" name="Google Shape;350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31187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can be used to model structures, sequences, and other relationships.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ecological niche overlay graph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Species are represented by vertices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two species compete for food, they are connected by a vertex</a:t>
            </a:r>
            <a:endParaRPr/>
          </a:p>
        </p:txBody>
      </p:sp>
    </p:spTree>
  </p:cSld>
  <p:clrMapOvr>
    <a:masterClrMapping/>
  </p:clrMapOvr>
  <p:transition spd="slow" advTm="1024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Niche Overlay Graph</a:t>
            </a:r>
            <a:endParaRPr/>
          </a:p>
        </p:txBody>
      </p:sp>
      <p:pic>
        <p:nvPicPr>
          <p:cNvPr id="357" name="Google Shape;357;p11" descr="09_1_0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47800" y="1143000"/>
            <a:ext cx="6477000" cy="5561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1024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Acquaintanceship Graph</a:t>
            </a:r>
            <a:endParaRPr/>
          </a:p>
        </p:txBody>
      </p:sp>
      <p:pic>
        <p:nvPicPr>
          <p:cNvPr id="364" name="Google Shape;364;p12" descr="09_1_0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66800"/>
            <a:ext cx="8610600" cy="5059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1024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Influence Graph</a:t>
            </a:r>
            <a:endParaRPr/>
          </a:p>
        </p:txBody>
      </p:sp>
      <p:pic>
        <p:nvPicPr>
          <p:cNvPr id="371" name="Google Shape;371;p13" descr="09_1_0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295400"/>
            <a:ext cx="7772400" cy="534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1024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Round-Robin Tournament Graph</a:t>
            </a:r>
            <a:endParaRPr/>
          </a:p>
        </p:txBody>
      </p:sp>
      <p:pic>
        <p:nvPicPr>
          <p:cNvPr id="378" name="Google Shape;378;p14" descr="09_1_0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1143000"/>
            <a:ext cx="5943600" cy="533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1024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Graphs</a:t>
            </a:r>
            <a:endParaRPr/>
          </a:p>
        </p:txBody>
      </p:sp>
      <p:pic>
        <p:nvPicPr>
          <p:cNvPr id="385" name="Google Shape;385;p15" descr="09_1_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447800"/>
            <a:ext cx="87630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5"/>
          <p:cNvSpPr txBox="1"/>
          <p:nvPr/>
        </p:nvSpPr>
        <p:spPr>
          <a:xfrm>
            <a:off x="152400" y="4648200"/>
            <a:ext cx="8839200" cy="201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 (a) represents calls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telephone number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another.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 (b) represents called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two numbers.</a:t>
            </a:r>
            <a:endParaRPr/>
          </a:p>
        </p:txBody>
      </p:sp>
    </p:spTree>
  </p:cSld>
  <p:clrMapOvr>
    <a:masterClrMapping/>
  </p:clrMapOvr>
  <p:transition spd="slow" advTm="1024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Graphs</a:t>
            </a:r>
            <a:endParaRPr/>
          </a:p>
        </p:txBody>
      </p:sp>
      <p:sp>
        <p:nvSpPr>
          <p:cNvPr id="393" name="Google Shape;393;p16"/>
          <p:cNvSpPr txBox="1"/>
          <p:nvPr/>
        </p:nvSpPr>
        <p:spPr>
          <a:xfrm>
            <a:off x="6172200" y="1981200"/>
            <a:ext cx="2590800" cy="436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concurrent processing, some statements must be executed before other statements.  A precedence graph represents these relationships.</a:t>
            </a:r>
            <a:endParaRPr/>
          </a:p>
        </p:txBody>
      </p:sp>
      <p:pic>
        <p:nvPicPr>
          <p:cNvPr id="394" name="Google Shape;394;p16" descr="09_1_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295400"/>
            <a:ext cx="5486400" cy="5119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1024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31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Hollywood Graph</a:t>
            </a:r>
            <a:endParaRPr/>
          </a:p>
        </p:txBody>
      </p:sp>
      <p:sp>
        <p:nvSpPr>
          <p:cNvPr id="401" name="Google Shape;401;p17"/>
          <p:cNvSpPr txBox="1">
            <a:spLocks noGrp="1"/>
          </p:cNvSpPr>
          <p:nvPr>
            <p:ph type="body" idx="1"/>
          </p:nvPr>
        </p:nvSpPr>
        <p:spPr>
          <a:xfrm>
            <a:off x="304800" y="1600200"/>
            <a:ext cx="8610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Hollywood graph: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–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 represent actors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–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 represent the fact that the two actors have worked together on some movie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of October 2007, this graph had 893,283 vertices, and over 20 million edges.</a:t>
            </a:r>
            <a:endParaRPr/>
          </a:p>
        </p:txBody>
      </p:sp>
    </p:spTree>
  </p:cSld>
  <p:clrMapOvr>
    <a:masterClrMapping/>
  </p:clrMapOvr>
  <p:transition spd="slow" advTm="1024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8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31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Shortest-path Algorithms</a:t>
            </a:r>
            <a:endParaRPr/>
          </a:p>
        </p:txBody>
      </p:sp>
      <p:sp>
        <p:nvSpPr>
          <p:cNvPr id="408" name="Google Shape;408;p18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8610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decade or so ago a game called "Six Degrees of Kevin Bacon" was popular on college campuses.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idea, based on the idea that “it’s a small world”, was to try to find the fewest number of connections to link any other actor with Kevin Bacon. 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was discovered that you could connect Kevin Bacon with just about any other actor in 6 links or so.</a:t>
            </a:r>
            <a:endParaRPr/>
          </a:p>
        </p:txBody>
      </p:sp>
    </p:spTree>
  </p:cSld>
  <p:clrMapOvr>
    <a:masterClrMapping/>
  </p:clrMapOvr>
  <p:transition spd="slow" advTm="1024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31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Bacon Numbers</a:t>
            </a:r>
            <a:endParaRPr/>
          </a:p>
        </p:txBody>
      </p:sp>
      <p:sp>
        <p:nvSpPr>
          <p:cNvPr id="415" name="Google Shape;415;p19"/>
          <p:cNvSpPr txBox="1">
            <a:spLocks noGrp="1"/>
          </p:cNvSpPr>
          <p:nvPr>
            <p:ph type="body" idx="1"/>
          </p:nvPr>
        </p:nvSpPr>
        <p:spPr>
          <a:xfrm>
            <a:off x="228600" y="16002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Hollywood Graph, the Bacon Number of an actor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defined as the </a:t>
            </a:r>
            <a:r>
              <a:rPr lang="en-US" sz="3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the shortest path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connecting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actor Kevin Bacon.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average Kevin Bacon number is 2.957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more information, see the Oracle of Bacon website at the University of Virginia Computer Science Department.</a:t>
            </a:r>
            <a:endParaRPr/>
          </a:p>
        </p:txBody>
      </p:sp>
    </p:spTree>
  </p:cSld>
  <p:clrMapOvr>
    <a:masterClrMapping/>
  </p:clrMapOvr>
  <p:transition spd="slow" advTm="1024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Bacon Numbers</a:t>
            </a:r>
            <a:endParaRPr/>
          </a:p>
        </p:txBody>
      </p:sp>
      <p:graphicFrame>
        <p:nvGraphicFramePr>
          <p:cNvPr id="422" name="Google Shape;422;p20"/>
          <p:cNvGraphicFramePr/>
          <p:nvPr/>
        </p:nvGraphicFramePr>
        <p:xfrm>
          <a:off x="381000" y="107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{4E7F91D6-0CE9-4F42-9FCE-EE9CB4E48189}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Kevin Bacon Number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People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(Kevin Bacon himself)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2030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190213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557245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133450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9232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958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137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1024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1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31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Shortest-path Algorithms</a:t>
            </a:r>
            <a:endParaRPr/>
          </a:p>
        </p:txBody>
      </p:sp>
      <p:sp>
        <p:nvSpPr>
          <p:cNvPr id="429" name="Google Shape;429;p21"/>
          <p:cNvSpPr txBox="1">
            <a:spLocks noGrp="1"/>
          </p:cNvSpPr>
          <p:nvPr>
            <p:ph type="body" idx="1"/>
          </p:nvPr>
        </p:nvSpPr>
        <p:spPr>
          <a:xfrm>
            <a:off x="304800" y="1600200"/>
            <a:ext cx="8610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an efficient program for finding the shortest path in a graph is an important optimizing task in Computer Science.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futher information about shortest-path algorithms, take CSE 4833, or read the course textbook,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Algorithms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Cormen, Leiserson, Rivest, and Stein. </a:t>
            </a:r>
            <a:endParaRPr/>
          </a:p>
        </p:txBody>
      </p:sp>
    </p:spTree>
  </p:cSld>
  <p:clrMapOvr>
    <a:masterClrMapping/>
  </p:clrMapOvr>
  <p:transition spd="slow" advTm="1024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2"/>
          <p:cNvSpPr txBox="1"/>
          <p:nvPr/>
        </p:nvSpPr>
        <p:spPr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/>
          </a:p>
        </p:txBody>
      </p:sp>
      <p:graphicFrame>
        <p:nvGraphicFramePr>
          <p:cNvPr id="436" name="Google Shape;436;p22"/>
          <p:cNvGraphicFramePr/>
          <p:nvPr/>
        </p:nvGraphicFramePr>
        <p:xfrm>
          <a:off x="2286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{4E7F91D6-0CE9-4F42-9FCE-EE9CB4E48189}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Loops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Edges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Graph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Undirected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Multigraph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Undirected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2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Pseudograph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Undirected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Directed Graph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1024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103</a:t>
            </a:r>
            <a:b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Structures</a:t>
            </a:r>
            <a:endParaRPr/>
          </a:p>
        </p:txBody>
      </p:sp>
      <p:sp>
        <p:nvSpPr>
          <p:cNvPr id="442" name="Google Shape;442;p23"/>
          <p:cNvSpPr txBox="1">
            <a:spLocks noGrp="1"/>
          </p:cNvSpPr>
          <p:nvPr>
            <p:ph type="body" idx="1"/>
          </p:nvPr>
        </p:nvSpPr>
        <p:spPr>
          <a:xfrm>
            <a:off x="457200" y="20574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Terminology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These class notes are based on material from our textbook,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and Its Applications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</a:t>
            </a:r>
            <a:r>
              <a:rPr lang="en-US" sz="28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ed., by Kenneth H. Rosen, published by McGraw Hill, Boston, MA, 2006.  They are intended for classroom use only and are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substitute for reading the textbook.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"/>
          <p:cNvSpPr txBox="1">
            <a:spLocks noGrp="1"/>
          </p:cNvSpPr>
          <p:nvPr>
            <p:ph type="title"/>
          </p:nvPr>
        </p:nvSpPr>
        <p:spPr>
          <a:xfrm>
            <a:off x="152400" y="209550"/>
            <a:ext cx="87630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Vertices in Undirected Graphs</a:t>
            </a:r>
            <a:endParaRPr/>
          </a:p>
        </p:txBody>
      </p:sp>
      <p:sp>
        <p:nvSpPr>
          <p:cNvPr id="448" name="Google Shape;448;p24"/>
          <p:cNvSpPr txBox="1">
            <a:spLocks noGrp="1"/>
          </p:cNvSpPr>
          <p:nvPr>
            <p:ph type="body" idx="1"/>
          </p:nvPr>
        </p:nvSpPr>
        <p:spPr>
          <a:xfrm>
            <a:off x="152400" y="1828800"/>
            <a:ext cx="8839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vertices,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an undirected graph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called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 neighbors) in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if {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is an edge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edge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connecting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called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vertices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is said to </a:t>
            </a:r>
            <a:r>
              <a:rPr lang="en-US" sz="3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vertices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called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endpoints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edge {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 of a Vertex</a:t>
            </a:r>
            <a:endParaRPr/>
          </a:p>
        </p:txBody>
      </p:sp>
      <p:sp>
        <p:nvSpPr>
          <p:cNvPr id="454" name="Google Shape;454;p25"/>
          <p:cNvSpPr txBox="1">
            <a:spLocks noGrp="1"/>
          </p:cNvSpPr>
          <p:nvPr>
            <p:ph type="body" idx="1"/>
          </p:nvPr>
        </p:nvSpPr>
        <p:spPr>
          <a:xfrm>
            <a:off x="152400" y="1600200"/>
            <a:ext cx="87630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 of a vertex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an undirected graph is the number of edges incident with it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–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 that a loop at a vertex contributes twice to the degree of that vertex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degree of a vertex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denoted by </a:t>
            </a: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deg(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460" name="Google Shape;460;p26"/>
          <p:cNvSpPr txBox="1">
            <a:spLocks noGrp="1"/>
          </p:cNvSpPr>
          <p:nvPr>
            <p:ph type="body" idx="1"/>
          </p:nvPr>
        </p:nvSpPr>
        <p:spPr>
          <a:xfrm>
            <a:off x="457200" y="4281487"/>
            <a:ext cx="8229600" cy="227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degrees of all the vertices: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deg(a) = 2, deg(b) = 6, deg(c) = 4, deg(d) = 1,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deg(e) = 0, deg(f) = 3, deg(g) = 4</a:t>
            </a:r>
            <a:endParaRPr/>
          </a:p>
        </p:txBody>
      </p:sp>
      <p:grpSp>
        <p:nvGrpSpPr>
          <p:cNvPr id="461" name="Google Shape;461;p26"/>
          <p:cNvGrpSpPr/>
          <p:nvPr/>
        </p:nvGrpSpPr>
        <p:grpSpPr>
          <a:xfrm>
            <a:off x="1828800" y="1143000"/>
            <a:ext cx="4259262" cy="2936875"/>
            <a:chOff x="1616" y="1071"/>
            <a:chExt cx="1979" cy="1251"/>
          </a:xfrm>
        </p:grpSpPr>
        <p:cxnSp>
          <p:nvCxnSpPr>
            <p:cNvPr id="462" name="Google Shape;462;p26"/>
            <p:cNvCxnSpPr/>
            <p:nvPr/>
          </p:nvCxnSpPr>
          <p:spPr>
            <a:xfrm rot="10800000">
              <a:off x="2960" y="1442"/>
              <a:ext cx="52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63" name="Google Shape;463;p26"/>
            <p:cNvSpPr/>
            <p:nvPr/>
          </p:nvSpPr>
          <p:spPr>
            <a:xfrm>
              <a:off x="2352" y="1419"/>
              <a:ext cx="69" cy="69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4" name="Google Shape;464;p26"/>
            <p:cNvCxnSpPr/>
            <p:nvPr/>
          </p:nvCxnSpPr>
          <p:spPr>
            <a:xfrm>
              <a:off x="2400" y="1488"/>
              <a:ext cx="0" cy="62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65" name="Google Shape;465;p26"/>
            <p:cNvSpPr/>
            <p:nvPr/>
          </p:nvSpPr>
          <p:spPr>
            <a:xfrm>
              <a:off x="2352" y="2091"/>
              <a:ext cx="69" cy="69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2912" y="1394"/>
              <a:ext cx="69" cy="69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7" name="Google Shape;467;p26"/>
            <p:cNvCxnSpPr/>
            <p:nvPr/>
          </p:nvCxnSpPr>
          <p:spPr>
            <a:xfrm>
              <a:off x="2960" y="1440"/>
              <a:ext cx="0" cy="67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68" name="Google Shape;468;p26"/>
            <p:cNvSpPr/>
            <p:nvPr/>
          </p:nvSpPr>
          <p:spPr>
            <a:xfrm>
              <a:off x="2912" y="2074"/>
              <a:ext cx="69" cy="69"/>
            </a:xfrm>
            <a:prstGeom prst="ellipse">
              <a:avLst/>
            </a:pr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3440" y="1394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0" name="Google Shape;470;p26"/>
            <p:cNvCxnSpPr/>
            <p:nvPr/>
          </p:nvCxnSpPr>
          <p:spPr>
            <a:xfrm rot="10800000">
              <a:off x="2696" y="1850"/>
              <a:ext cx="0" cy="52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71" name="Google Shape;471;p26"/>
            <p:cNvSpPr/>
            <p:nvPr/>
          </p:nvSpPr>
          <p:spPr>
            <a:xfrm>
              <a:off x="3440" y="2074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2" name="Google Shape;472;p26"/>
            <p:cNvCxnSpPr/>
            <p:nvPr/>
          </p:nvCxnSpPr>
          <p:spPr>
            <a:xfrm>
              <a:off x="2400" y="1442"/>
              <a:ext cx="518" cy="62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3" name="Google Shape;473;p26"/>
            <p:cNvCxnSpPr/>
            <p:nvPr/>
          </p:nvCxnSpPr>
          <p:spPr>
            <a:xfrm flipH="1">
              <a:off x="2400" y="1440"/>
              <a:ext cx="528" cy="62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74" name="Google Shape;474;p26"/>
            <p:cNvSpPr txBox="1"/>
            <p:nvPr/>
          </p:nvSpPr>
          <p:spPr>
            <a:xfrm>
              <a:off x="1616" y="2127"/>
              <a:ext cx="209" cy="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cxnSp>
          <p:nvCxnSpPr>
            <p:cNvPr id="475" name="Google Shape;475;p26"/>
            <p:cNvCxnSpPr/>
            <p:nvPr/>
          </p:nvCxnSpPr>
          <p:spPr>
            <a:xfrm>
              <a:off x="2384" y="1442"/>
              <a:ext cx="57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76" name="Google Shape;476;p26"/>
            <p:cNvSpPr/>
            <p:nvPr/>
          </p:nvSpPr>
          <p:spPr>
            <a:xfrm>
              <a:off x="2240" y="1152"/>
              <a:ext cx="288" cy="288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7" name="Google Shape;477;p26"/>
            <p:cNvCxnSpPr/>
            <p:nvPr/>
          </p:nvCxnSpPr>
          <p:spPr>
            <a:xfrm rot="10800000">
              <a:off x="2088" y="1850"/>
              <a:ext cx="0" cy="52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78" name="Google Shape;478;p26"/>
            <p:cNvSpPr/>
            <p:nvPr/>
          </p:nvSpPr>
          <p:spPr>
            <a:xfrm>
              <a:off x="1755" y="2064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9" name="Google Shape;479;p26"/>
            <p:cNvCxnSpPr/>
            <p:nvPr/>
          </p:nvCxnSpPr>
          <p:spPr>
            <a:xfrm flipH="1">
              <a:off x="1808" y="1490"/>
              <a:ext cx="576" cy="57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80" name="Google Shape;480;p26"/>
            <p:cNvSpPr txBox="1"/>
            <p:nvPr/>
          </p:nvSpPr>
          <p:spPr>
            <a:xfrm>
              <a:off x="1952" y="1320"/>
              <a:ext cx="206" cy="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sp>
          <p:nvSpPr>
            <p:cNvPr id="481" name="Google Shape;481;p26"/>
            <p:cNvSpPr txBox="1"/>
            <p:nvPr/>
          </p:nvSpPr>
          <p:spPr>
            <a:xfrm>
              <a:off x="2288" y="2127"/>
              <a:ext cx="201" cy="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endParaRPr/>
            </a:p>
          </p:txBody>
        </p:sp>
        <p:sp>
          <p:nvSpPr>
            <p:cNvPr id="482" name="Google Shape;482;p26"/>
            <p:cNvSpPr txBox="1"/>
            <p:nvPr/>
          </p:nvSpPr>
          <p:spPr>
            <a:xfrm>
              <a:off x="3335" y="2127"/>
              <a:ext cx="198" cy="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483" name="Google Shape;483;p26"/>
            <p:cNvSpPr txBox="1"/>
            <p:nvPr/>
          </p:nvSpPr>
          <p:spPr>
            <a:xfrm>
              <a:off x="2844" y="1071"/>
              <a:ext cx="189" cy="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484" name="Google Shape;484;p26"/>
            <p:cNvSpPr txBox="1"/>
            <p:nvPr/>
          </p:nvSpPr>
          <p:spPr>
            <a:xfrm>
              <a:off x="3383" y="1071"/>
              <a:ext cx="212" cy="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485" name="Google Shape;485;p26"/>
            <p:cNvSpPr txBox="1"/>
            <p:nvPr/>
          </p:nvSpPr>
          <p:spPr>
            <a:xfrm>
              <a:off x="2855" y="2112"/>
              <a:ext cx="169" cy="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f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7"/>
          <p:cNvSpPr txBox="1">
            <a:spLocks noGrp="1"/>
          </p:cNvSpPr>
          <p:nvPr>
            <p:ph type="title"/>
          </p:nvPr>
        </p:nvSpPr>
        <p:spPr>
          <a:xfrm>
            <a:off x="152400" y="222250"/>
            <a:ext cx="8763000" cy="84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Vertices in Directed Graphs</a:t>
            </a:r>
            <a:endParaRPr/>
          </a:p>
        </p:txBody>
      </p:sp>
      <p:sp>
        <p:nvSpPr>
          <p:cNvPr id="491" name="Google Shape;491;p27"/>
          <p:cNvSpPr txBox="1">
            <a:spLocks noGrp="1"/>
          </p:cNvSpPr>
          <p:nvPr>
            <p:ph type="body" idx="1"/>
          </p:nvPr>
        </p:nvSpPr>
        <p:spPr>
          <a:xfrm>
            <a:off x="228600" y="1600200"/>
            <a:ext cx="86868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an edge of a directed graph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said to be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to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said to be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from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grpSp>
        <p:nvGrpSpPr>
          <p:cNvPr id="492" name="Google Shape;492;p27"/>
          <p:cNvGrpSpPr/>
          <p:nvPr/>
        </p:nvGrpSpPr>
        <p:grpSpPr>
          <a:xfrm>
            <a:off x="965200" y="4025900"/>
            <a:ext cx="7772400" cy="1739900"/>
            <a:chOff x="432" y="2488"/>
            <a:chExt cx="4896" cy="1096"/>
          </a:xfrm>
        </p:grpSpPr>
        <p:cxnSp>
          <p:nvCxnSpPr>
            <p:cNvPr id="493" name="Google Shape;493;p27"/>
            <p:cNvCxnSpPr/>
            <p:nvPr/>
          </p:nvCxnSpPr>
          <p:spPr>
            <a:xfrm rot="10800000" flipH="1">
              <a:off x="1816" y="2800"/>
              <a:ext cx="480" cy="43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med" len="med"/>
            </a:ln>
          </p:spPr>
        </p:cxnSp>
        <p:cxnSp>
          <p:nvCxnSpPr>
            <p:cNvPr id="494" name="Google Shape;494;p27"/>
            <p:cNvCxnSpPr/>
            <p:nvPr/>
          </p:nvCxnSpPr>
          <p:spPr>
            <a:xfrm>
              <a:off x="2608" y="2800"/>
              <a:ext cx="624" cy="43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495" name="Google Shape;495;p27"/>
            <p:cNvSpPr txBox="1"/>
            <p:nvPr/>
          </p:nvSpPr>
          <p:spPr>
            <a:xfrm>
              <a:off x="432" y="3256"/>
              <a:ext cx="4896" cy="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no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0" i="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		</a:t>
              </a:r>
              <a:r>
                <a:rPr lang="en-US" sz="3200" b="0" i="0" u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initial vertex	terminal vertex</a:t>
              </a:r>
              <a:endParaRPr/>
            </a:p>
          </p:txBody>
        </p:sp>
        <p:sp>
          <p:nvSpPr>
            <p:cNvPr id="496" name="Google Shape;496;p27"/>
            <p:cNvSpPr txBox="1"/>
            <p:nvPr/>
          </p:nvSpPr>
          <p:spPr>
            <a:xfrm>
              <a:off x="2112" y="2488"/>
              <a:ext cx="728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2800" b="0" i="1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</a:t>
              </a:r>
              <a:r>
                <a:rPr lang="en-US" sz="2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800" b="0" i="1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8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 of a Vertex</a:t>
            </a:r>
            <a:endParaRPr/>
          </a:p>
        </p:txBody>
      </p:sp>
      <p:sp>
        <p:nvSpPr>
          <p:cNvPr id="502" name="Google Shape;502;p28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Char char="•"/>
            </a:pPr>
            <a:r>
              <a:rPr lang="en-US" sz="3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In-degree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vertex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vertices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to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(the number of edges with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their </a:t>
            </a:r>
            <a:r>
              <a:rPr lang="en-US" sz="28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terminal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vertex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Denoted by deg</a:t>
            </a:r>
            <a:r>
              <a:rPr lang="en-US" sz="28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Char char="•"/>
            </a:pPr>
            <a:r>
              <a:rPr lang="en-US" sz="3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vertex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vertices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from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(the number of edges with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their </a:t>
            </a:r>
            <a:r>
              <a:rPr lang="en-US" sz="28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vertex)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Denoted by deg</a:t>
            </a:r>
            <a:r>
              <a:rPr lang="en-US" sz="28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loop at a vertex contributes 1 to both the in-degree and out-degree.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pic>
        <p:nvPicPr>
          <p:cNvPr id="508" name="Google Shape;508;p29" descr="09_2_0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447800"/>
            <a:ext cx="7315200" cy="5129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30"/>
          <p:cNvGrpSpPr/>
          <p:nvPr/>
        </p:nvGrpSpPr>
        <p:grpSpPr>
          <a:xfrm>
            <a:off x="1784581" y="1219200"/>
            <a:ext cx="4768619" cy="2647950"/>
            <a:chOff x="1363" y="1068"/>
            <a:chExt cx="3157" cy="1837"/>
          </a:xfrm>
        </p:grpSpPr>
        <p:cxnSp>
          <p:nvCxnSpPr>
            <p:cNvPr id="514" name="Google Shape;514;p30"/>
            <p:cNvCxnSpPr/>
            <p:nvPr/>
          </p:nvCxnSpPr>
          <p:spPr>
            <a:xfrm>
              <a:off x="1727" y="1440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515" name="Google Shape;515;p30"/>
            <p:cNvCxnSpPr/>
            <p:nvPr/>
          </p:nvCxnSpPr>
          <p:spPr>
            <a:xfrm>
              <a:off x="2319" y="1440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16" name="Google Shape;516;p30"/>
            <p:cNvCxnSpPr/>
            <p:nvPr/>
          </p:nvCxnSpPr>
          <p:spPr>
            <a:xfrm rot="10800000">
              <a:off x="3479" y="1440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517" name="Google Shape;517;p30"/>
            <p:cNvCxnSpPr/>
            <p:nvPr/>
          </p:nvCxnSpPr>
          <p:spPr>
            <a:xfrm rot="10800000">
              <a:off x="2919" y="1440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518" name="Google Shape;518;p30"/>
            <p:cNvSpPr/>
            <p:nvPr/>
          </p:nvSpPr>
          <p:spPr>
            <a:xfrm>
              <a:off x="2863" y="1400"/>
              <a:ext cx="86" cy="86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1695" y="1392"/>
              <a:ext cx="86" cy="86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039" y="1392"/>
              <a:ext cx="86" cy="86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1695" y="2560"/>
              <a:ext cx="86" cy="86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2" name="Google Shape;522;p30"/>
            <p:cNvCxnSpPr/>
            <p:nvPr/>
          </p:nvCxnSpPr>
          <p:spPr>
            <a:xfrm rot="5400000">
              <a:off x="2615" y="1752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523" name="Google Shape;523;p30"/>
            <p:cNvCxnSpPr/>
            <p:nvPr/>
          </p:nvCxnSpPr>
          <p:spPr>
            <a:xfrm rot="5400000">
              <a:off x="2631" y="2328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524" name="Google Shape;524;p30"/>
            <p:cNvSpPr/>
            <p:nvPr/>
          </p:nvSpPr>
          <p:spPr>
            <a:xfrm>
              <a:off x="2871" y="2568"/>
              <a:ext cx="86" cy="86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4039" y="2568"/>
              <a:ext cx="86" cy="86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6" name="Google Shape;526;p30"/>
            <p:cNvCxnSpPr/>
            <p:nvPr/>
          </p:nvCxnSpPr>
          <p:spPr>
            <a:xfrm rot="10800000">
              <a:off x="3237" y="1871"/>
              <a:ext cx="0" cy="86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527" name="Google Shape;527;p30"/>
            <p:cNvCxnSpPr/>
            <p:nvPr/>
          </p:nvCxnSpPr>
          <p:spPr>
            <a:xfrm rot="10800000">
              <a:off x="3810" y="1300"/>
              <a:ext cx="0" cy="814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528" name="Google Shape;528;p30"/>
            <p:cNvSpPr/>
            <p:nvPr/>
          </p:nvSpPr>
          <p:spPr>
            <a:xfrm rot="-4740000">
              <a:off x="1410" y="1240"/>
              <a:ext cx="340" cy="344"/>
            </a:xfrm>
            <a:custGeom>
              <a:avLst/>
              <a:gdLst/>
              <a:ahLst/>
              <a:cxnLst/>
              <a:rect l="l" t="t" r="r" b="b"/>
              <a:pathLst>
                <a:path w="340" h="344" extrusionOk="0">
                  <a:moveTo>
                    <a:pt x="229" y="336"/>
                  </a:moveTo>
                  <a:cubicBezTo>
                    <a:pt x="269" y="308"/>
                    <a:pt x="310" y="280"/>
                    <a:pt x="325" y="240"/>
                  </a:cubicBezTo>
                  <a:cubicBezTo>
                    <a:pt x="340" y="200"/>
                    <a:pt x="337" y="133"/>
                    <a:pt x="317" y="96"/>
                  </a:cubicBezTo>
                  <a:cubicBezTo>
                    <a:pt x="297" y="59"/>
                    <a:pt x="242" y="29"/>
                    <a:pt x="205" y="16"/>
                  </a:cubicBezTo>
                  <a:cubicBezTo>
                    <a:pt x="168" y="3"/>
                    <a:pt x="125" y="0"/>
                    <a:pt x="93" y="16"/>
                  </a:cubicBezTo>
                  <a:cubicBezTo>
                    <a:pt x="61" y="32"/>
                    <a:pt x="26" y="73"/>
                    <a:pt x="13" y="112"/>
                  </a:cubicBezTo>
                  <a:cubicBezTo>
                    <a:pt x="0" y="151"/>
                    <a:pt x="0" y="212"/>
                    <a:pt x="13" y="248"/>
                  </a:cubicBezTo>
                  <a:cubicBezTo>
                    <a:pt x="26" y="284"/>
                    <a:pt x="72" y="312"/>
                    <a:pt x="93" y="328"/>
                  </a:cubicBezTo>
                  <a:cubicBezTo>
                    <a:pt x="114" y="344"/>
                    <a:pt x="133" y="341"/>
                    <a:pt x="141" y="344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0"/>
            <p:cNvSpPr/>
            <p:nvPr/>
          </p:nvSpPr>
          <p:spPr>
            <a:xfrm rot="-4740000">
              <a:off x="1394" y="2400"/>
              <a:ext cx="340" cy="344"/>
            </a:xfrm>
            <a:custGeom>
              <a:avLst/>
              <a:gdLst/>
              <a:ahLst/>
              <a:cxnLst/>
              <a:rect l="l" t="t" r="r" b="b"/>
              <a:pathLst>
                <a:path w="340" h="344" extrusionOk="0">
                  <a:moveTo>
                    <a:pt x="229" y="336"/>
                  </a:moveTo>
                  <a:cubicBezTo>
                    <a:pt x="269" y="308"/>
                    <a:pt x="310" y="280"/>
                    <a:pt x="325" y="240"/>
                  </a:cubicBezTo>
                  <a:cubicBezTo>
                    <a:pt x="340" y="200"/>
                    <a:pt x="337" y="133"/>
                    <a:pt x="317" y="96"/>
                  </a:cubicBezTo>
                  <a:cubicBezTo>
                    <a:pt x="297" y="59"/>
                    <a:pt x="242" y="29"/>
                    <a:pt x="205" y="16"/>
                  </a:cubicBezTo>
                  <a:cubicBezTo>
                    <a:pt x="168" y="3"/>
                    <a:pt x="125" y="0"/>
                    <a:pt x="93" y="16"/>
                  </a:cubicBezTo>
                  <a:cubicBezTo>
                    <a:pt x="61" y="32"/>
                    <a:pt x="26" y="73"/>
                    <a:pt x="13" y="112"/>
                  </a:cubicBezTo>
                  <a:cubicBezTo>
                    <a:pt x="0" y="151"/>
                    <a:pt x="0" y="212"/>
                    <a:pt x="13" y="248"/>
                  </a:cubicBezTo>
                  <a:cubicBezTo>
                    <a:pt x="26" y="284"/>
                    <a:pt x="72" y="312"/>
                    <a:pt x="93" y="328"/>
                  </a:cubicBezTo>
                  <a:cubicBezTo>
                    <a:pt x="114" y="344"/>
                    <a:pt x="133" y="341"/>
                    <a:pt x="141" y="344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0"/>
            <p:cNvSpPr/>
            <p:nvPr/>
          </p:nvSpPr>
          <p:spPr>
            <a:xfrm rot="4620000">
              <a:off x="4090" y="1216"/>
              <a:ext cx="340" cy="344"/>
            </a:xfrm>
            <a:custGeom>
              <a:avLst/>
              <a:gdLst/>
              <a:ahLst/>
              <a:cxnLst/>
              <a:rect l="l" t="t" r="r" b="b"/>
              <a:pathLst>
                <a:path w="340" h="344" extrusionOk="0">
                  <a:moveTo>
                    <a:pt x="229" y="336"/>
                  </a:moveTo>
                  <a:cubicBezTo>
                    <a:pt x="269" y="308"/>
                    <a:pt x="310" y="280"/>
                    <a:pt x="325" y="240"/>
                  </a:cubicBezTo>
                  <a:cubicBezTo>
                    <a:pt x="340" y="200"/>
                    <a:pt x="337" y="133"/>
                    <a:pt x="317" y="96"/>
                  </a:cubicBezTo>
                  <a:cubicBezTo>
                    <a:pt x="297" y="59"/>
                    <a:pt x="242" y="29"/>
                    <a:pt x="205" y="16"/>
                  </a:cubicBezTo>
                  <a:cubicBezTo>
                    <a:pt x="168" y="3"/>
                    <a:pt x="125" y="0"/>
                    <a:pt x="93" y="16"/>
                  </a:cubicBezTo>
                  <a:cubicBezTo>
                    <a:pt x="61" y="32"/>
                    <a:pt x="26" y="73"/>
                    <a:pt x="13" y="112"/>
                  </a:cubicBezTo>
                  <a:cubicBezTo>
                    <a:pt x="0" y="151"/>
                    <a:pt x="0" y="212"/>
                    <a:pt x="13" y="248"/>
                  </a:cubicBezTo>
                  <a:cubicBezTo>
                    <a:pt x="26" y="284"/>
                    <a:pt x="72" y="312"/>
                    <a:pt x="93" y="328"/>
                  </a:cubicBezTo>
                  <a:cubicBezTo>
                    <a:pt x="114" y="344"/>
                    <a:pt x="133" y="341"/>
                    <a:pt x="141" y="344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2895" y="1184"/>
              <a:ext cx="1176" cy="256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0"/>
            <p:cNvSpPr/>
            <p:nvPr/>
          </p:nvSpPr>
          <p:spPr>
            <a:xfrm flipH="1">
              <a:off x="1735" y="1184"/>
              <a:ext cx="1176" cy="256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0"/>
            <p:cNvSpPr/>
            <p:nvPr/>
          </p:nvSpPr>
          <p:spPr>
            <a:xfrm rot="10800000" flipH="1">
              <a:off x="2315" y="2600"/>
              <a:ext cx="588" cy="16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0"/>
            <p:cNvSpPr/>
            <p:nvPr/>
          </p:nvSpPr>
          <p:spPr>
            <a:xfrm rot="10800000">
              <a:off x="1735" y="2600"/>
              <a:ext cx="588" cy="16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0"/>
            <p:cNvSpPr/>
            <p:nvPr/>
          </p:nvSpPr>
          <p:spPr>
            <a:xfrm flipH="1">
              <a:off x="1735" y="2456"/>
              <a:ext cx="588" cy="16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2315" y="2456"/>
              <a:ext cx="588" cy="16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0"/>
            <p:cNvSpPr/>
            <p:nvPr/>
          </p:nvSpPr>
          <p:spPr>
            <a:xfrm rot="5400000">
              <a:off x="1549" y="2206"/>
              <a:ext cx="556" cy="168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0"/>
            <p:cNvSpPr/>
            <p:nvPr/>
          </p:nvSpPr>
          <p:spPr>
            <a:xfrm rot="5400000" flipH="1">
              <a:off x="1549" y="1658"/>
              <a:ext cx="556" cy="168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0"/>
            <p:cNvSpPr/>
            <p:nvPr/>
          </p:nvSpPr>
          <p:spPr>
            <a:xfrm rot="-5400000" flipH="1">
              <a:off x="1380" y="2181"/>
              <a:ext cx="556" cy="168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0"/>
            <p:cNvSpPr/>
            <p:nvPr/>
          </p:nvSpPr>
          <p:spPr>
            <a:xfrm rot="-5400000">
              <a:off x="1380" y="1633"/>
              <a:ext cx="556" cy="168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0"/>
            <p:cNvSpPr txBox="1"/>
            <p:nvPr/>
          </p:nvSpPr>
          <p:spPr>
            <a:xfrm>
              <a:off x="1680" y="1068"/>
              <a:ext cx="2840" cy="1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                                    c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b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e                  d             f</a:t>
              </a:r>
              <a:endParaRPr/>
            </a:p>
          </p:txBody>
        </p:sp>
      </p:grpSp>
      <p:sp>
        <p:nvSpPr>
          <p:cNvPr id="542" name="Google Shape;542;p30"/>
          <p:cNvSpPr txBox="1"/>
          <p:nvPr/>
        </p:nvSpPr>
        <p:spPr>
          <a:xfrm>
            <a:off x="228600" y="3886200"/>
            <a:ext cx="86868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in-degrees and out-degrees of this digraph.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In-degrees: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= 2,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= 2,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= 3,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= 2,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(e) = 3,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(f) = 0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Out-degrees: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= 4,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= 1,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= 2,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= 2,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(e) = 3, deg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(f) = 0 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43" name="Google Shape;543;p30"/>
          <p:cNvSpPr txBox="1"/>
          <p:nvPr/>
        </p:nvSpPr>
        <p:spPr>
          <a:xfrm>
            <a:off x="228600" y="152400"/>
            <a:ext cx="8686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3</a:t>
            </a:r>
            <a:endParaRPr/>
          </a:p>
        </p:txBody>
      </p:sp>
      <p:sp>
        <p:nvSpPr>
          <p:cNvPr id="549" name="Google Shape;549;p31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4582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sum of the in-degrees of all vertices in a digraph = the sum of the out-degrees = the number of edges.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be a graph with directed edges.  Then: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0" name="Google Shape;550;p3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4876800"/>
            <a:ext cx="7543800" cy="1455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endParaRPr/>
          </a:p>
        </p:txBody>
      </p:sp>
      <p:sp>
        <p:nvSpPr>
          <p:cNvPr id="556" name="Google Shape;556;p32"/>
          <p:cNvSpPr txBox="1">
            <a:spLocks noGrp="1"/>
          </p:cNvSpPr>
          <p:nvPr>
            <p:ph type="body" idx="1"/>
          </p:nvPr>
        </p:nvSpPr>
        <p:spPr>
          <a:xfrm>
            <a:off x="381000" y="3505200"/>
            <a:ext cx="83820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the simple graph that contains exactly one edge between each pair of distinct vertices.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figures above represent the complete graphs,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for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1, 2, 3, 4, 5, and 6.</a:t>
            </a:r>
            <a:endParaRPr/>
          </a:p>
        </p:txBody>
      </p:sp>
      <p:pic>
        <p:nvPicPr>
          <p:cNvPr id="557" name="Google Shape;557;p32" descr="09_2_0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219200"/>
            <a:ext cx="8686800" cy="1922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</a:t>
            </a:r>
            <a:endParaRPr/>
          </a:p>
        </p:txBody>
      </p:sp>
      <p:sp>
        <p:nvSpPr>
          <p:cNvPr id="563" name="Google Shape;563;p33"/>
          <p:cNvSpPr txBox="1">
            <a:spLocks noGrp="1"/>
          </p:cNvSpPr>
          <p:nvPr>
            <p:ph type="body" idx="1"/>
          </p:nvPr>
        </p:nvSpPr>
        <p:spPr>
          <a:xfrm>
            <a:off x="152400" y="1219200"/>
            <a:ext cx="8686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3), consists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edges {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{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…, {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and {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}.</a:t>
            </a:r>
            <a:endParaRPr/>
          </a:p>
        </p:txBody>
      </p:sp>
      <p:grpSp>
        <p:nvGrpSpPr>
          <p:cNvPr id="564" name="Google Shape;564;p33"/>
          <p:cNvGrpSpPr/>
          <p:nvPr/>
        </p:nvGrpSpPr>
        <p:grpSpPr>
          <a:xfrm>
            <a:off x="977900" y="3949700"/>
            <a:ext cx="1555750" cy="1963737"/>
            <a:chOff x="616" y="2488"/>
            <a:chExt cx="980" cy="1237"/>
          </a:xfrm>
        </p:grpSpPr>
        <p:sp>
          <p:nvSpPr>
            <p:cNvPr id="565" name="Google Shape;565;p33"/>
            <p:cNvSpPr/>
            <p:nvPr/>
          </p:nvSpPr>
          <p:spPr>
            <a:xfrm>
              <a:off x="616" y="320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1072" y="24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1504" y="320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656" y="2560"/>
              <a:ext cx="920" cy="72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3"/>
            <p:cNvSpPr txBox="1"/>
            <p:nvPr/>
          </p:nvSpPr>
          <p:spPr>
            <a:xfrm>
              <a:off x="1037" y="3437"/>
              <a:ext cx="33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3</a:t>
              </a:r>
              <a:endParaRPr/>
            </a:p>
          </p:txBody>
        </p:sp>
      </p:grpSp>
      <p:grpSp>
        <p:nvGrpSpPr>
          <p:cNvPr id="570" name="Google Shape;570;p33"/>
          <p:cNvGrpSpPr/>
          <p:nvPr/>
        </p:nvGrpSpPr>
        <p:grpSpPr>
          <a:xfrm>
            <a:off x="3111500" y="3949700"/>
            <a:ext cx="1301750" cy="1963737"/>
            <a:chOff x="1960" y="2488"/>
            <a:chExt cx="820" cy="1237"/>
          </a:xfrm>
        </p:grpSpPr>
        <p:sp>
          <p:nvSpPr>
            <p:cNvPr id="571" name="Google Shape;571;p33"/>
            <p:cNvSpPr/>
            <p:nvPr/>
          </p:nvSpPr>
          <p:spPr>
            <a:xfrm>
              <a:off x="1960" y="320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1960" y="24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2688" y="24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2680" y="320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3"/>
            <p:cNvSpPr txBox="1"/>
            <p:nvPr/>
          </p:nvSpPr>
          <p:spPr>
            <a:xfrm>
              <a:off x="2008" y="2544"/>
              <a:ext cx="720" cy="72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3"/>
            <p:cNvSpPr txBox="1"/>
            <p:nvPr/>
          </p:nvSpPr>
          <p:spPr>
            <a:xfrm>
              <a:off x="2253" y="3437"/>
              <a:ext cx="33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4</a:t>
              </a:r>
              <a:endParaRPr/>
            </a:p>
          </p:txBody>
        </p:sp>
      </p:grpSp>
      <p:grpSp>
        <p:nvGrpSpPr>
          <p:cNvPr id="577" name="Google Shape;577;p33"/>
          <p:cNvGrpSpPr/>
          <p:nvPr/>
        </p:nvGrpSpPr>
        <p:grpSpPr>
          <a:xfrm>
            <a:off x="4883150" y="3835400"/>
            <a:ext cx="1574800" cy="2090737"/>
            <a:chOff x="3076" y="2416"/>
            <a:chExt cx="992" cy="1317"/>
          </a:xfrm>
        </p:grpSpPr>
        <p:sp>
          <p:nvSpPr>
            <p:cNvPr id="578" name="Google Shape;578;p33"/>
            <p:cNvSpPr/>
            <p:nvPr/>
          </p:nvSpPr>
          <p:spPr>
            <a:xfrm>
              <a:off x="3128" y="2472"/>
              <a:ext cx="912" cy="867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3520" y="2416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3976" y="2776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3816" y="3272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3256" y="32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3076" y="2784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3"/>
            <p:cNvSpPr txBox="1"/>
            <p:nvPr/>
          </p:nvSpPr>
          <p:spPr>
            <a:xfrm>
              <a:off x="3445" y="3445"/>
              <a:ext cx="33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5</a:t>
              </a:r>
              <a:endParaRPr/>
            </a:p>
          </p:txBody>
        </p:sp>
      </p:grpSp>
      <p:grpSp>
        <p:nvGrpSpPr>
          <p:cNvPr id="585" name="Google Shape;585;p33"/>
          <p:cNvGrpSpPr/>
          <p:nvPr/>
        </p:nvGrpSpPr>
        <p:grpSpPr>
          <a:xfrm>
            <a:off x="6864350" y="3835400"/>
            <a:ext cx="1727200" cy="2090737"/>
            <a:chOff x="4324" y="2416"/>
            <a:chExt cx="1088" cy="1317"/>
          </a:xfrm>
        </p:grpSpPr>
        <p:sp>
          <p:nvSpPr>
            <p:cNvPr id="586" name="Google Shape;586;p33"/>
            <p:cNvSpPr/>
            <p:nvPr/>
          </p:nvSpPr>
          <p:spPr>
            <a:xfrm>
              <a:off x="5320" y="284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5092" y="2416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4376" y="2472"/>
              <a:ext cx="1008" cy="872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5092" y="32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4576" y="32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4324" y="284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4576" y="2416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3"/>
            <p:cNvSpPr txBox="1"/>
            <p:nvPr/>
          </p:nvSpPr>
          <p:spPr>
            <a:xfrm>
              <a:off x="4741" y="3445"/>
              <a:ext cx="33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6</a:t>
              </a:r>
              <a:endParaRPr/>
            </a:p>
          </p:txBody>
        </p:sp>
      </p:grpSp>
      <p:sp>
        <p:nvSpPr>
          <p:cNvPr id="594" name="Google Shape;594;p33"/>
          <p:cNvSpPr txBox="1"/>
          <p:nvPr/>
        </p:nvSpPr>
        <p:spPr>
          <a:xfrm>
            <a:off x="152400" y="5410200"/>
            <a:ext cx="14478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Cycles: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</a:t>
            </a:r>
            <a:endParaRPr/>
          </a:p>
        </p:txBody>
      </p:sp>
      <p:sp>
        <p:nvSpPr>
          <p:cNvPr id="600" name="Google Shape;600;p34"/>
          <p:cNvSpPr txBox="1">
            <a:spLocks noGrp="1"/>
          </p:cNvSpPr>
          <p:nvPr>
            <p:ph type="body" idx="1"/>
          </p:nvPr>
        </p:nvSpPr>
        <p:spPr>
          <a:xfrm>
            <a:off x="152400" y="1219200"/>
            <a:ext cx="86868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new vertex is added to a cycle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this new vertex is connected to each of the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in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obtain 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grpSp>
        <p:nvGrpSpPr>
          <p:cNvPr id="601" name="Google Shape;601;p34"/>
          <p:cNvGrpSpPr/>
          <p:nvPr/>
        </p:nvGrpSpPr>
        <p:grpSpPr>
          <a:xfrm>
            <a:off x="990600" y="4076700"/>
            <a:ext cx="1555750" cy="1963737"/>
            <a:chOff x="624" y="2568"/>
            <a:chExt cx="980" cy="1237"/>
          </a:xfrm>
        </p:grpSpPr>
        <p:sp>
          <p:nvSpPr>
            <p:cNvPr id="602" name="Google Shape;602;p34"/>
            <p:cNvSpPr/>
            <p:nvPr/>
          </p:nvSpPr>
          <p:spPr>
            <a:xfrm>
              <a:off x="624" y="32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1080" y="256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4"/>
            <p:cNvSpPr/>
            <p:nvPr/>
          </p:nvSpPr>
          <p:spPr>
            <a:xfrm>
              <a:off x="1512" y="32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4"/>
            <p:cNvSpPr/>
            <p:nvPr/>
          </p:nvSpPr>
          <p:spPr>
            <a:xfrm>
              <a:off x="664" y="2640"/>
              <a:ext cx="920" cy="72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4"/>
            <p:cNvSpPr txBox="1"/>
            <p:nvPr/>
          </p:nvSpPr>
          <p:spPr>
            <a:xfrm>
              <a:off x="1045" y="3517"/>
              <a:ext cx="37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W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3</a:t>
              </a:r>
              <a:endParaRPr/>
            </a:p>
          </p:txBody>
        </p:sp>
        <p:sp>
          <p:nvSpPr>
            <p:cNvPr id="607" name="Google Shape;607;p34"/>
            <p:cNvSpPr/>
            <p:nvPr/>
          </p:nvSpPr>
          <p:spPr>
            <a:xfrm>
              <a:off x="1072" y="3016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8" name="Google Shape;608;p34"/>
            <p:cNvCxnSpPr/>
            <p:nvPr/>
          </p:nvCxnSpPr>
          <p:spPr>
            <a:xfrm>
              <a:off x="1128" y="2664"/>
              <a:ext cx="0" cy="384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09" name="Google Shape;609;p34"/>
            <p:cNvCxnSpPr/>
            <p:nvPr/>
          </p:nvCxnSpPr>
          <p:spPr>
            <a:xfrm flipH="1">
              <a:off x="688" y="3088"/>
              <a:ext cx="432" cy="24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10" name="Google Shape;610;p34"/>
            <p:cNvCxnSpPr/>
            <p:nvPr/>
          </p:nvCxnSpPr>
          <p:spPr>
            <a:xfrm>
              <a:off x="1144" y="3080"/>
              <a:ext cx="376" cy="248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611" name="Google Shape;611;p34"/>
          <p:cNvGrpSpPr/>
          <p:nvPr/>
        </p:nvGrpSpPr>
        <p:grpSpPr>
          <a:xfrm>
            <a:off x="3124200" y="4076700"/>
            <a:ext cx="1289050" cy="1963737"/>
            <a:chOff x="1968" y="2568"/>
            <a:chExt cx="812" cy="1237"/>
          </a:xfrm>
        </p:grpSpPr>
        <p:sp>
          <p:nvSpPr>
            <p:cNvPr id="612" name="Google Shape;612;p34"/>
            <p:cNvSpPr/>
            <p:nvPr/>
          </p:nvSpPr>
          <p:spPr>
            <a:xfrm>
              <a:off x="1968" y="32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4"/>
            <p:cNvSpPr/>
            <p:nvPr/>
          </p:nvSpPr>
          <p:spPr>
            <a:xfrm>
              <a:off x="1968" y="256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4"/>
            <p:cNvSpPr/>
            <p:nvPr/>
          </p:nvSpPr>
          <p:spPr>
            <a:xfrm>
              <a:off x="2664" y="256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4"/>
            <p:cNvSpPr/>
            <p:nvPr/>
          </p:nvSpPr>
          <p:spPr>
            <a:xfrm>
              <a:off x="2688" y="328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4"/>
            <p:cNvSpPr txBox="1"/>
            <p:nvPr/>
          </p:nvSpPr>
          <p:spPr>
            <a:xfrm>
              <a:off x="2016" y="2624"/>
              <a:ext cx="720" cy="72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4"/>
            <p:cNvSpPr txBox="1"/>
            <p:nvPr/>
          </p:nvSpPr>
          <p:spPr>
            <a:xfrm>
              <a:off x="2261" y="3517"/>
              <a:ext cx="37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W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4</a:t>
              </a:r>
              <a:endParaRPr/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2328" y="2920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9" name="Google Shape;619;p34"/>
            <p:cNvCxnSpPr/>
            <p:nvPr/>
          </p:nvCxnSpPr>
          <p:spPr>
            <a:xfrm flipH="1">
              <a:off x="2032" y="2640"/>
              <a:ext cx="664" cy="688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20" name="Google Shape;620;p34"/>
            <p:cNvCxnSpPr/>
            <p:nvPr/>
          </p:nvCxnSpPr>
          <p:spPr>
            <a:xfrm>
              <a:off x="2040" y="2640"/>
              <a:ext cx="680" cy="688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621" name="Google Shape;621;p34"/>
          <p:cNvGrpSpPr/>
          <p:nvPr/>
        </p:nvGrpSpPr>
        <p:grpSpPr>
          <a:xfrm>
            <a:off x="6858000" y="3962400"/>
            <a:ext cx="1746250" cy="2090737"/>
            <a:chOff x="4320" y="2496"/>
            <a:chExt cx="1100" cy="1317"/>
          </a:xfrm>
        </p:grpSpPr>
        <p:grpSp>
          <p:nvGrpSpPr>
            <p:cNvPr id="622" name="Google Shape;622;p34"/>
            <p:cNvGrpSpPr/>
            <p:nvPr/>
          </p:nvGrpSpPr>
          <p:grpSpPr>
            <a:xfrm>
              <a:off x="4320" y="2496"/>
              <a:ext cx="1100" cy="1317"/>
              <a:chOff x="4312" y="2416"/>
              <a:chExt cx="1100" cy="1317"/>
            </a:xfrm>
          </p:grpSpPr>
          <p:sp>
            <p:nvSpPr>
              <p:cNvPr id="623" name="Google Shape;623;p34"/>
              <p:cNvSpPr/>
              <p:nvPr/>
            </p:nvSpPr>
            <p:spPr>
              <a:xfrm>
                <a:off x="5320" y="2848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4"/>
              <p:cNvSpPr/>
              <p:nvPr/>
            </p:nvSpPr>
            <p:spPr>
              <a:xfrm>
                <a:off x="5056" y="2416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4"/>
              <p:cNvSpPr/>
              <p:nvPr/>
            </p:nvSpPr>
            <p:spPr>
              <a:xfrm>
                <a:off x="4376" y="2472"/>
                <a:ext cx="1008" cy="872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34"/>
              <p:cNvSpPr/>
              <p:nvPr/>
            </p:nvSpPr>
            <p:spPr>
              <a:xfrm>
                <a:off x="5056" y="3288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34"/>
              <p:cNvSpPr/>
              <p:nvPr/>
            </p:nvSpPr>
            <p:spPr>
              <a:xfrm>
                <a:off x="4576" y="3288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4"/>
              <p:cNvSpPr/>
              <p:nvPr/>
            </p:nvSpPr>
            <p:spPr>
              <a:xfrm>
                <a:off x="4312" y="2848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4"/>
              <p:cNvSpPr/>
              <p:nvPr/>
            </p:nvSpPr>
            <p:spPr>
              <a:xfrm>
                <a:off x="4576" y="2416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34"/>
              <p:cNvSpPr txBox="1"/>
              <p:nvPr/>
            </p:nvSpPr>
            <p:spPr>
              <a:xfrm>
                <a:off x="4741" y="3445"/>
                <a:ext cx="379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Bookman Old Style"/>
                  <a:buNone/>
                </a:pPr>
                <a:r>
                  <a:rPr lang="en-US" sz="2400" b="0" i="1" u="none">
                    <a:solidFill>
                      <a:schemeClr val="dk2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W</a:t>
                </a:r>
                <a:r>
                  <a:rPr lang="en-US" sz="2400" b="0" i="0" u="none" baseline="-25000">
                    <a:solidFill>
                      <a:schemeClr val="dk2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6</a:t>
                </a:r>
                <a:endParaRPr/>
              </a:p>
            </p:txBody>
          </p:sp>
        </p:grpSp>
        <p:sp>
          <p:nvSpPr>
            <p:cNvPr id="631" name="Google Shape;631;p34"/>
            <p:cNvSpPr/>
            <p:nvPr/>
          </p:nvSpPr>
          <p:spPr>
            <a:xfrm>
              <a:off x="4840" y="2928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2" name="Google Shape;632;p34"/>
            <p:cNvCxnSpPr/>
            <p:nvPr/>
          </p:nvCxnSpPr>
          <p:spPr>
            <a:xfrm>
              <a:off x="4648" y="2560"/>
              <a:ext cx="464" cy="848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33" name="Google Shape;633;p34"/>
            <p:cNvCxnSpPr/>
            <p:nvPr/>
          </p:nvCxnSpPr>
          <p:spPr>
            <a:xfrm flipH="1">
              <a:off x="4648" y="2560"/>
              <a:ext cx="464" cy="856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34" name="Google Shape;634;p34"/>
            <p:cNvCxnSpPr/>
            <p:nvPr/>
          </p:nvCxnSpPr>
          <p:spPr>
            <a:xfrm>
              <a:off x="4864" y="2512"/>
              <a:ext cx="0" cy="952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635" name="Google Shape;635;p34"/>
          <p:cNvGrpSpPr/>
          <p:nvPr/>
        </p:nvGrpSpPr>
        <p:grpSpPr>
          <a:xfrm>
            <a:off x="4876800" y="3962400"/>
            <a:ext cx="1593850" cy="2090737"/>
            <a:chOff x="3072" y="2496"/>
            <a:chExt cx="1004" cy="1317"/>
          </a:xfrm>
        </p:grpSpPr>
        <p:grpSp>
          <p:nvGrpSpPr>
            <p:cNvPr id="636" name="Google Shape;636;p34"/>
            <p:cNvGrpSpPr/>
            <p:nvPr/>
          </p:nvGrpSpPr>
          <p:grpSpPr>
            <a:xfrm>
              <a:off x="3072" y="2496"/>
              <a:ext cx="1004" cy="1317"/>
              <a:chOff x="3064" y="2416"/>
              <a:chExt cx="1004" cy="1317"/>
            </a:xfrm>
          </p:grpSpPr>
          <p:sp>
            <p:nvSpPr>
              <p:cNvPr id="637" name="Google Shape;637;p34"/>
              <p:cNvSpPr/>
              <p:nvPr/>
            </p:nvSpPr>
            <p:spPr>
              <a:xfrm>
                <a:off x="3128" y="2472"/>
                <a:ext cx="912" cy="867"/>
              </a:xfrm>
              <a:prstGeom prst="pentagon">
                <a:avLst>
                  <a:gd name="hf" fmla="val 105146"/>
                  <a:gd name="vf" fmla="val 11055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34"/>
              <p:cNvSpPr/>
              <p:nvPr/>
            </p:nvSpPr>
            <p:spPr>
              <a:xfrm>
                <a:off x="3520" y="2416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34"/>
              <p:cNvSpPr/>
              <p:nvPr/>
            </p:nvSpPr>
            <p:spPr>
              <a:xfrm>
                <a:off x="3976" y="2776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4"/>
              <p:cNvSpPr/>
              <p:nvPr/>
            </p:nvSpPr>
            <p:spPr>
              <a:xfrm>
                <a:off x="3816" y="3272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4"/>
              <p:cNvSpPr/>
              <p:nvPr/>
            </p:nvSpPr>
            <p:spPr>
              <a:xfrm>
                <a:off x="3256" y="3288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34"/>
              <p:cNvSpPr/>
              <p:nvPr/>
            </p:nvSpPr>
            <p:spPr>
              <a:xfrm>
                <a:off x="3064" y="2752"/>
                <a:ext cx="92" cy="92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34"/>
              <p:cNvSpPr txBox="1"/>
              <p:nvPr/>
            </p:nvSpPr>
            <p:spPr>
              <a:xfrm>
                <a:off x="3445" y="3445"/>
                <a:ext cx="379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Bookman Old Style"/>
                  <a:buNone/>
                </a:pPr>
                <a:r>
                  <a:rPr lang="en-US" sz="2400" b="0" i="1" u="none">
                    <a:solidFill>
                      <a:schemeClr val="dk2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W</a:t>
                </a:r>
                <a:r>
                  <a:rPr lang="en-US" sz="2400" b="0" i="0" u="none" baseline="-25000">
                    <a:solidFill>
                      <a:schemeClr val="dk2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5</a:t>
                </a:r>
                <a:endParaRPr/>
              </a:p>
            </p:txBody>
          </p:sp>
        </p:grpSp>
        <p:sp>
          <p:nvSpPr>
            <p:cNvPr id="644" name="Google Shape;644;p34"/>
            <p:cNvSpPr/>
            <p:nvPr/>
          </p:nvSpPr>
          <p:spPr>
            <a:xfrm>
              <a:off x="3536" y="2984"/>
              <a:ext cx="92" cy="92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5" name="Google Shape;645;p34"/>
            <p:cNvCxnSpPr/>
            <p:nvPr/>
          </p:nvCxnSpPr>
          <p:spPr>
            <a:xfrm>
              <a:off x="3576" y="2568"/>
              <a:ext cx="0" cy="44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46" name="Google Shape;646;p34"/>
            <p:cNvCxnSpPr/>
            <p:nvPr/>
          </p:nvCxnSpPr>
          <p:spPr>
            <a:xfrm>
              <a:off x="3592" y="3056"/>
              <a:ext cx="272" cy="328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47" name="Google Shape;647;p34"/>
            <p:cNvCxnSpPr/>
            <p:nvPr/>
          </p:nvCxnSpPr>
          <p:spPr>
            <a:xfrm>
              <a:off x="3136" y="2896"/>
              <a:ext cx="440" cy="144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48" name="Google Shape;648;p34"/>
            <p:cNvCxnSpPr/>
            <p:nvPr/>
          </p:nvCxnSpPr>
          <p:spPr>
            <a:xfrm flipH="1">
              <a:off x="3320" y="3024"/>
              <a:ext cx="264" cy="384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49" name="Google Shape;649;p34"/>
            <p:cNvCxnSpPr/>
            <p:nvPr/>
          </p:nvCxnSpPr>
          <p:spPr>
            <a:xfrm rot="10800000" flipH="1">
              <a:off x="3592" y="2904"/>
              <a:ext cx="424" cy="144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650" name="Google Shape;650;p34"/>
          <p:cNvSpPr txBox="1"/>
          <p:nvPr/>
        </p:nvSpPr>
        <p:spPr>
          <a:xfrm>
            <a:off x="0" y="5562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Wheels: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Bipartite Graph</a:t>
            </a:r>
            <a:endParaRPr/>
          </a:p>
        </p:txBody>
      </p:sp>
      <p:sp>
        <p:nvSpPr>
          <p:cNvPr id="656" name="Google Shape;656;p35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8686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graph is called </a:t>
            </a:r>
            <a:r>
              <a:rPr lang="en-US" sz="3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bipartite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its vertex set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partitioned into two disjoint nonempty sets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that every edge in the graph connects a vertex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 vertex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(so that no edge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connects either two vertices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two vertices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</p:txBody>
      </p:sp>
      <p:grpSp>
        <p:nvGrpSpPr>
          <p:cNvPr id="657" name="Google Shape;657;p35"/>
          <p:cNvGrpSpPr/>
          <p:nvPr/>
        </p:nvGrpSpPr>
        <p:grpSpPr>
          <a:xfrm>
            <a:off x="1406525" y="4314825"/>
            <a:ext cx="2919412" cy="1917700"/>
            <a:chOff x="886" y="2718"/>
            <a:chExt cx="1839" cy="1208"/>
          </a:xfrm>
        </p:grpSpPr>
        <p:grpSp>
          <p:nvGrpSpPr>
            <p:cNvPr id="658" name="Google Shape;658;p35"/>
            <p:cNvGrpSpPr/>
            <p:nvPr/>
          </p:nvGrpSpPr>
          <p:grpSpPr>
            <a:xfrm>
              <a:off x="1160" y="2952"/>
              <a:ext cx="1344" cy="768"/>
              <a:chOff x="816" y="2976"/>
              <a:chExt cx="1344" cy="768"/>
            </a:xfrm>
          </p:grpSpPr>
          <p:sp>
            <p:nvSpPr>
              <p:cNvPr id="659" name="Google Shape;659;p35"/>
              <p:cNvSpPr/>
              <p:nvPr/>
            </p:nvSpPr>
            <p:spPr>
              <a:xfrm rot="10800000" flipH="1">
                <a:off x="864" y="3024"/>
                <a:ext cx="1248" cy="4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524288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5"/>
              <p:cNvSpPr/>
              <p:nvPr/>
            </p:nvSpPr>
            <p:spPr>
              <a:xfrm>
                <a:off x="1152" y="2976"/>
                <a:ext cx="75" cy="75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5"/>
              <p:cNvSpPr/>
              <p:nvPr/>
            </p:nvSpPr>
            <p:spPr>
              <a:xfrm>
                <a:off x="1776" y="2976"/>
                <a:ext cx="75" cy="75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35"/>
              <p:cNvSpPr/>
              <p:nvPr/>
            </p:nvSpPr>
            <p:spPr>
              <a:xfrm>
                <a:off x="816" y="3429"/>
                <a:ext cx="75" cy="75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35"/>
              <p:cNvSpPr/>
              <p:nvPr/>
            </p:nvSpPr>
            <p:spPr>
              <a:xfrm>
                <a:off x="2085" y="3408"/>
                <a:ext cx="75" cy="75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5"/>
              <p:cNvSpPr/>
              <p:nvPr/>
            </p:nvSpPr>
            <p:spPr>
              <a:xfrm>
                <a:off x="1701" y="3669"/>
                <a:ext cx="75" cy="75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65" name="Google Shape;665;p35"/>
              <p:cNvCxnSpPr/>
              <p:nvPr/>
            </p:nvCxnSpPr>
            <p:spPr>
              <a:xfrm flipH="1">
                <a:off x="1728" y="3024"/>
                <a:ext cx="96" cy="67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66" name="Google Shape;666;p35"/>
              <p:cNvCxnSpPr/>
              <p:nvPr/>
            </p:nvCxnSpPr>
            <p:spPr>
              <a:xfrm rot="10800000">
                <a:off x="864" y="3456"/>
                <a:ext cx="864" cy="24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sp>
          <p:nvSpPr>
            <p:cNvPr id="667" name="Google Shape;667;p35"/>
            <p:cNvSpPr txBox="1"/>
            <p:nvPr/>
          </p:nvSpPr>
          <p:spPr>
            <a:xfrm>
              <a:off x="886" y="2718"/>
              <a:ext cx="1839" cy="1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a             b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c                       d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e      </a:t>
              </a:r>
              <a:endParaRPr/>
            </a:p>
          </p:txBody>
        </p:sp>
      </p:grpSp>
      <p:grpSp>
        <p:nvGrpSpPr>
          <p:cNvPr id="668" name="Google Shape;668;p35"/>
          <p:cNvGrpSpPr/>
          <p:nvPr/>
        </p:nvGrpSpPr>
        <p:grpSpPr>
          <a:xfrm>
            <a:off x="5410200" y="4267200"/>
            <a:ext cx="2133600" cy="1981200"/>
            <a:chOff x="3408" y="2688"/>
            <a:chExt cx="1344" cy="1248"/>
          </a:xfrm>
        </p:grpSpPr>
        <p:sp>
          <p:nvSpPr>
            <p:cNvPr id="669" name="Google Shape;669;p35"/>
            <p:cNvSpPr/>
            <p:nvPr/>
          </p:nvSpPr>
          <p:spPr>
            <a:xfrm>
              <a:off x="4224" y="2688"/>
              <a:ext cx="528" cy="1248"/>
            </a:xfrm>
            <a:prstGeom prst="ellipse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5"/>
            <p:cNvSpPr/>
            <p:nvPr/>
          </p:nvSpPr>
          <p:spPr>
            <a:xfrm>
              <a:off x="3408" y="2688"/>
              <a:ext cx="528" cy="1248"/>
            </a:xfrm>
            <a:prstGeom prst="ellipse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5"/>
            <p:cNvSpPr/>
            <p:nvPr/>
          </p:nvSpPr>
          <p:spPr>
            <a:xfrm>
              <a:off x="3744" y="3104"/>
              <a:ext cx="75" cy="75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5"/>
            <p:cNvSpPr/>
            <p:nvPr/>
          </p:nvSpPr>
          <p:spPr>
            <a:xfrm>
              <a:off x="3744" y="3509"/>
              <a:ext cx="75" cy="75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5"/>
            <p:cNvSpPr/>
            <p:nvPr/>
          </p:nvSpPr>
          <p:spPr>
            <a:xfrm>
              <a:off x="4368" y="2960"/>
              <a:ext cx="75" cy="75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5"/>
            <p:cNvSpPr/>
            <p:nvPr/>
          </p:nvSpPr>
          <p:spPr>
            <a:xfrm>
              <a:off x="4368" y="3320"/>
              <a:ext cx="75" cy="75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5"/>
            <p:cNvSpPr/>
            <p:nvPr/>
          </p:nvSpPr>
          <p:spPr>
            <a:xfrm>
              <a:off x="4368" y="3680"/>
              <a:ext cx="75" cy="75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5"/>
            <p:cNvSpPr txBox="1"/>
            <p:nvPr/>
          </p:nvSpPr>
          <p:spPr>
            <a:xfrm>
              <a:off x="3542" y="2971"/>
              <a:ext cx="289" cy="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677" name="Google Shape;677;p35"/>
            <p:cNvSpPr txBox="1"/>
            <p:nvPr/>
          </p:nvSpPr>
          <p:spPr>
            <a:xfrm>
              <a:off x="4446" y="2795"/>
              <a:ext cx="239" cy="1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  <a:p>
              <a:pPr marL="0" marR="0" lvl="0" indent="0" algn="l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  <a:p>
              <a:pPr marL="0" marR="0" lvl="0" indent="0" algn="l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cxnSp>
          <p:nvCxnSpPr>
            <p:cNvPr id="678" name="Google Shape;678;p35"/>
            <p:cNvCxnSpPr/>
            <p:nvPr/>
          </p:nvCxnSpPr>
          <p:spPr>
            <a:xfrm rot="10800000" flipH="1">
              <a:off x="3792" y="2976"/>
              <a:ext cx="624" cy="14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79" name="Google Shape;679;p35"/>
            <p:cNvCxnSpPr/>
            <p:nvPr/>
          </p:nvCxnSpPr>
          <p:spPr>
            <a:xfrm>
              <a:off x="3792" y="3168"/>
              <a:ext cx="624" cy="57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80" name="Google Shape;680;p35"/>
            <p:cNvCxnSpPr/>
            <p:nvPr/>
          </p:nvCxnSpPr>
          <p:spPr>
            <a:xfrm>
              <a:off x="3792" y="3120"/>
              <a:ext cx="624" cy="24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81" name="Google Shape;681;p35"/>
            <p:cNvCxnSpPr/>
            <p:nvPr/>
          </p:nvCxnSpPr>
          <p:spPr>
            <a:xfrm rot="10800000" flipH="1">
              <a:off x="3792" y="2976"/>
              <a:ext cx="624" cy="57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82" name="Google Shape;682;p35"/>
            <p:cNvCxnSpPr/>
            <p:nvPr/>
          </p:nvCxnSpPr>
          <p:spPr>
            <a:xfrm>
              <a:off x="3792" y="3552"/>
              <a:ext cx="576" cy="14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83" name="Google Shape;683;p35"/>
            <p:cNvCxnSpPr/>
            <p:nvPr/>
          </p:nvCxnSpPr>
          <p:spPr>
            <a:xfrm rot="10800000" flipH="1">
              <a:off x="3792" y="3360"/>
              <a:ext cx="624" cy="19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684" name="Google Shape;684;p35"/>
          <p:cNvSpPr/>
          <p:nvPr/>
        </p:nvSpPr>
        <p:spPr>
          <a:xfrm>
            <a:off x="4495800" y="5181600"/>
            <a:ext cx="6858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Bipartite Graph (Example)</a:t>
            </a:r>
            <a:endParaRPr/>
          </a:p>
        </p:txBody>
      </p:sp>
      <p:sp>
        <p:nvSpPr>
          <p:cNvPr id="690" name="Google Shape;690;p36"/>
          <p:cNvSpPr txBox="1"/>
          <p:nvPr/>
        </p:nvSpPr>
        <p:spPr>
          <a:xfrm>
            <a:off x="304800" y="1981200"/>
            <a:ext cx="38481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Bipartite?</a:t>
            </a:r>
            <a:endParaRPr/>
          </a:p>
        </p:txBody>
      </p:sp>
      <p:grpSp>
        <p:nvGrpSpPr>
          <p:cNvPr id="691" name="Google Shape;691;p36"/>
          <p:cNvGrpSpPr/>
          <p:nvPr/>
        </p:nvGrpSpPr>
        <p:grpSpPr>
          <a:xfrm>
            <a:off x="4927600" y="1587500"/>
            <a:ext cx="2463800" cy="2222500"/>
            <a:chOff x="3464" y="1152"/>
            <a:chExt cx="749" cy="656"/>
          </a:xfrm>
        </p:grpSpPr>
        <p:sp>
          <p:nvSpPr>
            <p:cNvPr id="692" name="Google Shape;692;p36"/>
            <p:cNvSpPr/>
            <p:nvPr/>
          </p:nvSpPr>
          <p:spPr>
            <a:xfrm>
              <a:off x="4150" y="1446"/>
              <a:ext cx="63" cy="63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3971" y="1152"/>
              <a:ext cx="62" cy="63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3500" y="1182"/>
              <a:ext cx="686" cy="594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6"/>
            <p:cNvSpPr/>
            <p:nvPr/>
          </p:nvSpPr>
          <p:spPr>
            <a:xfrm>
              <a:off x="3971" y="1745"/>
              <a:ext cx="62" cy="63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3644" y="1745"/>
              <a:ext cx="62" cy="63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3464" y="1446"/>
              <a:ext cx="63" cy="63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3644" y="1152"/>
              <a:ext cx="62" cy="63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9" name="Google Shape;699;p36"/>
          <p:cNvSpPr txBox="1"/>
          <p:nvPr/>
        </p:nvSpPr>
        <p:spPr>
          <a:xfrm>
            <a:off x="304800" y="3048000"/>
            <a:ext cx="8610600" cy="338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Yes.  Why?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Because:</a:t>
            </a:r>
            <a:endParaRPr/>
          </a:p>
          <a:p>
            <a:pPr marL="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its vertex set can be partitioned into the two sets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and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every edge of C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connects a vertex in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 vertex in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700" name="Google Shape;700;p36"/>
          <p:cNvSpPr txBox="1"/>
          <p:nvPr/>
        </p:nvSpPr>
        <p:spPr>
          <a:xfrm>
            <a:off x="4191000" y="1295400"/>
            <a:ext cx="4191000" cy="24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1		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6			        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		4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Bipartite Graph (Example)</a:t>
            </a:r>
            <a:endParaRPr/>
          </a:p>
        </p:txBody>
      </p:sp>
      <p:sp>
        <p:nvSpPr>
          <p:cNvPr id="706" name="Google Shape;706;p37"/>
          <p:cNvSpPr txBox="1"/>
          <p:nvPr/>
        </p:nvSpPr>
        <p:spPr>
          <a:xfrm>
            <a:off x="152400" y="1676400"/>
            <a:ext cx="3467100" cy="131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Bipartite?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 Why not?</a:t>
            </a:r>
            <a:endParaRPr/>
          </a:p>
        </p:txBody>
      </p:sp>
      <p:grpSp>
        <p:nvGrpSpPr>
          <p:cNvPr id="707" name="Google Shape;707;p37"/>
          <p:cNvGrpSpPr/>
          <p:nvPr/>
        </p:nvGrpSpPr>
        <p:grpSpPr>
          <a:xfrm>
            <a:off x="4940300" y="1384300"/>
            <a:ext cx="2527300" cy="2044700"/>
            <a:chOff x="3888" y="2408"/>
            <a:chExt cx="609" cy="537"/>
          </a:xfrm>
        </p:grpSpPr>
        <p:sp>
          <p:nvSpPr>
            <p:cNvPr id="708" name="Google Shape;708;p37"/>
            <p:cNvSpPr/>
            <p:nvPr/>
          </p:nvSpPr>
          <p:spPr>
            <a:xfrm>
              <a:off x="4128" y="2408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7"/>
            <p:cNvSpPr/>
            <p:nvPr/>
          </p:nvSpPr>
          <p:spPr>
            <a:xfrm>
              <a:off x="3888" y="2864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7"/>
            <p:cNvSpPr/>
            <p:nvPr/>
          </p:nvSpPr>
          <p:spPr>
            <a:xfrm>
              <a:off x="4416" y="2864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1" name="Google Shape;711;p37"/>
            <p:cNvCxnSpPr/>
            <p:nvPr/>
          </p:nvCxnSpPr>
          <p:spPr>
            <a:xfrm>
              <a:off x="3968" y="2912"/>
              <a:ext cx="52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12" name="Google Shape;712;p37"/>
            <p:cNvCxnSpPr/>
            <p:nvPr/>
          </p:nvCxnSpPr>
          <p:spPr>
            <a:xfrm rot="10800000" flipH="1">
              <a:off x="3944" y="2448"/>
              <a:ext cx="216" cy="43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13" name="Google Shape;713;p37"/>
            <p:cNvCxnSpPr/>
            <p:nvPr/>
          </p:nvCxnSpPr>
          <p:spPr>
            <a:xfrm>
              <a:off x="4176" y="2464"/>
              <a:ext cx="288" cy="44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714" name="Google Shape;714;p37"/>
          <p:cNvSpPr txBox="1"/>
          <p:nvPr/>
        </p:nvSpPr>
        <p:spPr>
          <a:xfrm>
            <a:off x="152400" y="3124200"/>
            <a:ext cx="8763000" cy="350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Because: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vertex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connected to every other vertex by an edge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we divide the vertex set of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two disjoint sets, one set must contain two vertices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These two vertices are connected by an edge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But this can’t be the case if the graph is bipartite</a:t>
            </a:r>
            <a:endParaRPr/>
          </a:p>
        </p:txBody>
      </p:sp>
      <p:sp>
        <p:nvSpPr>
          <p:cNvPr id="715" name="Google Shape;715;p37"/>
          <p:cNvSpPr txBox="1"/>
          <p:nvPr/>
        </p:nvSpPr>
        <p:spPr>
          <a:xfrm>
            <a:off x="3657600" y="1219200"/>
            <a:ext cx="4953000" cy="24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2			   3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</a:t>
            </a:r>
            <a:endParaRPr/>
          </a:p>
        </p:txBody>
      </p:sp>
      <p:sp>
        <p:nvSpPr>
          <p:cNvPr id="721" name="Google Shape;721;p38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610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graph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a graph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where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⊆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⊆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grpSp>
        <p:nvGrpSpPr>
          <p:cNvPr id="722" name="Google Shape;722;p38"/>
          <p:cNvGrpSpPr/>
          <p:nvPr/>
        </p:nvGrpSpPr>
        <p:grpSpPr>
          <a:xfrm>
            <a:off x="1828800" y="3273425"/>
            <a:ext cx="5568505" cy="2286000"/>
            <a:chOff x="1152" y="2062"/>
            <a:chExt cx="3508" cy="1440"/>
          </a:xfrm>
        </p:grpSpPr>
        <p:sp>
          <p:nvSpPr>
            <p:cNvPr id="723" name="Google Shape;723;p38"/>
            <p:cNvSpPr txBox="1"/>
            <p:nvPr/>
          </p:nvSpPr>
          <p:spPr>
            <a:xfrm>
              <a:off x="4046" y="3175"/>
              <a:ext cx="341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Times New Roman"/>
                <a:buNone/>
              </a:pPr>
              <a:r>
                <a:rPr lang="en-US" sz="2800" b="0" i="1" u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2800" b="0" i="0" u="none" baseline="-25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cxnSp>
          <p:nvCxnSpPr>
            <p:cNvPr id="724" name="Google Shape;724;p38"/>
            <p:cNvCxnSpPr/>
            <p:nvPr/>
          </p:nvCxnSpPr>
          <p:spPr>
            <a:xfrm rot="-1380000" flipH="1">
              <a:off x="3764" y="2455"/>
              <a:ext cx="18" cy="48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25" name="Google Shape;725;p38"/>
            <p:cNvSpPr/>
            <p:nvPr/>
          </p:nvSpPr>
          <p:spPr>
            <a:xfrm>
              <a:off x="4108" y="2062"/>
              <a:ext cx="81" cy="81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6" name="Google Shape;726;p38"/>
            <p:cNvCxnSpPr/>
            <p:nvPr/>
          </p:nvCxnSpPr>
          <p:spPr>
            <a:xfrm rot="10800000">
              <a:off x="3888" y="2976"/>
              <a:ext cx="52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27" name="Google Shape;727;p38"/>
            <p:cNvSpPr/>
            <p:nvPr/>
          </p:nvSpPr>
          <p:spPr>
            <a:xfrm>
              <a:off x="3640" y="2422"/>
              <a:ext cx="81" cy="81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8" name="Google Shape;728;p38"/>
            <p:cNvCxnSpPr/>
            <p:nvPr/>
          </p:nvCxnSpPr>
          <p:spPr>
            <a:xfrm rot="-9600000">
              <a:off x="4516" y="2448"/>
              <a:ext cx="28" cy="51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29" name="Google Shape;729;p38"/>
            <p:cNvSpPr/>
            <p:nvPr/>
          </p:nvSpPr>
          <p:spPr>
            <a:xfrm rot="-9540000" flipH="1">
              <a:off x="4566" y="2410"/>
              <a:ext cx="81" cy="86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0" name="Google Shape;730;p38"/>
            <p:cNvCxnSpPr/>
            <p:nvPr/>
          </p:nvCxnSpPr>
          <p:spPr>
            <a:xfrm>
              <a:off x="4180" y="2134"/>
              <a:ext cx="432" cy="32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31" name="Google Shape;731;p38"/>
            <p:cNvSpPr/>
            <p:nvPr/>
          </p:nvSpPr>
          <p:spPr>
            <a:xfrm>
              <a:off x="3820" y="2925"/>
              <a:ext cx="81" cy="81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2" name="Google Shape;732;p38"/>
            <p:cNvCxnSpPr/>
            <p:nvPr/>
          </p:nvCxnSpPr>
          <p:spPr>
            <a:xfrm rot="-5400000">
              <a:off x="3766" y="2044"/>
              <a:ext cx="360" cy="4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33" name="Google Shape;733;p38"/>
            <p:cNvSpPr/>
            <p:nvPr/>
          </p:nvSpPr>
          <p:spPr>
            <a:xfrm>
              <a:off x="4396" y="2925"/>
              <a:ext cx="81" cy="81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8"/>
            <p:cNvSpPr txBox="1"/>
            <p:nvPr/>
          </p:nvSpPr>
          <p:spPr>
            <a:xfrm>
              <a:off x="1512" y="3167"/>
              <a:ext cx="341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Times New Roman"/>
                <a:buNone/>
              </a:pPr>
              <a:r>
                <a:rPr lang="en-US" sz="2800" b="0" i="1" u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en-US" sz="2800" b="0" i="0" u="none" baseline="-25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cxnSp>
          <p:nvCxnSpPr>
            <p:cNvPr id="735" name="Google Shape;735;p38"/>
            <p:cNvCxnSpPr/>
            <p:nvPr/>
          </p:nvCxnSpPr>
          <p:spPr>
            <a:xfrm>
              <a:off x="1274" y="2450"/>
              <a:ext cx="0" cy="49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36" name="Google Shape;736;p38"/>
            <p:cNvSpPr/>
            <p:nvPr/>
          </p:nvSpPr>
          <p:spPr>
            <a:xfrm>
              <a:off x="1620" y="2062"/>
              <a:ext cx="81" cy="81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7" name="Google Shape;737;p38"/>
            <p:cNvCxnSpPr/>
            <p:nvPr/>
          </p:nvCxnSpPr>
          <p:spPr>
            <a:xfrm rot="10800000">
              <a:off x="1392" y="2976"/>
              <a:ext cx="57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38" name="Google Shape;738;p38"/>
            <p:cNvSpPr/>
            <p:nvPr/>
          </p:nvSpPr>
          <p:spPr>
            <a:xfrm>
              <a:off x="1152" y="2422"/>
              <a:ext cx="81" cy="81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9" name="Google Shape;739;p38"/>
            <p:cNvCxnSpPr/>
            <p:nvPr/>
          </p:nvCxnSpPr>
          <p:spPr>
            <a:xfrm rot="-9600000">
              <a:off x="2023" y="2496"/>
              <a:ext cx="25" cy="4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40" name="Google Shape;740;p38"/>
            <p:cNvSpPr/>
            <p:nvPr/>
          </p:nvSpPr>
          <p:spPr>
            <a:xfrm rot="-9540000" flipH="1">
              <a:off x="2078" y="2410"/>
              <a:ext cx="81" cy="86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1" name="Google Shape;741;p38"/>
            <p:cNvCxnSpPr/>
            <p:nvPr/>
          </p:nvCxnSpPr>
          <p:spPr>
            <a:xfrm>
              <a:off x="1692" y="2134"/>
              <a:ext cx="432" cy="32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42" name="Google Shape;742;p38"/>
            <p:cNvSpPr/>
            <p:nvPr/>
          </p:nvSpPr>
          <p:spPr>
            <a:xfrm>
              <a:off x="1332" y="2925"/>
              <a:ext cx="81" cy="81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3" name="Google Shape;743;p38"/>
            <p:cNvCxnSpPr/>
            <p:nvPr/>
          </p:nvCxnSpPr>
          <p:spPr>
            <a:xfrm rot="-5400000">
              <a:off x="1278" y="2044"/>
              <a:ext cx="360" cy="4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44" name="Google Shape;744;p38"/>
            <p:cNvSpPr/>
            <p:nvPr/>
          </p:nvSpPr>
          <p:spPr>
            <a:xfrm>
              <a:off x="1908" y="2925"/>
              <a:ext cx="81" cy="81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5" name="Google Shape;745;p38"/>
            <p:cNvCxnSpPr/>
            <p:nvPr/>
          </p:nvCxnSpPr>
          <p:spPr>
            <a:xfrm>
              <a:off x="1200" y="2496"/>
              <a:ext cx="754" cy="46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46" name="Google Shape;746;p38"/>
            <p:cNvCxnSpPr/>
            <p:nvPr/>
          </p:nvCxnSpPr>
          <p:spPr>
            <a:xfrm rot="10800000" flipH="1">
              <a:off x="1378" y="2458"/>
              <a:ext cx="756" cy="50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47" name="Google Shape;747;p38"/>
            <p:cNvCxnSpPr/>
            <p:nvPr/>
          </p:nvCxnSpPr>
          <p:spPr>
            <a:xfrm>
              <a:off x="1680" y="2112"/>
              <a:ext cx="256" cy="86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48" name="Google Shape;748;p38"/>
            <p:cNvCxnSpPr/>
            <p:nvPr/>
          </p:nvCxnSpPr>
          <p:spPr>
            <a:xfrm flipH="1">
              <a:off x="1378" y="2134"/>
              <a:ext cx="288" cy="82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49" name="Google Shape;749;p38"/>
            <p:cNvCxnSpPr/>
            <p:nvPr/>
          </p:nvCxnSpPr>
          <p:spPr>
            <a:xfrm>
              <a:off x="1198" y="2458"/>
              <a:ext cx="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750" name="Google Shape;750;p38"/>
          <p:cNvSpPr txBox="1"/>
          <p:nvPr/>
        </p:nvSpPr>
        <p:spPr>
          <a:xfrm>
            <a:off x="685800" y="5638800"/>
            <a:ext cx="3986212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subgraph of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Union</a:t>
            </a:r>
            <a:endParaRPr/>
          </a:p>
        </p:txBody>
      </p:sp>
      <p:sp>
        <p:nvSpPr>
          <p:cNvPr id="756" name="Google Shape;756;p39"/>
          <p:cNvSpPr txBox="1">
            <a:spLocks noGrp="1"/>
          </p:cNvSpPr>
          <p:nvPr>
            <p:ph type="body" idx="1"/>
          </p:nvPr>
        </p:nvSpPr>
        <p:spPr>
          <a:xfrm>
            <a:off x="304800" y="1143000"/>
            <a:ext cx="85344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2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union</a:t>
            </a: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2 simple graphs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and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the simple graph with vertex set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∪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edge set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∪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union is denoted by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∪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grpSp>
        <p:nvGrpSpPr>
          <p:cNvPr id="757" name="Google Shape;757;p39"/>
          <p:cNvGrpSpPr/>
          <p:nvPr/>
        </p:nvGrpSpPr>
        <p:grpSpPr>
          <a:xfrm>
            <a:off x="3352800" y="3200400"/>
            <a:ext cx="2582862" cy="2792412"/>
            <a:chOff x="2088" y="2088"/>
            <a:chExt cx="1627" cy="1759"/>
          </a:xfrm>
        </p:grpSpPr>
        <p:sp>
          <p:nvSpPr>
            <p:cNvPr id="758" name="Google Shape;758;p39"/>
            <p:cNvSpPr txBox="1"/>
            <p:nvPr/>
          </p:nvSpPr>
          <p:spPr>
            <a:xfrm>
              <a:off x="2731" y="3520"/>
              <a:ext cx="43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8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lang="en-US" sz="2800" b="0" i="0" u="none" baseline="-25000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5</a:t>
              </a:r>
              <a:endParaRPr/>
            </a:p>
          </p:txBody>
        </p:sp>
        <p:sp>
          <p:nvSpPr>
            <p:cNvPr id="759" name="Google Shape;759;p39"/>
            <p:cNvSpPr txBox="1"/>
            <p:nvPr/>
          </p:nvSpPr>
          <p:spPr>
            <a:xfrm>
              <a:off x="2088" y="2708"/>
              <a:ext cx="27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760" name="Google Shape;760;p39"/>
            <p:cNvCxnSpPr/>
            <p:nvPr/>
          </p:nvCxnSpPr>
          <p:spPr>
            <a:xfrm rot="-1380000" flipH="1">
              <a:off x="2463" y="2817"/>
              <a:ext cx="21" cy="48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61" name="Google Shape;761;p39"/>
            <p:cNvSpPr/>
            <p:nvPr/>
          </p:nvSpPr>
          <p:spPr>
            <a:xfrm>
              <a:off x="2859" y="2381"/>
              <a:ext cx="69" cy="67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2" name="Google Shape;762;p39"/>
            <p:cNvCxnSpPr/>
            <p:nvPr/>
          </p:nvCxnSpPr>
          <p:spPr>
            <a:xfrm rot="10800000">
              <a:off x="2592" y="3312"/>
              <a:ext cx="57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63" name="Google Shape;763;p39"/>
            <p:cNvSpPr/>
            <p:nvPr/>
          </p:nvSpPr>
          <p:spPr>
            <a:xfrm>
              <a:off x="2352" y="2765"/>
              <a:ext cx="69" cy="67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4" name="Google Shape;764;p39"/>
            <p:cNvCxnSpPr/>
            <p:nvPr/>
          </p:nvCxnSpPr>
          <p:spPr>
            <a:xfrm rot="1200000">
              <a:off x="3287" y="2736"/>
              <a:ext cx="25" cy="61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65" name="Google Shape;765;p39"/>
            <p:cNvSpPr/>
            <p:nvPr/>
          </p:nvSpPr>
          <p:spPr>
            <a:xfrm rot="-9540000" flipH="1">
              <a:off x="3348" y="2734"/>
              <a:ext cx="69" cy="72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6" name="Google Shape;766;p39"/>
            <p:cNvCxnSpPr/>
            <p:nvPr/>
          </p:nvCxnSpPr>
          <p:spPr>
            <a:xfrm>
              <a:off x="2920" y="2429"/>
              <a:ext cx="481" cy="35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67" name="Google Shape;767;p39"/>
            <p:cNvSpPr/>
            <p:nvPr/>
          </p:nvSpPr>
          <p:spPr>
            <a:xfrm>
              <a:off x="2544" y="3290"/>
              <a:ext cx="69" cy="67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8" name="Google Shape;768;p39"/>
            <p:cNvCxnSpPr/>
            <p:nvPr/>
          </p:nvCxnSpPr>
          <p:spPr>
            <a:xfrm rot="-5400000">
              <a:off x="2463" y="2324"/>
              <a:ext cx="391" cy="522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69" name="Google Shape;769;p39"/>
            <p:cNvSpPr/>
            <p:nvPr/>
          </p:nvSpPr>
          <p:spPr>
            <a:xfrm>
              <a:off x="3168" y="3264"/>
              <a:ext cx="69" cy="67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39"/>
            <p:cNvSpPr txBox="1"/>
            <p:nvPr/>
          </p:nvSpPr>
          <p:spPr>
            <a:xfrm>
              <a:off x="2296" y="3296"/>
              <a:ext cx="28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771" name="Google Shape;771;p39"/>
            <p:cNvSpPr txBox="1"/>
            <p:nvPr/>
          </p:nvSpPr>
          <p:spPr>
            <a:xfrm>
              <a:off x="2731" y="2088"/>
              <a:ext cx="25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772" name="Google Shape;772;p39"/>
            <p:cNvSpPr txBox="1"/>
            <p:nvPr/>
          </p:nvSpPr>
          <p:spPr>
            <a:xfrm>
              <a:off x="3227" y="3294"/>
              <a:ext cx="26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773" name="Google Shape;773;p39"/>
            <p:cNvSpPr txBox="1"/>
            <p:nvPr/>
          </p:nvSpPr>
          <p:spPr>
            <a:xfrm>
              <a:off x="3428" y="2708"/>
              <a:ext cx="28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</p:grpSp>
      <p:grpSp>
        <p:nvGrpSpPr>
          <p:cNvPr id="774" name="Google Shape;774;p39"/>
          <p:cNvGrpSpPr/>
          <p:nvPr/>
        </p:nvGrpSpPr>
        <p:grpSpPr>
          <a:xfrm>
            <a:off x="533400" y="3124200"/>
            <a:ext cx="2465387" cy="2841625"/>
            <a:chOff x="392" y="2076"/>
            <a:chExt cx="1553" cy="1790"/>
          </a:xfrm>
        </p:grpSpPr>
        <p:sp>
          <p:nvSpPr>
            <p:cNvPr id="775" name="Google Shape;775;p39"/>
            <p:cNvSpPr txBox="1"/>
            <p:nvPr/>
          </p:nvSpPr>
          <p:spPr>
            <a:xfrm>
              <a:off x="995" y="3539"/>
              <a:ext cx="353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Bookman Old Style"/>
                <a:buNone/>
              </a:pPr>
              <a:r>
                <a:rPr lang="en-US" sz="28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S</a:t>
              </a:r>
              <a:r>
                <a:rPr lang="en-US" sz="28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5</a:t>
              </a:r>
              <a:endParaRPr/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1131" y="2352"/>
              <a:ext cx="69" cy="7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626" y="2726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9"/>
            <p:cNvSpPr/>
            <p:nvPr/>
          </p:nvSpPr>
          <p:spPr>
            <a:xfrm rot="-9540000" flipH="1">
              <a:off x="1659" y="2715"/>
              <a:ext cx="69" cy="7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816" y="3263"/>
              <a:ext cx="69" cy="7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1467" y="3263"/>
              <a:ext cx="69" cy="7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39"/>
            <p:cNvSpPr/>
            <p:nvPr/>
          </p:nvSpPr>
          <p:spPr>
            <a:xfrm rot="-9540000" flipH="1">
              <a:off x="1131" y="2880"/>
              <a:ext cx="69" cy="7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2" name="Google Shape;782;p39"/>
            <p:cNvCxnSpPr/>
            <p:nvPr/>
          </p:nvCxnSpPr>
          <p:spPr>
            <a:xfrm>
              <a:off x="675" y="2764"/>
              <a:ext cx="492" cy="15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83" name="Google Shape;783;p39"/>
            <p:cNvCxnSpPr/>
            <p:nvPr/>
          </p:nvCxnSpPr>
          <p:spPr>
            <a:xfrm>
              <a:off x="1130" y="2918"/>
              <a:ext cx="341" cy="34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84" name="Google Shape;784;p39"/>
            <p:cNvCxnSpPr/>
            <p:nvPr/>
          </p:nvCxnSpPr>
          <p:spPr>
            <a:xfrm rot="10800000" flipH="1">
              <a:off x="850" y="2928"/>
              <a:ext cx="302" cy="341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85" name="Google Shape;785;p39"/>
            <p:cNvCxnSpPr/>
            <p:nvPr/>
          </p:nvCxnSpPr>
          <p:spPr>
            <a:xfrm>
              <a:off x="1167" y="2417"/>
              <a:ext cx="0" cy="501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86" name="Google Shape;786;p39"/>
            <p:cNvCxnSpPr/>
            <p:nvPr/>
          </p:nvCxnSpPr>
          <p:spPr>
            <a:xfrm rot="10800000" flipH="1">
              <a:off x="1130" y="2764"/>
              <a:ext cx="568" cy="15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87" name="Google Shape;787;p39"/>
            <p:cNvSpPr txBox="1"/>
            <p:nvPr/>
          </p:nvSpPr>
          <p:spPr>
            <a:xfrm>
              <a:off x="631" y="3248"/>
              <a:ext cx="235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788" name="Google Shape;788;p39"/>
            <p:cNvSpPr txBox="1"/>
            <p:nvPr/>
          </p:nvSpPr>
          <p:spPr>
            <a:xfrm>
              <a:off x="392" y="2677"/>
              <a:ext cx="28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 </a:t>
              </a:r>
              <a:endParaRPr/>
            </a:p>
          </p:txBody>
        </p:sp>
        <p:sp>
          <p:nvSpPr>
            <p:cNvPr id="789" name="Google Shape;789;p39"/>
            <p:cNvSpPr txBox="1"/>
            <p:nvPr/>
          </p:nvSpPr>
          <p:spPr>
            <a:xfrm>
              <a:off x="1048" y="2076"/>
              <a:ext cx="25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790" name="Google Shape;790;p39"/>
            <p:cNvSpPr txBox="1"/>
            <p:nvPr/>
          </p:nvSpPr>
          <p:spPr>
            <a:xfrm>
              <a:off x="1487" y="3244"/>
              <a:ext cx="26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791" name="Google Shape;791;p39"/>
            <p:cNvSpPr txBox="1"/>
            <p:nvPr/>
          </p:nvSpPr>
          <p:spPr>
            <a:xfrm>
              <a:off x="1658" y="2645"/>
              <a:ext cx="28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792" name="Google Shape;792;p39"/>
            <p:cNvSpPr txBox="1"/>
            <p:nvPr/>
          </p:nvSpPr>
          <p:spPr>
            <a:xfrm>
              <a:off x="1240" y="2819"/>
              <a:ext cx="251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f</a:t>
              </a:r>
              <a:endParaRPr/>
            </a:p>
          </p:txBody>
        </p:sp>
      </p:grpSp>
      <p:sp>
        <p:nvSpPr>
          <p:cNvPr id="793" name="Google Shape;793;p39"/>
          <p:cNvSpPr txBox="1"/>
          <p:nvPr/>
        </p:nvSpPr>
        <p:spPr>
          <a:xfrm>
            <a:off x="7010400" y="5486400"/>
            <a:ext cx="674687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lang="en-US" sz="28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</a:t>
            </a:r>
            <a:r>
              <a:rPr lang="en-US" sz="2800" b="0" i="0" u="none" baseline="-25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/>
          </a:p>
        </p:txBody>
      </p:sp>
      <p:cxnSp>
        <p:nvCxnSpPr>
          <p:cNvPr id="794" name="Google Shape;794;p39"/>
          <p:cNvCxnSpPr/>
          <p:nvPr/>
        </p:nvCxnSpPr>
        <p:spPr>
          <a:xfrm>
            <a:off x="6729412" y="4459287"/>
            <a:ext cx="0" cy="71278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95" name="Google Shape;795;p39"/>
          <p:cNvSpPr/>
          <p:nvPr/>
        </p:nvSpPr>
        <p:spPr>
          <a:xfrm>
            <a:off x="7297737" y="3778250"/>
            <a:ext cx="109537" cy="10795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6" name="Google Shape;796;p39"/>
          <p:cNvCxnSpPr/>
          <p:nvPr/>
        </p:nvCxnSpPr>
        <p:spPr>
          <a:xfrm rot="10800000">
            <a:off x="6934200" y="51816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97" name="Google Shape;797;p39"/>
          <p:cNvSpPr/>
          <p:nvPr/>
        </p:nvSpPr>
        <p:spPr>
          <a:xfrm>
            <a:off x="6553200" y="4384675"/>
            <a:ext cx="109537" cy="111125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39"/>
          <p:cNvCxnSpPr/>
          <p:nvPr/>
        </p:nvCxnSpPr>
        <p:spPr>
          <a:xfrm rot="-9600000">
            <a:off x="7980362" y="4367212"/>
            <a:ext cx="33337" cy="84455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99" name="Google Shape;799;p39"/>
          <p:cNvSpPr/>
          <p:nvPr/>
        </p:nvSpPr>
        <p:spPr>
          <a:xfrm rot="-9540000" flipH="1">
            <a:off x="8077200" y="4343400"/>
            <a:ext cx="109537" cy="115887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0" name="Google Shape;800;p39"/>
          <p:cNvCxnSpPr/>
          <p:nvPr/>
        </p:nvCxnSpPr>
        <p:spPr>
          <a:xfrm>
            <a:off x="7391400" y="3843337"/>
            <a:ext cx="698500" cy="520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01" name="Google Shape;801;p39"/>
          <p:cNvSpPr/>
          <p:nvPr/>
        </p:nvSpPr>
        <p:spPr>
          <a:xfrm>
            <a:off x="6858000" y="5143500"/>
            <a:ext cx="109537" cy="10795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2" name="Google Shape;802;p39"/>
          <p:cNvCxnSpPr/>
          <p:nvPr/>
        </p:nvCxnSpPr>
        <p:spPr>
          <a:xfrm rot="-5400000">
            <a:off x="6700837" y="3729037"/>
            <a:ext cx="598487" cy="78263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03" name="Google Shape;803;p39"/>
          <p:cNvSpPr/>
          <p:nvPr/>
        </p:nvSpPr>
        <p:spPr>
          <a:xfrm>
            <a:off x="7815262" y="5143500"/>
            <a:ext cx="109537" cy="109537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9"/>
          <p:cNvSpPr txBox="1"/>
          <p:nvPr/>
        </p:nvSpPr>
        <p:spPr>
          <a:xfrm>
            <a:off x="6189662" y="4176712"/>
            <a:ext cx="3667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</a:t>
            </a:r>
            <a:endParaRPr/>
          </a:p>
        </p:txBody>
      </p:sp>
      <p:sp>
        <p:nvSpPr>
          <p:cNvPr id="805" name="Google Shape;805;p39"/>
          <p:cNvSpPr txBox="1"/>
          <p:nvPr/>
        </p:nvSpPr>
        <p:spPr>
          <a:xfrm>
            <a:off x="8212137" y="4202112"/>
            <a:ext cx="4556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000"/>
              <a:buFont typeface="Bookman Old Style"/>
              <a:buNone/>
            </a:pPr>
            <a:r>
              <a:rPr lang="en-US" sz="2000" b="0" i="1" u="none">
                <a:solidFill>
                  <a:srgbClr val="DDDDD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US"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</a:t>
            </a:r>
            <a:endParaRPr/>
          </a:p>
        </p:txBody>
      </p:sp>
      <p:sp>
        <p:nvSpPr>
          <p:cNvPr id="806" name="Google Shape;806;p39"/>
          <p:cNvSpPr/>
          <p:nvPr/>
        </p:nvSpPr>
        <p:spPr>
          <a:xfrm rot="-9540000" flipH="1">
            <a:off x="7315200" y="4572000"/>
            <a:ext cx="109537" cy="115887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7" name="Google Shape;807;p39"/>
          <p:cNvCxnSpPr/>
          <p:nvPr/>
        </p:nvCxnSpPr>
        <p:spPr>
          <a:xfrm>
            <a:off x="6607175" y="4408487"/>
            <a:ext cx="784225" cy="23971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08" name="Google Shape;808;p39"/>
          <p:cNvCxnSpPr/>
          <p:nvPr/>
        </p:nvCxnSpPr>
        <p:spPr>
          <a:xfrm>
            <a:off x="7304087" y="4603750"/>
            <a:ext cx="541337" cy="53975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09" name="Google Shape;809;p39"/>
          <p:cNvCxnSpPr/>
          <p:nvPr/>
        </p:nvCxnSpPr>
        <p:spPr>
          <a:xfrm rot="10800000" flipH="1">
            <a:off x="6916737" y="4657725"/>
            <a:ext cx="474662" cy="5238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10" name="Google Shape;810;p39"/>
          <p:cNvCxnSpPr/>
          <p:nvPr/>
        </p:nvCxnSpPr>
        <p:spPr>
          <a:xfrm>
            <a:off x="7364412" y="3832225"/>
            <a:ext cx="0" cy="7715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11" name="Google Shape;811;p39"/>
          <p:cNvCxnSpPr/>
          <p:nvPr/>
        </p:nvCxnSpPr>
        <p:spPr>
          <a:xfrm rot="10800000" flipH="1">
            <a:off x="7380287" y="4419600"/>
            <a:ext cx="773112" cy="20478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12" name="Google Shape;812;p39"/>
          <p:cNvSpPr txBox="1"/>
          <p:nvPr/>
        </p:nvSpPr>
        <p:spPr>
          <a:xfrm>
            <a:off x="6464300" y="5046662"/>
            <a:ext cx="3730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endParaRPr/>
          </a:p>
        </p:txBody>
      </p:sp>
      <p:sp>
        <p:nvSpPr>
          <p:cNvPr id="813" name="Google Shape;813;p39"/>
          <p:cNvSpPr txBox="1"/>
          <p:nvPr/>
        </p:nvSpPr>
        <p:spPr>
          <a:xfrm>
            <a:off x="7424737" y="3328987"/>
            <a:ext cx="33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</a:t>
            </a:r>
            <a:endParaRPr/>
          </a:p>
        </p:txBody>
      </p:sp>
      <p:sp>
        <p:nvSpPr>
          <p:cNvPr id="814" name="Google Shape;814;p39"/>
          <p:cNvSpPr txBox="1"/>
          <p:nvPr/>
        </p:nvSpPr>
        <p:spPr>
          <a:xfrm>
            <a:off x="7996237" y="5065712"/>
            <a:ext cx="34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</a:t>
            </a:r>
            <a:endParaRPr/>
          </a:p>
        </p:txBody>
      </p:sp>
      <p:sp>
        <p:nvSpPr>
          <p:cNvPr id="815" name="Google Shape;815;p39"/>
          <p:cNvSpPr txBox="1"/>
          <p:nvPr/>
        </p:nvSpPr>
        <p:spPr>
          <a:xfrm>
            <a:off x="7391400" y="4114800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</a:t>
            </a:r>
            <a:endParaRPr/>
          </a:p>
        </p:txBody>
      </p:sp>
      <p:sp>
        <p:nvSpPr>
          <p:cNvPr id="816" name="Google Shape;816;p39"/>
          <p:cNvSpPr txBox="1"/>
          <p:nvPr/>
        </p:nvSpPr>
        <p:spPr>
          <a:xfrm>
            <a:off x="5029200" y="6096000"/>
            <a:ext cx="20859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∪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103</a:t>
            </a:r>
            <a:b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Structures</a:t>
            </a:r>
            <a:endParaRPr/>
          </a:p>
        </p:txBody>
      </p:sp>
      <p:sp>
        <p:nvSpPr>
          <p:cNvPr id="822" name="Google Shape;822;p40"/>
          <p:cNvSpPr txBox="1">
            <a:spLocks noGrp="1"/>
          </p:cNvSpPr>
          <p:nvPr>
            <p:ph type="body" idx="1"/>
          </p:nvPr>
        </p:nvSpPr>
        <p:spPr>
          <a:xfrm>
            <a:off x="457200" y="20574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Representing Graphs and</a:t>
            </a:r>
            <a:b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Isomorphism</a:t>
            </a:r>
            <a:endParaRPr sz="3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These class notes are based on material from our textbook,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and Its Applications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</a:t>
            </a:r>
            <a:r>
              <a:rPr lang="en-US" sz="28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ed., by Kenneth H. Rosen, published by McGraw Hill, Boston, MA, 2006.  They are intended for classroom use only and are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substitute for reading the textbook.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1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84582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graph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with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can be represented by its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the entry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row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column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is:</a:t>
            </a:r>
            <a:endParaRPr/>
          </a:p>
        </p:txBody>
      </p:sp>
      <p:sp>
        <p:nvSpPr>
          <p:cNvPr id="828" name="Google Shape;828;p41"/>
          <p:cNvSpPr txBox="1">
            <a:spLocks noGrp="1"/>
          </p:cNvSpPr>
          <p:nvPr>
            <p:ph type="title"/>
          </p:nvPr>
        </p:nvSpPr>
        <p:spPr>
          <a:xfrm>
            <a:off x="755650" y="152400"/>
            <a:ext cx="78549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/>
          </a:p>
        </p:txBody>
      </p:sp>
      <p:pic>
        <p:nvPicPr>
          <p:cNvPr id="829" name="Google Shape;8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3962400"/>
            <a:ext cx="75438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 Example</a:t>
            </a:r>
            <a:endParaRPr/>
          </a:p>
        </p:txBody>
      </p:sp>
      <p:grpSp>
        <p:nvGrpSpPr>
          <p:cNvPr id="835" name="Google Shape;835;p42"/>
          <p:cNvGrpSpPr/>
          <p:nvPr/>
        </p:nvGrpSpPr>
        <p:grpSpPr>
          <a:xfrm>
            <a:off x="3949700" y="1917700"/>
            <a:ext cx="4432300" cy="3492500"/>
            <a:chOff x="2488" y="1056"/>
            <a:chExt cx="2792" cy="2200"/>
          </a:xfrm>
        </p:grpSpPr>
        <p:sp>
          <p:nvSpPr>
            <p:cNvPr id="836" name="Google Shape;836;p42"/>
            <p:cNvSpPr txBox="1"/>
            <p:nvPr/>
          </p:nvSpPr>
          <p:spPr>
            <a:xfrm>
              <a:off x="3264" y="1200"/>
              <a:ext cx="2016" cy="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a    b    c    d    e     </a:t>
              </a:r>
              <a:r>
                <a:rPr lang="en-US" sz="2400" b="0" i="1" u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 </a:t>
              </a:r>
              <a:endParaRPr/>
            </a:p>
          </p:txBody>
        </p:sp>
        <p:grpSp>
          <p:nvGrpSpPr>
            <p:cNvPr id="837" name="Google Shape;837;p42"/>
            <p:cNvGrpSpPr/>
            <p:nvPr/>
          </p:nvGrpSpPr>
          <p:grpSpPr>
            <a:xfrm>
              <a:off x="3168" y="1776"/>
              <a:ext cx="1856" cy="1480"/>
              <a:chOff x="3168" y="1824"/>
              <a:chExt cx="1776" cy="1440"/>
            </a:xfrm>
          </p:grpSpPr>
          <p:grpSp>
            <p:nvGrpSpPr>
              <p:cNvPr id="838" name="Google Shape;838;p42"/>
              <p:cNvGrpSpPr/>
              <p:nvPr/>
            </p:nvGrpSpPr>
            <p:grpSpPr>
              <a:xfrm>
                <a:off x="3168" y="1824"/>
                <a:ext cx="192" cy="1440"/>
                <a:chOff x="2928" y="1824"/>
                <a:chExt cx="192" cy="1440"/>
              </a:xfrm>
            </p:grpSpPr>
            <p:cxnSp>
              <p:nvCxnSpPr>
                <p:cNvPr id="839" name="Google Shape;839;p42"/>
                <p:cNvCxnSpPr/>
                <p:nvPr/>
              </p:nvCxnSpPr>
              <p:spPr>
                <a:xfrm>
                  <a:off x="2928" y="1824"/>
                  <a:ext cx="192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0" name="Google Shape;840;p42"/>
                <p:cNvCxnSpPr/>
                <p:nvPr/>
              </p:nvCxnSpPr>
              <p:spPr>
                <a:xfrm>
                  <a:off x="2928" y="3264"/>
                  <a:ext cx="192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1" name="Google Shape;841;p42"/>
                <p:cNvCxnSpPr/>
                <p:nvPr/>
              </p:nvCxnSpPr>
              <p:spPr>
                <a:xfrm>
                  <a:off x="2928" y="1824"/>
                  <a:ext cx="0" cy="144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42" name="Google Shape;842;p42"/>
              <p:cNvGrpSpPr/>
              <p:nvPr/>
            </p:nvGrpSpPr>
            <p:grpSpPr>
              <a:xfrm flipH="1">
                <a:off x="4752" y="1824"/>
                <a:ext cx="192" cy="1440"/>
                <a:chOff x="2928" y="1824"/>
                <a:chExt cx="192" cy="1440"/>
              </a:xfrm>
            </p:grpSpPr>
            <p:cxnSp>
              <p:nvCxnSpPr>
                <p:cNvPr id="843" name="Google Shape;843;p42"/>
                <p:cNvCxnSpPr/>
                <p:nvPr/>
              </p:nvCxnSpPr>
              <p:spPr>
                <a:xfrm>
                  <a:off x="2928" y="1824"/>
                  <a:ext cx="192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4" name="Google Shape;844;p42"/>
                <p:cNvCxnSpPr/>
                <p:nvPr/>
              </p:nvCxnSpPr>
              <p:spPr>
                <a:xfrm>
                  <a:off x="2928" y="3264"/>
                  <a:ext cx="192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5" name="Google Shape;845;p42"/>
                <p:cNvCxnSpPr/>
                <p:nvPr/>
              </p:nvCxnSpPr>
              <p:spPr>
                <a:xfrm>
                  <a:off x="2928" y="1824"/>
                  <a:ext cx="0" cy="144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846" name="Google Shape;846;p42"/>
            <p:cNvSpPr txBox="1"/>
            <p:nvPr/>
          </p:nvSpPr>
          <p:spPr>
            <a:xfrm>
              <a:off x="2734" y="1779"/>
              <a:ext cx="212" cy="1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a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b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c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d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  <p:sp>
          <p:nvSpPr>
            <p:cNvPr id="847" name="Google Shape;847;p42"/>
            <p:cNvSpPr txBox="1"/>
            <p:nvPr/>
          </p:nvSpPr>
          <p:spPr>
            <a:xfrm>
              <a:off x="2488" y="1504"/>
              <a:ext cx="60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 Antiqua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From</a:t>
              </a:r>
              <a:endParaRPr/>
            </a:p>
          </p:txBody>
        </p:sp>
        <p:sp>
          <p:nvSpPr>
            <p:cNvPr id="848" name="Google Shape;848;p42"/>
            <p:cNvSpPr txBox="1"/>
            <p:nvPr/>
          </p:nvSpPr>
          <p:spPr>
            <a:xfrm>
              <a:off x="3238" y="1056"/>
              <a:ext cx="40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 Antiqua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To</a:t>
              </a:r>
              <a:endParaRPr/>
            </a:p>
          </p:txBody>
        </p:sp>
      </p:grpSp>
      <p:grpSp>
        <p:nvGrpSpPr>
          <p:cNvPr id="849" name="Google Shape;849;p42"/>
          <p:cNvGrpSpPr/>
          <p:nvPr/>
        </p:nvGrpSpPr>
        <p:grpSpPr>
          <a:xfrm>
            <a:off x="528637" y="1781175"/>
            <a:ext cx="2760662" cy="3184525"/>
            <a:chOff x="333" y="1122"/>
            <a:chExt cx="1739" cy="2006"/>
          </a:xfrm>
        </p:grpSpPr>
        <p:sp>
          <p:nvSpPr>
            <p:cNvPr id="850" name="Google Shape;850;p42"/>
            <p:cNvSpPr txBox="1"/>
            <p:nvPr/>
          </p:nvSpPr>
          <p:spPr>
            <a:xfrm>
              <a:off x="1104" y="2840"/>
              <a:ext cx="37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W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5</a:t>
              </a:r>
              <a:endParaRPr/>
            </a:p>
          </p:txBody>
        </p:sp>
        <p:cxnSp>
          <p:nvCxnSpPr>
            <p:cNvPr id="851" name="Google Shape;851;p42"/>
            <p:cNvCxnSpPr/>
            <p:nvPr/>
          </p:nvCxnSpPr>
          <p:spPr>
            <a:xfrm>
              <a:off x="1248" y="1424"/>
              <a:ext cx="528" cy="39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52" name="Google Shape;852;p42"/>
            <p:cNvCxnSpPr/>
            <p:nvPr/>
          </p:nvCxnSpPr>
          <p:spPr>
            <a:xfrm>
              <a:off x="1248" y="1403"/>
              <a:ext cx="0" cy="57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53" name="Google Shape;853;p42"/>
            <p:cNvCxnSpPr/>
            <p:nvPr/>
          </p:nvCxnSpPr>
          <p:spPr>
            <a:xfrm>
              <a:off x="785" y="1816"/>
              <a:ext cx="0" cy="66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54" name="Google Shape;854;p42"/>
            <p:cNvCxnSpPr/>
            <p:nvPr/>
          </p:nvCxnSpPr>
          <p:spPr>
            <a:xfrm rot="-5400000">
              <a:off x="736" y="1347"/>
              <a:ext cx="432" cy="561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55" name="Google Shape;855;p42"/>
            <p:cNvCxnSpPr/>
            <p:nvPr/>
          </p:nvCxnSpPr>
          <p:spPr>
            <a:xfrm>
              <a:off x="672" y="1844"/>
              <a:ext cx="575" cy="17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56" name="Google Shape;856;p42"/>
            <p:cNvCxnSpPr/>
            <p:nvPr/>
          </p:nvCxnSpPr>
          <p:spPr>
            <a:xfrm rot="10680000" flipH="1">
              <a:off x="883" y="2016"/>
              <a:ext cx="375" cy="41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857" name="Google Shape;857;p42"/>
            <p:cNvSpPr txBox="1"/>
            <p:nvPr/>
          </p:nvSpPr>
          <p:spPr>
            <a:xfrm>
              <a:off x="1854" y="1759"/>
              <a:ext cx="218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858" name="Google Shape;858;p42"/>
            <p:cNvSpPr/>
            <p:nvPr/>
          </p:nvSpPr>
          <p:spPr>
            <a:xfrm>
              <a:off x="1200" y="1364"/>
              <a:ext cx="81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9" name="Google Shape;859;p42"/>
            <p:cNvCxnSpPr/>
            <p:nvPr/>
          </p:nvCxnSpPr>
          <p:spPr>
            <a:xfrm rot="10800000">
              <a:off x="912" y="2448"/>
              <a:ext cx="624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860" name="Google Shape;860;p42"/>
            <p:cNvSpPr/>
            <p:nvPr/>
          </p:nvSpPr>
          <p:spPr>
            <a:xfrm>
              <a:off x="631" y="1800"/>
              <a:ext cx="81" cy="82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1" name="Google Shape;861;p42"/>
            <p:cNvCxnSpPr/>
            <p:nvPr/>
          </p:nvCxnSpPr>
          <p:spPr>
            <a:xfrm rot="-9600000">
              <a:off x="1680" y="1846"/>
              <a:ext cx="23" cy="60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862" name="Google Shape;862;p42"/>
            <p:cNvSpPr/>
            <p:nvPr/>
          </p:nvSpPr>
          <p:spPr>
            <a:xfrm rot="-9540000" flipH="1">
              <a:off x="1740" y="1790"/>
              <a:ext cx="81" cy="87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846" y="2405"/>
              <a:ext cx="81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1538" y="2405"/>
              <a:ext cx="81" cy="81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2"/>
            <p:cNvSpPr txBox="1"/>
            <p:nvPr/>
          </p:nvSpPr>
          <p:spPr>
            <a:xfrm>
              <a:off x="333" y="1759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sp>
          <p:nvSpPr>
            <p:cNvPr id="866" name="Google Shape;866;p42"/>
            <p:cNvSpPr/>
            <p:nvPr/>
          </p:nvSpPr>
          <p:spPr>
            <a:xfrm rot="-9540000" flipH="1">
              <a:off x="1215" y="1960"/>
              <a:ext cx="81" cy="87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7" name="Google Shape;867;p42"/>
            <p:cNvCxnSpPr/>
            <p:nvPr/>
          </p:nvCxnSpPr>
          <p:spPr>
            <a:xfrm rot="480000">
              <a:off x="1224" y="2025"/>
              <a:ext cx="383" cy="38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68" name="Google Shape;868;p42"/>
            <p:cNvCxnSpPr/>
            <p:nvPr/>
          </p:nvCxnSpPr>
          <p:spPr>
            <a:xfrm rot="10800000" flipH="1">
              <a:off x="1268" y="1846"/>
              <a:ext cx="501" cy="13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869" name="Google Shape;869;p42"/>
            <p:cNvSpPr txBox="1"/>
            <p:nvPr/>
          </p:nvSpPr>
          <p:spPr>
            <a:xfrm>
              <a:off x="579" y="2399"/>
              <a:ext cx="215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870" name="Google Shape;870;p42"/>
            <p:cNvSpPr txBox="1"/>
            <p:nvPr/>
          </p:nvSpPr>
          <p:spPr>
            <a:xfrm>
              <a:off x="1302" y="1122"/>
              <a:ext cx="193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871" name="Google Shape;871;p42"/>
            <p:cNvSpPr txBox="1"/>
            <p:nvPr/>
          </p:nvSpPr>
          <p:spPr>
            <a:xfrm>
              <a:off x="1661" y="2370"/>
              <a:ext cx="20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872" name="Google Shape;872;p42"/>
            <p:cNvSpPr txBox="1"/>
            <p:nvPr/>
          </p:nvSpPr>
          <p:spPr>
            <a:xfrm>
              <a:off x="1304" y="1920"/>
              <a:ext cx="22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f</a:t>
              </a:r>
              <a:endParaRPr/>
            </a:p>
          </p:txBody>
        </p:sp>
      </p:grpSp>
      <p:grpSp>
        <p:nvGrpSpPr>
          <p:cNvPr id="873" name="Google Shape;873;p42"/>
          <p:cNvGrpSpPr/>
          <p:nvPr/>
        </p:nvGrpSpPr>
        <p:grpSpPr>
          <a:xfrm>
            <a:off x="1265237" y="5399087"/>
            <a:ext cx="2011362" cy="1027112"/>
            <a:chOff x="576" y="3481"/>
            <a:chExt cx="1267" cy="647"/>
          </a:xfrm>
        </p:grpSpPr>
        <p:sp>
          <p:nvSpPr>
            <p:cNvPr id="874" name="Google Shape;874;p42"/>
            <p:cNvSpPr txBox="1"/>
            <p:nvPr/>
          </p:nvSpPr>
          <p:spPr>
            <a:xfrm>
              <a:off x="758" y="3481"/>
              <a:ext cx="70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{</a:t>
              </a: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r>
                <a:rPr lang="en-US"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,</a:t>
              </a: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r>
                <a:rPr lang="en-US"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}</a:t>
              </a:r>
              <a:endParaRPr/>
            </a:p>
          </p:txBody>
        </p:sp>
        <p:sp>
          <p:nvSpPr>
            <p:cNvPr id="875" name="Google Shape;875;p42"/>
            <p:cNvSpPr txBox="1"/>
            <p:nvPr/>
          </p:nvSpPr>
          <p:spPr>
            <a:xfrm>
              <a:off x="576" y="3840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row	column</a:t>
              </a:r>
              <a:endParaRPr/>
            </a:p>
          </p:txBody>
        </p:sp>
        <p:cxnSp>
          <p:nvCxnSpPr>
            <p:cNvPr id="876" name="Google Shape;876;p42"/>
            <p:cNvCxnSpPr/>
            <p:nvPr/>
          </p:nvCxnSpPr>
          <p:spPr>
            <a:xfrm flipH="1">
              <a:off x="816" y="3762"/>
              <a:ext cx="144" cy="14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877" name="Google Shape;877;p42"/>
            <p:cNvCxnSpPr/>
            <p:nvPr/>
          </p:nvCxnSpPr>
          <p:spPr>
            <a:xfrm>
              <a:off x="1296" y="3762"/>
              <a:ext cx="144" cy="14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sp>
        <p:nvSpPr>
          <p:cNvPr id="878" name="Google Shape;878;p42"/>
          <p:cNvSpPr txBox="1"/>
          <p:nvPr/>
        </p:nvSpPr>
        <p:spPr>
          <a:xfrm>
            <a:off x="5153025" y="3051175"/>
            <a:ext cx="2622550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0    1    0    0    1    1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1    0    1    0    0    1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0    1    0    1    0    1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0    0    1    0    1    1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1    0    0    1    0    1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1    1    1    1    1    0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"/>
                                        <p:tgtEl>
                                          <p:spTgt spid="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"/>
                                        <p:tgtEl>
                                          <p:spTgt spid="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"/>
                                        <p:tgtEl>
                                          <p:spTgt spid="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"/>
                                        <p:tgtEl>
                                          <p:spTgt spid="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"/>
                                        <p:tgtEl>
                                          <p:spTgt spid="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"/>
                                        <p:tgtEl>
                                          <p:spTgt spid="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Incidence Matrix</a:t>
            </a: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884" name="Google Shape;884;p43"/>
          <p:cNvSpPr txBox="1">
            <a:spLocks noGrp="1"/>
          </p:cNvSpPr>
          <p:nvPr>
            <p:ph type="body" idx="1"/>
          </p:nvPr>
        </p:nvSpPr>
        <p:spPr>
          <a:xfrm>
            <a:off x="152400" y="1371600"/>
            <a:ext cx="86868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be an undirected graph. Suppose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,…,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the vertices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,…,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the edges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The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incidence matrix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w.r.t. this ordering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matrix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[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where</a:t>
            </a:r>
            <a:endParaRPr/>
          </a:p>
        </p:txBody>
      </p:sp>
      <p:pic>
        <p:nvPicPr>
          <p:cNvPr id="885" name="Google Shape;885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419600"/>
            <a:ext cx="822960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4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Incidence Matrix Example</a:t>
            </a:r>
            <a:endParaRPr/>
          </a:p>
        </p:txBody>
      </p:sp>
      <p:sp>
        <p:nvSpPr>
          <p:cNvPr id="891" name="Google Shape;891;p44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 the graph shown with an incidence matrix.</a:t>
            </a:r>
            <a:endParaRPr/>
          </a:p>
        </p:txBody>
      </p:sp>
      <p:sp>
        <p:nvSpPr>
          <p:cNvPr id="892" name="Google Shape;892;p44"/>
          <p:cNvSpPr txBox="1"/>
          <p:nvPr/>
        </p:nvSpPr>
        <p:spPr>
          <a:xfrm>
            <a:off x="4902200" y="3478212"/>
            <a:ext cx="2241550" cy="1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1   1   0   0   0   0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0   0   1   1   0   1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0   0   0   0   1   1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1   0   1   0   0   0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0   1   0   1   1   0</a:t>
            </a:r>
            <a:endParaRPr/>
          </a:p>
        </p:txBody>
      </p:sp>
      <p:grpSp>
        <p:nvGrpSpPr>
          <p:cNvPr id="893" name="Google Shape;893;p44"/>
          <p:cNvGrpSpPr/>
          <p:nvPr/>
        </p:nvGrpSpPr>
        <p:grpSpPr>
          <a:xfrm>
            <a:off x="3987800" y="3417887"/>
            <a:ext cx="1216025" cy="2936875"/>
            <a:chOff x="2512" y="2153"/>
            <a:chExt cx="766" cy="1850"/>
          </a:xfrm>
        </p:grpSpPr>
        <p:sp>
          <p:nvSpPr>
            <p:cNvPr id="894" name="Google Shape;894;p44"/>
            <p:cNvSpPr txBox="1"/>
            <p:nvPr/>
          </p:nvSpPr>
          <p:spPr>
            <a:xfrm>
              <a:off x="2744" y="2153"/>
              <a:ext cx="276" cy="1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3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4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5</a:t>
              </a:r>
              <a:endParaRPr/>
            </a:p>
          </p:txBody>
        </p:sp>
        <p:sp>
          <p:nvSpPr>
            <p:cNvPr id="895" name="Google Shape;895;p44"/>
            <p:cNvSpPr txBox="1"/>
            <p:nvPr/>
          </p:nvSpPr>
          <p:spPr>
            <a:xfrm>
              <a:off x="2512" y="3715"/>
              <a:ext cx="76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vertices</a:t>
              </a:r>
              <a:endParaRPr/>
            </a:p>
          </p:txBody>
        </p:sp>
        <p:cxnSp>
          <p:nvCxnSpPr>
            <p:cNvPr id="896" name="Google Shape;896;p44"/>
            <p:cNvCxnSpPr/>
            <p:nvPr/>
          </p:nvCxnSpPr>
          <p:spPr>
            <a:xfrm rot="10800000">
              <a:off x="2872" y="3408"/>
              <a:ext cx="0" cy="33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897" name="Google Shape;897;p44"/>
          <p:cNvGrpSpPr/>
          <p:nvPr/>
        </p:nvGrpSpPr>
        <p:grpSpPr>
          <a:xfrm>
            <a:off x="4911725" y="2954337"/>
            <a:ext cx="3944937" cy="476250"/>
            <a:chOff x="3094" y="1861"/>
            <a:chExt cx="2485" cy="300"/>
          </a:xfrm>
        </p:grpSpPr>
        <p:sp>
          <p:nvSpPr>
            <p:cNvPr id="898" name="Google Shape;898;p44"/>
            <p:cNvSpPr txBox="1"/>
            <p:nvPr/>
          </p:nvSpPr>
          <p:spPr>
            <a:xfrm>
              <a:off x="3094" y="1873"/>
              <a:ext cx="143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r>
                <a:rPr lang="en-US" sz="2400" b="0" i="0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  </a:t>
              </a: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r>
                <a:rPr lang="en-US" sz="2400" b="0" i="0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  </a:t>
              </a: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3</a:t>
              </a:r>
              <a:r>
                <a:rPr lang="en-US" sz="2400" b="0" i="0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  </a:t>
              </a: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4</a:t>
              </a:r>
              <a:r>
                <a:rPr lang="en-US" sz="2400" b="0" i="0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  </a:t>
              </a: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5</a:t>
              </a:r>
              <a:r>
                <a:rPr lang="en-US" sz="2400" b="0" i="0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  </a:t>
              </a: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6</a:t>
              </a:r>
              <a:endParaRPr/>
            </a:p>
          </p:txBody>
        </p:sp>
        <p:sp>
          <p:nvSpPr>
            <p:cNvPr id="899" name="Google Shape;899;p44"/>
            <p:cNvSpPr txBox="1"/>
            <p:nvPr/>
          </p:nvSpPr>
          <p:spPr>
            <a:xfrm>
              <a:off x="4963" y="1861"/>
              <a:ext cx="61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edges</a:t>
              </a:r>
              <a:endParaRPr/>
            </a:p>
          </p:txBody>
        </p:sp>
        <p:cxnSp>
          <p:nvCxnSpPr>
            <p:cNvPr id="900" name="Google Shape;900;p44"/>
            <p:cNvCxnSpPr/>
            <p:nvPr/>
          </p:nvCxnSpPr>
          <p:spPr>
            <a:xfrm rot="10800000">
              <a:off x="4637" y="2032"/>
              <a:ext cx="33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901" name="Google Shape;901;p44"/>
          <p:cNvGrpSpPr/>
          <p:nvPr/>
        </p:nvGrpSpPr>
        <p:grpSpPr>
          <a:xfrm>
            <a:off x="927100" y="3249612"/>
            <a:ext cx="2546350" cy="2112962"/>
            <a:chOff x="584" y="2047"/>
            <a:chExt cx="1604" cy="1331"/>
          </a:xfrm>
        </p:grpSpPr>
        <p:sp>
          <p:nvSpPr>
            <p:cNvPr id="902" name="Google Shape;902;p44"/>
            <p:cNvSpPr/>
            <p:nvPr/>
          </p:nvSpPr>
          <p:spPr>
            <a:xfrm>
              <a:off x="690" y="2376"/>
              <a:ext cx="69" cy="69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3" name="Google Shape;903;p44"/>
            <p:cNvCxnSpPr/>
            <p:nvPr/>
          </p:nvCxnSpPr>
          <p:spPr>
            <a:xfrm>
              <a:off x="750" y="2424"/>
              <a:ext cx="300" cy="72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04" name="Google Shape;904;p44"/>
            <p:cNvCxnSpPr/>
            <p:nvPr/>
          </p:nvCxnSpPr>
          <p:spPr>
            <a:xfrm>
              <a:off x="750" y="2424"/>
              <a:ext cx="960" cy="67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05" name="Google Shape;905;p44"/>
            <p:cNvCxnSpPr/>
            <p:nvPr/>
          </p:nvCxnSpPr>
          <p:spPr>
            <a:xfrm rot="10800000" flipH="1">
              <a:off x="1050" y="2424"/>
              <a:ext cx="300" cy="67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06" name="Google Shape;906;p44"/>
            <p:cNvCxnSpPr/>
            <p:nvPr/>
          </p:nvCxnSpPr>
          <p:spPr>
            <a:xfrm>
              <a:off x="1350" y="2424"/>
              <a:ext cx="360" cy="67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07" name="Google Shape;907;p44"/>
            <p:cNvCxnSpPr/>
            <p:nvPr/>
          </p:nvCxnSpPr>
          <p:spPr>
            <a:xfrm rot="10800000" flipH="1">
              <a:off x="1710" y="2424"/>
              <a:ext cx="360" cy="67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08" name="Google Shape;908;p44"/>
            <p:cNvCxnSpPr/>
            <p:nvPr/>
          </p:nvCxnSpPr>
          <p:spPr>
            <a:xfrm>
              <a:off x="1350" y="2424"/>
              <a:ext cx="72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909" name="Google Shape;909;p44"/>
            <p:cNvSpPr txBox="1"/>
            <p:nvPr/>
          </p:nvSpPr>
          <p:spPr>
            <a:xfrm>
              <a:off x="584" y="2047"/>
              <a:ext cx="160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r>
                <a:rPr lang="en-US" sz="2400" b="0" i="0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        </a:t>
              </a: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r>
                <a:rPr lang="en-US" sz="2400" b="0" i="0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             </a:t>
              </a: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3</a:t>
              </a:r>
              <a:endParaRPr/>
            </a:p>
          </p:txBody>
        </p:sp>
        <p:sp>
          <p:nvSpPr>
            <p:cNvPr id="910" name="Google Shape;910;p44"/>
            <p:cNvSpPr txBox="1"/>
            <p:nvPr/>
          </p:nvSpPr>
          <p:spPr>
            <a:xfrm>
              <a:off x="918" y="3090"/>
              <a:ext cx="96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4</a:t>
              </a:r>
              <a:r>
                <a:rPr lang="en-US" sz="2400" b="0" i="0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           </a:t>
              </a: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5</a:t>
              </a:r>
              <a:endParaRPr/>
            </a:p>
          </p:txBody>
        </p:sp>
        <p:sp>
          <p:nvSpPr>
            <p:cNvPr id="911" name="Google Shape;911;p44"/>
            <p:cNvSpPr txBox="1"/>
            <p:nvPr/>
          </p:nvSpPr>
          <p:spPr>
            <a:xfrm>
              <a:off x="594" y="2577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/>
            </a:p>
          </p:txBody>
        </p:sp>
        <p:sp>
          <p:nvSpPr>
            <p:cNvPr id="912" name="Google Shape;912;p44"/>
            <p:cNvSpPr txBox="1"/>
            <p:nvPr/>
          </p:nvSpPr>
          <p:spPr>
            <a:xfrm>
              <a:off x="1290" y="2781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/>
            </a:p>
          </p:txBody>
        </p:sp>
        <p:sp>
          <p:nvSpPr>
            <p:cNvPr id="913" name="Google Shape;913;p44"/>
            <p:cNvSpPr txBox="1"/>
            <p:nvPr/>
          </p:nvSpPr>
          <p:spPr>
            <a:xfrm>
              <a:off x="1043" y="2385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3</a:t>
              </a:r>
              <a:endParaRPr/>
            </a:p>
          </p:txBody>
        </p:sp>
        <p:sp>
          <p:nvSpPr>
            <p:cNvPr id="914" name="Google Shape;914;p44"/>
            <p:cNvSpPr txBox="1"/>
            <p:nvPr/>
          </p:nvSpPr>
          <p:spPr>
            <a:xfrm>
              <a:off x="1485" y="2520"/>
              <a:ext cx="32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4</a:t>
              </a:r>
              <a:endParaRPr/>
            </a:p>
          </p:txBody>
        </p:sp>
        <p:sp>
          <p:nvSpPr>
            <p:cNvPr id="915" name="Google Shape;915;p44"/>
            <p:cNvSpPr txBox="1"/>
            <p:nvPr/>
          </p:nvSpPr>
          <p:spPr>
            <a:xfrm>
              <a:off x="1890" y="2625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5</a:t>
              </a:r>
              <a:endParaRPr/>
            </a:p>
          </p:txBody>
        </p:sp>
        <p:sp>
          <p:nvSpPr>
            <p:cNvPr id="916" name="Google Shape;916;p44"/>
            <p:cNvSpPr txBox="1"/>
            <p:nvPr/>
          </p:nvSpPr>
          <p:spPr>
            <a:xfrm>
              <a:off x="1554" y="2160"/>
              <a:ext cx="24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 Antiqua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e</a:t>
              </a:r>
              <a:r>
                <a:rPr lang="en-US" sz="2000" b="0" i="0" u="none" baseline="-25000">
                  <a:solidFill>
                    <a:schemeClr val="dk2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6</a:t>
              </a:r>
              <a:endParaRPr/>
            </a:p>
          </p:txBody>
        </p:sp>
        <p:sp>
          <p:nvSpPr>
            <p:cNvPr id="917" name="Google Shape;917;p44"/>
            <p:cNvSpPr/>
            <p:nvPr/>
          </p:nvSpPr>
          <p:spPr>
            <a:xfrm>
              <a:off x="1314" y="2387"/>
              <a:ext cx="69" cy="69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44"/>
            <p:cNvSpPr/>
            <p:nvPr/>
          </p:nvSpPr>
          <p:spPr>
            <a:xfrm>
              <a:off x="2017" y="2387"/>
              <a:ext cx="69" cy="69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4"/>
            <p:cNvSpPr/>
            <p:nvPr/>
          </p:nvSpPr>
          <p:spPr>
            <a:xfrm>
              <a:off x="998" y="3066"/>
              <a:ext cx="69" cy="69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4"/>
            <p:cNvSpPr/>
            <p:nvPr/>
          </p:nvSpPr>
          <p:spPr>
            <a:xfrm>
              <a:off x="1677" y="3045"/>
              <a:ext cx="69" cy="69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"/>
                                        <p:tgtEl>
                                          <p:spTgt spid="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"/>
                                        <p:tgtEl>
                                          <p:spTgt spid="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"/>
                                        <p:tgtEl>
                                          <p:spTgt spid="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"/>
                                        <p:tgtEl>
                                          <p:spTgt spid="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"/>
                                        <p:tgtEl>
                                          <p:spTgt spid="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Isomorphism</a:t>
            </a:r>
            <a:endParaRPr/>
          </a:p>
        </p:txBody>
      </p:sp>
      <p:sp>
        <p:nvSpPr>
          <p:cNvPr id="926" name="Google Shape;926;p45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05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simple graphs are isomorphic if: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–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one-to one correspondence between the vertices of the two graphs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–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adjacency relationship is preserved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6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1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Isomorphism (Cont.)</a:t>
            </a:r>
            <a:endParaRPr/>
          </a:p>
        </p:txBody>
      </p:sp>
      <p:sp>
        <p:nvSpPr>
          <p:cNvPr id="932" name="Google Shape;932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simple graphs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are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isomorphic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there is a one-to-one and onto function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the property that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adjacent in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are adjacent in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for all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ransition spd="slow"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grpSp>
        <p:nvGrpSpPr>
          <p:cNvPr id="938" name="Google Shape;938;p47"/>
          <p:cNvGrpSpPr/>
          <p:nvPr/>
        </p:nvGrpSpPr>
        <p:grpSpPr>
          <a:xfrm>
            <a:off x="1674812" y="1727200"/>
            <a:ext cx="5792787" cy="2700337"/>
            <a:chOff x="1055" y="1088"/>
            <a:chExt cx="3649" cy="1701"/>
          </a:xfrm>
        </p:grpSpPr>
        <p:sp>
          <p:nvSpPr>
            <p:cNvPr id="939" name="Google Shape;939;p47"/>
            <p:cNvSpPr txBox="1"/>
            <p:nvPr/>
          </p:nvSpPr>
          <p:spPr>
            <a:xfrm>
              <a:off x="1055" y="1096"/>
              <a:ext cx="289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u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</p:txBody>
        </p:sp>
        <p:grpSp>
          <p:nvGrpSpPr>
            <p:cNvPr id="940" name="Google Shape;940;p47"/>
            <p:cNvGrpSpPr/>
            <p:nvPr/>
          </p:nvGrpSpPr>
          <p:grpSpPr>
            <a:xfrm>
              <a:off x="1207" y="1320"/>
              <a:ext cx="1002" cy="1002"/>
              <a:chOff x="1207" y="1320"/>
              <a:chExt cx="1256" cy="1256"/>
            </a:xfrm>
          </p:grpSpPr>
          <p:sp>
            <p:nvSpPr>
              <p:cNvPr id="941" name="Google Shape;941;p47"/>
              <p:cNvSpPr/>
              <p:nvPr/>
            </p:nvSpPr>
            <p:spPr>
              <a:xfrm>
                <a:off x="2375" y="1328"/>
                <a:ext cx="80" cy="80"/>
              </a:xfrm>
              <a:prstGeom prst="ellipse">
                <a:avLst/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47"/>
              <p:cNvSpPr/>
              <p:nvPr/>
            </p:nvSpPr>
            <p:spPr>
              <a:xfrm>
                <a:off x="1207" y="1320"/>
                <a:ext cx="80" cy="80"/>
              </a:xfrm>
              <a:prstGeom prst="ellipse">
                <a:avLst/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47"/>
              <p:cNvSpPr/>
              <p:nvPr/>
            </p:nvSpPr>
            <p:spPr>
              <a:xfrm>
                <a:off x="1207" y="2488"/>
                <a:ext cx="80" cy="80"/>
              </a:xfrm>
              <a:prstGeom prst="ellipse">
                <a:avLst/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47"/>
              <p:cNvSpPr/>
              <p:nvPr/>
            </p:nvSpPr>
            <p:spPr>
              <a:xfrm>
                <a:off x="2383" y="2496"/>
                <a:ext cx="80" cy="80"/>
              </a:xfrm>
              <a:prstGeom prst="ellipse">
                <a:avLst/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45" name="Google Shape;945;p47"/>
              <p:cNvCxnSpPr/>
              <p:nvPr/>
            </p:nvCxnSpPr>
            <p:spPr>
              <a:xfrm rot="5400000">
                <a:off x="670" y="1943"/>
                <a:ext cx="116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46" name="Google Shape;946;p47"/>
              <p:cNvCxnSpPr/>
              <p:nvPr/>
            </p:nvCxnSpPr>
            <p:spPr>
              <a:xfrm rot="5400000">
                <a:off x="1846" y="1959"/>
                <a:ext cx="116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47" name="Google Shape;947;p47"/>
              <p:cNvCxnSpPr/>
              <p:nvPr/>
            </p:nvCxnSpPr>
            <p:spPr>
              <a:xfrm rot="10800000">
                <a:off x="1254" y="2535"/>
                <a:ext cx="116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48" name="Google Shape;948;p47"/>
              <p:cNvCxnSpPr/>
              <p:nvPr/>
            </p:nvCxnSpPr>
            <p:spPr>
              <a:xfrm rot="10800000">
                <a:off x="1254" y="1359"/>
                <a:ext cx="116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sp>
          <p:nvSpPr>
            <p:cNvPr id="949" name="Google Shape;949;p47"/>
            <p:cNvSpPr txBox="1"/>
            <p:nvPr/>
          </p:nvSpPr>
          <p:spPr>
            <a:xfrm>
              <a:off x="1119" y="2280"/>
              <a:ext cx="273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u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950" name="Google Shape;950;p47"/>
            <p:cNvSpPr txBox="1"/>
            <p:nvPr/>
          </p:nvSpPr>
          <p:spPr>
            <a:xfrm>
              <a:off x="2223" y="2288"/>
              <a:ext cx="273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u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  <p:sp>
          <p:nvSpPr>
            <p:cNvPr id="951" name="Google Shape;951;p47"/>
            <p:cNvSpPr txBox="1"/>
            <p:nvPr/>
          </p:nvSpPr>
          <p:spPr>
            <a:xfrm>
              <a:off x="2191" y="1120"/>
              <a:ext cx="257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u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  <p:sp>
          <p:nvSpPr>
            <p:cNvPr id="952" name="Google Shape;952;p47"/>
            <p:cNvSpPr txBox="1"/>
            <p:nvPr/>
          </p:nvSpPr>
          <p:spPr>
            <a:xfrm>
              <a:off x="3239" y="1096"/>
              <a:ext cx="265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</p:txBody>
        </p:sp>
        <p:grpSp>
          <p:nvGrpSpPr>
            <p:cNvPr id="953" name="Google Shape;953;p47"/>
            <p:cNvGrpSpPr/>
            <p:nvPr/>
          </p:nvGrpSpPr>
          <p:grpSpPr>
            <a:xfrm>
              <a:off x="3391" y="1320"/>
              <a:ext cx="1002" cy="1002"/>
              <a:chOff x="3391" y="1320"/>
              <a:chExt cx="1256" cy="1256"/>
            </a:xfrm>
          </p:grpSpPr>
          <p:sp>
            <p:nvSpPr>
              <p:cNvPr id="954" name="Google Shape;954;p47"/>
              <p:cNvSpPr/>
              <p:nvPr/>
            </p:nvSpPr>
            <p:spPr>
              <a:xfrm>
                <a:off x="4559" y="1328"/>
                <a:ext cx="80" cy="80"/>
              </a:xfrm>
              <a:prstGeom prst="ellipse">
                <a:avLst/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47"/>
              <p:cNvSpPr/>
              <p:nvPr/>
            </p:nvSpPr>
            <p:spPr>
              <a:xfrm>
                <a:off x="3391" y="1320"/>
                <a:ext cx="80" cy="80"/>
              </a:xfrm>
              <a:prstGeom prst="ellipse">
                <a:avLst/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47"/>
              <p:cNvSpPr/>
              <p:nvPr/>
            </p:nvSpPr>
            <p:spPr>
              <a:xfrm>
                <a:off x="3391" y="2488"/>
                <a:ext cx="80" cy="80"/>
              </a:xfrm>
              <a:prstGeom prst="ellipse">
                <a:avLst/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47"/>
              <p:cNvSpPr/>
              <p:nvPr/>
            </p:nvSpPr>
            <p:spPr>
              <a:xfrm>
                <a:off x="4567" y="2496"/>
                <a:ext cx="80" cy="80"/>
              </a:xfrm>
              <a:prstGeom prst="ellipse">
                <a:avLst/>
              </a:prstGeom>
              <a:solidFill>
                <a:schemeClr val="dk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58" name="Google Shape;958;p47"/>
              <p:cNvCxnSpPr/>
              <p:nvPr/>
            </p:nvCxnSpPr>
            <p:spPr>
              <a:xfrm rot="5400000">
                <a:off x="2854" y="1943"/>
                <a:ext cx="116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59" name="Google Shape;959;p47"/>
              <p:cNvCxnSpPr/>
              <p:nvPr/>
            </p:nvCxnSpPr>
            <p:spPr>
              <a:xfrm rot="5400000">
                <a:off x="4030" y="1959"/>
                <a:ext cx="116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60" name="Google Shape;960;p47"/>
              <p:cNvCxnSpPr/>
              <p:nvPr/>
            </p:nvCxnSpPr>
            <p:spPr>
              <a:xfrm flipH="1">
                <a:off x="3438" y="1351"/>
                <a:ext cx="1168" cy="1184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61" name="Google Shape;961;p47"/>
              <p:cNvCxnSpPr/>
              <p:nvPr/>
            </p:nvCxnSpPr>
            <p:spPr>
              <a:xfrm rot="10800000">
                <a:off x="3438" y="1359"/>
                <a:ext cx="1152" cy="1168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sp>
          <p:nvSpPr>
            <p:cNvPr id="962" name="Google Shape;962;p47"/>
            <p:cNvSpPr txBox="1"/>
            <p:nvPr/>
          </p:nvSpPr>
          <p:spPr>
            <a:xfrm>
              <a:off x="3303" y="2280"/>
              <a:ext cx="345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963" name="Google Shape;963;p47"/>
            <p:cNvSpPr txBox="1"/>
            <p:nvPr/>
          </p:nvSpPr>
          <p:spPr>
            <a:xfrm>
              <a:off x="4407" y="2304"/>
              <a:ext cx="297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  <p:sp>
          <p:nvSpPr>
            <p:cNvPr id="964" name="Google Shape;964;p47"/>
            <p:cNvSpPr txBox="1"/>
            <p:nvPr/>
          </p:nvSpPr>
          <p:spPr>
            <a:xfrm>
              <a:off x="4391" y="1088"/>
              <a:ext cx="265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  <p:sp>
          <p:nvSpPr>
            <p:cNvPr id="965" name="Google Shape;965;p47"/>
            <p:cNvSpPr txBox="1"/>
            <p:nvPr/>
          </p:nvSpPr>
          <p:spPr>
            <a:xfrm>
              <a:off x="1663" y="2520"/>
              <a:ext cx="184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Bookman Old Style"/>
                <a:buNone/>
              </a:pPr>
              <a:r>
                <a:rPr lang="en-US" sz="28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endParaRPr/>
            </a:p>
          </p:txBody>
        </p:sp>
        <p:sp>
          <p:nvSpPr>
            <p:cNvPr id="966" name="Google Shape;966;p47"/>
            <p:cNvSpPr txBox="1"/>
            <p:nvPr/>
          </p:nvSpPr>
          <p:spPr>
            <a:xfrm>
              <a:off x="3823" y="2512"/>
              <a:ext cx="184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Bookman Old Style"/>
                <a:buNone/>
              </a:pPr>
              <a:r>
                <a:rPr lang="en-US" sz="28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H</a:t>
              </a:r>
              <a:endParaRPr/>
            </a:p>
          </p:txBody>
        </p:sp>
      </p:grpSp>
      <p:sp>
        <p:nvSpPr>
          <p:cNvPr id="967" name="Google Shape;967;p47"/>
          <p:cNvSpPr txBox="1"/>
          <p:nvPr/>
        </p:nvSpPr>
        <p:spPr>
          <a:xfrm>
            <a:off x="304800" y="4800600"/>
            <a:ext cx="8458200" cy="146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isomorphic?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4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Invariants</a:t>
            </a:r>
            <a:endParaRPr/>
          </a:p>
        </p:txBody>
      </p:sp>
      <p:sp>
        <p:nvSpPr>
          <p:cNvPr id="973" name="Google Shape;973;p48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Invariants – properties that two simple graphs must have in common to be isomorphic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number of vertices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number of edges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Degrees of corresponding vertices are the same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one is bipartite, the other must be; if one is complete, the other must be; and others …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4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grpSp>
        <p:nvGrpSpPr>
          <p:cNvPr id="979" name="Google Shape;979;p49"/>
          <p:cNvGrpSpPr/>
          <p:nvPr/>
        </p:nvGrpSpPr>
        <p:grpSpPr>
          <a:xfrm>
            <a:off x="1727200" y="1947862"/>
            <a:ext cx="5586412" cy="4294187"/>
            <a:chOff x="1088" y="1227"/>
            <a:chExt cx="3519" cy="2705"/>
          </a:xfrm>
        </p:grpSpPr>
        <p:sp>
          <p:nvSpPr>
            <p:cNvPr id="980" name="Google Shape;980;p49"/>
            <p:cNvSpPr txBox="1"/>
            <p:nvPr/>
          </p:nvSpPr>
          <p:spPr>
            <a:xfrm>
              <a:off x="1088" y="1771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981" name="Google Shape;981;p49"/>
            <p:cNvSpPr/>
            <p:nvPr/>
          </p:nvSpPr>
          <p:spPr>
            <a:xfrm>
              <a:off x="2171" y="1945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9"/>
            <p:cNvSpPr/>
            <p:nvPr/>
          </p:nvSpPr>
          <p:spPr>
            <a:xfrm>
              <a:off x="1239" y="1939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9"/>
            <p:cNvSpPr/>
            <p:nvPr/>
          </p:nvSpPr>
          <p:spPr>
            <a:xfrm>
              <a:off x="1239" y="2871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49"/>
            <p:cNvSpPr/>
            <p:nvPr/>
          </p:nvSpPr>
          <p:spPr>
            <a:xfrm>
              <a:off x="2177" y="2877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5" name="Google Shape;985;p49"/>
            <p:cNvCxnSpPr/>
            <p:nvPr/>
          </p:nvCxnSpPr>
          <p:spPr>
            <a:xfrm rot="5400000">
              <a:off x="810" y="2436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86" name="Google Shape;986;p49"/>
            <p:cNvCxnSpPr/>
            <p:nvPr/>
          </p:nvCxnSpPr>
          <p:spPr>
            <a:xfrm rot="5400000">
              <a:off x="1748" y="2448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87" name="Google Shape;987;p49"/>
            <p:cNvCxnSpPr/>
            <p:nvPr/>
          </p:nvCxnSpPr>
          <p:spPr>
            <a:xfrm rot="10800000">
              <a:off x="1276" y="2908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988" name="Google Shape;988;p49"/>
            <p:cNvSpPr txBox="1"/>
            <p:nvPr/>
          </p:nvSpPr>
          <p:spPr>
            <a:xfrm>
              <a:off x="1108" y="2899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989" name="Google Shape;989;p49"/>
            <p:cNvSpPr txBox="1"/>
            <p:nvPr/>
          </p:nvSpPr>
          <p:spPr>
            <a:xfrm>
              <a:off x="2255" y="2907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990" name="Google Shape;990;p49"/>
            <p:cNvSpPr txBox="1"/>
            <p:nvPr/>
          </p:nvSpPr>
          <p:spPr>
            <a:xfrm>
              <a:off x="2223" y="1739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991" name="Google Shape;991;p49"/>
            <p:cNvSpPr txBox="1"/>
            <p:nvPr/>
          </p:nvSpPr>
          <p:spPr>
            <a:xfrm>
              <a:off x="1695" y="3139"/>
              <a:ext cx="184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Bookman Old Style"/>
                <a:buNone/>
              </a:pPr>
              <a:r>
                <a:rPr lang="en-US" sz="28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endParaRPr/>
            </a:p>
          </p:txBody>
        </p:sp>
        <p:sp>
          <p:nvSpPr>
            <p:cNvPr id="992" name="Google Shape;992;p49"/>
            <p:cNvSpPr txBox="1"/>
            <p:nvPr/>
          </p:nvSpPr>
          <p:spPr>
            <a:xfrm>
              <a:off x="3855" y="3131"/>
              <a:ext cx="184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Bookman Old Style"/>
                <a:buNone/>
              </a:pPr>
              <a:r>
                <a:rPr lang="en-US" sz="28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H</a:t>
              </a:r>
              <a:endParaRPr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1703" y="1443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4" name="Google Shape;994;p49"/>
            <p:cNvCxnSpPr/>
            <p:nvPr/>
          </p:nvCxnSpPr>
          <p:spPr>
            <a:xfrm>
              <a:off x="1744" y="1475"/>
              <a:ext cx="464" cy="504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995" name="Google Shape;995;p49"/>
            <p:cNvCxnSpPr/>
            <p:nvPr/>
          </p:nvCxnSpPr>
          <p:spPr>
            <a:xfrm flipH="1">
              <a:off x="1280" y="1483"/>
              <a:ext cx="448" cy="48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996" name="Google Shape;996;p49"/>
            <p:cNvSpPr txBox="1"/>
            <p:nvPr/>
          </p:nvSpPr>
          <p:spPr>
            <a:xfrm>
              <a:off x="1703" y="1227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997" name="Google Shape;997;p49"/>
            <p:cNvCxnSpPr/>
            <p:nvPr/>
          </p:nvCxnSpPr>
          <p:spPr>
            <a:xfrm flipH="1">
              <a:off x="1264" y="1987"/>
              <a:ext cx="936" cy="92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998" name="Google Shape;998;p49"/>
            <p:cNvSpPr txBox="1"/>
            <p:nvPr/>
          </p:nvSpPr>
          <p:spPr>
            <a:xfrm>
              <a:off x="3266" y="1771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999" name="Google Shape;999;p49"/>
            <p:cNvSpPr/>
            <p:nvPr/>
          </p:nvSpPr>
          <p:spPr>
            <a:xfrm>
              <a:off x="4339" y="1945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9"/>
            <p:cNvSpPr/>
            <p:nvPr/>
          </p:nvSpPr>
          <p:spPr>
            <a:xfrm>
              <a:off x="3407" y="1939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3407" y="2871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4345" y="2877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3" name="Google Shape;1003;p49"/>
            <p:cNvCxnSpPr/>
            <p:nvPr/>
          </p:nvCxnSpPr>
          <p:spPr>
            <a:xfrm rot="5400000">
              <a:off x="2978" y="2436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04" name="Google Shape;1004;p49"/>
            <p:cNvCxnSpPr/>
            <p:nvPr/>
          </p:nvCxnSpPr>
          <p:spPr>
            <a:xfrm rot="5400000">
              <a:off x="3916" y="2448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005" name="Google Shape;1005;p49"/>
            <p:cNvSpPr txBox="1"/>
            <p:nvPr/>
          </p:nvSpPr>
          <p:spPr>
            <a:xfrm>
              <a:off x="3288" y="2899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006" name="Google Shape;1006;p49"/>
            <p:cNvSpPr txBox="1"/>
            <p:nvPr/>
          </p:nvSpPr>
          <p:spPr>
            <a:xfrm>
              <a:off x="4423" y="2907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1007" name="Google Shape;1007;p49"/>
            <p:cNvSpPr txBox="1"/>
            <p:nvPr/>
          </p:nvSpPr>
          <p:spPr>
            <a:xfrm>
              <a:off x="4391" y="1739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008" name="Google Shape;1008;p49"/>
            <p:cNvSpPr/>
            <p:nvPr/>
          </p:nvSpPr>
          <p:spPr>
            <a:xfrm>
              <a:off x="3871" y="1443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9" name="Google Shape;1009;p49"/>
            <p:cNvCxnSpPr/>
            <p:nvPr/>
          </p:nvCxnSpPr>
          <p:spPr>
            <a:xfrm>
              <a:off x="3912" y="1475"/>
              <a:ext cx="464" cy="504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10" name="Google Shape;1010;p49"/>
            <p:cNvCxnSpPr/>
            <p:nvPr/>
          </p:nvCxnSpPr>
          <p:spPr>
            <a:xfrm flipH="1">
              <a:off x="3448" y="1483"/>
              <a:ext cx="448" cy="48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011" name="Google Shape;1011;p49"/>
            <p:cNvSpPr txBox="1"/>
            <p:nvPr/>
          </p:nvSpPr>
          <p:spPr>
            <a:xfrm>
              <a:off x="3871" y="1227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1012" name="Google Shape;1012;p49"/>
            <p:cNvCxnSpPr/>
            <p:nvPr/>
          </p:nvCxnSpPr>
          <p:spPr>
            <a:xfrm>
              <a:off x="3440" y="1971"/>
              <a:ext cx="952" cy="944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13" name="Google Shape;1013;p49"/>
            <p:cNvCxnSpPr/>
            <p:nvPr/>
          </p:nvCxnSpPr>
          <p:spPr>
            <a:xfrm>
              <a:off x="3466" y="1980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014" name="Google Shape;1014;p49"/>
            <p:cNvSpPr txBox="1"/>
            <p:nvPr/>
          </p:nvSpPr>
          <p:spPr>
            <a:xfrm>
              <a:off x="1438" y="3528"/>
              <a:ext cx="3122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imes New Roman"/>
                <a:buNone/>
              </a:pPr>
              <a:r>
                <a:rPr lang="en-US" sz="3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Are </a:t>
              </a:r>
              <a:r>
                <a:rPr lang="en-US" sz="3600" b="0" i="1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r>
                <a:rPr lang="en-US" sz="3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lang="en-US" sz="3600" b="0" i="1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US" sz="3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isomorphic?</a:t>
              </a:r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020" name="Google Shape;1020;p50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458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these two graphs isomorphic?</a:t>
            </a:r>
            <a:endParaRPr/>
          </a:p>
        </p:txBody>
      </p:sp>
      <p:sp>
        <p:nvSpPr>
          <p:cNvPr id="1021" name="Google Shape;1021;p50"/>
          <p:cNvSpPr txBox="1"/>
          <p:nvPr/>
        </p:nvSpPr>
        <p:spPr>
          <a:xfrm>
            <a:off x="228600" y="4572000"/>
            <a:ext cx="8686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742950" marR="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both have 5 vertices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both have 8 edges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have the same number of vertices with the same degrees:  2, 3, 3, 4, 4.</a:t>
            </a:r>
            <a:endParaRPr/>
          </a:p>
        </p:txBody>
      </p:sp>
      <p:grpSp>
        <p:nvGrpSpPr>
          <p:cNvPr id="1022" name="Google Shape;1022;p50"/>
          <p:cNvGrpSpPr/>
          <p:nvPr/>
        </p:nvGrpSpPr>
        <p:grpSpPr>
          <a:xfrm>
            <a:off x="1203325" y="2146300"/>
            <a:ext cx="6889750" cy="2482850"/>
            <a:chOff x="758" y="1352"/>
            <a:chExt cx="4340" cy="1564"/>
          </a:xfrm>
        </p:grpSpPr>
        <p:sp>
          <p:nvSpPr>
            <p:cNvPr id="1023" name="Google Shape;1023;p50"/>
            <p:cNvSpPr/>
            <p:nvPr/>
          </p:nvSpPr>
          <p:spPr>
            <a:xfrm>
              <a:off x="1114" y="1597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0"/>
            <p:cNvSpPr txBox="1"/>
            <p:nvPr/>
          </p:nvSpPr>
          <p:spPr>
            <a:xfrm>
              <a:off x="1152" y="1645"/>
              <a:ext cx="624" cy="624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5" name="Google Shape;1025;p50"/>
            <p:cNvCxnSpPr/>
            <p:nvPr/>
          </p:nvCxnSpPr>
          <p:spPr>
            <a:xfrm>
              <a:off x="1152" y="1645"/>
              <a:ext cx="624" cy="62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26" name="Google Shape;1026;p50"/>
            <p:cNvCxnSpPr/>
            <p:nvPr/>
          </p:nvCxnSpPr>
          <p:spPr>
            <a:xfrm rot="10800000" flipH="1">
              <a:off x="1152" y="1645"/>
              <a:ext cx="624" cy="62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27" name="Google Shape;1027;p50"/>
            <p:cNvCxnSpPr/>
            <p:nvPr/>
          </p:nvCxnSpPr>
          <p:spPr>
            <a:xfrm>
              <a:off x="1776" y="1645"/>
              <a:ext cx="624" cy="624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28" name="Google Shape;1028;p50"/>
            <p:cNvCxnSpPr/>
            <p:nvPr/>
          </p:nvCxnSpPr>
          <p:spPr>
            <a:xfrm>
              <a:off x="1776" y="2269"/>
              <a:ext cx="624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029" name="Google Shape;1029;p50"/>
            <p:cNvSpPr/>
            <p:nvPr/>
          </p:nvSpPr>
          <p:spPr>
            <a:xfrm>
              <a:off x="1738" y="1597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0"/>
            <p:cNvSpPr/>
            <p:nvPr/>
          </p:nvSpPr>
          <p:spPr>
            <a:xfrm>
              <a:off x="1104" y="2221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0"/>
            <p:cNvSpPr/>
            <p:nvPr/>
          </p:nvSpPr>
          <p:spPr>
            <a:xfrm>
              <a:off x="2362" y="2221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0"/>
            <p:cNvSpPr/>
            <p:nvPr/>
          </p:nvSpPr>
          <p:spPr>
            <a:xfrm>
              <a:off x="1738" y="2221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0"/>
            <p:cNvSpPr/>
            <p:nvPr/>
          </p:nvSpPr>
          <p:spPr>
            <a:xfrm>
              <a:off x="3808" y="1546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0"/>
            <p:cNvSpPr/>
            <p:nvPr/>
          </p:nvSpPr>
          <p:spPr>
            <a:xfrm>
              <a:off x="3312" y="1882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0"/>
            <p:cNvSpPr/>
            <p:nvPr/>
          </p:nvSpPr>
          <p:spPr>
            <a:xfrm>
              <a:off x="3952" y="2221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0"/>
            <p:cNvSpPr/>
            <p:nvPr/>
          </p:nvSpPr>
          <p:spPr>
            <a:xfrm>
              <a:off x="4576" y="2029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" name="Google Shape;1037;p50"/>
            <p:cNvGrpSpPr/>
            <p:nvPr/>
          </p:nvGrpSpPr>
          <p:grpSpPr>
            <a:xfrm>
              <a:off x="3328" y="1597"/>
              <a:ext cx="1392" cy="672"/>
              <a:chOff x="3120" y="1536"/>
              <a:chExt cx="1392" cy="672"/>
            </a:xfrm>
          </p:grpSpPr>
          <p:cxnSp>
            <p:nvCxnSpPr>
              <p:cNvPr id="1038" name="Google Shape;1038;p50"/>
              <p:cNvCxnSpPr/>
              <p:nvPr/>
            </p:nvCxnSpPr>
            <p:spPr>
              <a:xfrm rot="10800000" flipH="1">
                <a:off x="3120" y="1536"/>
                <a:ext cx="528" cy="336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39" name="Google Shape;1039;p50"/>
              <p:cNvCxnSpPr/>
              <p:nvPr/>
            </p:nvCxnSpPr>
            <p:spPr>
              <a:xfrm rot="10800000" flipH="1">
                <a:off x="3120" y="1584"/>
                <a:ext cx="1392" cy="288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40" name="Google Shape;1040;p50"/>
              <p:cNvCxnSpPr/>
              <p:nvPr/>
            </p:nvCxnSpPr>
            <p:spPr>
              <a:xfrm>
                <a:off x="3648" y="1536"/>
                <a:ext cx="768" cy="48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41" name="Google Shape;1041;p50"/>
              <p:cNvCxnSpPr/>
              <p:nvPr/>
            </p:nvCxnSpPr>
            <p:spPr>
              <a:xfrm>
                <a:off x="3120" y="1872"/>
                <a:ext cx="672" cy="336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42" name="Google Shape;1042;p50"/>
              <p:cNvCxnSpPr/>
              <p:nvPr/>
            </p:nvCxnSpPr>
            <p:spPr>
              <a:xfrm rot="10800000" flipH="1">
                <a:off x="3792" y="2016"/>
                <a:ext cx="624" cy="19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43" name="Google Shape;1043;p50"/>
              <p:cNvCxnSpPr/>
              <p:nvPr/>
            </p:nvCxnSpPr>
            <p:spPr>
              <a:xfrm flipH="1">
                <a:off x="4416" y="1584"/>
                <a:ext cx="96" cy="43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44" name="Google Shape;1044;p50"/>
              <p:cNvCxnSpPr/>
              <p:nvPr/>
            </p:nvCxnSpPr>
            <p:spPr>
              <a:xfrm>
                <a:off x="3648" y="1536"/>
                <a:ext cx="144" cy="672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45" name="Google Shape;1045;p50"/>
              <p:cNvCxnSpPr/>
              <p:nvPr/>
            </p:nvCxnSpPr>
            <p:spPr>
              <a:xfrm>
                <a:off x="3120" y="1872"/>
                <a:ext cx="1296" cy="14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sp>
          <p:nvSpPr>
            <p:cNvPr id="1046" name="Google Shape;1046;p50"/>
            <p:cNvSpPr/>
            <p:nvPr/>
          </p:nvSpPr>
          <p:spPr>
            <a:xfrm>
              <a:off x="4672" y="1594"/>
              <a:ext cx="86" cy="8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0"/>
            <p:cNvSpPr txBox="1"/>
            <p:nvPr/>
          </p:nvSpPr>
          <p:spPr>
            <a:xfrm>
              <a:off x="1536" y="2589"/>
              <a:ext cx="2905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Bookman Old Style"/>
                <a:buNone/>
              </a:pPr>
              <a:r>
                <a:rPr lang="en-US" sz="28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                               H</a:t>
              </a:r>
              <a:endParaRPr/>
            </a:p>
          </p:txBody>
        </p:sp>
        <p:sp>
          <p:nvSpPr>
            <p:cNvPr id="1048" name="Google Shape;1048;p50"/>
            <p:cNvSpPr txBox="1"/>
            <p:nvPr/>
          </p:nvSpPr>
          <p:spPr>
            <a:xfrm>
              <a:off x="758" y="1400"/>
              <a:ext cx="2075" cy="1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u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</a:t>
              </a: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u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u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5</a:t>
              </a: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u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3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u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4</a:t>
              </a:r>
              <a:endParaRPr/>
            </a:p>
          </p:txBody>
        </p:sp>
        <p:sp>
          <p:nvSpPr>
            <p:cNvPr id="1049" name="Google Shape;1049;p50"/>
            <p:cNvSpPr txBox="1"/>
            <p:nvPr/>
          </p:nvSpPr>
          <p:spPr>
            <a:xfrm>
              <a:off x="3030" y="1352"/>
              <a:ext cx="2068" cy="1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</a:t>
              </a: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endParaRPr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5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 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3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v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4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5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(Cont.)</a:t>
            </a:r>
            <a:endParaRPr/>
          </a:p>
        </p:txBody>
      </p:sp>
      <p:sp>
        <p:nvSpPr>
          <p:cNvPr id="1055" name="Google Shape;1055;p51"/>
          <p:cNvSpPr txBox="1"/>
          <p:nvPr/>
        </p:nvSpPr>
        <p:spPr>
          <a:xfrm>
            <a:off x="990600" y="2220912"/>
            <a:ext cx="2227262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endParaRPr sz="2400" b="0" i="0" u="none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1   0   1   1   1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0   1   0   1   0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1   1   0   1   0</a:t>
            </a:r>
            <a:endParaRPr/>
          </a:p>
        </p:txBody>
      </p:sp>
      <p:sp>
        <p:nvSpPr>
          <p:cNvPr id="1056" name="Google Shape;1056;p51"/>
          <p:cNvSpPr txBox="1"/>
          <p:nvPr/>
        </p:nvSpPr>
        <p:spPr>
          <a:xfrm>
            <a:off x="3352800" y="2220912"/>
            <a:ext cx="2190750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 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endParaRPr sz="2400" b="0" i="0" u="none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0   0   1   1   1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0   0   1   0   1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1   1   0   1   1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1   0   1   0   1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1   1   1   1   0</a:t>
            </a:r>
            <a:endParaRPr/>
          </a:p>
        </p:txBody>
      </p:sp>
      <p:cxnSp>
        <p:nvCxnSpPr>
          <p:cNvPr id="1057" name="Google Shape;1057;p51"/>
          <p:cNvCxnSpPr/>
          <p:nvPr/>
        </p:nvCxnSpPr>
        <p:spPr>
          <a:xfrm>
            <a:off x="5943600" y="2286000"/>
            <a:ext cx="0" cy="220980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58" name="Google Shape;1058;p51"/>
          <p:cNvSpPr txBox="1"/>
          <p:nvPr/>
        </p:nvSpPr>
        <p:spPr>
          <a:xfrm>
            <a:off x="0" y="4876800"/>
            <a:ext cx="8991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44450" anchor="t" anchorCtr="0">
            <a:no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and H don’t appear to be isomorphic.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we haven’t tried mapping vertices from G onto H yet.  </a:t>
            </a:r>
            <a:endParaRPr/>
          </a:p>
        </p:txBody>
      </p:sp>
      <p:sp>
        <p:nvSpPr>
          <p:cNvPr id="1059" name="Google Shape;1059;p51"/>
          <p:cNvSpPr txBox="1"/>
          <p:nvPr/>
        </p:nvSpPr>
        <p:spPr>
          <a:xfrm>
            <a:off x="6324600" y="2220912"/>
            <a:ext cx="2139950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endParaRPr sz="2400" b="0" i="0" u="none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endParaRPr sz="24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endParaRPr sz="24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endParaRPr sz="24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endParaRPr sz="24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endParaRPr/>
          </a:p>
        </p:txBody>
      </p:sp>
      <p:sp>
        <p:nvSpPr>
          <p:cNvPr id="1060" name="Google Shape;1060;p51"/>
          <p:cNvSpPr txBox="1"/>
          <p:nvPr/>
        </p:nvSpPr>
        <p:spPr>
          <a:xfrm>
            <a:off x="685800" y="1371600"/>
            <a:ext cx="81534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G			H		       H → G? 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(Cont.)</a:t>
            </a:r>
            <a:endParaRPr/>
          </a:p>
        </p:txBody>
      </p:sp>
      <p:sp>
        <p:nvSpPr>
          <p:cNvPr id="1066" name="Google Shape;1066;p52"/>
          <p:cNvSpPr txBox="1">
            <a:spLocks noGrp="1"/>
          </p:cNvSpPr>
          <p:nvPr>
            <p:ph type="body" idx="1"/>
          </p:nvPr>
        </p:nvSpPr>
        <p:spPr>
          <a:xfrm>
            <a:off x="304800" y="15240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with the vertices of degree 2 since each graph only has one: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deg(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deg(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2   therefore   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(Cont.)</a:t>
            </a:r>
            <a:endParaRPr/>
          </a:p>
        </p:txBody>
      </p:sp>
      <p:sp>
        <p:nvSpPr>
          <p:cNvPr id="1072" name="Google Shape;1072;p53"/>
          <p:cNvSpPr txBox="1">
            <a:spLocks noGrp="1"/>
          </p:cNvSpPr>
          <p:nvPr>
            <p:ph type="body" idx="1"/>
          </p:nvPr>
        </p:nvSpPr>
        <p:spPr>
          <a:xfrm>
            <a:off x="304800" y="15240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consider vertices of degree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deg(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deg(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deg(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deg(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 we must have either one of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5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(Cont.)</a:t>
            </a:r>
            <a:endParaRPr/>
          </a:p>
        </p:txBody>
      </p:sp>
      <p:sp>
        <p:nvSpPr>
          <p:cNvPr id="1078" name="Google Shape;1078;p54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try vertices of degree 4: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deg(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deg(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deg(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deg(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4 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therefore we must have one of: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		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(Cont.)</a:t>
            </a:r>
            <a:endParaRPr/>
          </a:p>
        </p:txBody>
      </p:sp>
      <p:sp>
        <p:nvSpPr>
          <p:cNvPr id="1084" name="Google Shape;1084;p55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four possibilities (this can get messy!)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5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(Cont.)</a:t>
            </a:r>
            <a:endParaRPr/>
          </a:p>
        </p:txBody>
      </p:sp>
      <p:sp>
        <p:nvSpPr>
          <p:cNvPr id="1090" name="Google Shape;1090;p56"/>
          <p:cNvSpPr txBox="1"/>
          <p:nvPr/>
        </p:nvSpPr>
        <p:spPr>
          <a:xfrm>
            <a:off x="990600" y="2220912"/>
            <a:ext cx="2227262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endParaRPr sz="2400" b="0" i="0" u="none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1   0   1   1   1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0   1   0   1   0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1   1   0   1   0</a:t>
            </a:r>
            <a:endParaRPr/>
          </a:p>
        </p:txBody>
      </p:sp>
      <p:sp>
        <p:nvSpPr>
          <p:cNvPr id="1091" name="Google Shape;1091;p56"/>
          <p:cNvSpPr txBox="1"/>
          <p:nvPr/>
        </p:nvSpPr>
        <p:spPr>
          <a:xfrm>
            <a:off x="3352800" y="2220912"/>
            <a:ext cx="2190750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 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endParaRPr sz="2400" b="0" i="0" u="none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0   0   1   1   1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0   0   1   0   1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1   1   0   1   1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1   0   1   0   1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1   1   1   1   0</a:t>
            </a:r>
            <a:endParaRPr/>
          </a:p>
        </p:txBody>
      </p:sp>
      <p:cxnSp>
        <p:nvCxnSpPr>
          <p:cNvPr id="1092" name="Google Shape;1092;p56"/>
          <p:cNvCxnSpPr/>
          <p:nvPr/>
        </p:nvCxnSpPr>
        <p:spPr>
          <a:xfrm>
            <a:off x="5943600" y="2286000"/>
            <a:ext cx="0" cy="220980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93" name="Google Shape;1093;p56"/>
          <p:cNvSpPr txBox="1"/>
          <p:nvPr/>
        </p:nvSpPr>
        <p:spPr>
          <a:xfrm>
            <a:off x="152400" y="4800600"/>
            <a:ext cx="8763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permute the adjacency matrix of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(per function choices above) to see if we get the adjacency of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try: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G = H’?  Yes!</a:t>
            </a:r>
            <a:endParaRPr/>
          </a:p>
        </p:txBody>
      </p:sp>
      <p:sp>
        <p:nvSpPr>
          <p:cNvPr id="1094" name="Google Shape;1094;p56"/>
          <p:cNvSpPr txBox="1"/>
          <p:nvPr/>
        </p:nvSpPr>
        <p:spPr>
          <a:xfrm>
            <a:off x="6324600" y="2220912"/>
            <a:ext cx="2190750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endParaRPr sz="2400" b="0" i="0" u="none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1   0   1   1   1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0   1   0   1   0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1   1   0   1   0</a:t>
            </a:r>
            <a:endParaRPr/>
          </a:p>
        </p:txBody>
      </p:sp>
      <p:sp>
        <p:nvSpPr>
          <p:cNvPr id="1095" name="Google Shape;1095;p56"/>
          <p:cNvSpPr txBox="1"/>
          <p:nvPr/>
        </p:nvSpPr>
        <p:spPr>
          <a:xfrm>
            <a:off x="685800" y="1371600"/>
            <a:ext cx="81534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G			H		       H’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(Cont.)</a:t>
            </a:r>
            <a:endParaRPr/>
          </a:p>
        </p:txBody>
      </p:sp>
      <p:sp>
        <p:nvSpPr>
          <p:cNvPr id="1101" name="Google Shape;1101;p57"/>
          <p:cNvSpPr txBox="1"/>
          <p:nvPr/>
        </p:nvSpPr>
        <p:spPr>
          <a:xfrm>
            <a:off x="990600" y="2220912"/>
            <a:ext cx="2227262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endParaRPr sz="2400" b="0" i="0" u="none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1   0   1   1   1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0   1   0   1   0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1   1   0   1   0</a:t>
            </a:r>
            <a:endParaRPr/>
          </a:p>
        </p:txBody>
      </p:sp>
      <p:sp>
        <p:nvSpPr>
          <p:cNvPr id="1102" name="Google Shape;1102;p57"/>
          <p:cNvSpPr txBox="1"/>
          <p:nvPr/>
        </p:nvSpPr>
        <p:spPr>
          <a:xfrm>
            <a:off x="3352800" y="2220912"/>
            <a:ext cx="2190750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 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endParaRPr sz="2400" b="0" i="0" u="none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0   0   1   1   1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0   0   1   0   1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1   1   0   1   1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1   0   1   0   1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1   1   1   1   0</a:t>
            </a:r>
            <a:endParaRPr/>
          </a:p>
        </p:txBody>
      </p:sp>
      <p:cxnSp>
        <p:nvCxnSpPr>
          <p:cNvPr id="1103" name="Google Shape;1103;p57"/>
          <p:cNvCxnSpPr/>
          <p:nvPr/>
        </p:nvCxnSpPr>
        <p:spPr>
          <a:xfrm>
            <a:off x="5943600" y="2286000"/>
            <a:ext cx="0" cy="220980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04" name="Google Shape;1104;p57"/>
          <p:cNvSpPr txBox="1"/>
          <p:nvPr/>
        </p:nvSpPr>
        <p:spPr>
          <a:xfrm>
            <a:off x="228600" y="4876800"/>
            <a:ext cx="87630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turns out that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works.</a:t>
            </a:r>
            <a:endParaRPr/>
          </a:p>
        </p:txBody>
      </p:sp>
      <p:sp>
        <p:nvSpPr>
          <p:cNvPr id="1105" name="Google Shape;1105;p57"/>
          <p:cNvSpPr txBox="1"/>
          <p:nvPr/>
        </p:nvSpPr>
        <p:spPr>
          <a:xfrm>
            <a:off x="6324600" y="2220912"/>
            <a:ext cx="2190750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endParaRPr sz="2400" b="0" i="0" u="none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1   0   1   1   1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0   1   0   1   0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1   1   1   0   1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lang="en-US" sz="2400" b="0" i="1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</a:t>
            </a:r>
            <a:r>
              <a:rPr lang="en-US" sz="2400" b="0" i="0" u="none" baseline="-2500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1   1   0   1   0</a:t>
            </a:r>
            <a:endParaRPr/>
          </a:p>
        </p:txBody>
      </p:sp>
      <p:sp>
        <p:nvSpPr>
          <p:cNvPr id="1106" name="Google Shape;1106;p57"/>
          <p:cNvSpPr txBox="1"/>
          <p:nvPr/>
        </p:nvSpPr>
        <p:spPr>
          <a:xfrm>
            <a:off x="685800" y="1371600"/>
            <a:ext cx="81534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G			H		       H’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5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103</a:t>
            </a:r>
            <a:br>
              <a:rPr lang="en-US" sz="32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Structures</a:t>
            </a:r>
            <a:endParaRPr/>
          </a:p>
        </p:txBody>
      </p:sp>
      <p:sp>
        <p:nvSpPr>
          <p:cNvPr id="1112" name="Google Shape;1112;p58"/>
          <p:cNvSpPr txBox="1">
            <a:spLocks noGrp="1"/>
          </p:cNvSpPr>
          <p:nvPr>
            <p:ph type="body" idx="1"/>
          </p:nvPr>
        </p:nvSpPr>
        <p:spPr>
          <a:xfrm>
            <a:off x="457200" y="20574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Connectivity</a:t>
            </a:r>
            <a:endParaRPr sz="3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These class notes are based on material from our textbook,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and Its Applications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</a:t>
            </a:r>
            <a:r>
              <a:rPr lang="en-US" sz="28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ed., by Kenneth H. Rosen, published by McGraw Hill, Boston, MA, 2006.  They are intended for classroom use only and are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substitute for reading the textbook.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5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Paths in Undirected Graphs</a:t>
            </a:r>
            <a:endParaRPr/>
          </a:p>
        </p:txBody>
      </p:sp>
      <p:sp>
        <p:nvSpPr>
          <p:cNvPr id="1118" name="Google Shape;1118;p59"/>
          <p:cNvSpPr txBox="1">
            <a:spLocks noGrp="1"/>
          </p:cNvSpPr>
          <p:nvPr>
            <p:ph type="body" idx="1"/>
          </p:nvPr>
        </p:nvSpPr>
        <p:spPr>
          <a:xfrm>
            <a:off x="228600" y="144780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vertex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vertex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there is a sequence of edges from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3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–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path is labeled as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,…,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has a length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</a:t>
            </a:r>
            <a:endParaRPr sz="3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path is 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 path begins and ends with the same vertex.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path is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it does not contain the same edge more than once.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60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Paths in Undirected Graphs</a:t>
            </a:r>
            <a:endParaRPr/>
          </a:p>
        </p:txBody>
      </p:sp>
      <p:sp>
        <p:nvSpPr>
          <p:cNvPr id="1124" name="Google Shape;1124;p60"/>
          <p:cNvSpPr txBox="1">
            <a:spLocks noGrp="1"/>
          </p:cNvSpPr>
          <p:nvPr>
            <p:ph type="body" idx="1"/>
          </p:nvPr>
        </p:nvSpPr>
        <p:spPr>
          <a:xfrm>
            <a:off x="228600" y="144780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path or </a:t>
            </a: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said to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 through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vertices </a:t>
            </a:r>
            <a:r>
              <a:rPr lang="en-US" sz="4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4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4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4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4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4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4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4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lang="en-US" sz="4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4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traverse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edges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61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130" name="Google Shape;1130;p61"/>
          <p:cNvSpPr txBox="1"/>
          <p:nvPr/>
        </p:nvSpPr>
        <p:spPr>
          <a:xfrm>
            <a:off x="3733800" y="1371600"/>
            <a:ext cx="5181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it simple?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  <a:p>
            <a:pPr marL="742950" marR="0" lvl="1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length?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marL="742950" marR="0" lvl="1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it have any circuits?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cxnSp>
        <p:nvCxnSpPr>
          <p:cNvPr id="1131" name="Google Shape;1131;p61"/>
          <p:cNvCxnSpPr/>
          <p:nvPr/>
        </p:nvCxnSpPr>
        <p:spPr>
          <a:xfrm>
            <a:off x="685800" y="2819400"/>
            <a:ext cx="1143000" cy="16764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32" name="Google Shape;1132;p61"/>
          <p:cNvCxnSpPr/>
          <p:nvPr/>
        </p:nvCxnSpPr>
        <p:spPr>
          <a:xfrm rot="10800000" flipH="1">
            <a:off x="685800" y="2819400"/>
            <a:ext cx="1066800" cy="1600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33" name="Google Shape;1133;p61"/>
          <p:cNvCxnSpPr/>
          <p:nvPr/>
        </p:nvCxnSpPr>
        <p:spPr>
          <a:xfrm>
            <a:off x="1752600" y="2819400"/>
            <a:ext cx="1219200" cy="16002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34" name="Google Shape;1134;p61"/>
          <p:cNvCxnSpPr/>
          <p:nvPr/>
        </p:nvCxnSpPr>
        <p:spPr>
          <a:xfrm>
            <a:off x="1828800" y="4419600"/>
            <a:ext cx="114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35" name="Google Shape;1135;p61"/>
          <p:cNvSpPr/>
          <p:nvPr/>
        </p:nvSpPr>
        <p:spPr>
          <a:xfrm>
            <a:off x="1752600" y="26670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61"/>
          <p:cNvSpPr/>
          <p:nvPr/>
        </p:nvSpPr>
        <p:spPr>
          <a:xfrm>
            <a:off x="533400" y="43434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61"/>
          <p:cNvSpPr/>
          <p:nvPr/>
        </p:nvSpPr>
        <p:spPr>
          <a:xfrm>
            <a:off x="2971800" y="43434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61"/>
          <p:cNvSpPr/>
          <p:nvPr/>
        </p:nvSpPr>
        <p:spPr>
          <a:xfrm>
            <a:off x="1752600" y="43434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61"/>
          <p:cNvSpPr txBox="1"/>
          <p:nvPr/>
        </p:nvSpPr>
        <p:spPr>
          <a:xfrm>
            <a:off x="304800" y="2209800"/>
            <a:ext cx="3040062" cy="301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    </a:t>
            </a: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	  </a:t>
            </a: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1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  </a:t>
            </a: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      </a:t>
            </a:r>
            <a:endParaRPr/>
          </a:p>
        </p:txBody>
      </p:sp>
      <p:sp>
        <p:nvSpPr>
          <p:cNvPr id="1140" name="Google Shape;1140;p61"/>
          <p:cNvSpPr/>
          <p:nvPr/>
        </p:nvSpPr>
        <p:spPr>
          <a:xfrm>
            <a:off x="533400" y="26670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1" name="Google Shape;1141;p61"/>
          <p:cNvCxnSpPr/>
          <p:nvPr/>
        </p:nvCxnSpPr>
        <p:spPr>
          <a:xfrm>
            <a:off x="685800" y="2819400"/>
            <a:ext cx="106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42" name="Google Shape;1142;p61"/>
          <p:cNvCxnSpPr/>
          <p:nvPr/>
        </p:nvCxnSpPr>
        <p:spPr>
          <a:xfrm>
            <a:off x="685800" y="2819400"/>
            <a:ext cx="0" cy="1600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43" name="Google Shape;1143;p61"/>
          <p:cNvCxnSpPr/>
          <p:nvPr/>
        </p:nvCxnSpPr>
        <p:spPr>
          <a:xfrm>
            <a:off x="1752600" y="2819400"/>
            <a:ext cx="0" cy="16002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44" name="Google Shape;1144;p61"/>
          <p:cNvCxnSpPr/>
          <p:nvPr/>
        </p:nvCxnSpPr>
        <p:spPr>
          <a:xfrm>
            <a:off x="685800" y="4419600"/>
            <a:ext cx="106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62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150" name="Google Shape;1150;p62"/>
          <p:cNvSpPr txBox="1"/>
          <p:nvPr/>
        </p:nvSpPr>
        <p:spPr>
          <a:xfrm>
            <a:off x="3733800" y="1371600"/>
            <a:ext cx="5181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marL="3429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it simple?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  <a:p>
            <a:pPr marL="742950" marR="0" lvl="1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length?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it have any circuits?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Yes;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51" name="Google Shape;1151;p62"/>
          <p:cNvCxnSpPr/>
          <p:nvPr/>
        </p:nvCxnSpPr>
        <p:spPr>
          <a:xfrm>
            <a:off x="914400" y="3505200"/>
            <a:ext cx="914400" cy="9906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52" name="Google Shape;1152;p62"/>
          <p:cNvCxnSpPr/>
          <p:nvPr/>
        </p:nvCxnSpPr>
        <p:spPr>
          <a:xfrm rot="10800000" flipH="1">
            <a:off x="852487" y="3429000"/>
            <a:ext cx="990600" cy="990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53" name="Google Shape;1153;p62"/>
          <p:cNvCxnSpPr/>
          <p:nvPr/>
        </p:nvCxnSpPr>
        <p:spPr>
          <a:xfrm>
            <a:off x="1752600" y="3429000"/>
            <a:ext cx="990600" cy="9906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54" name="Google Shape;1154;p62"/>
          <p:cNvCxnSpPr/>
          <p:nvPr/>
        </p:nvCxnSpPr>
        <p:spPr>
          <a:xfrm>
            <a:off x="1843087" y="4419600"/>
            <a:ext cx="990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55" name="Google Shape;1155;p62"/>
          <p:cNvSpPr/>
          <p:nvPr/>
        </p:nvSpPr>
        <p:spPr>
          <a:xfrm>
            <a:off x="1752600" y="33528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62"/>
          <p:cNvSpPr/>
          <p:nvPr/>
        </p:nvSpPr>
        <p:spPr>
          <a:xfrm>
            <a:off x="762000" y="43434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62"/>
          <p:cNvSpPr/>
          <p:nvPr/>
        </p:nvSpPr>
        <p:spPr>
          <a:xfrm>
            <a:off x="2697162" y="4303712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62"/>
          <p:cNvSpPr/>
          <p:nvPr/>
        </p:nvSpPr>
        <p:spPr>
          <a:xfrm>
            <a:off x="1752600" y="43434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62"/>
          <p:cNvSpPr txBox="1"/>
          <p:nvPr/>
        </p:nvSpPr>
        <p:spPr>
          <a:xfrm>
            <a:off x="304800" y="2971800"/>
            <a:ext cx="3040062" cy="1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     </a:t>
            </a: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               </a:t>
            </a: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      </a:t>
            </a: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/>
          </a:p>
        </p:txBody>
      </p:sp>
      <p:sp>
        <p:nvSpPr>
          <p:cNvPr id="1160" name="Google Shape;1160;p62"/>
          <p:cNvSpPr/>
          <p:nvPr/>
        </p:nvSpPr>
        <p:spPr>
          <a:xfrm>
            <a:off x="762000" y="33528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1" name="Google Shape;1161;p62"/>
          <p:cNvCxnSpPr/>
          <p:nvPr/>
        </p:nvCxnSpPr>
        <p:spPr>
          <a:xfrm>
            <a:off x="914400" y="3505200"/>
            <a:ext cx="838200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2" name="Google Shape;1162;p62"/>
          <p:cNvCxnSpPr/>
          <p:nvPr/>
        </p:nvCxnSpPr>
        <p:spPr>
          <a:xfrm>
            <a:off x="914400" y="3505200"/>
            <a:ext cx="0" cy="8382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3" name="Google Shape;1163;p62"/>
          <p:cNvCxnSpPr/>
          <p:nvPr/>
        </p:nvCxnSpPr>
        <p:spPr>
          <a:xfrm>
            <a:off x="1752600" y="3505200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4" name="Google Shape;1164;p62"/>
          <p:cNvCxnSpPr/>
          <p:nvPr/>
        </p:nvCxnSpPr>
        <p:spPr>
          <a:xfrm>
            <a:off x="914400" y="4419600"/>
            <a:ext cx="838200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63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170" name="Google Shape;1170;p63"/>
          <p:cNvSpPr txBox="1"/>
          <p:nvPr/>
        </p:nvSpPr>
        <p:spPr>
          <a:xfrm>
            <a:off x="3733800" y="1371600"/>
            <a:ext cx="5181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it simple?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  <a:p>
            <a:pPr marL="742950" marR="0" lvl="1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length?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marL="742950" marR="0" lvl="1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it have any circuits?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1" name="Google Shape;1171;p63"/>
          <p:cNvCxnSpPr/>
          <p:nvPr/>
        </p:nvCxnSpPr>
        <p:spPr>
          <a:xfrm>
            <a:off x="914400" y="3505200"/>
            <a:ext cx="914400" cy="990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72" name="Google Shape;1172;p63"/>
          <p:cNvCxnSpPr/>
          <p:nvPr/>
        </p:nvCxnSpPr>
        <p:spPr>
          <a:xfrm rot="10800000" flipH="1">
            <a:off x="852487" y="3429000"/>
            <a:ext cx="990600" cy="9906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73" name="Google Shape;1173;p63"/>
          <p:cNvCxnSpPr/>
          <p:nvPr/>
        </p:nvCxnSpPr>
        <p:spPr>
          <a:xfrm>
            <a:off x="1752600" y="3429000"/>
            <a:ext cx="990600" cy="990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74" name="Google Shape;1174;p63"/>
          <p:cNvCxnSpPr/>
          <p:nvPr/>
        </p:nvCxnSpPr>
        <p:spPr>
          <a:xfrm>
            <a:off x="1843087" y="4419600"/>
            <a:ext cx="990600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75" name="Google Shape;1175;p63"/>
          <p:cNvSpPr/>
          <p:nvPr/>
        </p:nvSpPr>
        <p:spPr>
          <a:xfrm>
            <a:off x="1752600" y="33528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63"/>
          <p:cNvSpPr/>
          <p:nvPr/>
        </p:nvSpPr>
        <p:spPr>
          <a:xfrm>
            <a:off x="762000" y="43434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63"/>
          <p:cNvSpPr/>
          <p:nvPr/>
        </p:nvSpPr>
        <p:spPr>
          <a:xfrm>
            <a:off x="2697162" y="4303712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63"/>
          <p:cNvSpPr/>
          <p:nvPr/>
        </p:nvSpPr>
        <p:spPr>
          <a:xfrm>
            <a:off x="1752600" y="43434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63"/>
          <p:cNvSpPr txBox="1"/>
          <p:nvPr/>
        </p:nvSpPr>
        <p:spPr>
          <a:xfrm>
            <a:off x="228600" y="2971800"/>
            <a:ext cx="3040062" cy="1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     </a:t>
            </a: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               </a:t>
            </a: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      </a:t>
            </a: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</a:t>
            </a:r>
            <a:r>
              <a:rPr lang="en-US" sz="2400" b="0" i="0" u="none" baseline="-25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/>
          </a:p>
        </p:txBody>
      </p:sp>
      <p:sp>
        <p:nvSpPr>
          <p:cNvPr id="1180" name="Google Shape;1180;p63"/>
          <p:cNvSpPr/>
          <p:nvPr/>
        </p:nvSpPr>
        <p:spPr>
          <a:xfrm>
            <a:off x="762000" y="3352800"/>
            <a:ext cx="146050" cy="14605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1" name="Google Shape;1181;p63"/>
          <p:cNvCxnSpPr/>
          <p:nvPr/>
        </p:nvCxnSpPr>
        <p:spPr>
          <a:xfrm>
            <a:off x="914400" y="3505200"/>
            <a:ext cx="838200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82" name="Google Shape;1182;p63"/>
          <p:cNvCxnSpPr/>
          <p:nvPr/>
        </p:nvCxnSpPr>
        <p:spPr>
          <a:xfrm>
            <a:off x="914400" y="3505200"/>
            <a:ext cx="0" cy="83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83" name="Google Shape;1183;p63"/>
          <p:cNvCxnSpPr/>
          <p:nvPr/>
        </p:nvCxnSpPr>
        <p:spPr>
          <a:xfrm>
            <a:off x="1752600" y="3505200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84" name="Google Shape;1184;p63"/>
          <p:cNvCxnSpPr/>
          <p:nvPr/>
        </p:nvCxnSpPr>
        <p:spPr>
          <a:xfrm>
            <a:off x="914400" y="4419600"/>
            <a:ext cx="838200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Connectedness</a:t>
            </a:r>
            <a:endParaRPr/>
          </a:p>
        </p:txBody>
      </p:sp>
      <p:sp>
        <p:nvSpPr>
          <p:cNvPr id="1190" name="Google Shape;1190;p64"/>
          <p:cNvSpPr txBox="1">
            <a:spLocks noGrp="1"/>
          </p:cNvSpPr>
          <p:nvPr>
            <p:ph type="body" idx="1"/>
          </p:nvPr>
        </p:nvSpPr>
        <p:spPr>
          <a:xfrm>
            <a:off x="228600" y="1447800"/>
            <a:ext cx="8610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undirected graph is called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there is a path between every pair of distinct vertices of the graph.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simple path between every pair of distinct vertices of a connected undirected graph.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6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196" name="Google Shape;1196;p65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229600" cy="75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the following graphs connected?</a:t>
            </a:r>
            <a:endParaRPr/>
          </a:p>
        </p:txBody>
      </p:sp>
      <p:grpSp>
        <p:nvGrpSpPr>
          <p:cNvPr id="1197" name="Google Shape;1197;p65"/>
          <p:cNvGrpSpPr/>
          <p:nvPr/>
        </p:nvGrpSpPr>
        <p:grpSpPr>
          <a:xfrm>
            <a:off x="1752600" y="2590800"/>
            <a:ext cx="2197100" cy="2727325"/>
            <a:chOff x="1544" y="2064"/>
            <a:chExt cx="1384" cy="1718"/>
          </a:xfrm>
        </p:grpSpPr>
        <p:sp>
          <p:nvSpPr>
            <p:cNvPr id="1198" name="Google Shape;1198;p65"/>
            <p:cNvSpPr txBox="1"/>
            <p:nvPr/>
          </p:nvSpPr>
          <p:spPr>
            <a:xfrm>
              <a:off x="2304" y="268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199" name="Google Shape;1199;p65"/>
            <p:cNvSpPr/>
            <p:nvPr/>
          </p:nvSpPr>
          <p:spPr>
            <a:xfrm>
              <a:off x="1692" y="230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65"/>
            <p:cNvSpPr/>
            <p:nvPr/>
          </p:nvSpPr>
          <p:spPr>
            <a:xfrm>
              <a:off x="2640" y="3660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65"/>
            <p:cNvSpPr/>
            <p:nvPr/>
          </p:nvSpPr>
          <p:spPr>
            <a:xfrm>
              <a:off x="1698" y="3234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2" name="Google Shape;1202;p65"/>
            <p:cNvCxnSpPr/>
            <p:nvPr/>
          </p:nvCxnSpPr>
          <p:spPr>
            <a:xfrm rot="5400000">
              <a:off x="2462" y="3476"/>
              <a:ext cx="42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03" name="Google Shape;1203;p65"/>
            <p:cNvCxnSpPr/>
            <p:nvPr/>
          </p:nvCxnSpPr>
          <p:spPr>
            <a:xfrm rot="5400000">
              <a:off x="1269" y="2805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04" name="Google Shape;1204;p65"/>
            <p:cNvSpPr txBox="1"/>
            <p:nvPr/>
          </p:nvSpPr>
          <p:spPr>
            <a:xfrm>
              <a:off x="2736" y="3552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205" name="Google Shape;1205;p65"/>
            <p:cNvSpPr txBox="1"/>
            <p:nvPr/>
          </p:nvSpPr>
          <p:spPr>
            <a:xfrm>
              <a:off x="1544" y="312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f</a:t>
              </a:r>
              <a:endParaRPr/>
            </a:p>
          </p:txBody>
        </p:sp>
        <p:sp>
          <p:nvSpPr>
            <p:cNvPr id="1206" name="Google Shape;1206;p65"/>
            <p:cNvSpPr txBox="1"/>
            <p:nvPr/>
          </p:nvSpPr>
          <p:spPr>
            <a:xfrm>
              <a:off x="1680" y="206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207" name="Google Shape;1207;p65"/>
            <p:cNvSpPr/>
            <p:nvPr/>
          </p:nvSpPr>
          <p:spPr>
            <a:xfrm>
              <a:off x="2628" y="230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65"/>
            <p:cNvSpPr/>
            <p:nvPr/>
          </p:nvSpPr>
          <p:spPr>
            <a:xfrm>
              <a:off x="2634" y="3234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9" name="Google Shape;1209;p65"/>
            <p:cNvCxnSpPr/>
            <p:nvPr/>
          </p:nvCxnSpPr>
          <p:spPr>
            <a:xfrm rot="5400000">
              <a:off x="2205" y="2805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10" name="Google Shape;1210;p65"/>
            <p:cNvSpPr txBox="1"/>
            <p:nvPr/>
          </p:nvSpPr>
          <p:spPr>
            <a:xfrm>
              <a:off x="2744" y="31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1211" name="Google Shape;1211;p65"/>
            <p:cNvSpPr txBox="1"/>
            <p:nvPr/>
          </p:nvSpPr>
          <p:spPr>
            <a:xfrm>
              <a:off x="2616" y="207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1212" name="Google Shape;1212;p65"/>
            <p:cNvCxnSpPr/>
            <p:nvPr/>
          </p:nvCxnSpPr>
          <p:spPr>
            <a:xfrm>
              <a:off x="1755" y="2337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13" name="Google Shape;1213;p65"/>
            <p:cNvCxnSpPr/>
            <p:nvPr/>
          </p:nvCxnSpPr>
          <p:spPr>
            <a:xfrm flipH="1">
              <a:off x="1728" y="2352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14" name="Google Shape;1214;p65"/>
            <p:cNvCxnSpPr/>
            <p:nvPr/>
          </p:nvCxnSpPr>
          <p:spPr>
            <a:xfrm>
              <a:off x="1738" y="3264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15" name="Google Shape;1215;p65"/>
            <p:cNvCxnSpPr/>
            <p:nvPr/>
          </p:nvCxnSpPr>
          <p:spPr>
            <a:xfrm>
              <a:off x="1728" y="2352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16" name="Google Shape;1216;p65"/>
            <p:cNvSpPr/>
            <p:nvPr/>
          </p:nvSpPr>
          <p:spPr>
            <a:xfrm>
              <a:off x="2144" y="2768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65"/>
            <p:cNvSpPr/>
            <p:nvPr/>
          </p:nvSpPr>
          <p:spPr>
            <a:xfrm>
              <a:off x="1680" y="366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8" name="Google Shape;1218;p65"/>
            <p:cNvCxnSpPr/>
            <p:nvPr/>
          </p:nvCxnSpPr>
          <p:spPr>
            <a:xfrm rot="5400000">
              <a:off x="1516" y="3484"/>
              <a:ext cx="42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19" name="Google Shape;1219;p65"/>
            <p:cNvSpPr txBox="1"/>
            <p:nvPr/>
          </p:nvSpPr>
          <p:spPr>
            <a:xfrm>
              <a:off x="1544" y="3552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endParaRPr/>
            </a:p>
          </p:txBody>
        </p:sp>
      </p:grpSp>
      <p:grpSp>
        <p:nvGrpSpPr>
          <p:cNvPr id="1220" name="Google Shape;1220;p65"/>
          <p:cNvGrpSpPr/>
          <p:nvPr/>
        </p:nvGrpSpPr>
        <p:grpSpPr>
          <a:xfrm>
            <a:off x="5410200" y="2590800"/>
            <a:ext cx="2197100" cy="2651125"/>
            <a:chOff x="3408" y="1968"/>
            <a:chExt cx="1384" cy="1670"/>
          </a:xfrm>
        </p:grpSpPr>
        <p:sp>
          <p:nvSpPr>
            <p:cNvPr id="1221" name="Google Shape;1221;p65"/>
            <p:cNvSpPr txBox="1"/>
            <p:nvPr/>
          </p:nvSpPr>
          <p:spPr>
            <a:xfrm>
              <a:off x="4608" y="254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222" name="Google Shape;1222;p65"/>
            <p:cNvSpPr/>
            <p:nvPr/>
          </p:nvSpPr>
          <p:spPr>
            <a:xfrm>
              <a:off x="3564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65"/>
            <p:cNvSpPr/>
            <p:nvPr/>
          </p:nvSpPr>
          <p:spPr>
            <a:xfrm>
              <a:off x="3570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4" name="Google Shape;1224;p65"/>
            <p:cNvCxnSpPr/>
            <p:nvPr/>
          </p:nvCxnSpPr>
          <p:spPr>
            <a:xfrm rot="5400000">
              <a:off x="3141" y="2709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25" name="Google Shape;1225;p65"/>
            <p:cNvSpPr txBox="1"/>
            <p:nvPr/>
          </p:nvSpPr>
          <p:spPr>
            <a:xfrm>
              <a:off x="3416" y="302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226" name="Google Shape;1226;p65"/>
            <p:cNvSpPr txBox="1"/>
            <p:nvPr/>
          </p:nvSpPr>
          <p:spPr>
            <a:xfrm>
              <a:off x="3552" y="19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227" name="Google Shape;1227;p65"/>
            <p:cNvSpPr/>
            <p:nvPr/>
          </p:nvSpPr>
          <p:spPr>
            <a:xfrm>
              <a:off x="4500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65"/>
            <p:cNvSpPr/>
            <p:nvPr/>
          </p:nvSpPr>
          <p:spPr>
            <a:xfrm>
              <a:off x="4506" y="267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9" name="Google Shape;1229;p65"/>
            <p:cNvCxnSpPr/>
            <p:nvPr/>
          </p:nvCxnSpPr>
          <p:spPr>
            <a:xfrm rot="5400000">
              <a:off x="4077" y="3137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30" name="Google Shape;1230;p65"/>
            <p:cNvSpPr txBox="1"/>
            <p:nvPr/>
          </p:nvSpPr>
          <p:spPr>
            <a:xfrm>
              <a:off x="4608" y="336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f</a:t>
              </a:r>
              <a:endParaRPr/>
            </a:p>
          </p:txBody>
        </p:sp>
        <p:sp>
          <p:nvSpPr>
            <p:cNvPr id="1231" name="Google Shape;1231;p65"/>
            <p:cNvSpPr txBox="1"/>
            <p:nvPr/>
          </p:nvSpPr>
          <p:spPr>
            <a:xfrm>
              <a:off x="4488" y="19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1232" name="Google Shape;1232;p65"/>
            <p:cNvCxnSpPr/>
            <p:nvPr/>
          </p:nvCxnSpPr>
          <p:spPr>
            <a:xfrm>
              <a:off x="3627" y="2241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33" name="Google Shape;1233;p65"/>
            <p:cNvCxnSpPr/>
            <p:nvPr/>
          </p:nvCxnSpPr>
          <p:spPr>
            <a:xfrm flipH="1">
              <a:off x="3600" y="2688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34" name="Google Shape;1234;p65"/>
            <p:cNvCxnSpPr/>
            <p:nvPr/>
          </p:nvCxnSpPr>
          <p:spPr>
            <a:xfrm>
              <a:off x="3610" y="3600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35" name="Google Shape;1235;p65"/>
            <p:cNvSpPr/>
            <p:nvPr/>
          </p:nvSpPr>
          <p:spPr>
            <a:xfrm>
              <a:off x="3584" y="355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65"/>
            <p:cNvSpPr/>
            <p:nvPr/>
          </p:nvSpPr>
          <p:spPr>
            <a:xfrm>
              <a:off x="4496" y="355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65"/>
            <p:cNvSpPr txBox="1"/>
            <p:nvPr/>
          </p:nvSpPr>
          <p:spPr>
            <a:xfrm>
              <a:off x="3408" y="340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</p:grpSp>
      <p:sp>
        <p:nvSpPr>
          <p:cNvPr id="1238" name="Google Shape;1238;p65"/>
          <p:cNvSpPr txBox="1"/>
          <p:nvPr/>
        </p:nvSpPr>
        <p:spPr>
          <a:xfrm>
            <a:off x="762000" y="5715000"/>
            <a:ext cx="76962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65"/>
          <p:cNvSpPr txBox="1"/>
          <p:nvPr/>
        </p:nvSpPr>
        <p:spPr>
          <a:xfrm>
            <a:off x="685800" y="5715000"/>
            <a:ext cx="79248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</p:spTree>
  </p:cSld>
  <p:clrMapOvr>
    <a:masterClrMapping/>
  </p:clrMapOvr>
  <p:transition spd="slow"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Connectedness (Cont.)</a:t>
            </a:r>
            <a:endParaRPr/>
          </a:p>
        </p:txBody>
      </p:sp>
      <p:sp>
        <p:nvSpPr>
          <p:cNvPr id="1245" name="Google Shape;1245;p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graph that is not connected is the union of two or more disjoint connected subgraphs (called the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components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graph).</a:t>
            </a:r>
            <a:endParaRPr/>
          </a:p>
        </p:txBody>
      </p:sp>
    </p:spTree>
  </p:cSld>
  <p:clrMapOvr>
    <a:masterClrMapping/>
  </p:clrMapOvr>
  <p:transition spd="slow"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6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251" name="Google Shape;1251;p67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229600" cy="13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connected components of the following graph?</a:t>
            </a:r>
            <a:endParaRPr/>
          </a:p>
        </p:txBody>
      </p:sp>
      <p:sp>
        <p:nvSpPr>
          <p:cNvPr id="1252" name="Google Shape;1252;p67"/>
          <p:cNvSpPr txBox="1"/>
          <p:nvPr/>
        </p:nvSpPr>
        <p:spPr>
          <a:xfrm>
            <a:off x="2222500" y="3429000"/>
            <a:ext cx="292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</a:t>
            </a:r>
            <a:endParaRPr/>
          </a:p>
        </p:txBody>
      </p:sp>
      <p:sp>
        <p:nvSpPr>
          <p:cNvPr id="1253" name="Google Shape;1253;p67"/>
          <p:cNvSpPr/>
          <p:nvPr/>
        </p:nvSpPr>
        <p:spPr>
          <a:xfrm>
            <a:off x="3752850" y="3806825"/>
            <a:ext cx="101600" cy="1016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67"/>
          <p:cNvSpPr/>
          <p:nvPr/>
        </p:nvSpPr>
        <p:spPr>
          <a:xfrm>
            <a:off x="2273300" y="3797300"/>
            <a:ext cx="101600" cy="1016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67"/>
          <p:cNvSpPr/>
          <p:nvPr/>
        </p:nvSpPr>
        <p:spPr>
          <a:xfrm>
            <a:off x="2273300" y="5276850"/>
            <a:ext cx="101600" cy="1016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67"/>
          <p:cNvSpPr/>
          <p:nvPr/>
        </p:nvSpPr>
        <p:spPr>
          <a:xfrm>
            <a:off x="3762375" y="5286375"/>
            <a:ext cx="101600" cy="1016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7" name="Google Shape;1257;p67"/>
          <p:cNvCxnSpPr/>
          <p:nvPr/>
        </p:nvCxnSpPr>
        <p:spPr>
          <a:xfrm rot="5400000">
            <a:off x="1592262" y="4586287"/>
            <a:ext cx="147002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58" name="Google Shape;1258;p67"/>
          <p:cNvCxnSpPr/>
          <p:nvPr/>
        </p:nvCxnSpPr>
        <p:spPr>
          <a:xfrm rot="10800000">
            <a:off x="2332037" y="5335587"/>
            <a:ext cx="147002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59" name="Google Shape;1259;p67"/>
          <p:cNvSpPr txBox="1"/>
          <p:nvPr/>
        </p:nvSpPr>
        <p:spPr>
          <a:xfrm>
            <a:off x="2133600" y="5321300"/>
            <a:ext cx="292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endParaRPr/>
          </a:p>
        </p:txBody>
      </p:sp>
      <p:sp>
        <p:nvSpPr>
          <p:cNvPr id="1260" name="Google Shape;1260;p67"/>
          <p:cNvSpPr txBox="1"/>
          <p:nvPr/>
        </p:nvSpPr>
        <p:spPr>
          <a:xfrm>
            <a:off x="3733800" y="5334000"/>
            <a:ext cx="292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</a:t>
            </a:r>
            <a:endParaRPr/>
          </a:p>
        </p:txBody>
      </p:sp>
      <p:sp>
        <p:nvSpPr>
          <p:cNvPr id="1261" name="Google Shape;1261;p67"/>
          <p:cNvSpPr txBox="1"/>
          <p:nvPr/>
        </p:nvSpPr>
        <p:spPr>
          <a:xfrm>
            <a:off x="3733800" y="3429000"/>
            <a:ext cx="292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</a:t>
            </a:r>
            <a:endParaRPr/>
          </a:p>
        </p:txBody>
      </p:sp>
      <p:cxnSp>
        <p:nvCxnSpPr>
          <p:cNvPr id="1262" name="Google Shape;1262;p67"/>
          <p:cNvCxnSpPr/>
          <p:nvPr/>
        </p:nvCxnSpPr>
        <p:spPr>
          <a:xfrm>
            <a:off x="2362200" y="3886200"/>
            <a:ext cx="1447800" cy="1447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63" name="Google Shape;1263;p67"/>
          <p:cNvSpPr txBox="1"/>
          <p:nvPr/>
        </p:nvSpPr>
        <p:spPr>
          <a:xfrm>
            <a:off x="5194300" y="3444875"/>
            <a:ext cx="292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</a:t>
            </a:r>
            <a:endParaRPr/>
          </a:p>
        </p:txBody>
      </p:sp>
      <p:sp>
        <p:nvSpPr>
          <p:cNvPr id="1264" name="Google Shape;1264;p67"/>
          <p:cNvSpPr/>
          <p:nvPr/>
        </p:nvSpPr>
        <p:spPr>
          <a:xfrm>
            <a:off x="6724650" y="3806825"/>
            <a:ext cx="101600" cy="1016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67"/>
          <p:cNvSpPr/>
          <p:nvPr/>
        </p:nvSpPr>
        <p:spPr>
          <a:xfrm>
            <a:off x="5245100" y="3797300"/>
            <a:ext cx="101600" cy="1016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67"/>
          <p:cNvSpPr/>
          <p:nvPr/>
        </p:nvSpPr>
        <p:spPr>
          <a:xfrm>
            <a:off x="5245100" y="5276850"/>
            <a:ext cx="101600" cy="1016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67"/>
          <p:cNvSpPr/>
          <p:nvPr/>
        </p:nvSpPr>
        <p:spPr>
          <a:xfrm>
            <a:off x="6734175" y="5286375"/>
            <a:ext cx="101600" cy="101600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8" name="Google Shape;1268;p67"/>
          <p:cNvCxnSpPr/>
          <p:nvPr/>
        </p:nvCxnSpPr>
        <p:spPr>
          <a:xfrm rot="5400000">
            <a:off x="6053931" y="4606131"/>
            <a:ext cx="146843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69" name="Google Shape;1269;p67"/>
          <p:cNvSpPr txBox="1"/>
          <p:nvPr/>
        </p:nvSpPr>
        <p:spPr>
          <a:xfrm>
            <a:off x="5194300" y="5321300"/>
            <a:ext cx="292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</a:t>
            </a:r>
            <a:endParaRPr/>
          </a:p>
        </p:txBody>
      </p:sp>
      <p:sp>
        <p:nvSpPr>
          <p:cNvPr id="1270" name="Google Shape;1270;p67"/>
          <p:cNvSpPr txBox="1"/>
          <p:nvPr/>
        </p:nvSpPr>
        <p:spPr>
          <a:xfrm>
            <a:off x="6718300" y="5349875"/>
            <a:ext cx="292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</a:t>
            </a:r>
            <a:endParaRPr/>
          </a:p>
        </p:txBody>
      </p:sp>
      <p:sp>
        <p:nvSpPr>
          <p:cNvPr id="1271" name="Google Shape;1271;p67"/>
          <p:cNvSpPr txBox="1"/>
          <p:nvPr/>
        </p:nvSpPr>
        <p:spPr>
          <a:xfrm>
            <a:off x="6705600" y="3444875"/>
            <a:ext cx="292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lang="en-US"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</a:t>
            </a:r>
            <a:endParaRPr/>
          </a:p>
        </p:txBody>
      </p:sp>
      <p:cxnSp>
        <p:nvCxnSpPr>
          <p:cNvPr id="1272" name="Google Shape;1272;p67"/>
          <p:cNvCxnSpPr/>
          <p:nvPr/>
        </p:nvCxnSpPr>
        <p:spPr>
          <a:xfrm>
            <a:off x="3810000" y="3862387"/>
            <a:ext cx="147002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73" name="Google Shape;1273;p67"/>
          <p:cNvCxnSpPr/>
          <p:nvPr/>
        </p:nvCxnSpPr>
        <p:spPr>
          <a:xfrm>
            <a:off x="5311775" y="5334000"/>
            <a:ext cx="147002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6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279" name="Google Shape;1279;p68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229600" cy="13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connected components of the following graph?</a:t>
            </a:r>
            <a:endParaRPr/>
          </a:p>
        </p:txBody>
      </p:sp>
      <p:sp>
        <p:nvSpPr>
          <p:cNvPr id="1280" name="Google Shape;1280;p68"/>
          <p:cNvSpPr/>
          <p:nvPr/>
        </p:nvSpPr>
        <p:spPr>
          <a:xfrm>
            <a:off x="4584700" y="3098800"/>
            <a:ext cx="3124200" cy="3073400"/>
          </a:xfrm>
          <a:custGeom>
            <a:avLst/>
            <a:gdLst/>
            <a:ahLst/>
            <a:cxnLst/>
            <a:rect l="l" t="t" r="r" b="b"/>
            <a:pathLst>
              <a:path w="1968" h="1936" extrusionOk="0">
                <a:moveTo>
                  <a:pt x="952" y="1024"/>
                </a:moveTo>
                <a:cubicBezTo>
                  <a:pt x="1080" y="960"/>
                  <a:pt x="1064" y="888"/>
                  <a:pt x="1096" y="784"/>
                </a:cubicBezTo>
                <a:cubicBezTo>
                  <a:pt x="1128" y="680"/>
                  <a:pt x="1120" y="512"/>
                  <a:pt x="1144" y="400"/>
                </a:cubicBezTo>
                <a:cubicBezTo>
                  <a:pt x="1168" y="288"/>
                  <a:pt x="1176" y="168"/>
                  <a:pt x="1240" y="112"/>
                </a:cubicBezTo>
                <a:cubicBezTo>
                  <a:pt x="1304" y="56"/>
                  <a:pt x="1448" y="0"/>
                  <a:pt x="1528" y="64"/>
                </a:cubicBezTo>
                <a:cubicBezTo>
                  <a:pt x="1608" y="128"/>
                  <a:pt x="1688" y="216"/>
                  <a:pt x="1720" y="496"/>
                </a:cubicBezTo>
                <a:cubicBezTo>
                  <a:pt x="1752" y="776"/>
                  <a:pt x="1968" y="1552"/>
                  <a:pt x="1720" y="1744"/>
                </a:cubicBezTo>
                <a:cubicBezTo>
                  <a:pt x="1472" y="1936"/>
                  <a:pt x="464" y="1744"/>
                  <a:pt x="232" y="1648"/>
                </a:cubicBezTo>
                <a:cubicBezTo>
                  <a:pt x="0" y="1552"/>
                  <a:pt x="208" y="1272"/>
                  <a:pt x="328" y="1168"/>
                </a:cubicBezTo>
                <a:cubicBezTo>
                  <a:pt x="448" y="1064"/>
                  <a:pt x="824" y="1088"/>
                  <a:pt x="952" y="1024"/>
                </a:cubicBezTo>
                <a:close/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68"/>
          <p:cNvSpPr/>
          <p:nvPr/>
        </p:nvSpPr>
        <p:spPr>
          <a:xfrm>
            <a:off x="1701800" y="3136900"/>
            <a:ext cx="2755900" cy="2806700"/>
          </a:xfrm>
          <a:custGeom>
            <a:avLst/>
            <a:gdLst/>
            <a:ahLst/>
            <a:cxnLst/>
            <a:rect l="l" t="t" r="r" b="b"/>
            <a:pathLst>
              <a:path w="1736" h="1768" extrusionOk="0">
                <a:moveTo>
                  <a:pt x="32" y="232"/>
                </a:moveTo>
                <a:cubicBezTo>
                  <a:pt x="16" y="456"/>
                  <a:pt x="0" y="1184"/>
                  <a:pt x="32" y="1432"/>
                </a:cubicBezTo>
                <a:cubicBezTo>
                  <a:pt x="64" y="1680"/>
                  <a:pt x="0" y="1672"/>
                  <a:pt x="224" y="1720"/>
                </a:cubicBezTo>
                <a:cubicBezTo>
                  <a:pt x="448" y="1768"/>
                  <a:pt x="1144" y="1736"/>
                  <a:pt x="1376" y="1720"/>
                </a:cubicBezTo>
                <a:cubicBezTo>
                  <a:pt x="1608" y="1704"/>
                  <a:pt x="1584" y="1712"/>
                  <a:pt x="1616" y="1624"/>
                </a:cubicBezTo>
                <a:cubicBezTo>
                  <a:pt x="1648" y="1536"/>
                  <a:pt x="1736" y="1432"/>
                  <a:pt x="1568" y="1192"/>
                </a:cubicBezTo>
                <a:cubicBezTo>
                  <a:pt x="1400" y="952"/>
                  <a:pt x="848" y="368"/>
                  <a:pt x="608" y="184"/>
                </a:cubicBezTo>
                <a:cubicBezTo>
                  <a:pt x="368" y="0"/>
                  <a:pt x="224" y="80"/>
                  <a:pt x="128" y="88"/>
                </a:cubicBezTo>
                <a:cubicBezTo>
                  <a:pt x="32" y="96"/>
                  <a:pt x="48" y="8"/>
                  <a:pt x="32" y="232"/>
                </a:cubicBezTo>
                <a:close/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2" name="Google Shape;1282;p68"/>
          <p:cNvGrpSpPr/>
          <p:nvPr/>
        </p:nvGrpSpPr>
        <p:grpSpPr>
          <a:xfrm>
            <a:off x="2133600" y="3429000"/>
            <a:ext cx="4876800" cy="2286000"/>
            <a:chOff x="1344" y="2160"/>
            <a:chExt cx="3072" cy="1440"/>
          </a:xfrm>
        </p:grpSpPr>
        <p:sp>
          <p:nvSpPr>
            <p:cNvPr id="1283" name="Google Shape;1283;p68"/>
            <p:cNvSpPr txBox="1"/>
            <p:nvPr/>
          </p:nvSpPr>
          <p:spPr>
            <a:xfrm>
              <a:off x="1400" y="216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sp>
          <p:nvSpPr>
            <p:cNvPr id="1284" name="Google Shape;1284;p68"/>
            <p:cNvSpPr/>
            <p:nvPr/>
          </p:nvSpPr>
          <p:spPr>
            <a:xfrm>
              <a:off x="2364" y="239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68"/>
            <p:cNvSpPr/>
            <p:nvPr/>
          </p:nvSpPr>
          <p:spPr>
            <a:xfrm>
              <a:off x="1432" y="239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68"/>
            <p:cNvSpPr/>
            <p:nvPr/>
          </p:nvSpPr>
          <p:spPr>
            <a:xfrm>
              <a:off x="1432" y="3324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68"/>
            <p:cNvSpPr/>
            <p:nvPr/>
          </p:nvSpPr>
          <p:spPr>
            <a:xfrm>
              <a:off x="2370" y="3330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8" name="Google Shape;1288;p68"/>
            <p:cNvCxnSpPr/>
            <p:nvPr/>
          </p:nvCxnSpPr>
          <p:spPr>
            <a:xfrm rot="5400000">
              <a:off x="1003" y="2889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89" name="Google Shape;1289;p68"/>
            <p:cNvCxnSpPr/>
            <p:nvPr/>
          </p:nvCxnSpPr>
          <p:spPr>
            <a:xfrm rot="10800000">
              <a:off x="1469" y="3361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90" name="Google Shape;1290;p68"/>
            <p:cNvSpPr txBox="1"/>
            <p:nvPr/>
          </p:nvSpPr>
          <p:spPr>
            <a:xfrm>
              <a:off x="1344" y="3352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291" name="Google Shape;1291;p68"/>
            <p:cNvSpPr txBox="1"/>
            <p:nvPr/>
          </p:nvSpPr>
          <p:spPr>
            <a:xfrm>
              <a:off x="2352" y="336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292" name="Google Shape;1292;p68"/>
            <p:cNvSpPr txBox="1"/>
            <p:nvPr/>
          </p:nvSpPr>
          <p:spPr>
            <a:xfrm>
              <a:off x="2352" y="216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cxnSp>
          <p:nvCxnSpPr>
            <p:cNvPr id="1293" name="Google Shape;1293;p68"/>
            <p:cNvCxnSpPr/>
            <p:nvPr/>
          </p:nvCxnSpPr>
          <p:spPr>
            <a:xfrm>
              <a:off x="1488" y="2448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94" name="Google Shape;1294;p68"/>
            <p:cNvSpPr txBox="1"/>
            <p:nvPr/>
          </p:nvSpPr>
          <p:spPr>
            <a:xfrm>
              <a:off x="3272" y="217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295" name="Google Shape;1295;p68"/>
            <p:cNvSpPr/>
            <p:nvPr/>
          </p:nvSpPr>
          <p:spPr>
            <a:xfrm>
              <a:off x="4236" y="239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68"/>
            <p:cNvSpPr/>
            <p:nvPr/>
          </p:nvSpPr>
          <p:spPr>
            <a:xfrm>
              <a:off x="3304" y="239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68"/>
            <p:cNvSpPr/>
            <p:nvPr/>
          </p:nvSpPr>
          <p:spPr>
            <a:xfrm>
              <a:off x="3304" y="3324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68"/>
            <p:cNvSpPr/>
            <p:nvPr/>
          </p:nvSpPr>
          <p:spPr>
            <a:xfrm>
              <a:off x="4242" y="3330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9" name="Google Shape;1299;p68"/>
            <p:cNvCxnSpPr/>
            <p:nvPr/>
          </p:nvCxnSpPr>
          <p:spPr>
            <a:xfrm rot="5400000">
              <a:off x="3813" y="2901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00" name="Google Shape;1300;p68"/>
            <p:cNvSpPr txBox="1"/>
            <p:nvPr/>
          </p:nvSpPr>
          <p:spPr>
            <a:xfrm>
              <a:off x="3272" y="3352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h</a:t>
              </a:r>
              <a:endParaRPr/>
            </a:p>
          </p:txBody>
        </p:sp>
        <p:sp>
          <p:nvSpPr>
            <p:cNvPr id="1301" name="Google Shape;1301;p68"/>
            <p:cNvSpPr txBox="1"/>
            <p:nvPr/>
          </p:nvSpPr>
          <p:spPr>
            <a:xfrm>
              <a:off x="4232" y="337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endParaRPr/>
            </a:p>
          </p:txBody>
        </p:sp>
        <p:sp>
          <p:nvSpPr>
            <p:cNvPr id="1302" name="Google Shape;1302;p68"/>
            <p:cNvSpPr txBox="1"/>
            <p:nvPr/>
          </p:nvSpPr>
          <p:spPr>
            <a:xfrm>
              <a:off x="4224" y="217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f</a:t>
              </a:r>
              <a:endParaRPr/>
            </a:p>
          </p:txBody>
        </p:sp>
        <p:cxnSp>
          <p:nvCxnSpPr>
            <p:cNvPr id="1303" name="Google Shape;1303;p68"/>
            <p:cNvCxnSpPr/>
            <p:nvPr/>
          </p:nvCxnSpPr>
          <p:spPr>
            <a:xfrm>
              <a:off x="2400" y="2433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04" name="Google Shape;1304;p68"/>
            <p:cNvCxnSpPr/>
            <p:nvPr/>
          </p:nvCxnSpPr>
          <p:spPr>
            <a:xfrm>
              <a:off x="3346" y="3360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305" name="Google Shape;1305;p68"/>
          <p:cNvSpPr/>
          <p:nvPr/>
        </p:nvSpPr>
        <p:spPr>
          <a:xfrm>
            <a:off x="3429000" y="3200400"/>
            <a:ext cx="2286000" cy="1066800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68"/>
          <p:cNvSpPr txBox="1"/>
          <p:nvPr/>
        </p:nvSpPr>
        <p:spPr>
          <a:xfrm>
            <a:off x="457200" y="6096000"/>
            <a:ext cx="84582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68"/>
          <p:cNvSpPr txBox="1"/>
          <p:nvPr/>
        </p:nvSpPr>
        <p:spPr>
          <a:xfrm>
            <a:off x="381000" y="61722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{a, b, c}, {d, e}, {f, g, h}</a:t>
            </a:r>
            <a:endParaRPr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6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 edges and vertices</a:t>
            </a:r>
            <a:endParaRPr/>
          </a:p>
        </p:txBody>
      </p:sp>
      <p:sp>
        <p:nvSpPr>
          <p:cNvPr id="1313" name="Google Shape;1313;p69"/>
          <p:cNvSpPr txBox="1">
            <a:spLocks noGrp="1"/>
          </p:cNvSpPr>
          <p:nvPr>
            <p:ph type="body" idx="1"/>
          </p:nvPr>
        </p:nvSpPr>
        <p:spPr>
          <a:xfrm>
            <a:off x="304800" y="1600200"/>
            <a:ext cx="83820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one can remove a vertex (and all incident edges) and produce a graph with more connected components, the vertex is called 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 vertex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removal of an edge creates more connected components the edge is called 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 edge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7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319" name="Google Shape;1319;p70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cut vertices and cut edges in the following graph.</a:t>
            </a:r>
            <a:endParaRPr/>
          </a:p>
        </p:txBody>
      </p:sp>
      <p:grpSp>
        <p:nvGrpSpPr>
          <p:cNvPr id="1320" name="Google Shape;1320;p70"/>
          <p:cNvGrpSpPr/>
          <p:nvPr/>
        </p:nvGrpSpPr>
        <p:grpSpPr>
          <a:xfrm>
            <a:off x="2133600" y="2819400"/>
            <a:ext cx="4876800" cy="2286000"/>
            <a:chOff x="1056" y="2304"/>
            <a:chExt cx="3072" cy="1440"/>
          </a:xfrm>
        </p:grpSpPr>
        <p:sp>
          <p:nvSpPr>
            <p:cNvPr id="1321" name="Google Shape;1321;p70"/>
            <p:cNvSpPr txBox="1"/>
            <p:nvPr/>
          </p:nvSpPr>
          <p:spPr>
            <a:xfrm>
              <a:off x="1112" y="230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322" name="Google Shape;1322;p70"/>
            <p:cNvSpPr/>
            <p:nvPr/>
          </p:nvSpPr>
          <p:spPr>
            <a:xfrm>
              <a:off x="2076" y="254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70"/>
            <p:cNvSpPr/>
            <p:nvPr/>
          </p:nvSpPr>
          <p:spPr>
            <a:xfrm>
              <a:off x="1144" y="253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70"/>
            <p:cNvSpPr/>
            <p:nvPr/>
          </p:nvSpPr>
          <p:spPr>
            <a:xfrm>
              <a:off x="1144" y="346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70"/>
            <p:cNvSpPr/>
            <p:nvPr/>
          </p:nvSpPr>
          <p:spPr>
            <a:xfrm>
              <a:off x="2082" y="3474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6" name="Google Shape;1326;p70"/>
            <p:cNvCxnSpPr/>
            <p:nvPr/>
          </p:nvCxnSpPr>
          <p:spPr>
            <a:xfrm rot="5400000">
              <a:off x="715" y="3033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27" name="Google Shape;1327;p70"/>
            <p:cNvCxnSpPr/>
            <p:nvPr/>
          </p:nvCxnSpPr>
          <p:spPr>
            <a:xfrm rot="5400000">
              <a:off x="1653" y="3045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28" name="Google Shape;1328;p70"/>
            <p:cNvCxnSpPr/>
            <p:nvPr/>
          </p:nvCxnSpPr>
          <p:spPr>
            <a:xfrm rot="10800000">
              <a:off x="1181" y="3505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29" name="Google Shape;1329;p70"/>
            <p:cNvSpPr txBox="1"/>
            <p:nvPr/>
          </p:nvSpPr>
          <p:spPr>
            <a:xfrm>
              <a:off x="1056" y="3496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sp>
          <p:nvSpPr>
            <p:cNvPr id="1330" name="Google Shape;1330;p70"/>
            <p:cNvSpPr txBox="1"/>
            <p:nvPr/>
          </p:nvSpPr>
          <p:spPr>
            <a:xfrm>
              <a:off x="2064" y="350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331" name="Google Shape;1331;p70"/>
            <p:cNvSpPr txBox="1"/>
            <p:nvPr/>
          </p:nvSpPr>
          <p:spPr>
            <a:xfrm>
              <a:off x="2064" y="230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cxnSp>
          <p:nvCxnSpPr>
            <p:cNvPr id="1332" name="Google Shape;1332;p70"/>
            <p:cNvCxnSpPr/>
            <p:nvPr/>
          </p:nvCxnSpPr>
          <p:spPr>
            <a:xfrm flipH="1">
              <a:off x="1169" y="2584"/>
              <a:ext cx="936" cy="92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33" name="Google Shape;1333;p70"/>
            <p:cNvSpPr txBox="1"/>
            <p:nvPr/>
          </p:nvSpPr>
          <p:spPr>
            <a:xfrm>
              <a:off x="2984" y="231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f</a:t>
              </a:r>
              <a:endParaRPr/>
            </a:p>
          </p:txBody>
        </p:sp>
        <p:sp>
          <p:nvSpPr>
            <p:cNvPr id="1334" name="Google Shape;1334;p70"/>
            <p:cNvSpPr/>
            <p:nvPr/>
          </p:nvSpPr>
          <p:spPr>
            <a:xfrm>
              <a:off x="3948" y="254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70"/>
            <p:cNvSpPr/>
            <p:nvPr/>
          </p:nvSpPr>
          <p:spPr>
            <a:xfrm>
              <a:off x="3016" y="253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70"/>
            <p:cNvSpPr/>
            <p:nvPr/>
          </p:nvSpPr>
          <p:spPr>
            <a:xfrm>
              <a:off x="3016" y="346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70"/>
            <p:cNvSpPr/>
            <p:nvPr/>
          </p:nvSpPr>
          <p:spPr>
            <a:xfrm>
              <a:off x="3954" y="3474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8" name="Google Shape;1338;p70"/>
            <p:cNvCxnSpPr/>
            <p:nvPr/>
          </p:nvCxnSpPr>
          <p:spPr>
            <a:xfrm rot="5400000">
              <a:off x="2587" y="3033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39" name="Google Shape;1339;p70"/>
            <p:cNvCxnSpPr/>
            <p:nvPr/>
          </p:nvCxnSpPr>
          <p:spPr>
            <a:xfrm rot="5400000">
              <a:off x="3525" y="3045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40" name="Google Shape;1340;p70"/>
            <p:cNvSpPr txBox="1"/>
            <p:nvPr/>
          </p:nvSpPr>
          <p:spPr>
            <a:xfrm>
              <a:off x="2984" y="3496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341" name="Google Shape;1341;p70"/>
            <p:cNvSpPr txBox="1"/>
            <p:nvPr/>
          </p:nvSpPr>
          <p:spPr>
            <a:xfrm>
              <a:off x="3944" y="351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h</a:t>
              </a:r>
              <a:endParaRPr/>
            </a:p>
          </p:txBody>
        </p:sp>
        <p:sp>
          <p:nvSpPr>
            <p:cNvPr id="1342" name="Google Shape;1342;p70"/>
            <p:cNvSpPr txBox="1"/>
            <p:nvPr/>
          </p:nvSpPr>
          <p:spPr>
            <a:xfrm>
              <a:off x="3936" y="231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endParaRPr/>
            </a:p>
          </p:txBody>
        </p:sp>
        <p:cxnSp>
          <p:nvCxnSpPr>
            <p:cNvPr id="1343" name="Google Shape;1343;p70"/>
            <p:cNvCxnSpPr/>
            <p:nvPr/>
          </p:nvCxnSpPr>
          <p:spPr>
            <a:xfrm>
              <a:off x="3075" y="2577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44" name="Google Shape;1344;p70"/>
            <p:cNvCxnSpPr/>
            <p:nvPr/>
          </p:nvCxnSpPr>
          <p:spPr>
            <a:xfrm rot="10800000">
              <a:off x="2112" y="3504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45" name="Google Shape;1345;p70"/>
            <p:cNvCxnSpPr/>
            <p:nvPr/>
          </p:nvCxnSpPr>
          <p:spPr>
            <a:xfrm flipH="1">
              <a:off x="3048" y="2584"/>
              <a:ext cx="936" cy="92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46" name="Google Shape;1346;p70"/>
            <p:cNvCxnSpPr/>
            <p:nvPr/>
          </p:nvCxnSpPr>
          <p:spPr>
            <a:xfrm>
              <a:off x="3058" y="3504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 spd="slow"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7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352" name="Google Shape;1352;p71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cut vertices and cut edges in the following graph.</a:t>
            </a:r>
            <a:endParaRPr/>
          </a:p>
        </p:txBody>
      </p:sp>
      <p:grpSp>
        <p:nvGrpSpPr>
          <p:cNvPr id="1353" name="Google Shape;1353;p71"/>
          <p:cNvGrpSpPr/>
          <p:nvPr/>
        </p:nvGrpSpPr>
        <p:grpSpPr>
          <a:xfrm>
            <a:off x="2133600" y="2819400"/>
            <a:ext cx="4876800" cy="2286000"/>
            <a:chOff x="1056" y="2304"/>
            <a:chExt cx="3072" cy="1440"/>
          </a:xfrm>
        </p:grpSpPr>
        <p:sp>
          <p:nvSpPr>
            <p:cNvPr id="1354" name="Google Shape;1354;p71"/>
            <p:cNvSpPr txBox="1"/>
            <p:nvPr/>
          </p:nvSpPr>
          <p:spPr>
            <a:xfrm>
              <a:off x="1112" y="230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355" name="Google Shape;1355;p71"/>
            <p:cNvSpPr/>
            <p:nvPr/>
          </p:nvSpPr>
          <p:spPr>
            <a:xfrm>
              <a:off x="2076" y="254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71"/>
            <p:cNvSpPr/>
            <p:nvPr/>
          </p:nvSpPr>
          <p:spPr>
            <a:xfrm>
              <a:off x="1144" y="253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71"/>
            <p:cNvSpPr/>
            <p:nvPr/>
          </p:nvSpPr>
          <p:spPr>
            <a:xfrm>
              <a:off x="1144" y="346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71"/>
            <p:cNvSpPr/>
            <p:nvPr/>
          </p:nvSpPr>
          <p:spPr>
            <a:xfrm>
              <a:off x="2082" y="3474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9" name="Google Shape;1359;p71"/>
            <p:cNvCxnSpPr/>
            <p:nvPr/>
          </p:nvCxnSpPr>
          <p:spPr>
            <a:xfrm rot="5400000">
              <a:off x="715" y="3033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60" name="Google Shape;1360;p71"/>
            <p:cNvCxnSpPr/>
            <p:nvPr/>
          </p:nvCxnSpPr>
          <p:spPr>
            <a:xfrm rot="5400000">
              <a:off x="1653" y="3045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61" name="Google Shape;1361;p71"/>
            <p:cNvCxnSpPr/>
            <p:nvPr/>
          </p:nvCxnSpPr>
          <p:spPr>
            <a:xfrm rot="10800000">
              <a:off x="1181" y="3505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62" name="Google Shape;1362;p71"/>
            <p:cNvSpPr txBox="1"/>
            <p:nvPr/>
          </p:nvSpPr>
          <p:spPr>
            <a:xfrm>
              <a:off x="1056" y="3496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sp>
          <p:nvSpPr>
            <p:cNvPr id="1363" name="Google Shape;1363;p71"/>
            <p:cNvSpPr txBox="1"/>
            <p:nvPr/>
          </p:nvSpPr>
          <p:spPr>
            <a:xfrm>
              <a:off x="2064" y="350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364" name="Google Shape;1364;p71"/>
            <p:cNvSpPr txBox="1"/>
            <p:nvPr/>
          </p:nvSpPr>
          <p:spPr>
            <a:xfrm>
              <a:off x="2064" y="230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cxnSp>
          <p:nvCxnSpPr>
            <p:cNvPr id="1365" name="Google Shape;1365;p71"/>
            <p:cNvCxnSpPr/>
            <p:nvPr/>
          </p:nvCxnSpPr>
          <p:spPr>
            <a:xfrm flipH="1">
              <a:off x="1169" y="2584"/>
              <a:ext cx="936" cy="92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66" name="Google Shape;1366;p71"/>
            <p:cNvSpPr txBox="1"/>
            <p:nvPr/>
          </p:nvSpPr>
          <p:spPr>
            <a:xfrm>
              <a:off x="2984" y="231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f</a:t>
              </a:r>
              <a:endParaRPr/>
            </a:p>
          </p:txBody>
        </p:sp>
        <p:sp>
          <p:nvSpPr>
            <p:cNvPr id="1367" name="Google Shape;1367;p71"/>
            <p:cNvSpPr/>
            <p:nvPr/>
          </p:nvSpPr>
          <p:spPr>
            <a:xfrm>
              <a:off x="3948" y="2542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71"/>
            <p:cNvSpPr/>
            <p:nvPr/>
          </p:nvSpPr>
          <p:spPr>
            <a:xfrm>
              <a:off x="3016" y="253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71"/>
            <p:cNvSpPr/>
            <p:nvPr/>
          </p:nvSpPr>
          <p:spPr>
            <a:xfrm>
              <a:off x="3016" y="346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71"/>
            <p:cNvSpPr/>
            <p:nvPr/>
          </p:nvSpPr>
          <p:spPr>
            <a:xfrm>
              <a:off x="3954" y="3474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71" name="Google Shape;1371;p71"/>
            <p:cNvCxnSpPr/>
            <p:nvPr/>
          </p:nvCxnSpPr>
          <p:spPr>
            <a:xfrm rot="5400000">
              <a:off x="2587" y="3033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72" name="Google Shape;1372;p71"/>
            <p:cNvCxnSpPr/>
            <p:nvPr/>
          </p:nvCxnSpPr>
          <p:spPr>
            <a:xfrm rot="5400000">
              <a:off x="3525" y="3045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73" name="Google Shape;1373;p71"/>
            <p:cNvSpPr txBox="1"/>
            <p:nvPr/>
          </p:nvSpPr>
          <p:spPr>
            <a:xfrm>
              <a:off x="2984" y="3496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374" name="Google Shape;1374;p71"/>
            <p:cNvSpPr txBox="1"/>
            <p:nvPr/>
          </p:nvSpPr>
          <p:spPr>
            <a:xfrm>
              <a:off x="3944" y="351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h</a:t>
              </a:r>
              <a:endParaRPr/>
            </a:p>
          </p:txBody>
        </p:sp>
        <p:sp>
          <p:nvSpPr>
            <p:cNvPr id="1375" name="Google Shape;1375;p71"/>
            <p:cNvSpPr txBox="1"/>
            <p:nvPr/>
          </p:nvSpPr>
          <p:spPr>
            <a:xfrm>
              <a:off x="3936" y="2314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endParaRPr/>
            </a:p>
          </p:txBody>
        </p:sp>
        <p:cxnSp>
          <p:nvCxnSpPr>
            <p:cNvPr id="1376" name="Google Shape;1376;p71"/>
            <p:cNvCxnSpPr/>
            <p:nvPr/>
          </p:nvCxnSpPr>
          <p:spPr>
            <a:xfrm>
              <a:off x="3075" y="2577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77" name="Google Shape;1377;p71"/>
            <p:cNvCxnSpPr/>
            <p:nvPr/>
          </p:nvCxnSpPr>
          <p:spPr>
            <a:xfrm rot="10800000">
              <a:off x="2112" y="3504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78" name="Google Shape;1378;p71"/>
            <p:cNvCxnSpPr/>
            <p:nvPr/>
          </p:nvCxnSpPr>
          <p:spPr>
            <a:xfrm flipH="1">
              <a:off x="3048" y="2584"/>
              <a:ext cx="936" cy="92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79" name="Google Shape;1379;p71"/>
            <p:cNvCxnSpPr/>
            <p:nvPr/>
          </p:nvCxnSpPr>
          <p:spPr>
            <a:xfrm>
              <a:off x="3058" y="3504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380" name="Google Shape;1380;p71"/>
          <p:cNvSpPr txBox="1"/>
          <p:nvPr/>
        </p:nvSpPr>
        <p:spPr>
          <a:xfrm>
            <a:off x="685800" y="5334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 vertices: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 edge:  (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</p:spTree>
  </p:cSld>
  <p:clrMapOvr>
    <a:masterClrMapping/>
  </p:clrMapOvr>
  <p:transition spd="slow"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7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39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Connectedness in Directed Graphs</a:t>
            </a:r>
            <a:endParaRPr/>
          </a:p>
        </p:txBody>
      </p:sp>
      <p:sp>
        <p:nvSpPr>
          <p:cNvPr id="1386" name="Google Shape;1386;p72"/>
          <p:cNvSpPr txBox="1">
            <a:spLocks noGrp="1"/>
          </p:cNvSpPr>
          <p:nvPr>
            <p:ph type="body" idx="1"/>
          </p:nvPr>
        </p:nvSpPr>
        <p:spPr>
          <a:xfrm>
            <a:off x="228600" y="1600200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directed graph is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there is a </a:t>
            </a:r>
            <a:r>
              <a:rPr lang="en-US" sz="3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path between every pair of vertices.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directed graph is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weakly connected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there is a path between every pair of vertices in the </a:t>
            </a:r>
            <a:r>
              <a:rPr lang="en-US" sz="3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underlying undirected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graph.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7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392" name="Google Shape;1392;p73"/>
          <p:cNvSpPr txBox="1">
            <a:spLocks noGrp="1"/>
          </p:cNvSpPr>
          <p:nvPr>
            <p:ph type="body" idx="1"/>
          </p:nvPr>
        </p:nvSpPr>
        <p:spPr>
          <a:xfrm>
            <a:off x="152400" y="1143000"/>
            <a:ext cx="8839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following graph strongly connected? Is it weakly connected?</a:t>
            </a:r>
            <a:endParaRPr/>
          </a:p>
        </p:txBody>
      </p:sp>
      <p:grpSp>
        <p:nvGrpSpPr>
          <p:cNvPr id="1393" name="Google Shape;1393;p73"/>
          <p:cNvGrpSpPr/>
          <p:nvPr/>
        </p:nvGrpSpPr>
        <p:grpSpPr>
          <a:xfrm>
            <a:off x="610214" y="2828925"/>
            <a:ext cx="3505200" cy="2886075"/>
            <a:chOff x="612" y="1999"/>
            <a:chExt cx="2208" cy="1818"/>
          </a:xfrm>
        </p:grpSpPr>
        <p:sp>
          <p:nvSpPr>
            <p:cNvPr id="1394" name="Google Shape;1394;p73"/>
            <p:cNvSpPr/>
            <p:nvPr/>
          </p:nvSpPr>
          <p:spPr>
            <a:xfrm>
              <a:off x="687" y="3424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5" name="Google Shape;1395;p73"/>
            <p:cNvCxnSpPr/>
            <p:nvPr/>
          </p:nvCxnSpPr>
          <p:spPr>
            <a:xfrm rot="5400000">
              <a:off x="1607" y="2616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396" name="Google Shape;1396;p73"/>
            <p:cNvCxnSpPr/>
            <p:nvPr/>
          </p:nvCxnSpPr>
          <p:spPr>
            <a:xfrm rot="5400000">
              <a:off x="1623" y="3192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97" name="Google Shape;1397;p73"/>
            <p:cNvSpPr/>
            <p:nvPr/>
          </p:nvSpPr>
          <p:spPr>
            <a:xfrm>
              <a:off x="1863" y="3432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73"/>
            <p:cNvSpPr/>
            <p:nvPr/>
          </p:nvSpPr>
          <p:spPr>
            <a:xfrm>
              <a:off x="2448" y="2832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9" name="Google Shape;1399;p73"/>
            <p:cNvCxnSpPr>
              <a:cxnSpLocks/>
            </p:cNvCxnSpPr>
            <p:nvPr/>
          </p:nvCxnSpPr>
          <p:spPr>
            <a:xfrm flipH="1">
              <a:off x="1955" y="3174"/>
              <a:ext cx="271" cy="303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00" name="Google Shape;1400;p73"/>
            <p:cNvCxnSpPr>
              <a:cxnSpLocks/>
              <a:stCxn id="1398" idx="4"/>
            </p:cNvCxnSpPr>
            <p:nvPr/>
          </p:nvCxnSpPr>
          <p:spPr>
            <a:xfrm flipH="1">
              <a:off x="2190" y="2912"/>
              <a:ext cx="298" cy="304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01" name="Google Shape;1401;p73"/>
            <p:cNvSpPr txBox="1"/>
            <p:nvPr/>
          </p:nvSpPr>
          <p:spPr>
            <a:xfrm>
              <a:off x="612" y="1999"/>
              <a:ext cx="2208" cy="18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                   b 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 dirty="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 dirty="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            c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 dirty="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                  d</a:t>
              </a:r>
              <a:endParaRPr dirty="0"/>
            </a:p>
          </p:txBody>
        </p:sp>
        <p:cxnSp>
          <p:nvCxnSpPr>
            <p:cNvPr id="1402" name="Google Shape;1402;p73"/>
            <p:cNvCxnSpPr/>
            <p:nvPr/>
          </p:nvCxnSpPr>
          <p:spPr>
            <a:xfrm rot="-5400000">
              <a:off x="420" y="3164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03" name="Google Shape;1403;p73"/>
            <p:cNvCxnSpPr/>
            <p:nvPr/>
          </p:nvCxnSpPr>
          <p:spPr>
            <a:xfrm rot="-5400000">
              <a:off x="436" y="2588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04" name="Google Shape;1404;p73"/>
            <p:cNvCxnSpPr/>
            <p:nvPr/>
          </p:nvCxnSpPr>
          <p:spPr>
            <a:xfrm rot="10800000">
              <a:off x="1280" y="3456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05" name="Google Shape;1405;p73"/>
            <p:cNvCxnSpPr/>
            <p:nvPr/>
          </p:nvCxnSpPr>
          <p:spPr>
            <a:xfrm rot="10800000">
              <a:off x="720" y="3456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06" name="Google Shape;1406;p73"/>
            <p:cNvCxnSpPr/>
            <p:nvPr/>
          </p:nvCxnSpPr>
          <p:spPr>
            <a:xfrm>
              <a:off x="719" y="2304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07" name="Google Shape;1407;p73"/>
            <p:cNvCxnSpPr/>
            <p:nvPr/>
          </p:nvCxnSpPr>
          <p:spPr>
            <a:xfrm>
              <a:off x="1311" y="2304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08" name="Google Shape;1408;p73"/>
            <p:cNvSpPr/>
            <p:nvPr/>
          </p:nvSpPr>
          <p:spPr>
            <a:xfrm>
              <a:off x="1872" y="2256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73"/>
            <p:cNvSpPr/>
            <p:nvPr/>
          </p:nvSpPr>
          <p:spPr>
            <a:xfrm>
              <a:off x="672" y="2256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0" name="Google Shape;1410;p73"/>
            <p:cNvCxnSpPr/>
            <p:nvPr/>
          </p:nvCxnSpPr>
          <p:spPr>
            <a:xfrm rot="2700000">
              <a:off x="1860" y="2451"/>
              <a:ext cx="41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11" name="Google Shape;1411;p73"/>
            <p:cNvCxnSpPr/>
            <p:nvPr/>
          </p:nvCxnSpPr>
          <p:spPr>
            <a:xfrm rot="2700000">
              <a:off x="2156" y="2726"/>
              <a:ext cx="391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412" name="Google Shape;1412;p73"/>
          <p:cNvSpPr txBox="1"/>
          <p:nvPr/>
        </p:nvSpPr>
        <p:spPr>
          <a:xfrm>
            <a:off x="4572000" y="2362200"/>
            <a:ext cx="4343400" cy="414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graph is strongly connected.  Why?     Because there is a directed path between every pair of vertices.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directed graph is strongly connected, then it must also be weakly connected.</a:t>
            </a:r>
            <a:endParaRPr dirty="0"/>
          </a:p>
        </p:txBody>
      </p:sp>
    </p:spTree>
  </p:cSld>
  <p:clrMapOvr>
    <a:masterClrMapping/>
  </p:clrMapOvr>
  <p:transition spd="slow"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7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418" name="Google Shape;1418;p74"/>
          <p:cNvSpPr txBox="1">
            <a:spLocks noGrp="1"/>
          </p:cNvSpPr>
          <p:nvPr>
            <p:ph type="body" idx="1"/>
          </p:nvPr>
        </p:nvSpPr>
        <p:spPr>
          <a:xfrm>
            <a:off x="152400" y="1143000"/>
            <a:ext cx="8839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following graph strongly connected? Is it weakly connected?</a:t>
            </a:r>
            <a:endParaRPr dirty="0"/>
          </a:p>
        </p:txBody>
      </p:sp>
      <p:grpSp>
        <p:nvGrpSpPr>
          <p:cNvPr id="1419" name="Google Shape;1419;p74"/>
          <p:cNvGrpSpPr/>
          <p:nvPr/>
        </p:nvGrpSpPr>
        <p:grpSpPr>
          <a:xfrm>
            <a:off x="573088" y="2646363"/>
            <a:ext cx="3594100" cy="2886075"/>
            <a:chOff x="3185" y="2003"/>
            <a:chExt cx="2264" cy="1818"/>
          </a:xfrm>
        </p:grpSpPr>
        <p:sp>
          <p:nvSpPr>
            <p:cNvPr id="1420" name="Google Shape;1420;p74"/>
            <p:cNvSpPr/>
            <p:nvPr/>
          </p:nvSpPr>
          <p:spPr>
            <a:xfrm>
              <a:off x="3271" y="3424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1" name="Google Shape;1421;p74"/>
            <p:cNvCxnSpPr/>
            <p:nvPr/>
          </p:nvCxnSpPr>
          <p:spPr>
            <a:xfrm rot="-5400000">
              <a:off x="4191" y="3176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22" name="Google Shape;1422;p74"/>
            <p:cNvCxnSpPr/>
            <p:nvPr/>
          </p:nvCxnSpPr>
          <p:spPr>
            <a:xfrm rot="-5400000">
              <a:off x="4207" y="2600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23" name="Google Shape;1423;p74"/>
            <p:cNvSpPr/>
            <p:nvPr/>
          </p:nvSpPr>
          <p:spPr>
            <a:xfrm>
              <a:off x="4447" y="3432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74"/>
            <p:cNvSpPr/>
            <p:nvPr/>
          </p:nvSpPr>
          <p:spPr>
            <a:xfrm>
              <a:off x="5032" y="2832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5" name="Google Shape;1425;p74"/>
            <p:cNvCxnSpPr>
              <a:cxnSpLocks/>
              <a:stCxn id="1424" idx="3"/>
              <a:endCxn id="1423" idx="6"/>
            </p:cNvCxnSpPr>
            <p:nvPr/>
          </p:nvCxnSpPr>
          <p:spPr>
            <a:xfrm flipH="1">
              <a:off x="4527" y="2900"/>
              <a:ext cx="517" cy="57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27" name="Google Shape;1427;p74"/>
            <p:cNvCxnSpPr/>
            <p:nvPr/>
          </p:nvCxnSpPr>
          <p:spPr>
            <a:xfrm rot="-5400000">
              <a:off x="3004" y="3164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28" name="Google Shape;1428;p74"/>
            <p:cNvCxnSpPr/>
            <p:nvPr/>
          </p:nvCxnSpPr>
          <p:spPr>
            <a:xfrm rot="-5400000">
              <a:off x="3020" y="2588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29" name="Google Shape;1429;p74"/>
            <p:cNvCxnSpPr/>
            <p:nvPr/>
          </p:nvCxnSpPr>
          <p:spPr>
            <a:xfrm rot="10800000">
              <a:off x="3864" y="3455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30" name="Google Shape;1430;p74"/>
            <p:cNvCxnSpPr/>
            <p:nvPr/>
          </p:nvCxnSpPr>
          <p:spPr>
            <a:xfrm rot="10800000">
              <a:off x="3304" y="3455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31" name="Google Shape;1431;p74"/>
            <p:cNvCxnSpPr/>
            <p:nvPr/>
          </p:nvCxnSpPr>
          <p:spPr>
            <a:xfrm rot="10800000">
              <a:off x="3864" y="2303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32" name="Google Shape;1432;p74"/>
            <p:cNvCxnSpPr/>
            <p:nvPr/>
          </p:nvCxnSpPr>
          <p:spPr>
            <a:xfrm rot="10800000">
              <a:off x="3304" y="2303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33" name="Google Shape;1433;p74"/>
            <p:cNvSpPr/>
            <p:nvPr/>
          </p:nvSpPr>
          <p:spPr>
            <a:xfrm>
              <a:off x="4456" y="2256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74"/>
            <p:cNvSpPr/>
            <p:nvPr/>
          </p:nvSpPr>
          <p:spPr>
            <a:xfrm>
              <a:off x="3256" y="2256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5" name="Google Shape;1435;p74"/>
            <p:cNvCxnSpPr/>
            <p:nvPr/>
          </p:nvCxnSpPr>
          <p:spPr>
            <a:xfrm rot="2700000">
              <a:off x="4444" y="2451"/>
              <a:ext cx="41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36" name="Google Shape;1436;p74"/>
            <p:cNvCxnSpPr/>
            <p:nvPr/>
          </p:nvCxnSpPr>
          <p:spPr>
            <a:xfrm rot="2700000">
              <a:off x="4740" y="2726"/>
              <a:ext cx="391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37" name="Google Shape;1437;p74"/>
            <p:cNvSpPr txBox="1"/>
            <p:nvPr/>
          </p:nvSpPr>
          <p:spPr>
            <a:xfrm>
              <a:off x="3185" y="2003"/>
              <a:ext cx="2264" cy="18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                   b 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 dirty="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 dirty="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            c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 dirty="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                  d</a:t>
              </a:r>
              <a:endParaRPr dirty="0"/>
            </a:p>
          </p:txBody>
        </p:sp>
      </p:grpSp>
      <p:sp>
        <p:nvSpPr>
          <p:cNvPr id="1438" name="Google Shape;1438;p74"/>
          <p:cNvSpPr txBox="1"/>
          <p:nvPr/>
        </p:nvSpPr>
        <p:spPr>
          <a:xfrm>
            <a:off x="4953000" y="2362200"/>
            <a:ext cx="3886200" cy="411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graph is not strongly connected.  Why not?  Because there is no directed path between </a:t>
            </a:r>
            <a:r>
              <a:rPr lang="en-US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 a 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etc.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it </a:t>
            </a:r>
            <a:r>
              <a:rPr lang="en-US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weakly connected.  (Imagine this graph as an undirected graph.)</a:t>
            </a:r>
            <a:endParaRPr dirty="0"/>
          </a:p>
        </p:txBody>
      </p:sp>
    </p:spTree>
  </p:cSld>
  <p:clrMapOvr>
    <a:masterClrMapping/>
  </p:clrMapOvr>
  <p:transition spd="slow"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75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Connectedness in Directed Graphs</a:t>
            </a:r>
            <a:endParaRPr/>
          </a:p>
        </p:txBody>
      </p:sp>
      <p:sp>
        <p:nvSpPr>
          <p:cNvPr id="1444" name="Google Shape;1444;p7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subgraphs of a directed graph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are strongly connected but not contained in larger strongly connected subgraphs (the maximal strongly connected subgraphs) are called the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components 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strong components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ransition spd="slow"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7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450" name="Google Shape;1450;p76"/>
          <p:cNvSpPr txBox="1"/>
          <p:nvPr/>
        </p:nvSpPr>
        <p:spPr>
          <a:xfrm>
            <a:off x="228600" y="1371600"/>
            <a:ext cx="8610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025" rIns="0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strongly connected components of the following graph?</a:t>
            </a:r>
            <a:endParaRPr/>
          </a:p>
        </p:txBody>
      </p:sp>
      <p:grpSp>
        <p:nvGrpSpPr>
          <p:cNvPr id="1451" name="Google Shape;1451;p76"/>
          <p:cNvGrpSpPr/>
          <p:nvPr/>
        </p:nvGrpSpPr>
        <p:grpSpPr>
          <a:xfrm>
            <a:off x="642271" y="2963068"/>
            <a:ext cx="3594100" cy="2886075"/>
            <a:chOff x="3162" y="1997"/>
            <a:chExt cx="2264" cy="1818"/>
          </a:xfrm>
        </p:grpSpPr>
        <p:sp>
          <p:nvSpPr>
            <p:cNvPr id="1452" name="Google Shape;1452;p76"/>
            <p:cNvSpPr/>
            <p:nvPr/>
          </p:nvSpPr>
          <p:spPr>
            <a:xfrm>
              <a:off x="3271" y="3424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3" name="Google Shape;1453;p76"/>
            <p:cNvCxnSpPr/>
            <p:nvPr/>
          </p:nvCxnSpPr>
          <p:spPr>
            <a:xfrm rot="-5400000">
              <a:off x="4191" y="3176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54" name="Google Shape;1454;p76"/>
            <p:cNvCxnSpPr/>
            <p:nvPr/>
          </p:nvCxnSpPr>
          <p:spPr>
            <a:xfrm rot="-5400000">
              <a:off x="4207" y="2600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55" name="Google Shape;1455;p76"/>
            <p:cNvSpPr/>
            <p:nvPr/>
          </p:nvSpPr>
          <p:spPr>
            <a:xfrm>
              <a:off x="4447" y="3432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76"/>
            <p:cNvSpPr/>
            <p:nvPr/>
          </p:nvSpPr>
          <p:spPr>
            <a:xfrm>
              <a:off x="5032" y="2832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7" name="Google Shape;1457;p76"/>
            <p:cNvCxnSpPr>
              <a:cxnSpLocks/>
              <a:stCxn id="1456" idx="3"/>
              <a:endCxn id="1455" idx="5"/>
            </p:cNvCxnSpPr>
            <p:nvPr/>
          </p:nvCxnSpPr>
          <p:spPr>
            <a:xfrm flipH="1">
              <a:off x="4515" y="2900"/>
              <a:ext cx="528" cy="6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59" name="Google Shape;1459;p76"/>
            <p:cNvCxnSpPr/>
            <p:nvPr/>
          </p:nvCxnSpPr>
          <p:spPr>
            <a:xfrm rot="-5400000">
              <a:off x="3004" y="3164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60" name="Google Shape;1460;p76"/>
            <p:cNvCxnSpPr/>
            <p:nvPr/>
          </p:nvCxnSpPr>
          <p:spPr>
            <a:xfrm rot="-5400000">
              <a:off x="3020" y="2588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61" name="Google Shape;1461;p76"/>
            <p:cNvCxnSpPr/>
            <p:nvPr/>
          </p:nvCxnSpPr>
          <p:spPr>
            <a:xfrm rot="10800000">
              <a:off x="3864" y="3455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62" name="Google Shape;1462;p76"/>
            <p:cNvCxnSpPr/>
            <p:nvPr/>
          </p:nvCxnSpPr>
          <p:spPr>
            <a:xfrm rot="10800000">
              <a:off x="3304" y="3455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63" name="Google Shape;1463;p76"/>
            <p:cNvCxnSpPr/>
            <p:nvPr/>
          </p:nvCxnSpPr>
          <p:spPr>
            <a:xfrm rot="10800000">
              <a:off x="3864" y="2303"/>
              <a:ext cx="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64" name="Google Shape;1464;p76"/>
            <p:cNvCxnSpPr/>
            <p:nvPr/>
          </p:nvCxnSpPr>
          <p:spPr>
            <a:xfrm rot="10800000">
              <a:off x="3304" y="2303"/>
              <a:ext cx="568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65" name="Google Shape;1465;p76"/>
            <p:cNvSpPr/>
            <p:nvPr/>
          </p:nvSpPr>
          <p:spPr>
            <a:xfrm>
              <a:off x="4456" y="2256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76"/>
            <p:cNvSpPr/>
            <p:nvPr/>
          </p:nvSpPr>
          <p:spPr>
            <a:xfrm>
              <a:off x="3256" y="2256"/>
              <a:ext cx="80" cy="8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7" name="Google Shape;1467;p76"/>
            <p:cNvCxnSpPr/>
            <p:nvPr/>
          </p:nvCxnSpPr>
          <p:spPr>
            <a:xfrm rot="2700000">
              <a:off x="4444" y="2451"/>
              <a:ext cx="41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lg" len="lg"/>
            </a:ln>
          </p:spPr>
        </p:cxnSp>
        <p:cxnSp>
          <p:nvCxnSpPr>
            <p:cNvPr id="1468" name="Google Shape;1468;p76"/>
            <p:cNvCxnSpPr/>
            <p:nvPr/>
          </p:nvCxnSpPr>
          <p:spPr>
            <a:xfrm rot="2700000">
              <a:off x="4740" y="2726"/>
              <a:ext cx="391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69" name="Google Shape;1469;p76"/>
            <p:cNvSpPr txBox="1"/>
            <p:nvPr/>
          </p:nvSpPr>
          <p:spPr>
            <a:xfrm>
              <a:off x="3162" y="1997"/>
              <a:ext cx="2264" cy="18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                   b 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 dirty="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 dirty="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            c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 dirty="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 dirty="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                  d</a:t>
              </a:r>
              <a:endParaRPr dirty="0"/>
            </a:p>
          </p:txBody>
        </p:sp>
      </p:grpSp>
      <p:sp>
        <p:nvSpPr>
          <p:cNvPr id="1470" name="Google Shape;1470;p76"/>
          <p:cNvSpPr txBox="1"/>
          <p:nvPr/>
        </p:nvSpPr>
        <p:spPr>
          <a:xfrm>
            <a:off x="4495800" y="2819400"/>
            <a:ext cx="4343400" cy="308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graph has three strongly connected components: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vertex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vertex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graph consisting of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V = {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 c, d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and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 = { 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b, c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c, d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 b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)}</a:t>
            </a:r>
            <a:endParaRPr/>
          </a:p>
        </p:txBody>
      </p:sp>
    </p:spTree>
  </p:cSld>
  <p:clrMapOvr>
    <a:masterClrMapping/>
  </p:clrMapOvr>
  <p:transition spd="slow"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7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103</a:t>
            </a:r>
            <a:b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Structures</a:t>
            </a:r>
            <a:endParaRPr/>
          </a:p>
        </p:txBody>
      </p:sp>
      <p:sp>
        <p:nvSpPr>
          <p:cNvPr id="1476" name="Google Shape;1476;p77"/>
          <p:cNvSpPr txBox="1">
            <a:spLocks noGrp="1"/>
          </p:cNvSpPr>
          <p:nvPr>
            <p:ph type="body" idx="1"/>
          </p:nvPr>
        </p:nvSpPr>
        <p:spPr>
          <a:xfrm>
            <a:off x="457200" y="20574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and Hamilton Paths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These class notes are based on material from our textbook,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and Its Applications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</a:t>
            </a:r>
            <a:r>
              <a:rPr lang="en-US" sz="28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ed., by Kenneth H. Rosen, published by McGraw Hill, Boston, MA, 2006.  They are intended for classroom use only and are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substitute for reading the textbook.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7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Paths and Circuits</a:t>
            </a:r>
            <a:endParaRPr/>
          </a:p>
        </p:txBody>
      </p:sp>
      <p:sp>
        <p:nvSpPr>
          <p:cNvPr id="1482" name="Google Shape;1482;p78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153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Seven bridges of Königsberg</a:t>
            </a:r>
            <a:endParaRPr/>
          </a:p>
        </p:txBody>
      </p:sp>
      <p:grpSp>
        <p:nvGrpSpPr>
          <p:cNvPr id="1483" name="Google Shape;1483;p78"/>
          <p:cNvGrpSpPr/>
          <p:nvPr/>
        </p:nvGrpSpPr>
        <p:grpSpPr>
          <a:xfrm>
            <a:off x="6426200" y="3352800"/>
            <a:ext cx="2449512" cy="3203575"/>
            <a:chOff x="3880" y="2088"/>
            <a:chExt cx="1543" cy="2125"/>
          </a:xfrm>
        </p:grpSpPr>
        <p:cxnSp>
          <p:nvCxnSpPr>
            <p:cNvPr id="1484" name="Google Shape;1484;p78"/>
            <p:cNvCxnSpPr/>
            <p:nvPr/>
          </p:nvCxnSpPr>
          <p:spPr>
            <a:xfrm>
              <a:off x="4280" y="2200"/>
              <a:ext cx="824" cy="92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85" name="Google Shape;1485;p78"/>
            <p:cNvCxnSpPr/>
            <p:nvPr/>
          </p:nvCxnSpPr>
          <p:spPr>
            <a:xfrm rot="10800000" flipH="1">
              <a:off x="4288" y="3112"/>
              <a:ext cx="832" cy="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86" name="Google Shape;1486;p78"/>
            <p:cNvSpPr/>
            <p:nvPr/>
          </p:nvSpPr>
          <p:spPr>
            <a:xfrm>
              <a:off x="4240" y="2160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78"/>
            <p:cNvSpPr/>
            <p:nvPr/>
          </p:nvSpPr>
          <p:spPr>
            <a:xfrm>
              <a:off x="4240" y="3072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78"/>
            <p:cNvSpPr/>
            <p:nvPr/>
          </p:nvSpPr>
          <p:spPr>
            <a:xfrm>
              <a:off x="5056" y="3072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78"/>
            <p:cNvSpPr/>
            <p:nvPr/>
          </p:nvSpPr>
          <p:spPr>
            <a:xfrm>
              <a:off x="4256" y="3968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0" name="Google Shape;1490;p78"/>
            <p:cNvCxnSpPr/>
            <p:nvPr/>
          </p:nvCxnSpPr>
          <p:spPr>
            <a:xfrm rot="10800000">
              <a:off x="4304" y="3112"/>
              <a:ext cx="0" cy="89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91" name="Google Shape;1491;p78"/>
            <p:cNvCxnSpPr/>
            <p:nvPr/>
          </p:nvCxnSpPr>
          <p:spPr>
            <a:xfrm rot="10800000">
              <a:off x="4296" y="2192"/>
              <a:ext cx="0" cy="89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92" name="Google Shape;1492;p78"/>
            <p:cNvCxnSpPr/>
            <p:nvPr/>
          </p:nvCxnSpPr>
          <p:spPr>
            <a:xfrm flipH="1">
              <a:off x="4320" y="3120"/>
              <a:ext cx="800" cy="89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493" name="Google Shape;1493;p78"/>
            <p:cNvGrpSpPr/>
            <p:nvPr/>
          </p:nvGrpSpPr>
          <p:grpSpPr>
            <a:xfrm>
              <a:off x="4072" y="2216"/>
              <a:ext cx="208" cy="920"/>
              <a:chOff x="3800" y="2224"/>
              <a:chExt cx="160" cy="1032"/>
            </a:xfrm>
          </p:grpSpPr>
          <p:sp>
            <p:nvSpPr>
              <p:cNvPr id="1494" name="Google Shape;1494;p78"/>
              <p:cNvSpPr/>
              <p:nvPr/>
            </p:nvSpPr>
            <p:spPr>
              <a:xfrm flipH="1">
                <a:off x="3800" y="2224"/>
                <a:ext cx="160" cy="5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78"/>
              <p:cNvSpPr/>
              <p:nvPr/>
            </p:nvSpPr>
            <p:spPr>
              <a:xfrm rot="10800000">
                <a:off x="3800" y="2736"/>
                <a:ext cx="160" cy="5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6" name="Google Shape;1496;p78"/>
            <p:cNvGrpSpPr/>
            <p:nvPr/>
          </p:nvGrpSpPr>
          <p:grpSpPr>
            <a:xfrm>
              <a:off x="4080" y="3144"/>
              <a:ext cx="168" cy="880"/>
              <a:chOff x="3800" y="2224"/>
              <a:chExt cx="160" cy="1032"/>
            </a:xfrm>
          </p:grpSpPr>
          <p:sp>
            <p:nvSpPr>
              <p:cNvPr id="1497" name="Google Shape;1497;p78"/>
              <p:cNvSpPr/>
              <p:nvPr/>
            </p:nvSpPr>
            <p:spPr>
              <a:xfrm flipH="1">
                <a:off x="3800" y="2224"/>
                <a:ext cx="160" cy="5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78"/>
              <p:cNvSpPr/>
              <p:nvPr/>
            </p:nvSpPr>
            <p:spPr>
              <a:xfrm rot="10800000">
                <a:off x="3800" y="2736"/>
                <a:ext cx="160" cy="5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9" name="Google Shape;1499;p78"/>
            <p:cNvSpPr txBox="1"/>
            <p:nvPr/>
          </p:nvSpPr>
          <p:spPr>
            <a:xfrm>
              <a:off x="3880" y="3008"/>
              <a:ext cx="235" cy="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500" name="Google Shape;1500;p78"/>
            <p:cNvSpPr txBox="1"/>
            <p:nvPr/>
          </p:nvSpPr>
          <p:spPr>
            <a:xfrm>
              <a:off x="4400" y="3910"/>
              <a:ext cx="231" cy="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sp>
          <p:nvSpPr>
            <p:cNvPr id="1501" name="Google Shape;1501;p78"/>
            <p:cNvSpPr txBox="1"/>
            <p:nvPr/>
          </p:nvSpPr>
          <p:spPr>
            <a:xfrm>
              <a:off x="4384" y="2088"/>
              <a:ext cx="208" cy="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502" name="Google Shape;1502;p78"/>
            <p:cNvSpPr txBox="1"/>
            <p:nvPr/>
          </p:nvSpPr>
          <p:spPr>
            <a:xfrm>
              <a:off x="5184" y="2984"/>
              <a:ext cx="239" cy="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</p:grpSp>
      <p:grpSp>
        <p:nvGrpSpPr>
          <p:cNvPr id="1503" name="Google Shape;1503;p78"/>
          <p:cNvGrpSpPr/>
          <p:nvPr/>
        </p:nvGrpSpPr>
        <p:grpSpPr>
          <a:xfrm>
            <a:off x="765175" y="3251200"/>
            <a:ext cx="4848225" cy="3165475"/>
            <a:chOff x="482" y="2048"/>
            <a:chExt cx="3054" cy="1994"/>
          </a:xfrm>
        </p:grpSpPr>
        <p:sp>
          <p:nvSpPr>
            <p:cNvPr id="1504" name="Google Shape;1504;p78"/>
            <p:cNvSpPr/>
            <p:nvPr/>
          </p:nvSpPr>
          <p:spPr>
            <a:xfrm>
              <a:off x="492" y="2182"/>
              <a:ext cx="2675" cy="526"/>
            </a:xfrm>
            <a:custGeom>
              <a:avLst/>
              <a:gdLst/>
              <a:ahLst/>
              <a:cxnLst/>
              <a:rect l="l" t="t" r="r" b="b"/>
              <a:pathLst>
                <a:path w="4120" h="618" extrusionOk="0">
                  <a:moveTo>
                    <a:pt x="0" y="592"/>
                  </a:moveTo>
                  <a:lnTo>
                    <a:pt x="168" y="592"/>
                  </a:lnTo>
                  <a:cubicBezTo>
                    <a:pt x="259" y="562"/>
                    <a:pt x="352" y="558"/>
                    <a:pt x="448" y="552"/>
                  </a:cubicBezTo>
                  <a:cubicBezTo>
                    <a:pt x="546" y="519"/>
                    <a:pt x="639" y="480"/>
                    <a:pt x="736" y="448"/>
                  </a:cubicBezTo>
                  <a:cubicBezTo>
                    <a:pt x="796" y="428"/>
                    <a:pt x="863" y="420"/>
                    <a:pt x="920" y="392"/>
                  </a:cubicBezTo>
                  <a:cubicBezTo>
                    <a:pt x="970" y="367"/>
                    <a:pt x="1021" y="343"/>
                    <a:pt x="1072" y="320"/>
                  </a:cubicBezTo>
                  <a:cubicBezTo>
                    <a:pt x="1087" y="313"/>
                    <a:pt x="1106" y="313"/>
                    <a:pt x="1120" y="304"/>
                  </a:cubicBezTo>
                  <a:cubicBezTo>
                    <a:pt x="1170" y="271"/>
                    <a:pt x="1230" y="247"/>
                    <a:pt x="1288" y="232"/>
                  </a:cubicBezTo>
                  <a:cubicBezTo>
                    <a:pt x="1330" y="221"/>
                    <a:pt x="1416" y="208"/>
                    <a:pt x="1416" y="208"/>
                  </a:cubicBezTo>
                  <a:cubicBezTo>
                    <a:pt x="1571" y="211"/>
                    <a:pt x="1725" y="211"/>
                    <a:pt x="1880" y="216"/>
                  </a:cubicBezTo>
                  <a:cubicBezTo>
                    <a:pt x="1894" y="216"/>
                    <a:pt x="1983" y="240"/>
                    <a:pt x="1984" y="240"/>
                  </a:cubicBezTo>
                  <a:cubicBezTo>
                    <a:pt x="2059" y="255"/>
                    <a:pt x="2134" y="274"/>
                    <a:pt x="2208" y="296"/>
                  </a:cubicBezTo>
                  <a:cubicBezTo>
                    <a:pt x="2341" y="336"/>
                    <a:pt x="2472" y="382"/>
                    <a:pt x="2592" y="448"/>
                  </a:cubicBezTo>
                  <a:cubicBezTo>
                    <a:pt x="2667" y="490"/>
                    <a:pt x="2730" y="542"/>
                    <a:pt x="2808" y="576"/>
                  </a:cubicBezTo>
                  <a:cubicBezTo>
                    <a:pt x="2906" y="618"/>
                    <a:pt x="3033" y="607"/>
                    <a:pt x="3136" y="616"/>
                  </a:cubicBezTo>
                  <a:cubicBezTo>
                    <a:pt x="3252" y="608"/>
                    <a:pt x="3347" y="588"/>
                    <a:pt x="3456" y="552"/>
                  </a:cubicBezTo>
                  <a:cubicBezTo>
                    <a:pt x="3488" y="541"/>
                    <a:pt x="3520" y="531"/>
                    <a:pt x="3552" y="520"/>
                  </a:cubicBezTo>
                  <a:cubicBezTo>
                    <a:pt x="3570" y="514"/>
                    <a:pt x="3600" y="488"/>
                    <a:pt x="3600" y="488"/>
                  </a:cubicBezTo>
                  <a:cubicBezTo>
                    <a:pt x="3646" y="419"/>
                    <a:pt x="3585" y="500"/>
                    <a:pt x="3640" y="456"/>
                  </a:cubicBezTo>
                  <a:cubicBezTo>
                    <a:pt x="3648" y="450"/>
                    <a:pt x="3649" y="439"/>
                    <a:pt x="3656" y="432"/>
                  </a:cubicBezTo>
                  <a:cubicBezTo>
                    <a:pt x="3663" y="425"/>
                    <a:pt x="3672" y="421"/>
                    <a:pt x="3680" y="416"/>
                  </a:cubicBezTo>
                  <a:cubicBezTo>
                    <a:pt x="3717" y="360"/>
                    <a:pt x="3696" y="379"/>
                    <a:pt x="3736" y="352"/>
                  </a:cubicBezTo>
                  <a:cubicBezTo>
                    <a:pt x="3753" y="326"/>
                    <a:pt x="3790" y="289"/>
                    <a:pt x="3816" y="272"/>
                  </a:cubicBezTo>
                  <a:cubicBezTo>
                    <a:pt x="3821" y="264"/>
                    <a:pt x="3825" y="255"/>
                    <a:pt x="3832" y="248"/>
                  </a:cubicBezTo>
                  <a:cubicBezTo>
                    <a:pt x="3839" y="241"/>
                    <a:pt x="3850" y="240"/>
                    <a:pt x="3856" y="232"/>
                  </a:cubicBezTo>
                  <a:cubicBezTo>
                    <a:pt x="3900" y="177"/>
                    <a:pt x="3819" y="238"/>
                    <a:pt x="3888" y="192"/>
                  </a:cubicBezTo>
                  <a:cubicBezTo>
                    <a:pt x="3915" y="152"/>
                    <a:pt x="3896" y="173"/>
                    <a:pt x="3952" y="136"/>
                  </a:cubicBezTo>
                  <a:cubicBezTo>
                    <a:pt x="3960" y="131"/>
                    <a:pt x="3976" y="120"/>
                    <a:pt x="3976" y="120"/>
                  </a:cubicBezTo>
                  <a:cubicBezTo>
                    <a:pt x="3995" y="91"/>
                    <a:pt x="4012" y="91"/>
                    <a:pt x="4040" y="72"/>
                  </a:cubicBezTo>
                  <a:cubicBezTo>
                    <a:pt x="4061" y="40"/>
                    <a:pt x="4093" y="27"/>
                    <a:pt x="4120" y="0"/>
                  </a:cubicBez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78"/>
            <p:cNvSpPr/>
            <p:nvPr/>
          </p:nvSpPr>
          <p:spPr>
            <a:xfrm>
              <a:off x="991" y="2591"/>
              <a:ext cx="1236" cy="813"/>
            </a:xfrm>
            <a:custGeom>
              <a:avLst/>
              <a:gdLst/>
              <a:ahLst/>
              <a:cxnLst/>
              <a:rect l="l" t="t" r="r" b="b"/>
              <a:pathLst>
                <a:path w="1904" h="955" extrusionOk="0">
                  <a:moveTo>
                    <a:pt x="56" y="224"/>
                  </a:moveTo>
                  <a:cubicBezTo>
                    <a:pt x="72" y="219"/>
                    <a:pt x="90" y="217"/>
                    <a:pt x="104" y="208"/>
                  </a:cubicBezTo>
                  <a:cubicBezTo>
                    <a:pt x="112" y="203"/>
                    <a:pt x="119" y="196"/>
                    <a:pt x="128" y="192"/>
                  </a:cubicBezTo>
                  <a:cubicBezTo>
                    <a:pt x="183" y="168"/>
                    <a:pt x="246" y="151"/>
                    <a:pt x="304" y="136"/>
                  </a:cubicBezTo>
                  <a:cubicBezTo>
                    <a:pt x="347" y="108"/>
                    <a:pt x="399" y="96"/>
                    <a:pt x="448" y="80"/>
                  </a:cubicBezTo>
                  <a:cubicBezTo>
                    <a:pt x="567" y="40"/>
                    <a:pt x="682" y="11"/>
                    <a:pt x="808" y="0"/>
                  </a:cubicBezTo>
                  <a:cubicBezTo>
                    <a:pt x="899" y="3"/>
                    <a:pt x="989" y="3"/>
                    <a:pt x="1080" y="8"/>
                  </a:cubicBezTo>
                  <a:cubicBezTo>
                    <a:pt x="1118" y="10"/>
                    <a:pt x="1162" y="26"/>
                    <a:pt x="1200" y="32"/>
                  </a:cubicBezTo>
                  <a:cubicBezTo>
                    <a:pt x="1305" y="48"/>
                    <a:pt x="1403" y="62"/>
                    <a:pt x="1504" y="96"/>
                  </a:cubicBezTo>
                  <a:cubicBezTo>
                    <a:pt x="1545" y="110"/>
                    <a:pt x="1582" y="130"/>
                    <a:pt x="1624" y="144"/>
                  </a:cubicBezTo>
                  <a:cubicBezTo>
                    <a:pt x="1652" y="153"/>
                    <a:pt x="1695" y="160"/>
                    <a:pt x="1720" y="176"/>
                  </a:cubicBezTo>
                  <a:cubicBezTo>
                    <a:pt x="1736" y="187"/>
                    <a:pt x="1750" y="202"/>
                    <a:pt x="1768" y="208"/>
                  </a:cubicBezTo>
                  <a:cubicBezTo>
                    <a:pt x="1776" y="211"/>
                    <a:pt x="1785" y="212"/>
                    <a:pt x="1792" y="216"/>
                  </a:cubicBezTo>
                  <a:cubicBezTo>
                    <a:pt x="1809" y="225"/>
                    <a:pt x="1840" y="248"/>
                    <a:pt x="1840" y="248"/>
                  </a:cubicBezTo>
                  <a:cubicBezTo>
                    <a:pt x="1860" y="308"/>
                    <a:pt x="1831" y="236"/>
                    <a:pt x="1872" y="288"/>
                  </a:cubicBezTo>
                  <a:cubicBezTo>
                    <a:pt x="1878" y="295"/>
                    <a:pt x="1900" y="349"/>
                    <a:pt x="1904" y="360"/>
                  </a:cubicBezTo>
                  <a:cubicBezTo>
                    <a:pt x="1899" y="469"/>
                    <a:pt x="1898" y="569"/>
                    <a:pt x="1864" y="672"/>
                  </a:cubicBezTo>
                  <a:cubicBezTo>
                    <a:pt x="1847" y="722"/>
                    <a:pt x="1844" y="755"/>
                    <a:pt x="1800" y="784"/>
                  </a:cubicBezTo>
                  <a:cubicBezTo>
                    <a:pt x="1778" y="817"/>
                    <a:pt x="1724" y="846"/>
                    <a:pt x="1688" y="864"/>
                  </a:cubicBezTo>
                  <a:cubicBezTo>
                    <a:pt x="1505" y="955"/>
                    <a:pt x="1342" y="943"/>
                    <a:pt x="1136" y="952"/>
                  </a:cubicBezTo>
                  <a:cubicBezTo>
                    <a:pt x="914" y="947"/>
                    <a:pt x="694" y="937"/>
                    <a:pt x="472" y="928"/>
                  </a:cubicBezTo>
                  <a:cubicBezTo>
                    <a:pt x="423" y="923"/>
                    <a:pt x="375" y="917"/>
                    <a:pt x="328" y="904"/>
                  </a:cubicBezTo>
                  <a:cubicBezTo>
                    <a:pt x="312" y="900"/>
                    <a:pt x="294" y="897"/>
                    <a:pt x="280" y="888"/>
                  </a:cubicBezTo>
                  <a:cubicBezTo>
                    <a:pt x="264" y="877"/>
                    <a:pt x="232" y="856"/>
                    <a:pt x="232" y="856"/>
                  </a:cubicBezTo>
                  <a:cubicBezTo>
                    <a:pt x="141" y="720"/>
                    <a:pt x="40" y="602"/>
                    <a:pt x="0" y="440"/>
                  </a:cubicBezTo>
                  <a:cubicBezTo>
                    <a:pt x="3" y="387"/>
                    <a:pt x="1" y="333"/>
                    <a:pt x="8" y="280"/>
                  </a:cubicBezTo>
                  <a:cubicBezTo>
                    <a:pt x="12" y="250"/>
                    <a:pt x="110" y="224"/>
                    <a:pt x="56" y="224"/>
                  </a:cubicBezTo>
                  <a:close/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78"/>
            <p:cNvSpPr/>
            <p:nvPr/>
          </p:nvSpPr>
          <p:spPr>
            <a:xfrm>
              <a:off x="482" y="2934"/>
              <a:ext cx="2992" cy="767"/>
            </a:xfrm>
            <a:custGeom>
              <a:avLst/>
              <a:gdLst/>
              <a:ahLst/>
              <a:cxnLst/>
              <a:rect l="l" t="t" r="r" b="b"/>
              <a:pathLst>
                <a:path w="4608" h="901" extrusionOk="0">
                  <a:moveTo>
                    <a:pt x="0" y="21"/>
                  </a:moveTo>
                  <a:cubicBezTo>
                    <a:pt x="62" y="0"/>
                    <a:pt x="104" y="17"/>
                    <a:pt x="168" y="21"/>
                  </a:cubicBezTo>
                  <a:cubicBezTo>
                    <a:pt x="229" y="25"/>
                    <a:pt x="291" y="26"/>
                    <a:pt x="352" y="29"/>
                  </a:cubicBezTo>
                  <a:cubicBezTo>
                    <a:pt x="414" y="38"/>
                    <a:pt x="475" y="42"/>
                    <a:pt x="528" y="77"/>
                  </a:cubicBezTo>
                  <a:cubicBezTo>
                    <a:pt x="533" y="85"/>
                    <a:pt x="537" y="94"/>
                    <a:pt x="544" y="101"/>
                  </a:cubicBezTo>
                  <a:cubicBezTo>
                    <a:pt x="551" y="108"/>
                    <a:pt x="563" y="109"/>
                    <a:pt x="568" y="117"/>
                  </a:cubicBezTo>
                  <a:cubicBezTo>
                    <a:pt x="581" y="138"/>
                    <a:pt x="584" y="165"/>
                    <a:pt x="592" y="189"/>
                  </a:cubicBezTo>
                  <a:cubicBezTo>
                    <a:pt x="627" y="295"/>
                    <a:pt x="635" y="433"/>
                    <a:pt x="736" y="501"/>
                  </a:cubicBezTo>
                  <a:cubicBezTo>
                    <a:pt x="771" y="553"/>
                    <a:pt x="803" y="626"/>
                    <a:pt x="856" y="661"/>
                  </a:cubicBezTo>
                  <a:cubicBezTo>
                    <a:pt x="872" y="709"/>
                    <a:pt x="983" y="757"/>
                    <a:pt x="1032" y="773"/>
                  </a:cubicBezTo>
                  <a:cubicBezTo>
                    <a:pt x="1056" y="781"/>
                    <a:pt x="1078" y="796"/>
                    <a:pt x="1104" y="805"/>
                  </a:cubicBezTo>
                  <a:cubicBezTo>
                    <a:pt x="1280" y="864"/>
                    <a:pt x="1473" y="887"/>
                    <a:pt x="1656" y="901"/>
                  </a:cubicBezTo>
                  <a:cubicBezTo>
                    <a:pt x="1924" y="888"/>
                    <a:pt x="2207" y="875"/>
                    <a:pt x="2464" y="789"/>
                  </a:cubicBezTo>
                  <a:cubicBezTo>
                    <a:pt x="2552" y="760"/>
                    <a:pt x="2640" y="730"/>
                    <a:pt x="2728" y="701"/>
                  </a:cubicBezTo>
                  <a:cubicBezTo>
                    <a:pt x="2749" y="694"/>
                    <a:pt x="2782" y="689"/>
                    <a:pt x="2800" y="677"/>
                  </a:cubicBezTo>
                  <a:cubicBezTo>
                    <a:pt x="2816" y="666"/>
                    <a:pt x="2848" y="645"/>
                    <a:pt x="2848" y="645"/>
                  </a:cubicBezTo>
                  <a:cubicBezTo>
                    <a:pt x="2853" y="637"/>
                    <a:pt x="2857" y="628"/>
                    <a:pt x="2864" y="621"/>
                  </a:cubicBezTo>
                  <a:cubicBezTo>
                    <a:pt x="2871" y="614"/>
                    <a:pt x="2882" y="613"/>
                    <a:pt x="2888" y="605"/>
                  </a:cubicBezTo>
                  <a:cubicBezTo>
                    <a:pt x="2893" y="598"/>
                    <a:pt x="2892" y="588"/>
                    <a:pt x="2896" y="581"/>
                  </a:cubicBezTo>
                  <a:cubicBezTo>
                    <a:pt x="2929" y="522"/>
                    <a:pt x="2951" y="489"/>
                    <a:pt x="3008" y="461"/>
                  </a:cubicBezTo>
                  <a:cubicBezTo>
                    <a:pt x="3036" y="447"/>
                    <a:pt x="3055" y="433"/>
                    <a:pt x="3088" y="429"/>
                  </a:cubicBezTo>
                  <a:cubicBezTo>
                    <a:pt x="3125" y="425"/>
                    <a:pt x="3163" y="423"/>
                    <a:pt x="3200" y="421"/>
                  </a:cubicBezTo>
                  <a:cubicBezTo>
                    <a:pt x="3473" y="405"/>
                    <a:pt x="3270" y="421"/>
                    <a:pt x="3464" y="405"/>
                  </a:cubicBezTo>
                  <a:cubicBezTo>
                    <a:pt x="3619" y="408"/>
                    <a:pt x="3773" y="408"/>
                    <a:pt x="3928" y="413"/>
                  </a:cubicBezTo>
                  <a:cubicBezTo>
                    <a:pt x="3966" y="414"/>
                    <a:pt x="4003" y="438"/>
                    <a:pt x="4040" y="445"/>
                  </a:cubicBezTo>
                  <a:cubicBezTo>
                    <a:pt x="4171" y="471"/>
                    <a:pt x="4305" y="507"/>
                    <a:pt x="4432" y="549"/>
                  </a:cubicBezTo>
                  <a:cubicBezTo>
                    <a:pt x="4465" y="560"/>
                    <a:pt x="4494" y="586"/>
                    <a:pt x="4528" y="597"/>
                  </a:cubicBezTo>
                  <a:cubicBezTo>
                    <a:pt x="4543" y="612"/>
                    <a:pt x="4586" y="645"/>
                    <a:pt x="4608" y="645"/>
                  </a:cubicBez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78"/>
            <p:cNvSpPr/>
            <p:nvPr/>
          </p:nvSpPr>
          <p:spPr>
            <a:xfrm>
              <a:off x="2430" y="2359"/>
              <a:ext cx="1106" cy="961"/>
            </a:xfrm>
            <a:custGeom>
              <a:avLst/>
              <a:gdLst/>
              <a:ahLst/>
              <a:cxnLst/>
              <a:rect l="l" t="t" r="r" b="b"/>
              <a:pathLst>
                <a:path w="1704" h="1128" extrusionOk="0">
                  <a:moveTo>
                    <a:pt x="1272" y="0"/>
                  </a:moveTo>
                  <a:cubicBezTo>
                    <a:pt x="1257" y="44"/>
                    <a:pt x="1226" y="81"/>
                    <a:pt x="1200" y="120"/>
                  </a:cubicBezTo>
                  <a:cubicBezTo>
                    <a:pt x="1189" y="136"/>
                    <a:pt x="1168" y="141"/>
                    <a:pt x="1152" y="152"/>
                  </a:cubicBezTo>
                  <a:cubicBezTo>
                    <a:pt x="1144" y="157"/>
                    <a:pt x="1128" y="168"/>
                    <a:pt x="1128" y="168"/>
                  </a:cubicBezTo>
                  <a:cubicBezTo>
                    <a:pt x="1123" y="176"/>
                    <a:pt x="1120" y="186"/>
                    <a:pt x="1112" y="192"/>
                  </a:cubicBezTo>
                  <a:cubicBezTo>
                    <a:pt x="1105" y="197"/>
                    <a:pt x="1094" y="194"/>
                    <a:pt x="1088" y="200"/>
                  </a:cubicBezTo>
                  <a:cubicBezTo>
                    <a:pt x="1055" y="233"/>
                    <a:pt x="1053" y="263"/>
                    <a:pt x="1016" y="288"/>
                  </a:cubicBezTo>
                  <a:cubicBezTo>
                    <a:pt x="973" y="352"/>
                    <a:pt x="1029" y="275"/>
                    <a:pt x="976" y="328"/>
                  </a:cubicBezTo>
                  <a:cubicBezTo>
                    <a:pt x="969" y="335"/>
                    <a:pt x="967" y="346"/>
                    <a:pt x="960" y="352"/>
                  </a:cubicBezTo>
                  <a:cubicBezTo>
                    <a:pt x="946" y="365"/>
                    <a:pt x="912" y="384"/>
                    <a:pt x="912" y="384"/>
                  </a:cubicBezTo>
                  <a:cubicBezTo>
                    <a:pt x="907" y="392"/>
                    <a:pt x="903" y="402"/>
                    <a:pt x="896" y="408"/>
                  </a:cubicBezTo>
                  <a:cubicBezTo>
                    <a:pt x="882" y="421"/>
                    <a:pt x="848" y="440"/>
                    <a:pt x="848" y="440"/>
                  </a:cubicBezTo>
                  <a:cubicBezTo>
                    <a:pt x="826" y="473"/>
                    <a:pt x="733" y="538"/>
                    <a:pt x="688" y="544"/>
                  </a:cubicBezTo>
                  <a:cubicBezTo>
                    <a:pt x="659" y="548"/>
                    <a:pt x="629" y="549"/>
                    <a:pt x="600" y="552"/>
                  </a:cubicBezTo>
                  <a:cubicBezTo>
                    <a:pt x="466" y="579"/>
                    <a:pt x="336" y="586"/>
                    <a:pt x="200" y="592"/>
                  </a:cubicBezTo>
                  <a:cubicBezTo>
                    <a:pt x="127" y="602"/>
                    <a:pt x="162" y="594"/>
                    <a:pt x="96" y="616"/>
                  </a:cubicBezTo>
                  <a:cubicBezTo>
                    <a:pt x="80" y="621"/>
                    <a:pt x="48" y="632"/>
                    <a:pt x="48" y="632"/>
                  </a:cubicBezTo>
                  <a:cubicBezTo>
                    <a:pt x="23" y="670"/>
                    <a:pt x="35" y="647"/>
                    <a:pt x="16" y="704"/>
                  </a:cubicBezTo>
                  <a:cubicBezTo>
                    <a:pt x="11" y="720"/>
                    <a:pt x="0" y="752"/>
                    <a:pt x="0" y="752"/>
                  </a:cubicBezTo>
                  <a:cubicBezTo>
                    <a:pt x="10" y="849"/>
                    <a:pt x="0" y="807"/>
                    <a:pt x="24" y="880"/>
                  </a:cubicBezTo>
                  <a:cubicBezTo>
                    <a:pt x="27" y="888"/>
                    <a:pt x="40" y="884"/>
                    <a:pt x="48" y="888"/>
                  </a:cubicBezTo>
                  <a:cubicBezTo>
                    <a:pt x="57" y="892"/>
                    <a:pt x="63" y="900"/>
                    <a:pt x="72" y="904"/>
                  </a:cubicBezTo>
                  <a:cubicBezTo>
                    <a:pt x="87" y="911"/>
                    <a:pt x="120" y="920"/>
                    <a:pt x="120" y="920"/>
                  </a:cubicBezTo>
                  <a:cubicBezTo>
                    <a:pt x="444" y="913"/>
                    <a:pt x="765" y="919"/>
                    <a:pt x="1088" y="904"/>
                  </a:cubicBezTo>
                  <a:cubicBezTo>
                    <a:pt x="1177" y="912"/>
                    <a:pt x="1259" y="924"/>
                    <a:pt x="1344" y="952"/>
                  </a:cubicBezTo>
                  <a:cubicBezTo>
                    <a:pt x="1375" y="962"/>
                    <a:pt x="1409" y="963"/>
                    <a:pt x="1440" y="976"/>
                  </a:cubicBezTo>
                  <a:cubicBezTo>
                    <a:pt x="1489" y="997"/>
                    <a:pt x="1542" y="1023"/>
                    <a:pt x="1592" y="1040"/>
                  </a:cubicBezTo>
                  <a:cubicBezTo>
                    <a:pt x="1611" y="1069"/>
                    <a:pt x="1628" y="1069"/>
                    <a:pt x="1656" y="1088"/>
                  </a:cubicBezTo>
                  <a:cubicBezTo>
                    <a:pt x="1681" y="1125"/>
                    <a:pt x="1679" y="1103"/>
                    <a:pt x="1704" y="1128"/>
                  </a:cubicBez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78"/>
            <p:cNvSpPr/>
            <p:nvPr/>
          </p:nvSpPr>
          <p:spPr>
            <a:xfrm>
              <a:off x="1195" y="2240"/>
              <a:ext cx="230" cy="534"/>
            </a:xfrm>
            <a:custGeom>
              <a:avLst/>
              <a:gdLst/>
              <a:ahLst/>
              <a:cxnLst/>
              <a:rect l="l" t="t" r="r" b="b"/>
              <a:pathLst>
                <a:path w="210" h="442" extrusionOk="0">
                  <a:moveTo>
                    <a:pt x="66" y="8"/>
                  </a:moveTo>
                  <a:cubicBezTo>
                    <a:pt x="38" y="26"/>
                    <a:pt x="28" y="61"/>
                    <a:pt x="18" y="92"/>
                  </a:cubicBezTo>
                  <a:cubicBezTo>
                    <a:pt x="14" y="104"/>
                    <a:pt x="10" y="116"/>
                    <a:pt x="6" y="128"/>
                  </a:cubicBezTo>
                  <a:cubicBezTo>
                    <a:pt x="4" y="134"/>
                    <a:pt x="0" y="146"/>
                    <a:pt x="0" y="146"/>
                  </a:cubicBezTo>
                  <a:cubicBezTo>
                    <a:pt x="4" y="227"/>
                    <a:pt x="7" y="307"/>
                    <a:pt x="30" y="386"/>
                  </a:cubicBezTo>
                  <a:cubicBezTo>
                    <a:pt x="39" y="416"/>
                    <a:pt x="35" y="403"/>
                    <a:pt x="72" y="428"/>
                  </a:cubicBezTo>
                  <a:cubicBezTo>
                    <a:pt x="78" y="432"/>
                    <a:pt x="90" y="440"/>
                    <a:pt x="90" y="440"/>
                  </a:cubicBezTo>
                  <a:cubicBezTo>
                    <a:pt x="129" y="427"/>
                    <a:pt x="169" y="442"/>
                    <a:pt x="210" y="434"/>
                  </a:cubicBezTo>
                  <a:cubicBezTo>
                    <a:pt x="192" y="422"/>
                    <a:pt x="174" y="416"/>
                    <a:pt x="156" y="404"/>
                  </a:cubicBezTo>
                  <a:cubicBezTo>
                    <a:pt x="136" y="344"/>
                    <a:pt x="121" y="294"/>
                    <a:pt x="114" y="230"/>
                  </a:cubicBezTo>
                  <a:cubicBezTo>
                    <a:pt x="119" y="198"/>
                    <a:pt x="123" y="165"/>
                    <a:pt x="132" y="134"/>
                  </a:cubicBezTo>
                  <a:cubicBezTo>
                    <a:pt x="136" y="122"/>
                    <a:pt x="140" y="110"/>
                    <a:pt x="144" y="98"/>
                  </a:cubicBezTo>
                  <a:cubicBezTo>
                    <a:pt x="146" y="92"/>
                    <a:pt x="150" y="80"/>
                    <a:pt x="150" y="80"/>
                  </a:cubicBezTo>
                  <a:cubicBezTo>
                    <a:pt x="150" y="80"/>
                    <a:pt x="142" y="104"/>
                    <a:pt x="138" y="116"/>
                  </a:cubicBezTo>
                  <a:cubicBezTo>
                    <a:pt x="136" y="122"/>
                    <a:pt x="141" y="104"/>
                    <a:pt x="144" y="98"/>
                  </a:cubicBezTo>
                  <a:cubicBezTo>
                    <a:pt x="155" y="77"/>
                    <a:pt x="173" y="45"/>
                    <a:pt x="192" y="32"/>
                  </a:cubicBezTo>
                  <a:cubicBezTo>
                    <a:pt x="144" y="0"/>
                    <a:pt x="181" y="21"/>
                    <a:pt x="66" y="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78"/>
            <p:cNvSpPr/>
            <p:nvPr/>
          </p:nvSpPr>
          <p:spPr>
            <a:xfrm>
              <a:off x="1740" y="2233"/>
              <a:ext cx="230" cy="534"/>
            </a:xfrm>
            <a:custGeom>
              <a:avLst/>
              <a:gdLst/>
              <a:ahLst/>
              <a:cxnLst/>
              <a:rect l="l" t="t" r="r" b="b"/>
              <a:pathLst>
                <a:path w="210" h="442" extrusionOk="0">
                  <a:moveTo>
                    <a:pt x="66" y="8"/>
                  </a:moveTo>
                  <a:cubicBezTo>
                    <a:pt x="38" y="26"/>
                    <a:pt x="28" y="61"/>
                    <a:pt x="18" y="92"/>
                  </a:cubicBezTo>
                  <a:cubicBezTo>
                    <a:pt x="14" y="104"/>
                    <a:pt x="10" y="116"/>
                    <a:pt x="6" y="128"/>
                  </a:cubicBezTo>
                  <a:cubicBezTo>
                    <a:pt x="4" y="134"/>
                    <a:pt x="0" y="146"/>
                    <a:pt x="0" y="146"/>
                  </a:cubicBezTo>
                  <a:cubicBezTo>
                    <a:pt x="4" y="227"/>
                    <a:pt x="7" y="307"/>
                    <a:pt x="30" y="386"/>
                  </a:cubicBezTo>
                  <a:cubicBezTo>
                    <a:pt x="39" y="416"/>
                    <a:pt x="35" y="403"/>
                    <a:pt x="72" y="428"/>
                  </a:cubicBezTo>
                  <a:cubicBezTo>
                    <a:pt x="78" y="432"/>
                    <a:pt x="90" y="440"/>
                    <a:pt x="90" y="440"/>
                  </a:cubicBezTo>
                  <a:cubicBezTo>
                    <a:pt x="129" y="427"/>
                    <a:pt x="169" y="442"/>
                    <a:pt x="210" y="434"/>
                  </a:cubicBezTo>
                  <a:cubicBezTo>
                    <a:pt x="192" y="422"/>
                    <a:pt x="174" y="416"/>
                    <a:pt x="156" y="404"/>
                  </a:cubicBezTo>
                  <a:cubicBezTo>
                    <a:pt x="136" y="344"/>
                    <a:pt x="121" y="294"/>
                    <a:pt x="114" y="230"/>
                  </a:cubicBezTo>
                  <a:cubicBezTo>
                    <a:pt x="119" y="198"/>
                    <a:pt x="123" y="165"/>
                    <a:pt x="132" y="134"/>
                  </a:cubicBezTo>
                  <a:cubicBezTo>
                    <a:pt x="136" y="122"/>
                    <a:pt x="140" y="110"/>
                    <a:pt x="144" y="98"/>
                  </a:cubicBezTo>
                  <a:cubicBezTo>
                    <a:pt x="146" y="92"/>
                    <a:pt x="150" y="80"/>
                    <a:pt x="150" y="80"/>
                  </a:cubicBezTo>
                  <a:cubicBezTo>
                    <a:pt x="150" y="80"/>
                    <a:pt x="142" y="104"/>
                    <a:pt x="138" y="116"/>
                  </a:cubicBezTo>
                  <a:cubicBezTo>
                    <a:pt x="136" y="122"/>
                    <a:pt x="141" y="104"/>
                    <a:pt x="144" y="98"/>
                  </a:cubicBezTo>
                  <a:cubicBezTo>
                    <a:pt x="155" y="77"/>
                    <a:pt x="173" y="45"/>
                    <a:pt x="192" y="32"/>
                  </a:cubicBezTo>
                  <a:cubicBezTo>
                    <a:pt x="144" y="0"/>
                    <a:pt x="181" y="21"/>
                    <a:pt x="66" y="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78"/>
            <p:cNvSpPr/>
            <p:nvPr/>
          </p:nvSpPr>
          <p:spPr>
            <a:xfrm>
              <a:off x="1162" y="3212"/>
              <a:ext cx="230" cy="534"/>
            </a:xfrm>
            <a:custGeom>
              <a:avLst/>
              <a:gdLst/>
              <a:ahLst/>
              <a:cxnLst/>
              <a:rect l="l" t="t" r="r" b="b"/>
              <a:pathLst>
                <a:path w="210" h="442" extrusionOk="0">
                  <a:moveTo>
                    <a:pt x="66" y="8"/>
                  </a:moveTo>
                  <a:cubicBezTo>
                    <a:pt x="38" y="26"/>
                    <a:pt x="28" y="61"/>
                    <a:pt x="18" y="92"/>
                  </a:cubicBezTo>
                  <a:cubicBezTo>
                    <a:pt x="14" y="104"/>
                    <a:pt x="10" y="116"/>
                    <a:pt x="6" y="128"/>
                  </a:cubicBezTo>
                  <a:cubicBezTo>
                    <a:pt x="4" y="134"/>
                    <a:pt x="0" y="146"/>
                    <a:pt x="0" y="146"/>
                  </a:cubicBezTo>
                  <a:cubicBezTo>
                    <a:pt x="4" y="227"/>
                    <a:pt x="7" y="307"/>
                    <a:pt x="30" y="386"/>
                  </a:cubicBezTo>
                  <a:cubicBezTo>
                    <a:pt x="39" y="416"/>
                    <a:pt x="35" y="403"/>
                    <a:pt x="72" y="428"/>
                  </a:cubicBezTo>
                  <a:cubicBezTo>
                    <a:pt x="78" y="432"/>
                    <a:pt x="90" y="440"/>
                    <a:pt x="90" y="440"/>
                  </a:cubicBezTo>
                  <a:cubicBezTo>
                    <a:pt x="129" y="427"/>
                    <a:pt x="169" y="442"/>
                    <a:pt x="210" y="434"/>
                  </a:cubicBezTo>
                  <a:cubicBezTo>
                    <a:pt x="192" y="422"/>
                    <a:pt x="174" y="416"/>
                    <a:pt x="156" y="404"/>
                  </a:cubicBezTo>
                  <a:cubicBezTo>
                    <a:pt x="136" y="344"/>
                    <a:pt x="121" y="294"/>
                    <a:pt x="114" y="230"/>
                  </a:cubicBezTo>
                  <a:cubicBezTo>
                    <a:pt x="119" y="198"/>
                    <a:pt x="123" y="165"/>
                    <a:pt x="132" y="134"/>
                  </a:cubicBezTo>
                  <a:cubicBezTo>
                    <a:pt x="136" y="122"/>
                    <a:pt x="140" y="110"/>
                    <a:pt x="144" y="98"/>
                  </a:cubicBezTo>
                  <a:cubicBezTo>
                    <a:pt x="146" y="92"/>
                    <a:pt x="150" y="80"/>
                    <a:pt x="150" y="80"/>
                  </a:cubicBezTo>
                  <a:cubicBezTo>
                    <a:pt x="150" y="80"/>
                    <a:pt x="142" y="104"/>
                    <a:pt x="138" y="116"/>
                  </a:cubicBezTo>
                  <a:cubicBezTo>
                    <a:pt x="136" y="122"/>
                    <a:pt x="141" y="104"/>
                    <a:pt x="144" y="98"/>
                  </a:cubicBezTo>
                  <a:cubicBezTo>
                    <a:pt x="155" y="77"/>
                    <a:pt x="173" y="45"/>
                    <a:pt x="192" y="32"/>
                  </a:cubicBezTo>
                  <a:cubicBezTo>
                    <a:pt x="144" y="0"/>
                    <a:pt x="181" y="21"/>
                    <a:pt x="66" y="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78"/>
            <p:cNvSpPr/>
            <p:nvPr/>
          </p:nvSpPr>
          <p:spPr>
            <a:xfrm>
              <a:off x="1714" y="3256"/>
              <a:ext cx="229" cy="534"/>
            </a:xfrm>
            <a:custGeom>
              <a:avLst/>
              <a:gdLst/>
              <a:ahLst/>
              <a:cxnLst/>
              <a:rect l="l" t="t" r="r" b="b"/>
              <a:pathLst>
                <a:path w="210" h="442" extrusionOk="0">
                  <a:moveTo>
                    <a:pt x="66" y="8"/>
                  </a:moveTo>
                  <a:cubicBezTo>
                    <a:pt x="38" y="26"/>
                    <a:pt x="28" y="61"/>
                    <a:pt x="18" y="92"/>
                  </a:cubicBezTo>
                  <a:cubicBezTo>
                    <a:pt x="14" y="104"/>
                    <a:pt x="10" y="116"/>
                    <a:pt x="6" y="128"/>
                  </a:cubicBezTo>
                  <a:cubicBezTo>
                    <a:pt x="4" y="134"/>
                    <a:pt x="0" y="146"/>
                    <a:pt x="0" y="146"/>
                  </a:cubicBezTo>
                  <a:cubicBezTo>
                    <a:pt x="4" y="227"/>
                    <a:pt x="7" y="307"/>
                    <a:pt x="30" y="386"/>
                  </a:cubicBezTo>
                  <a:cubicBezTo>
                    <a:pt x="39" y="416"/>
                    <a:pt x="35" y="403"/>
                    <a:pt x="72" y="428"/>
                  </a:cubicBezTo>
                  <a:cubicBezTo>
                    <a:pt x="78" y="432"/>
                    <a:pt x="90" y="440"/>
                    <a:pt x="90" y="440"/>
                  </a:cubicBezTo>
                  <a:cubicBezTo>
                    <a:pt x="129" y="427"/>
                    <a:pt x="169" y="442"/>
                    <a:pt x="210" y="434"/>
                  </a:cubicBezTo>
                  <a:cubicBezTo>
                    <a:pt x="192" y="422"/>
                    <a:pt x="174" y="416"/>
                    <a:pt x="156" y="404"/>
                  </a:cubicBezTo>
                  <a:cubicBezTo>
                    <a:pt x="136" y="344"/>
                    <a:pt x="121" y="294"/>
                    <a:pt x="114" y="230"/>
                  </a:cubicBezTo>
                  <a:cubicBezTo>
                    <a:pt x="119" y="198"/>
                    <a:pt x="123" y="165"/>
                    <a:pt x="132" y="134"/>
                  </a:cubicBezTo>
                  <a:cubicBezTo>
                    <a:pt x="136" y="122"/>
                    <a:pt x="140" y="110"/>
                    <a:pt x="144" y="98"/>
                  </a:cubicBezTo>
                  <a:cubicBezTo>
                    <a:pt x="146" y="92"/>
                    <a:pt x="150" y="80"/>
                    <a:pt x="150" y="80"/>
                  </a:cubicBezTo>
                  <a:cubicBezTo>
                    <a:pt x="150" y="80"/>
                    <a:pt x="142" y="104"/>
                    <a:pt x="138" y="116"/>
                  </a:cubicBezTo>
                  <a:cubicBezTo>
                    <a:pt x="136" y="122"/>
                    <a:pt x="141" y="104"/>
                    <a:pt x="144" y="98"/>
                  </a:cubicBezTo>
                  <a:cubicBezTo>
                    <a:pt x="155" y="77"/>
                    <a:pt x="173" y="45"/>
                    <a:pt x="192" y="32"/>
                  </a:cubicBezTo>
                  <a:cubicBezTo>
                    <a:pt x="144" y="0"/>
                    <a:pt x="181" y="21"/>
                    <a:pt x="66" y="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78"/>
            <p:cNvSpPr/>
            <p:nvPr/>
          </p:nvSpPr>
          <p:spPr>
            <a:xfrm rot="5400000">
              <a:off x="2220" y="2773"/>
              <a:ext cx="254" cy="484"/>
            </a:xfrm>
            <a:custGeom>
              <a:avLst/>
              <a:gdLst/>
              <a:ahLst/>
              <a:cxnLst/>
              <a:rect l="l" t="t" r="r" b="b"/>
              <a:pathLst>
                <a:path w="210" h="442" extrusionOk="0">
                  <a:moveTo>
                    <a:pt x="66" y="8"/>
                  </a:moveTo>
                  <a:cubicBezTo>
                    <a:pt x="38" y="26"/>
                    <a:pt x="28" y="61"/>
                    <a:pt x="18" y="92"/>
                  </a:cubicBezTo>
                  <a:cubicBezTo>
                    <a:pt x="14" y="104"/>
                    <a:pt x="10" y="116"/>
                    <a:pt x="6" y="128"/>
                  </a:cubicBezTo>
                  <a:cubicBezTo>
                    <a:pt x="4" y="134"/>
                    <a:pt x="0" y="146"/>
                    <a:pt x="0" y="146"/>
                  </a:cubicBezTo>
                  <a:cubicBezTo>
                    <a:pt x="4" y="227"/>
                    <a:pt x="7" y="307"/>
                    <a:pt x="30" y="386"/>
                  </a:cubicBezTo>
                  <a:cubicBezTo>
                    <a:pt x="39" y="416"/>
                    <a:pt x="35" y="403"/>
                    <a:pt x="72" y="428"/>
                  </a:cubicBezTo>
                  <a:cubicBezTo>
                    <a:pt x="78" y="432"/>
                    <a:pt x="90" y="440"/>
                    <a:pt x="90" y="440"/>
                  </a:cubicBezTo>
                  <a:cubicBezTo>
                    <a:pt x="129" y="427"/>
                    <a:pt x="169" y="442"/>
                    <a:pt x="210" y="434"/>
                  </a:cubicBezTo>
                  <a:cubicBezTo>
                    <a:pt x="192" y="422"/>
                    <a:pt x="174" y="416"/>
                    <a:pt x="156" y="404"/>
                  </a:cubicBezTo>
                  <a:cubicBezTo>
                    <a:pt x="136" y="344"/>
                    <a:pt x="121" y="294"/>
                    <a:pt x="114" y="230"/>
                  </a:cubicBezTo>
                  <a:cubicBezTo>
                    <a:pt x="119" y="198"/>
                    <a:pt x="123" y="165"/>
                    <a:pt x="132" y="134"/>
                  </a:cubicBezTo>
                  <a:cubicBezTo>
                    <a:pt x="136" y="122"/>
                    <a:pt x="140" y="110"/>
                    <a:pt x="144" y="98"/>
                  </a:cubicBezTo>
                  <a:cubicBezTo>
                    <a:pt x="146" y="92"/>
                    <a:pt x="150" y="80"/>
                    <a:pt x="150" y="80"/>
                  </a:cubicBezTo>
                  <a:cubicBezTo>
                    <a:pt x="150" y="80"/>
                    <a:pt x="142" y="104"/>
                    <a:pt x="138" y="116"/>
                  </a:cubicBezTo>
                  <a:cubicBezTo>
                    <a:pt x="136" y="122"/>
                    <a:pt x="141" y="104"/>
                    <a:pt x="144" y="98"/>
                  </a:cubicBezTo>
                  <a:cubicBezTo>
                    <a:pt x="155" y="77"/>
                    <a:pt x="173" y="45"/>
                    <a:pt x="192" y="32"/>
                  </a:cubicBezTo>
                  <a:cubicBezTo>
                    <a:pt x="144" y="0"/>
                    <a:pt x="181" y="21"/>
                    <a:pt x="66" y="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78"/>
            <p:cNvSpPr/>
            <p:nvPr/>
          </p:nvSpPr>
          <p:spPr>
            <a:xfrm flipH="1">
              <a:off x="2678" y="2407"/>
              <a:ext cx="230" cy="534"/>
            </a:xfrm>
            <a:custGeom>
              <a:avLst/>
              <a:gdLst/>
              <a:ahLst/>
              <a:cxnLst/>
              <a:rect l="l" t="t" r="r" b="b"/>
              <a:pathLst>
                <a:path w="210" h="442" extrusionOk="0">
                  <a:moveTo>
                    <a:pt x="66" y="8"/>
                  </a:moveTo>
                  <a:cubicBezTo>
                    <a:pt x="38" y="26"/>
                    <a:pt x="28" y="61"/>
                    <a:pt x="18" y="92"/>
                  </a:cubicBezTo>
                  <a:cubicBezTo>
                    <a:pt x="14" y="104"/>
                    <a:pt x="10" y="116"/>
                    <a:pt x="6" y="128"/>
                  </a:cubicBezTo>
                  <a:cubicBezTo>
                    <a:pt x="4" y="134"/>
                    <a:pt x="0" y="146"/>
                    <a:pt x="0" y="146"/>
                  </a:cubicBezTo>
                  <a:cubicBezTo>
                    <a:pt x="4" y="227"/>
                    <a:pt x="7" y="307"/>
                    <a:pt x="30" y="386"/>
                  </a:cubicBezTo>
                  <a:cubicBezTo>
                    <a:pt x="39" y="416"/>
                    <a:pt x="35" y="403"/>
                    <a:pt x="72" y="428"/>
                  </a:cubicBezTo>
                  <a:cubicBezTo>
                    <a:pt x="78" y="432"/>
                    <a:pt x="90" y="440"/>
                    <a:pt x="90" y="440"/>
                  </a:cubicBezTo>
                  <a:cubicBezTo>
                    <a:pt x="129" y="427"/>
                    <a:pt x="169" y="442"/>
                    <a:pt x="210" y="434"/>
                  </a:cubicBezTo>
                  <a:cubicBezTo>
                    <a:pt x="192" y="422"/>
                    <a:pt x="174" y="416"/>
                    <a:pt x="156" y="404"/>
                  </a:cubicBezTo>
                  <a:cubicBezTo>
                    <a:pt x="136" y="344"/>
                    <a:pt x="121" y="294"/>
                    <a:pt x="114" y="230"/>
                  </a:cubicBezTo>
                  <a:cubicBezTo>
                    <a:pt x="119" y="198"/>
                    <a:pt x="123" y="165"/>
                    <a:pt x="132" y="134"/>
                  </a:cubicBezTo>
                  <a:cubicBezTo>
                    <a:pt x="136" y="122"/>
                    <a:pt x="140" y="110"/>
                    <a:pt x="144" y="98"/>
                  </a:cubicBezTo>
                  <a:cubicBezTo>
                    <a:pt x="146" y="92"/>
                    <a:pt x="150" y="80"/>
                    <a:pt x="150" y="80"/>
                  </a:cubicBezTo>
                  <a:cubicBezTo>
                    <a:pt x="150" y="80"/>
                    <a:pt x="142" y="104"/>
                    <a:pt x="138" y="116"/>
                  </a:cubicBezTo>
                  <a:cubicBezTo>
                    <a:pt x="136" y="122"/>
                    <a:pt x="141" y="104"/>
                    <a:pt x="144" y="98"/>
                  </a:cubicBezTo>
                  <a:cubicBezTo>
                    <a:pt x="155" y="77"/>
                    <a:pt x="173" y="45"/>
                    <a:pt x="192" y="32"/>
                  </a:cubicBezTo>
                  <a:cubicBezTo>
                    <a:pt x="144" y="0"/>
                    <a:pt x="181" y="21"/>
                    <a:pt x="66" y="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78"/>
            <p:cNvSpPr/>
            <p:nvPr/>
          </p:nvSpPr>
          <p:spPr>
            <a:xfrm flipH="1">
              <a:off x="3046" y="2987"/>
              <a:ext cx="230" cy="535"/>
            </a:xfrm>
            <a:custGeom>
              <a:avLst/>
              <a:gdLst/>
              <a:ahLst/>
              <a:cxnLst/>
              <a:rect l="l" t="t" r="r" b="b"/>
              <a:pathLst>
                <a:path w="210" h="442" extrusionOk="0">
                  <a:moveTo>
                    <a:pt x="66" y="8"/>
                  </a:moveTo>
                  <a:cubicBezTo>
                    <a:pt x="38" y="26"/>
                    <a:pt x="28" y="61"/>
                    <a:pt x="18" y="92"/>
                  </a:cubicBezTo>
                  <a:cubicBezTo>
                    <a:pt x="14" y="104"/>
                    <a:pt x="10" y="116"/>
                    <a:pt x="6" y="128"/>
                  </a:cubicBezTo>
                  <a:cubicBezTo>
                    <a:pt x="4" y="134"/>
                    <a:pt x="0" y="146"/>
                    <a:pt x="0" y="146"/>
                  </a:cubicBezTo>
                  <a:cubicBezTo>
                    <a:pt x="4" y="227"/>
                    <a:pt x="7" y="307"/>
                    <a:pt x="30" y="386"/>
                  </a:cubicBezTo>
                  <a:cubicBezTo>
                    <a:pt x="39" y="416"/>
                    <a:pt x="35" y="403"/>
                    <a:pt x="72" y="428"/>
                  </a:cubicBezTo>
                  <a:cubicBezTo>
                    <a:pt x="78" y="432"/>
                    <a:pt x="90" y="440"/>
                    <a:pt x="90" y="440"/>
                  </a:cubicBezTo>
                  <a:cubicBezTo>
                    <a:pt x="129" y="427"/>
                    <a:pt x="169" y="442"/>
                    <a:pt x="210" y="434"/>
                  </a:cubicBezTo>
                  <a:cubicBezTo>
                    <a:pt x="192" y="422"/>
                    <a:pt x="174" y="416"/>
                    <a:pt x="156" y="404"/>
                  </a:cubicBezTo>
                  <a:cubicBezTo>
                    <a:pt x="136" y="344"/>
                    <a:pt x="121" y="294"/>
                    <a:pt x="114" y="230"/>
                  </a:cubicBezTo>
                  <a:cubicBezTo>
                    <a:pt x="119" y="198"/>
                    <a:pt x="123" y="165"/>
                    <a:pt x="132" y="134"/>
                  </a:cubicBezTo>
                  <a:cubicBezTo>
                    <a:pt x="136" y="122"/>
                    <a:pt x="140" y="110"/>
                    <a:pt x="144" y="98"/>
                  </a:cubicBezTo>
                  <a:cubicBezTo>
                    <a:pt x="146" y="92"/>
                    <a:pt x="150" y="80"/>
                    <a:pt x="150" y="80"/>
                  </a:cubicBezTo>
                  <a:cubicBezTo>
                    <a:pt x="150" y="80"/>
                    <a:pt x="142" y="104"/>
                    <a:pt x="138" y="116"/>
                  </a:cubicBezTo>
                  <a:cubicBezTo>
                    <a:pt x="136" y="122"/>
                    <a:pt x="141" y="104"/>
                    <a:pt x="144" y="98"/>
                  </a:cubicBezTo>
                  <a:cubicBezTo>
                    <a:pt x="155" y="77"/>
                    <a:pt x="173" y="45"/>
                    <a:pt x="192" y="32"/>
                  </a:cubicBezTo>
                  <a:cubicBezTo>
                    <a:pt x="144" y="0"/>
                    <a:pt x="181" y="21"/>
                    <a:pt x="66" y="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78"/>
            <p:cNvSpPr txBox="1"/>
            <p:nvPr/>
          </p:nvSpPr>
          <p:spPr>
            <a:xfrm>
              <a:off x="1520" y="2872"/>
              <a:ext cx="228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516" name="Google Shape;1516;p78"/>
            <p:cNvSpPr txBox="1"/>
            <p:nvPr/>
          </p:nvSpPr>
          <p:spPr>
            <a:xfrm>
              <a:off x="1472" y="3792"/>
              <a:ext cx="231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sp>
          <p:nvSpPr>
            <p:cNvPr id="1517" name="Google Shape;1517;p78"/>
            <p:cNvSpPr txBox="1"/>
            <p:nvPr/>
          </p:nvSpPr>
          <p:spPr>
            <a:xfrm>
              <a:off x="1488" y="2048"/>
              <a:ext cx="231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518" name="Google Shape;1518;p78"/>
            <p:cNvSpPr txBox="1"/>
            <p:nvPr/>
          </p:nvSpPr>
          <p:spPr>
            <a:xfrm>
              <a:off x="3136" y="2656"/>
              <a:ext cx="23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7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Paths and Circuits</a:t>
            </a:r>
            <a:endParaRPr/>
          </a:p>
        </p:txBody>
      </p:sp>
      <p:sp>
        <p:nvSpPr>
          <p:cNvPr id="1524" name="Google Shape;1524;p79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82296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path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path using every edge of the graph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exactly once.</a:t>
            </a:r>
            <a:endParaRPr sz="36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circuit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Euler path that returns to its start.</a:t>
            </a:r>
            <a:endParaRPr/>
          </a:p>
        </p:txBody>
      </p:sp>
      <p:grpSp>
        <p:nvGrpSpPr>
          <p:cNvPr id="1525" name="Google Shape;1525;p79"/>
          <p:cNvGrpSpPr/>
          <p:nvPr/>
        </p:nvGrpSpPr>
        <p:grpSpPr>
          <a:xfrm>
            <a:off x="727075" y="3695700"/>
            <a:ext cx="6818312" cy="2560637"/>
            <a:chOff x="458" y="2328"/>
            <a:chExt cx="4295" cy="1613"/>
          </a:xfrm>
        </p:grpSpPr>
        <p:grpSp>
          <p:nvGrpSpPr>
            <p:cNvPr id="1526" name="Google Shape;1526;p79"/>
            <p:cNvGrpSpPr/>
            <p:nvPr/>
          </p:nvGrpSpPr>
          <p:grpSpPr>
            <a:xfrm>
              <a:off x="3456" y="2328"/>
              <a:ext cx="1297" cy="1613"/>
              <a:chOff x="3880" y="2088"/>
              <a:chExt cx="1590" cy="2157"/>
            </a:xfrm>
          </p:grpSpPr>
          <p:cxnSp>
            <p:nvCxnSpPr>
              <p:cNvPr id="1527" name="Google Shape;1527;p79"/>
              <p:cNvCxnSpPr/>
              <p:nvPr/>
            </p:nvCxnSpPr>
            <p:spPr>
              <a:xfrm>
                <a:off x="4280" y="2200"/>
                <a:ext cx="824" cy="92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528" name="Google Shape;1528;p79"/>
              <p:cNvCxnSpPr/>
              <p:nvPr/>
            </p:nvCxnSpPr>
            <p:spPr>
              <a:xfrm rot="10800000" flipH="1">
                <a:off x="4288" y="3112"/>
                <a:ext cx="832" cy="8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529" name="Google Shape;1529;p79"/>
              <p:cNvSpPr/>
              <p:nvPr/>
            </p:nvSpPr>
            <p:spPr>
              <a:xfrm>
                <a:off x="4240" y="2160"/>
                <a:ext cx="96" cy="96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79"/>
              <p:cNvSpPr/>
              <p:nvPr/>
            </p:nvSpPr>
            <p:spPr>
              <a:xfrm>
                <a:off x="4240" y="3072"/>
                <a:ext cx="96" cy="96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79"/>
              <p:cNvSpPr/>
              <p:nvPr/>
            </p:nvSpPr>
            <p:spPr>
              <a:xfrm>
                <a:off x="5056" y="3072"/>
                <a:ext cx="96" cy="96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79"/>
              <p:cNvSpPr/>
              <p:nvPr/>
            </p:nvSpPr>
            <p:spPr>
              <a:xfrm>
                <a:off x="4256" y="3968"/>
                <a:ext cx="96" cy="96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33" name="Google Shape;1533;p79"/>
              <p:cNvCxnSpPr/>
              <p:nvPr/>
            </p:nvCxnSpPr>
            <p:spPr>
              <a:xfrm rot="10800000">
                <a:off x="4304" y="3112"/>
                <a:ext cx="0" cy="896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534" name="Google Shape;1534;p79"/>
              <p:cNvCxnSpPr/>
              <p:nvPr/>
            </p:nvCxnSpPr>
            <p:spPr>
              <a:xfrm rot="10800000">
                <a:off x="4296" y="2192"/>
                <a:ext cx="0" cy="896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535" name="Google Shape;1535;p79"/>
              <p:cNvCxnSpPr/>
              <p:nvPr/>
            </p:nvCxnSpPr>
            <p:spPr>
              <a:xfrm flipH="1">
                <a:off x="4320" y="3120"/>
                <a:ext cx="800" cy="896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grpSp>
            <p:nvGrpSpPr>
              <p:cNvPr id="1536" name="Google Shape;1536;p79"/>
              <p:cNvGrpSpPr/>
              <p:nvPr/>
            </p:nvGrpSpPr>
            <p:grpSpPr>
              <a:xfrm>
                <a:off x="4072" y="2216"/>
                <a:ext cx="208" cy="920"/>
                <a:chOff x="3800" y="2224"/>
                <a:chExt cx="160" cy="1032"/>
              </a:xfrm>
            </p:grpSpPr>
            <p:sp>
              <p:nvSpPr>
                <p:cNvPr id="1537" name="Google Shape;1537;p79"/>
                <p:cNvSpPr/>
                <p:nvPr/>
              </p:nvSpPr>
              <p:spPr>
                <a:xfrm flipH="1">
                  <a:off x="3800" y="2224"/>
                  <a:ext cx="160" cy="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8" name="Google Shape;1538;p79"/>
                <p:cNvSpPr/>
                <p:nvPr/>
              </p:nvSpPr>
              <p:spPr>
                <a:xfrm rot="10800000">
                  <a:off x="3800" y="2736"/>
                  <a:ext cx="160" cy="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9" name="Google Shape;1539;p79"/>
              <p:cNvGrpSpPr/>
              <p:nvPr/>
            </p:nvGrpSpPr>
            <p:grpSpPr>
              <a:xfrm>
                <a:off x="4080" y="3144"/>
                <a:ext cx="168" cy="880"/>
                <a:chOff x="3800" y="2224"/>
                <a:chExt cx="160" cy="1032"/>
              </a:xfrm>
            </p:grpSpPr>
            <p:sp>
              <p:nvSpPr>
                <p:cNvPr id="1540" name="Google Shape;1540;p79"/>
                <p:cNvSpPr/>
                <p:nvPr/>
              </p:nvSpPr>
              <p:spPr>
                <a:xfrm flipH="1">
                  <a:off x="3800" y="2224"/>
                  <a:ext cx="160" cy="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1" name="Google Shape;1541;p79"/>
                <p:cNvSpPr/>
                <p:nvPr/>
              </p:nvSpPr>
              <p:spPr>
                <a:xfrm rot="10800000">
                  <a:off x="3800" y="2736"/>
                  <a:ext cx="160" cy="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42" name="Google Shape;1542;p79"/>
              <p:cNvSpPr txBox="1"/>
              <p:nvPr/>
            </p:nvSpPr>
            <p:spPr>
              <a:xfrm>
                <a:off x="3880" y="3008"/>
                <a:ext cx="280" cy="3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000"/>
                  <a:buFont typeface="Bookman Old Style"/>
                  <a:buNone/>
                </a:pPr>
                <a:r>
                  <a:rPr lang="en-US" sz="2000" b="0" i="1" u="none">
                    <a:solidFill>
                      <a:schemeClr val="dk2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A</a:t>
                </a:r>
                <a:endParaRPr/>
              </a:p>
            </p:txBody>
          </p:sp>
          <p:sp>
            <p:nvSpPr>
              <p:cNvPr id="1543" name="Google Shape;1543;p79"/>
              <p:cNvSpPr txBox="1"/>
              <p:nvPr/>
            </p:nvSpPr>
            <p:spPr>
              <a:xfrm>
                <a:off x="4400" y="3911"/>
                <a:ext cx="283" cy="3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000"/>
                  <a:buFont typeface="Bookman Old Style"/>
                  <a:buNone/>
                </a:pPr>
                <a:r>
                  <a:rPr lang="en-US" sz="2000" b="0" i="1" u="none">
                    <a:solidFill>
                      <a:schemeClr val="dk2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B</a:t>
                </a:r>
                <a:endParaRPr/>
              </a:p>
            </p:txBody>
          </p:sp>
          <p:sp>
            <p:nvSpPr>
              <p:cNvPr id="1544" name="Google Shape;1544;p79"/>
              <p:cNvSpPr txBox="1"/>
              <p:nvPr/>
            </p:nvSpPr>
            <p:spPr>
              <a:xfrm>
                <a:off x="4384" y="2088"/>
                <a:ext cx="283" cy="3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000"/>
                  <a:buFont typeface="Bookman Old Style"/>
                  <a:buNone/>
                </a:pPr>
                <a:r>
                  <a:rPr lang="en-US" sz="2000" b="0" i="1" u="none">
                    <a:solidFill>
                      <a:schemeClr val="dk2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C</a:t>
                </a:r>
                <a:endParaRPr/>
              </a:p>
            </p:txBody>
          </p:sp>
          <p:sp>
            <p:nvSpPr>
              <p:cNvPr id="1545" name="Google Shape;1545;p79"/>
              <p:cNvSpPr txBox="1"/>
              <p:nvPr/>
            </p:nvSpPr>
            <p:spPr>
              <a:xfrm>
                <a:off x="5183" y="2984"/>
                <a:ext cx="287" cy="3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000"/>
                  <a:buFont typeface="Bookman Old Style"/>
                  <a:buNone/>
                </a:pPr>
                <a:r>
                  <a:rPr lang="en-US" sz="2000" b="0" i="1" u="none">
                    <a:solidFill>
                      <a:schemeClr val="dk2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D</a:t>
                </a:r>
                <a:endParaRPr/>
              </a:p>
            </p:txBody>
          </p:sp>
        </p:grpSp>
        <p:sp>
          <p:nvSpPr>
            <p:cNvPr id="1546" name="Google Shape;1546;p79"/>
            <p:cNvSpPr txBox="1"/>
            <p:nvPr/>
          </p:nvSpPr>
          <p:spPr>
            <a:xfrm>
              <a:off x="458" y="2792"/>
              <a:ext cx="2758" cy="3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no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imes New Roman"/>
                <a:buNone/>
              </a:pPr>
              <a:r>
                <a:rPr lang="en-US" sz="32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this graph have an Euler circuit?</a:t>
              </a:r>
              <a:endParaRPr/>
            </a:p>
            <a:p>
              <a:pPr marL="342900" marR="0" lvl="0" indent="-342900" algn="l" rtl="0">
                <a:lnSpc>
                  <a:spcPct val="90000"/>
                </a:lnSpc>
                <a:spcBef>
                  <a:spcPts val="64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imes New Roman"/>
                <a:buNone/>
              </a:pPr>
              <a:r>
                <a:rPr lang="en-US" sz="32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No.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80"/>
          <p:cNvSpPr txBox="1">
            <a:spLocks noGrp="1"/>
          </p:cNvSpPr>
          <p:nvPr>
            <p:ph type="title"/>
          </p:nvPr>
        </p:nvSpPr>
        <p:spPr>
          <a:xfrm>
            <a:off x="228600" y="184150"/>
            <a:ext cx="86868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Necessary and Sufficient Conditions</a:t>
            </a:r>
            <a:endParaRPr/>
          </a:p>
        </p:txBody>
      </p:sp>
      <p:sp>
        <p:nvSpPr>
          <p:cNvPr id="1552" name="Google Shape;1552;p80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83820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about multigraphs?</a:t>
            </a: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connected multigraph has a Euler circuit iff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of its vertices has an even degree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2413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connected multigraph has a Euler path but not an Euler circuit iff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exactly two vertices of odd degree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8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558" name="Google Shape;1558;p81"/>
          <p:cNvSpPr txBox="1">
            <a:spLocks noGrp="1"/>
          </p:cNvSpPr>
          <p:nvPr>
            <p:ph type="body" idx="1"/>
          </p:nvPr>
        </p:nvSpPr>
        <p:spPr>
          <a:xfrm>
            <a:off x="152400" y="1219200"/>
            <a:ext cx="8229600" cy="108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graphs has an Euler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 </a:t>
            </a:r>
            <a:endParaRPr/>
          </a:p>
        </p:txBody>
      </p:sp>
      <p:grpSp>
        <p:nvGrpSpPr>
          <p:cNvPr id="1559" name="Google Shape;1559;p81"/>
          <p:cNvGrpSpPr/>
          <p:nvPr/>
        </p:nvGrpSpPr>
        <p:grpSpPr>
          <a:xfrm>
            <a:off x="609600" y="2590800"/>
            <a:ext cx="1778000" cy="2286000"/>
            <a:chOff x="376" y="1968"/>
            <a:chExt cx="1120" cy="1440"/>
          </a:xfrm>
        </p:grpSpPr>
        <p:sp>
          <p:nvSpPr>
            <p:cNvPr id="1560" name="Google Shape;1560;p81"/>
            <p:cNvSpPr txBox="1"/>
            <p:nvPr/>
          </p:nvSpPr>
          <p:spPr>
            <a:xfrm>
              <a:off x="1000" y="2592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561" name="Google Shape;1561;p81"/>
            <p:cNvSpPr/>
            <p:nvPr/>
          </p:nvSpPr>
          <p:spPr>
            <a:xfrm>
              <a:off x="388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81"/>
            <p:cNvSpPr/>
            <p:nvPr/>
          </p:nvSpPr>
          <p:spPr>
            <a:xfrm>
              <a:off x="394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81"/>
            <p:cNvSpPr txBox="1"/>
            <p:nvPr/>
          </p:nvSpPr>
          <p:spPr>
            <a:xfrm>
              <a:off x="392" y="31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1564" name="Google Shape;1564;p81"/>
            <p:cNvSpPr txBox="1"/>
            <p:nvPr/>
          </p:nvSpPr>
          <p:spPr>
            <a:xfrm>
              <a:off x="376" y="19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565" name="Google Shape;1565;p81"/>
            <p:cNvSpPr/>
            <p:nvPr/>
          </p:nvSpPr>
          <p:spPr>
            <a:xfrm>
              <a:off x="1324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81"/>
            <p:cNvSpPr/>
            <p:nvPr/>
          </p:nvSpPr>
          <p:spPr>
            <a:xfrm>
              <a:off x="1330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81"/>
            <p:cNvSpPr txBox="1"/>
            <p:nvPr/>
          </p:nvSpPr>
          <p:spPr>
            <a:xfrm>
              <a:off x="1296" y="31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568" name="Google Shape;1568;p81"/>
            <p:cNvSpPr txBox="1"/>
            <p:nvPr/>
          </p:nvSpPr>
          <p:spPr>
            <a:xfrm>
              <a:off x="1312" y="19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1569" name="Google Shape;1569;p81"/>
            <p:cNvCxnSpPr/>
            <p:nvPr/>
          </p:nvCxnSpPr>
          <p:spPr>
            <a:xfrm>
              <a:off x="451" y="2241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70" name="Google Shape;1570;p81"/>
            <p:cNvCxnSpPr/>
            <p:nvPr/>
          </p:nvCxnSpPr>
          <p:spPr>
            <a:xfrm flipH="1">
              <a:off x="42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71" name="Google Shape;1571;p81"/>
            <p:cNvCxnSpPr/>
            <p:nvPr/>
          </p:nvCxnSpPr>
          <p:spPr>
            <a:xfrm>
              <a:off x="434" y="3168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72" name="Google Shape;1572;p81"/>
            <p:cNvCxnSpPr/>
            <p:nvPr/>
          </p:nvCxnSpPr>
          <p:spPr>
            <a:xfrm>
              <a:off x="42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73" name="Google Shape;1573;p81"/>
            <p:cNvSpPr/>
            <p:nvPr/>
          </p:nvSpPr>
          <p:spPr>
            <a:xfrm>
              <a:off x="840" y="2672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4" name="Google Shape;1574;p81"/>
          <p:cNvGrpSpPr/>
          <p:nvPr/>
        </p:nvGrpSpPr>
        <p:grpSpPr>
          <a:xfrm>
            <a:off x="3124200" y="2590800"/>
            <a:ext cx="1778000" cy="2286000"/>
            <a:chOff x="2056" y="1968"/>
            <a:chExt cx="1120" cy="1440"/>
          </a:xfrm>
        </p:grpSpPr>
        <p:sp>
          <p:nvSpPr>
            <p:cNvPr id="1575" name="Google Shape;1575;p81"/>
            <p:cNvSpPr txBox="1"/>
            <p:nvPr/>
          </p:nvSpPr>
          <p:spPr>
            <a:xfrm>
              <a:off x="2680" y="2592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576" name="Google Shape;1576;p81"/>
            <p:cNvSpPr/>
            <p:nvPr/>
          </p:nvSpPr>
          <p:spPr>
            <a:xfrm>
              <a:off x="2068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81"/>
            <p:cNvSpPr/>
            <p:nvPr/>
          </p:nvSpPr>
          <p:spPr>
            <a:xfrm>
              <a:off x="2074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8" name="Google Shape;1578;p81"/>
            <p:cNvCxnSpPr/>
            <p:nvPr/>
          </p:nvCxnSpPr>
          <p:spPr>
            <a:xfrm rot="5400000">
              <a:off x="1645" y="2709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79" name="Google Shape;1579;p81"/>
            <p:cNvSpPr txBox="1"/>
            <p:nvPr/>
          </p:nvSpPr>
          <p:spPr>
            <a:xfrm>
              <a:off x="2072" y="31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1580" name="Google Shape;1580;p81"/>
            <p:cNvSpPr txBox="1"/>
            <p:nvPr/>
          </p:nvSpPr>
          <p:spPr>
            <a:xfrm>
              <a:off x="2056" y="19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581" name="Google Shape;1581;p81"/>
            <p:cNvSpPr/>
            <p:nvPr/>
          </p:nvSpPr>
          <p:spPr>
            <a:xfrm>
              <a:off x="3004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81"/>
            <p:cNvSpPr/>
            <p:nvPr/>
          </p:nvSpPr>
          <p:spPr>
            <a:xfrm>
              <a:off x="3010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3" name="Google Shape;1583;p81"/>
            <p:cNvCxnSpPr/>
            <p:nvPr/>
          </p:nvCxnSpPr>
          <p:spPr>
            <a:xfrm rot="5400000">
              <a:off x="2581" y="2709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84" name="Google Shape;1584;p81"/>
            <p:cNvSpPr txBox="1"/>
            <p:nvPr/>
          </p:nvSpPr>
          <p:spPr>
            <a:xfrm>
              <a:off x="2984" y="31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585" name="Google Shape;1585;p81"/>
            <p:cNvSpPr txBox="1"/>
            <p:nvPr/>
          </p:nvSpPr>
          <p:spPr>
            <a:xfrm>
              <a:off x="2992" y="19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1586" name="Google Shape;1586;p81"/>
            <p:cNvCxnSpPr/>
            <p:nvPr/>
          </p:nvCxnSpPr>
          <p:spPr>
            <a:xfrm>
              <a:off x="2131" y="2241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87" name="Google Shape;1587;p81"/>
            <p:cNvCxnSpPr/>
            <p:nvPr/>
          </p:nvCxnSpPr>
          <p:spPr>
            <a:xfrm flipH="1">
              <a:off x="210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88" name="Google Shape;1588;p81"/>
            <p:cNvCxnSpPr/>
            <p:nvPr/>
          </p:nvCxnSpPr>
          <p:spPr>
            <a:xfrm>
              <a:off x="2114" y="3168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89" name="Google Shape;1589;p81"/>
            <p:cNvCxnSpPr/>
            <p:nvPr/>
          </p:nvCxnSpPr>
          <p:spPr>
            <a:xfrm>
              <a:off x="210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90" name="Google Shape;1590;p81"/>
            <p:cNvSpPr/>
            <p:nvPr/>
          </p:nvSpPr>
          <p:spPr>
            <a:xfrm>
              <a:off x="2520" y="2672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1" name="Google Shape;1591;p81"/>
          <p:cNvGrpSpPr/>
          <p:nvPr/>
        </p:nvGrpSpPr>
        <p:grpSpPr>
          <a:xfrm>
            <a:off x="5638800" y="2590800"/>
            <a:ext cx="3136900" cy="2286000"/>
            <a:chOff x="3736" y="1968"/>
            <a:chExt cx="1976" cy="1440"/>
          </a:xfrm>
        </p:grpSpPr>
        <p:sp>
          <p:nvSpPr>
            <p:cNvPr id="1592" name="Google Shape;1592;p81"/>
            <p:cNvSpPr txBox="1"/>
            <p:nvPr/>
          </p:nvSpPr>
          <p:spPr>
            <a:xfrm>
              <a:off x="5528" y="313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593" name="Google Shape;1593;p81"/>
            <p:cNvSpPr/>
            <p:nvPr/>
          </p:nvSpPr>
          <p:spPr>
            <a:xfrm>
              <a:off x="3748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81"/>
            <p:cNvSpPr/>
            <p:nvPr/>
          </p:nvSpPr>
          <p:spPr>
            <a:xfrm>
              <a:off x="3754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5" name="Google Shape;1595;p81"/>
            <p:cNvCxnSpPr/>
            <p:nvPr/>
          </p:nvCxnSpPr>
          <p:spPr>
            <a:xfrm rot="5400000">
              <a:off x="3325" y="2709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96" name="Google Shape;1596;p81"/>
            <p:cNvSpPr txBox="1"/>
            <p:nvPr/>
          </p:nvSpPr>
          <p:spPr>
            <a:xfrm>
              <a:off x="3752" y="31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597" name="Google Shape;1597;p81"/>
            <p:cNvSpPr txBox="1"/>
            <p:nvPr/>
          </p:nvSpPr>
          <p:spPr>
            <a:xfrm>
              <a:off x="3736" y="19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598" name="Google Shape;1598;p81"/>
            <p:cNvSpPr/>
            <p:nvPr/>
          </p:nvSpPr>
          <p:spPr>
            <a:xfrm>
              <a:off x="4684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81"/>
            <p:cNvSpPr/>
            <p:nvPr/>
          </p:nvSpPr>
          <p:spPr>
            <a:xfrm>
              <a:off x="4690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0" name="Google Shape;1600;p81"/>
            <p:cNvCxnSpPr/>
            <p:nvPr/>
          </p:nvCxnSpPr>
          <p:spPr>
            <a:xfrm rot="5400000">
              <a:off x="4261" y="2709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01" name="Google Shape;1601;p81"/>
            <p:cNvSpPr txBox="1"/>
            <p:nvPr/>
          </p:nvSpPr>
          <p:spPr>
            <a:xfrm>
              <a:off x="4664" y="31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1602" name="Google Shape;1602;p81"/>
            <p:cNvSpPr txBox="1"/>
            <p:nvPr/>
          </p:nvSpPr>
          <p:spPr>
            <a:xfrm>
              <a:off x="4672" y="19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1603" name="Google Shape;1603;p81"/>
            <p:cNvCxnSpPr/>
            <p:nvPr/>
          </p:nvCxnSpPr>
          <p:spPr>
            <a:xfrm>
              <a:off x="3811" y="2241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04" name="Google Shape;1604;p81"/>
            <p:cNvCxnSpPr/>
            <p:nvPr/>
          </p:nvCxnSpPr>
          <p:spPr>
            <a:xfrm>
              <a:off x="3794" y="3168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05" name="Google Shape;1605;p81"/>
            <p:cNvCxnSpPr/>
            <p:nvPr/>
          </p:nvCxnSpPr>
          <p:spPr>
            <a:xfrm>
              <a:off x="378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06" name="Google Shape;1606;p81"/>
            <p:cNvSpPr/>
            <p:nvPr/>
          </p:nvSpPr>
          <p:spPr>
            <a:xfrm>
              <a:off x="5616" y="3120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7" name="Google Shape;1607;p81"/>
            <p:cNvCxnSpPr/>
            <p:nvPr/>
          </p:nvCxnSpPr>
          <p:spPr>
            <a:xfrm>
              <a:off x="4752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08" name="Google Shape;1608;p81"/>
            <p:cNvCxnSpPr/>
            <p:nvPr/>
          </p:nvCxnSpPr>
          <p:spPr>
            <a:xfrm>
              <a:off x="4738" y="3168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609" name="Google Shape;1609;p81"/>
          <p:cNvSpPr txBox="1"/>
          <p:nvPr/>
        </p:nvSpPr>
        <p:spPr>
          <a:xfrm>
            <a:off x="228600" y="5181600"/>
            <a:ext cx="8534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		     no 			no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 e, c, d, e, b, a)</a:t>
            </a:r>
            <a:endParaRPr/>
          </a:p>
        </p:txBody>
      </p:sp>
    </p:spTree>
  </p:cSld>
  <p:clrMapOvr>
    <a:masterClrMapping/>
  </p:clrMapOvr>
  <p:transition spd="slow">
    <p:rand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8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615" name="Google Shape;1615;p82"/>
          <p:cNvSpPr txBox="1">
            <a:spLocks noGrp="1"/>
          </p:cNvSpPr>
          <p:nvPr>
            <p:ph type="body" idx="1"/>
          </p:nvPr>
        </p:nvSpPr>
        <p:spPr>
          <a:xfrm>
            <a:off x="152400" y="1219200"/>
            <a:ext cx="8229600" cy="108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graphs has an Euler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grpSp>
        <p:nvGrpSpPr>
          <p:cNvPr id="1616" name="Google Shape;1616;p82"/>
          <p:cNvGrpSpPr/>
          <p:nvPr/>
        </p:nvGrpSpPr>
        <p:grpSpPr>
          <a:xfrm>
            <a:off x="609600" y="2590800"/>
            <a:ext cx="1778000" cy="2286000"/>
            <a:chOff x="376" y="1968"/>
            <a:chExt cx="1120" cy="1440"/>
          </a:xfrm>
        </p:grpSpPr>
        <p:sp>
          <p:nvSpPr>
            <p:cNvPr id="1617" name="Google Shape;1617;p82"/>
            <p:cNvSpPr txBox="1"/>
            <p:nvPr/>
          </p:nvSpPr>
          <p:spPr>
            <a:xfrm>
              <a:off x="1000" y="2592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618" name="Google Shape;1618;p82"/>
            <p:cNvSpPr/>
            <p:nvPr/>
          </p:nvSpPr>
          <p:spPr>
            <a:xfrm>
              <a:off x="388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82"/>
            <p:cNvSpPr/>
            <p:nvPr/>
          </p:nvSpPr>
          <p:spPr>
            <a:xfrm>
              <a:off x="394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82"/>
            <p:cNvSpPr txBox="1"/>
            <p:nvPr/>
          </p:nvSpPr>
          <p:spPr>
            <a:xfrm>
              <a:off x="392" y="31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1621" name="Google Shape;1621;p82"/>
            <p:cNvSpPr txBox="1"/>
            <p:nvPr/>
          </p:nvSpPr>
          <p:spPr>
            <a:xfrm>
              <a:off x="376" y="19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622" name="Google Shape;1622;p82"/>
            <p:cNvSpPr/>
            <p:nvPr/>
          </p:nvSpPr>
          <p:spPr>
            <a:xfrm>
              <a:off x="1324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82"/>
            <p:cNvSpPr/>
            <p:nvPr/>
          </p:nvSpPr>
          <p:spPr>
            <a:xfrm>
              <a:off x="1330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82"/>
            <p:cNvSpPr txBox="1"/>
            <p:nvPr/>
          </p:nvSpPr>
          <p:spPr>
            <a:xfrm>
              <a:off x="1296" y="31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625" name="Google Shape;1625;p82"/>
            <p:cNvSpPr txBox="1"/>
            <p:nvPr/>
          </p:nvSpPr>
          <p:spPr>
            <a:xfrm>
              <a:off x="1312" y="19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1626" name="Google Shape;1626;p82"/>
            <p:cNvCxnSpPr/>
            <p:nvPr/>
          </p:nvCxnSpPr>
          <p:spPr>
            <a:xfrm>
              <a:off x="451" y="2241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27" name="Google Shape;1627;p82"/>
            <p:cNvCxnSpPr/>
            <p:nvPr/>
          </p:nvCxnSpPr>
          <p:spPr>
            <a:xfrm flipH="1">
              <a:off x="42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28" name="Google Shape;1628;p82"/>
            <p:cNvCxnSpPr/>
            <p:nvPr/>
          </p:nvCxnSpPr>
          <p:spPr>
            <a:xfrm>
              <a:off x="434" y="3168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29" name="Google Shape;1629;p82"/>
            <p:cNvCxnSpPr/>
            <p:nvPr/>
          </p:nvCxnSpPr>
          <p:spPr>
            <a:xfrm>
              <a:off x="42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30" name="Google Shape;1630;p82"/>
            <p:cNvSpPr/>
            <p:nvPr/>
          </p:nvSpPr>
          <p:spPr>
            <a:xfrm>
              <a:off x="840" y="2672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1" name="Google Shape;1631;p82"/>
          <p:cNvGrpSpPr/>
          <p:nvPr/>
        </p:nvGrpSpPr>
        <p:grpSpPr>
          <a:xfrm>
            <a:off x="3124200" y="2590800"/>
            <a:ext cx="1778000" cy="2286000"/>
            <a:chOff x="2056" y="1968"/>
            <a:chExt cx="1120" cy="1440"/>
          </a:xfrm>
        </p:grpSpPr>
        <p:sp>
          <p:nvSpPr>
            <p:cNvPr id="1632" name="Google Shape;1632;p82"/>
            <p:cNvSpPr txBox="1"/>
            <p:nvPr/>
          </p:nvSpPr>
          <p:spPr>
            <a:xfrm>
              <a:off x="2680" y="2592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633" name="Google Shape;1633;p82"/>
            <p:cNvSpPr/>
            <p:nvPr/>
          </p:nvSpPr>
          <p:spPr>
            <a:xfrm>
              <a:off x="2068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82"/>
            <p:cNvSpPr/>
            <p:nvPr/>
          </p:nvSpPr>
          <p:spPr>
            <a:xfrm>
              <a:off x="2074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5" name="Google Shape;1635;p82"/>
            <p:cNvCxnSpPr/>
            <p:nvPr/>
          </p:nvCxnSpPr>
          <p:spPr>
            <a:xfrm rot="5400000">
              <a:off x="1645" y="2709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36" name="Google Shape;1636;p82"/>
            <p:cNvSpPr txBox="1"/>
            <p:nvPr/>
          </p:nvSpPr>
          <p:spPr>
            <a:xfrm>
              <a:off x="2072" y="31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1637" name="Google Shape;1637;p82"/>
            <p:cNvSpPr txBox="1"/>
            <p:nvPr/>
          </p:nvSpPr>
          <p:spPr>
            <a:xfrm>
              <a:off x="2056" y="19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638" name="Google Shape;1638;p82"/>
            <p:cNvSpPr/>
            <p:nvPr/>
          </p:nvSpPr>
          <p:spPr>
            <a:xfrm>
              <a:off x="3004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82"/>
            <p:cNvSpPr/>
            <p:nvPr/>
          </p:nvSpPr>
          <p:spPr>
            <a:xfrm>
              <a:off x="3010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0" name="Google Shape;1640;p82"/>
            <p:cNvCxnSpPr/>
            <p:nvPr/>
          </p:nvCxnSpPr>
          <p:spPr>
            <a:xfrm rot="5400000">
              <a:off x="2581" y="2709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41" name="Google Shape;1641;p82"/>
            <p:cNvSpPr txBox="1"/>
            <p:nvPr/>
          </p:nvSpPr>
          <p:spPr>
            <a:xfrm>
              <a:off x="2984" y="31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642" name="Google Shape;1642;p82"/>
            <p:cNvSpPr txBox="1"/>
            <p:nvPr/>
          </p:nvSpPr>
          <p:spPr>
            <a:xfrm>
              <a:off x="2992" y="19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1643" name="Google Shape;1643;p82"/>
            <p:cNvCxnSpPr/>
            <p:nvPr/>
          </p:nvCxnSpPr>
          <p:spPr>
            <a:xfrm>
              <a:off x="2131" y="2241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44" name="Google Shape;1644;p82"/>
            <p:cNvCxnSpPr/>
            <p:nvPr/>
          </p:nvCxnSpPr>
          <p:spPr>
            <a:xfrm flipH="1">
              <a:off x="210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45" name="Google Shape;1645;p82"/>
            <p:cNvCxnSpPr/>
            <p:nvPr/>
          </p:nvCxnSpPr>
          <p:spPr>
            <a:xfrm>
              <a:off x="2114" y="3168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46" name="Google Shape;1646;p82"/>
            <p:cNvCxnSpPr/>
            <p:nvPr/>
          </p:nvCxnSpPr>
          <p:spPr>
            <a:xfrm>
              <a:off x="210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47" name="Google Shape;1647;p82"/>
            <p:cNvSpPr/>
            <p:nvPr/>
          </p:nvSpPr>
          <p:spPr>
            <a:xfrm>
              <a:off x="2520" y="2672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8" name="Google Shape;1648;p82"/>
          <p:cNvGrpSpPr/>
          <p:nvPr/>
        </p:nvGrpSpPr>
        <p:grpSpPr>
          <a:xfrm>
            <a:off x="5638800" y="2590800"/>
            <a:ext cx="3136900" cy="2286000"/>
            <a:chOff x="3736" y="1968"/>
            <a:chExt cx="1976" cy="1440"/>
          </a:xfrm>
        </p:grpSpPr>
        <p:sp>
          <p:nvSpPr>
            <p:cNvPr id="1649" name="Google Shape;1649;p82"/>
            <p:cNvSpPr txBox="1"/>
            <p:nvPr/>
          </p:nvSpPr>
          <p:spPr>
            <a:xfrm>
              <a:off x="5528" y="3130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1650" name="Google Shape;1650;p82"/>
            <p:cNvSpPr/>
            <p:nvPr/>
          </p:nvSpPr>
          <p:spPr>
            <a:xfrm>
              <a:off x="3748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82"/>
            <p:cNvSpPr/>
            <p:nvPr/>
          </p:nvSpPr>
          <p:spPr>
            <a:xfrm>
              <a:off x="3754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2" name="Google Shape;1652;p82"/>
            <p:cNvCxnSpPr/>
            <p:nvPr/>
          </p:nvCxnSpPr>
          <p:spPr>
            <a:xfrm rot="5400000">
              <a:off x="3325" y="2709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53" name="Google Shape;1653;p82"/>
            <p:cNvSpPr txBox="1"/>
            <p:nvPr/>
          </p:nvSpPr>
          <p:spPr>
            <a:xfrm>
              <a:off x="3752" y="31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1654" name="Google Shape;1654;p82"/>
            <p:cNvSpPr txBox="1"/>
            <p:nvPr/>
          </p:nvSpPr>
          <p:spPr>
            <a:xfrm>
              <a:off x="3736" y="196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1655" name="Google Shape;1655;p82"/>
            <p:cNvSpPr/>
            <p:nvPr/>
          </p:nvSpPr>
          <p:spPr>
            <a:xfrm>
              <a:off x="4684" y="2206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82"/>
            <p:cNvSpPr/>
            <p:nvPr/>
          </p:nvSpPr>
          <p:spPr>
            <a:xfrm>
              <a:off x="4690" y="3138"/>
              <a:ext cx="64" cy="64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7" name="Google Shape;1657;p82"/>
            <p:cNvCxnSpPr/>
            <p:nvPr/>
          </p:nvCxnSpPr>
          <p:spPr>
            <a:xfrm rot="5400000">
              <a:off x="4261" y="2709"/>
              <a:ext cx="925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58" name="Google Shape;1658;p82"/>
            <p:cNvSpPr txBox="1"/>
            <p:nvPr/>
          </p:nvSpPr>
          <p:spPr>
            <a:xfrm>
              <a:off x="4664" y="31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1659" name="Google Shape;1659;p82"/>
            <p:cNvSpPr txBox="1"/>
            <p:nvPr/>
          </p:nvSpPr>
          <p:spPr>
            <a:xfrm>
              <a:off x="4672" y="1978"/>
              <a:ext cx="184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cxnSp>
          <p:nvCxnSpPr>
            <p:cNvPr id="1660" name="Google Shape;1660;p82"/>
            <p:cNvCxnSpPr/>
            <p:nvPr/>
          </p:nvCxnSpPr>
          <p:spPr>
            <a:xfrm>
              <a:off x="3811" y="2241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61" name="Google Shape;1661;p82"/>
            <p:cNvCxnSpPr/>
            <p:nvPr/>
          </p:nvCxnSpPr>
          <p:spPr>
            <a:xfrm>
              <a:off x="3794" y="3168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62" name="Google Shape;1662;p82"/>
            <p:cNvCxnSpPr/>
            <p:nvPr/>
          </p:nvCxnSpPr>
          <p:spPr>
            <a:xfrm>
              <a:off x="3784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63" name="Google Shape;1663;p82"/>
            <p:cNvSpPr/>
            <p:nvPr/>
          </p:nvSpPr>
          <p:spPr>
            <a:xfrm>
              <a:off x="5616" y="3120"/>
              <a:ext cx="69" cy="69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4" name="Google Shape;1664;p82"/>
            <p:cNvCxnSpPr/>
            <p:nvPr/>
          </p:nvCxnSpPr>
          <p:spPr>
            <a:xfrm>
              <a:off x="4752" y="2256"/>
              <a:ext cx="912" cy="91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65" name="Google Shape;1665;p82"/>
            <p:cNvCxnSpPr/>
            <p:nvPr/>
          </p:nvCxnSpPr>
          <p:spPr>
            <a:xfrm>
              <a:off x="4738" y="3168"/>
              <a:ext cx="926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666" name="Google Shape;1666;p82"/>
          <p:cNvSpPr txBox="1"/>
          <p:nvPr/>
        </p:nvSpPr>
        <p:spPr>
          <a:xfrm>
            <a:off x="381000" y="5181600"/>
            <a:ext cx="8382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yes		    no				yes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 e, c, d, e, b, a )	         (a, c, d, e, b, d, a, b)</a:t>
            </a:r>
            <a:endParaRPr/>
          </a:p>
        </p:txBody>
      </p:sp>
    </p:spTree>
  </p:cSld>
  <p:clrMapOvr>
    <a:masterClrMapping/>
  </p:clrMapOvr>
  <p:transition spd="slow">
    <p:rand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8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Circuit in</a:t>
            </a: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Graphs</a:t>
            </a:r>
            <a:endParaRPr/>
          </a:p>
        </p:txBody>
      </p:sp>
      <p:pic>
        <p:nvPicPr>
          <p:cNvPr id="1672" name="Google Shape;1672;p83" descr="09_5_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219200"/>
            <a:ext cx="8305800" cy="4119562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83"/>
          <p:cNvSpPr txBox="1"/>
          <p:nvPr/>
        </p:nvSpPr>
        <p:spPr>
          <a:xfrm>
            <a:off x="228600" y="5410200"/>
            <a:ext cx="83820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NO		(a, g, c, b, g, e, d, f, a)		NO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8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Path in</a:t>
            </a: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Graphs</a:t>
            </a:r>
            <a:endParaRPr/>
          </a:p>
        </p:txBody>
      </p:sp>
      <p:pic>
        <p:nvPicPr>
          <p:cNvPr id="1679" name="Google Shape;1679;p84" descr="09_5_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219200"/>
            <a:ext cx="8305800" cy="41195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84"/>
          <p:cNvSpPr txBox="1"/>
          <p:nvPr/>
        </p:nvSpPr>
        <p:spPr>
          <a:xfrm>
            <a:off x="228600" y="5410200"/>
            <a:ext cx="8763000" cy="11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NO	      (a, g, c, b, g, e, d, f, a)          (c, a, b, c, d, b)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85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Paths and Circuits</a:t>
            </a:r>
            <a:endParaRPr/>
          </a:p>
        </p:txBody>
      </p:sp>
      <p:sp>
        <p:nvSpPr>
          <p:cNvPr id="1686" name="Google Shape;1686;p85"/>
          <p:cNvSpPr txBox="1">
            <a:spLocks noGrp="1"/>
          </p:cNvSpPr>
          <p:nvPr>
            <p:ph type="body" idx="1"/>
          </p:nvPr>
        </p:nvSpPr>
        <p:spPr>
          <a:xfrm>
            <a:off x="228600" y="1524000"/>
            <a:ext cx="8686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path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graph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path which visits every vertex in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exactly once.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circuit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Hamilton path that returns to its start.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8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Circuits</a:t>
            </a:r>
            <a:endParaRPr/>
          </a:p>
        </p:txBody>
      </p:sp>
      <p:sp>
        <p:nvSpPr>
          <p:cNvPr id="1692" name="Google Shape;1692;p86"/>
          <p:cNvSpPr txBox="1">
            <a:spLocks noGrp="1"/>
          </p:cNvSpPr>
          <p:nvPr>
            <p:ph type="body" idx="1"/>
          </p:nvPr>
        </p:nvSpPr>
        <p:spPr>
          <a:xfrm>
            <a:off x="381000" y="58674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there a circuit in this graph that passes through each vertex exactly once?</a:t>
            </a:r>
            <a:endParaRPr/>
          </a:p>
        </p:txBody>
      </p:sp>
      <p:pic>
        <p:nvPicPr>
          <p:cNvPr id="1693" name="Google Shape;1693;p86" descr="09_5_0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295400"/>
            <a:ext cx="8305800" cy="4329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8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Circuits</a:t>
            </a:r>
            <a:endParaRPr/>
          </a:p>
        </p:txBody>
      </p:sp>
      <p:sp>
        <p:nvSpPr>
          <p:cNvPr id="1699" name="Google Shape;1699;p87"/>
          <p:cNvSpPr txBox="1">
            <a:spLocks noGrp="1"/>
          </p:cNvSpPr>
          <p:nvPr>
            <p:ph type="body" idx="1"/>
          </p:nvPr>
        </p:nvSpPr>
        <p:spPr>
          <a:xfrm>
            <a:off x="381000" y="58674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Yes; this is a circuit that passes through each vertex exactly once.</a:t>
            </a:r>
            <a:endParaRPr/>
          </a:p>
        </p:txBody>
      </p:sp>
      <p:pic>
        <p:nvPicPr>
          <p:cNvPr id="1700" name="Google Shape;1700;p87" descr="09_5_0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219200"/>
            <a:ext cx="6629400" cy="44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8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Hamilton Circuits</a:t>
            </a:r>
            <a:endParaRPr/>
          </a:p>
        </p:txBody>
      </p:sp>
      <p:pic>
        <p:nvPicPr>
          <p:cNvPr id="1706" name="Google Shape;1706;p88" descr="09_5_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600200"/>
            <a:ext cx="8534400" cy="2944812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88"/>
          <p:cNvSpPr txBox="1"/>
          <p:nvPr/>
        </p:nvSpPr>
        <p:spPr>
          <a:xfrm>
            <a:off x="381000" y="4953000"/>
            <a:ext cx="82296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these three figures has a Hamilton circuit?  Of, if no Hamilton circuit, a Hamilton path?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8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Hamilton Circuits</a:t>
            </a:r>
            <a:endParaRPr/>
          </a:p>
        </p:txBody>
      </p:sp>
      <p:pic>
        <p:nvPicPr>
          <p:cNvPr id="1713" name="Google Shape;1713;p89" descr="09_5_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600200"/>
            <a:ext cx="8534400" cy="2944812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89"/>
          <p:cNvSpPr txBox="1"/>
          <p:nvPr/>
        </p:nvSpPr>
        <p:spPr>
          <a:xfrm>
            <a:off x="381000" y="4724400"/>
            <a:ext cx="8229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G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a Hamilton circuit: a, b, c, d, e, a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G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does not have a Hamilton circuit, but does have a Hamilton path: a, b, c, d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G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neither.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90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868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Hamilton Circuits</a:t>
            </a:r>
            <a:endParaRPr/>
          </a:p>
        </p:txBody>
      </p:sp>
      <p:sp>
        <p:nvSpPr>
          <p:cNvPr id="1720" name="Google Shape;1720;p9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4582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the Euler circuit problem, finding Hamilton circuits is hard.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simple set of necessary and sufficient conditions, and no simple algorithm.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91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10600" cy="103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 to look for ...</a:t>
            </a:r>
            <a:endParaRPr/>
          </a:p>
        </p:txBody>
      </p:sp>
      <p:sp>
        <p:nvSpPr>
          <p:cNvPr id="1726" name="Google Shape;1726;p91"/>
          <p:cNvSpPr txBox="1">
            <a:spLocks noGrp="1"/>
          </p:cNvSpPr>
          <p:nvPr>
            <p:ph type="body" idx="1"/>
          </p:nvPr>
        </p:nvSpPr>
        <p:spPr>
          <a:xfrm>
            <a:off x="228600" y="1600200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vertex of degree 1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node has degree 2, then both edges incident to it must be in any Hamilton circuit.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smaller circuits contained in any Hamilton circuit (the start/endpoint of any smaller circuit would have to be visited twice).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9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763000" cy="1265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Sufficient Condition</a:t>
            </a:r>
            <a:endParaRPr/>
          </a:p>
        </p:txBody>
      </p:sp>
      <p:sp>
        <p:nvSpPr>
          <p:cNvPr id="1732" name="Google Shape;1732;p9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3820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a connected simple graph with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with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3.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a Hamilton circuit if the degree of each vertex is ≥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/2.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9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763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Travelling Salesman Problem</a:t>
            </a:r>
            <a:endParaRPr/>
          </a:p>
        </p:txBody>
      </p:sp>
      <p:sp>
        <p:nvSpPr>
          <p:cNvPr id="1738" name="Google Shape;1738;p93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Hamilton circuit or path may be used to solve practical problems that require visiting “vertices”, such as: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road intersections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pipeline crossings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communication network nodes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classic example is the Travelling Salesman Problem – finding a Hamilton circuit in a complete graph such that the total weight of its edges is minimal.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9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/>
          </a:p>
        </p:txBody>
      </p:sp>
      <p:graphicFrame>
        <p:nvGraphicFramePr>
          <p:cNvPr id="1744" name="Google Shape;1744;p94"/>
          <p:cNvGraphicFramePr/>
          <p:nvPr/>
        </p:nvGraphicFramePr>
        <p:xfrm>
          <a:off x="381000" y="1371600"/>
          <a:ext cx="8458175" cy="5029200"/>
        </p:xfrm>
        <a:graphic>
          <a:graphicData uri="http://schemas.openxmlformats.org/drawingml/2006/table">
            <a:tbl>
              <a:tblPr>
                <a:noFill/>
                <a:tableStyleId>{4E7F91D6-0CE9-4F42-9FCE-EE9CB4E48189}</a:tableStyleId>
              </a:tblPr>
              <a:tblGrid>
                <a:gridCol w="481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1" i="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Property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1" i="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Euler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1" i="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Hamilton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Repeated visits to a given node allowed?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Repeated traversals of a given edge allowed?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Omitted nodes allowed?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Omitted edges allowed?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9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103</a:t>
            </a:r>
            <a:br>
              <a:rPr lang="en-US" sz="32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Structures</a:t>
            </a:r>
            <a:endParaRPr/>
          </a:p>
        </p:txBody>
      </p:sp>
      <p:sp>
        <p:nvSpPr>
          <p:cNvPr id="1750" name="Google Shape;1750;p95"/>
          <p:cNvSpPr txBox="1">
            <a:spLocks noGrp="1"/>
          </p:cNvSpPr>
          <p:nvPr>
            <p:ph type="body" idx="1"/>
          </p:nvPr>
        </p:nvSpPr>
        <p:spPr>
          <a:xfrm>
            <a:off x="457200" y="20574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 Graphs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These class notes are based on material from our textbook,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and Its Applications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</a:t>
            </a:r>
            <a:r>
              <a:rPr lang="en-US" sz="28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ed., by Kenneth H. Rosen, published by McGraw Hill, Boston, MA, 2006.  They are intended for classroom use only and are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substitute for reading the textbook.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9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House-and-Utilities Problem</a:t>
            </a:r>
            <a:endParaRPr/>
          </a:p>
        </p:txBody>
      </p:sp>
      <p:pic>
        <p:nvPicPr>
          <p:cNvPr id="1756" name="Google Shape;1756;p96" descr="09_7_0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143000"/>
            <a:ext cx="6477000" cy="5421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rand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9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 Graphs</a:t>
            </a:r>
            <a:endParaRPr/>
          </a:p>
        </p:txBody>
      </p:sp>
      <p:sp>
        <p:nvSpPr>
          <p:cNvPr id="1762" name="Google Shape;1762;p97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previous slide.  Is it possible to join the three houses to the three utilities in such a way that none of the connections cross?</a:t>
            </a:r>
            <a:endParaRPr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9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 Graphs</a:t>
            </a:r>
            <a:endParaRPr/>
          </a:p>
        </p:txBody>
      </p:sp>
      <p:sp>
        <p:nvSpPr>
          <p:cNvPr id="1768" name="Google Shape;1768;p98"/>
          <p:cNvSpPr txBox="1">
            <a:spLocks noGrp="1"/>
          </p:cNvSpPr>
          <p:nvPr>
            <p:ph type="body" idx="1"/>
          </p:nvPr>
        </p:nvSpPr>
        <p:spPr>
          <a:xfrm>
            <a:off x="381000" y="1143000"/>
            <a:ext cx="8382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Phrased another way, this question is equivalent to: Given the complete bipartite graph 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can 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drawn in the plane so that no two of its edges cross?</a:t>
            </a:r>
            <a:endParaRPr/>
          </a:p>
        </p:txBody>
      </p:sp>
      <p:sp>
        <p:nvSpPr>
          <p:cNvPr id="1769" name="Google Shape;1769;p98"/>
          <p:cNvSpPr txBox="1"/>
          <p:nvPr/>
        </p:nvSpPr>
        <p:spPr>
          <a:xfrm>
            <a:off x="6096000" y="4495800"/>
            <a:ext cx="9906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endParaRPr/>
          </a:p>
        </p:txBody>
      </p:sp>
      <p:grpSp>
        <p:nvGrpSpPr>
          <p:cNvPr id="1770" name="Google Shape;1770;p98"/>
          <p:cNvGrpSpPr/>
          <p:nvPr/>
        </p:nvGrpSpPr>
        <p:grpSpPr>
          <a:xfrm>
            <a:off x="838200" y="3352800"/>
            <a:ext cx="4724400" cy="3124200"/>
            <a:chOff x="2198" y="3014"/>
            <a:chExt cx="1371" cy="863"/>
          </a:xfrm>
        </p:grpSpPr>
        <p:sp>
          <p:nvSpPr>
            <p:cNvPr id="1771" name="Google Shape;1771;p98"/>
            <p:cNvSpPr/>
            <p:nvPr/>
          </p:nvSpPr>
          <p:spPr>
            <a:xfrm>
              <a:off x="2198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2" name="Google Shape;1772;p98"/>
            <p:cNvCxnSpPr/>
            <p:nvPr/>
          </p:nvCxnSpPr>
          <p:spPr>
            <a:xfrm>
              <a:off x="2239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73" name="Google Shape;1773;p98"/>
            <p:cNvCxnSpPr/>
            <p:nvPr/>
          </p:nvCxnSpPr>
          <p:spPr>
            <a:xfrm>
              <a:off x="3541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74" name="Google Shape;1774;p98"/>
            <p:cNvCxnSpPr/>
            <p:nvPr/>
          </p:nvCxnSpPr>
          <p:spPr>
            <a:xfrm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75" name="Google Shape;1775;p98"/>
            <p:cNvCxnSpPr/>
            <p:nvPr/>
          </p:nvCxnSpPr>
          <p:spPr>
            <a:xfrm rot="10800000" flipH="1"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76" name="Google Shape;1776;p98"/>
            <p:cNvCxnSpPr/>
            <p:nvPr/>
          </p:nvCxnSpPr>
          <p:spPr>
            <a:xfrm>
              <a:off x="2890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77" name="Google Shape;1777;p98"/>
            <p:cNvCxnSpPr/>
            <p:nvPr/>
          </p:nvCxnSpPr>
          <p:spPr>
            <a:xfrm flipH="1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78" name="Google Shape;1778;p98"/>
            <p:cNvCxnSpPr/>
            <p:nvPr/>
          </p:nvCxnSpPr>
          <p:spPr>
            <a:xfrm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79" name="Google Shape;1779;p98"/>
            <p:cNvCxnSpPr/>
            <p:nvPr/>
          </p:nvCxnSpPr>
          <p:spPr>
            <a:xfrm rot="10800000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80" name="Google Shape;1780;p98"/>
            <p:cNvCxnSpPr/>
            <p:nvPr/>
          </p:nvCxnSpPr>
          <p:spPr>
            <a:xfrm rot="10800000" flipH="1"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81" name="Google Shape;1781;p98"/>
            <p:cNvSpPr/>
            <p:nvPr/>
          </p:nvSpPr>
          <p:spPr>
            <a:xfrm>
              <a:off x="2860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98"/>
            <p:cNvSpPr/>
            <p:nvPr/>
          </p:nvSpPr>
          <p:spPr>
            <a:xfrm>
              <a:off x="3494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98"/>
            <p:cNvSpPr/>
            <p:nvPr/>
          </p:nvSpPr>
          <p:spPr>
            <a:xfrm>
              <a:off x="2198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98"/>
            <p:cNvSpPr/>
            <p:nvPr/>
          </p:nvSpPr>
          <p:spPr>
            <a:xfrm>
              <a:off x="2860" y="379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98"/>
            <p:cNvSpPr/>
            <p:nvPr/>
          </p:nvSpPr>
          <p:spPr>
            <a:xfrm>
              <a:off x="3494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9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 Graphs</a:t>
            </a:r>
            <a:endParaRPr/>
          </a:p>
        </p:txBody>
      </p:sp>
      <p:sp>
        <p:nvSpPr>
          <p:cNvPr id="1791" name="Google Shape;1791;p9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graph is called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it can be drawn in the plane without any edges crossing.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crossing of edges is the intersection of the lines or arcs representing them at a point other than their common endpoint.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 </a:t>
            </a:r>
            <a:r>
              <a:rPr lang="en-US" sz="3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drawing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called 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 representation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graph.</a:t>
            </a:r>
            <a:endParaRPr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10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grpSp>
        <p:nvGrpSpPr>
          <p:cNvPr id="1797" name="Google Shape;1797;p100"/>
          <p:cNvGrpSpPr/>
          <p:nvPr/>
        </p:nvGrpSpPr>
        <p:grpSpPr>
          <a:xfrm>
            <a:off x="1447800" y="4419600"/>
            <a:ext cx="1447800" cy="1371600"/>
            <a:chOff x="1008" y="3264"/>
            <a:chExt cx="912" cy="864"/>
          </a:xfrm>
        </p:grpSpPr>
        <p:sp>
          <p:nvSpPr>
            <p:cNvPr id="1798" name="Google Shape;1798;p100"/>
            <p:cNvSpPr txBox="1"/>
            <p:nvPr/>
          </p:nvSpPr>
          <p:spPr>
            <a:xfrm>
              <a:off x="1056" y="3312"/>
              <a:ext cx="816" cy="768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99" name="Google Shape;1799;p100"/>
            <p:cNvCxnSpPr/>
            <p:nvPr/>
          </p:nvCxnSpPr>
          <p:spPr>
            <a:xfrm>
              <a:off x="1056" y="3312"/>
              <a:ext cx="816" cy="7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00" name="Google Shape;1800;p100"/>
            <p:cNvCxnSpPr/>
            <p:nvPr/>
          </p:nvCxnSpPr>
          <p:spPr>
            <a:xfrm rot="10800000" flipH="1">
              <a:off x="1056" y="3312"/>
              <a:ext cx="816" cy="7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01" name="Google Shape;1801;p100"/>
            <p:cNvSpPr/>
            <p:nvPr/>
          </p:nvSpPr>
          <p:spPr>
            <a:xfrm>
              <a:off x="1008" y="3264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00"/>
            <p:cNvSpPr/>
            <p:nvPr/>
          </p:nvSpPr>
          <p:spPr>
            <a:xfrm>
              <a:off x="1008" y="4032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00"/>
            <p:cNvSpPr/>
            <p:nvPr/>
          </p:nvSpPr>
          <p:spPr>
            <a:xfrm>
              <a:off x="1824" y="4032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00"/>
            <p:cNvSpPr/>
            <p:nvPr/>
          </p:nvSpPr>
          <p:spPr>
            <a:xfrm>
              <a:off x="1824" y="3264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5" name="Google Shape;1805;p100"/>
          <p:cNvGrpSpPr/>
          <p:nvPr/>
        </p:nvGrpSpPr>
        <p:grpSpPr>
          <a:xfrm>
            <a:off x="5041900" y="4064000"/>
            <a:ext cx="2197100" cy="1727200"/>
            <a:chOff x="3272" y="3040"/>
            <a:chExt cx="1384" cy="1088"/>
          </a:xfrm>
        </p:grpSpPr>
        <p:sp>
          <p:nvSpPr>
            <p:cNvPr id="1806" name="Google Shape;1806;p100"/>
            <p:cNvSpPr txBox="1"/>
            <p:nvPr/>
          </p:nvSpPr>
          <p:spPr>
            <a:xfrm>
              <a:off x="3792" y="3312"/>
              <a:ext cx="816" cy="768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7" name="Google Shape;1807;p100"/>
            <p:cNvCxnSpPr/>
            <p:nvPr/>
          </p:nvCxnSpPr>
          <p:spPr>
            <a:xfrm>
              <a:off x="3792" y="3312"/>
              <a:ext cx="816" cy="7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08" name="Google Shape;1808;p100"/>
            <p:cNvSpPr/>
            <p:nvPr/>
          </p:nvSpPr>
          <p:spPr>
            <a:xfrm>
              <a:off x="3744" y="3264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00"/>
            <p:cNvSpPr/>
            <p:nvPr/>
          </p:nvSpPr>
          <p:spPr>
            <a:xfrm>
              <a:off x="3744" y="4032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00"/>
            <p:cNvSpPr/>
            <p:nvPr/>
          </p:nvSpPr>
          <p:spPr>
            <a:xfrm>
              <a:off x="4560" y="4032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00"/>
            <p:cNvSpPr/>
            <p:nvPr/>
          </p:nvSpPr>
          <p:spPr>
            <a:xfrm>
              <a:off x="4560" y="3264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00"/>
            <p:cNvSpPr/>
            <p:nvPr/>
          </p:nvSpPr>
          <p:spPr>
            <a:xfrm>
              <a:off x="3272" y="3040"/>
              <a:ext cx="1336" cy="1040"/>
            </a:xfrm>
            <a:custGeom>
              <a:avLst/>
              <a:gdLst/>
              <a:ahLst/>
              <a:cxnLst/>
              <a:rect l="l" t="t" r="r" b="b"/>
              <a:pathLst>
                <a:path w="1336" h="1040" extrusionOk="0">
                  <a:moveTo>
                    <a:pt x="1336" y="224"/>
                  </a:moveTo>
                  <a:cubicBezTo>
                    <a:pt x="1208" y="164"/>
                    <a:pt x="1080" y="104"/>
                    <a:pt x="904" y="80"/>
                  </a:cubicBezTo>
                  <a:cubicBezTo>
                    <a:pt x="728" y="56"/>
                    <a:pt x="424" y="0"/>
                    <a:pt x="280" y="80"/>
                  </a:cubicBezTo>
                  <a:cubicBezTo>
                    <a:pt x="136" y="160"/>
                    <a:pt x="0" y="400"/>
                    <a:pt x="40" y="560"/>
                  </a:cubicBezTo>
                  <a:cubicBezTo>
                    <a:pt x="80" y="720"/>
                    <a:pt x="300" y="880"/>
                    <a:pt x="520" y="104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3" name="Google Shape;1813;p100"/>
          <p:cNvSpPr/>
          <p:nvPr/>
        </p:nvSpPr>
        <p:spPr>
          <a:xfrm>
            <a:off x="3581400" y="4800600"/>
            <a:ext cx="838200" cy="68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00"/>
          <p:cNvSpPr txBox="1"/>
          <p:nvPr/>
        </p:nvSpPr>
        <p:spPr>
          <a:xfrm>
            <a:off x="304800" y="1371600"/>
            <a:ext cx="8458200" cy="228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graph may be planar even if it is usually drawn with crossings, since it may be possible to draw it in another way without crossings.</a:t>
            </a:r>
            <a:endParaRPr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0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pic>
        <p:nvPicPr>
          <p:cNvPr id="1820" name="Google Shape;1820;p101" descr="09_7_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3200400"/>
            <a:ext cx="3810000" cy="2290762"/>
          </a:xfrm>
          <a:prstGeom prst="rect">
            <a:avLst/>
          </a:prstGeom>
          <a:noFill/>
          <a:ln>
            <a:noFill/>
          </a:ln>
        </p:spPr>
      </p:pic>
      <p:sp>
        <p:nvSpPr>
          <p:cNvPr id="1821" name="Google Shape;1821;p101"/>
          <p:cNvSpPr/>
          <p:nvPr/>
        </p:nvSpPr>
        <p:spPr>
          <a:xfrm>
            <a:off x="3962400" y="3962400"/>
            <a:ext cx="838200" cy="68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101"/>
          <p:cNvSpPr txBox="1"/>
          <p:nvPr/>
        </p:nvSpPr>
        <p:spPr>
          <a:xfrm>
            <a:off x="381000" y="1371600"/>
            <a:ext cx="845820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graph may be planar even if it represents a  3-dimensional object.</a:t>
            </a:r>
            <a:endParaRPr/>
          </a:p>
        </p:txBody>
      </p:sp>
      <p:pic>
        <p:nvPicPr>
          <p:cNvPr id="1823" name="Google Shape;1823;p101" descr="09_7_0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5181600" y="3124200"/>
            <a:ext cx="396240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10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 Graphs</a:t>
            </a:r>
            <a:endParaRPr/>
          </a:p>
        </p:txBody>
      </p:sp>
      <p:sp>
        <p:nvSpPr>
          <p:cNvPr id="1829" name="Google Shape;1829;p102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prove that a particular graph is planar by showing how it can be drawn without any crossings.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not all graphs are planar.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may be difficult to show that a graph is nonplanar.  We would have to show that there is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way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draw the graph without any edges crossing.</a:t>
            </a:r>
            <a:endParaRPr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10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</a:t>
            </a:r>
            <a:endParaRPr/>
          </a:p>
        </p:txBody>
      </p:sp>
      <p:sp>
        <p:nvSpPr>
          <p:cNvPr id="1835" name="Google Shape;1835;p103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86106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showed that all planar representations of a graph split the plane into the same number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including an unbounded region.</a:t>
            </a:r>
            <a:endParaRPr/>
          </a:p>
        </p:txBody>
      </p:sp>
      <p:grpSp>
        <p:nvGrpSpPr>
          <p:cNvPr id="1836" name="Google Shape;1836;p103"/>
          <p:cNvGrpSpPr/>
          <p:nvPr/>
        </p:nvGrpSpPr>
        <p:grpSpPr>
          <a:xfrm>
            <a:off x="2133600" y="3429000"/>
            <a:ext cx="3521075" cy="2565400"/>
            <a:chOff x="1046" y="2704"/>
            <a:chExt cx="1690" cy="1088"/>
          </a:xfrm>
        </p:grpSpPr>
        <p:sp>
          <p:nvSpPr>
            <p:cNvPr id="1837" name="Google Shape;1837;p103"/>
            <p:cNvSpPr txBox="1"/>
            <p:nvPr/>
          </p:nvSpPr>
          <p:spPr>
            <a:xfrm>
              <a:off x="1872" y="2976"/>
              <a:ext cx="816" cy="768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8" name="Google Shape;1838;p103"/>
            <p:cNvCxnSpPr/>
            <p:nvPr/>
          </p:nvCxnSpPr>
          <p:spPr>
            <a:xfrm>
              <a:off x="1872" y="2976"/>
              <a:ext cx="816" cy="7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39" name="Google Shape;1839;p103"/>
            <p:cNvSpPr/>
            <p:nvPr/>
          </p:nvSpPr>
          <p:spPr>
            <a:xfrm>
              <a:off x="1824" y="2928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03"/>
            <p:cNvSpPr/>
            <p:nvPr/>
          </p:nvSpPr>
          <p:spPr>
            <a:xfrm>
              <a:off x="1824" y="3696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03"/>
            <p:cNvSpPr/>
            <p:nvPr/>
          </p:nvSpPr>
          <p:spPr>
            <a:xfrm>
              <a:off x="2640" y="3696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03"/>
            <p:cNvSpPr/>
            <p:nvPr/>
          </p:nvSpPr>
          <p:spPr>
            <a:xfrm>
              <a:off x="2640" y="2928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03"/>
            <p:cNvSpPr/>
            <p:nvPr/>
          </p:nvSpPr>
          <p:spPr>
            <a:xfrm>
              <a:off x="1352" y="2704"/>
              <a:ext cx="1336" cy="1040"/>
            </a:xfrm>
            <a:custGeom>
              <a:avLst/>
              <a:gdLst/>
              <a:ahLst/>
              <a:cxnLst/>
              <a:rect l="l" t="t" r="r" b="b"/>
              <a:pathLst>
                <a:path w="1336" h="1040" extrusionOk="0">
                  <a:moveTo>
                    <a:pt x="1336" y="224"/>
                  </a:moveTo>
                  <a:cubicBezTo>
                    <a:pt x="1208" y="164"/>
                    <a:pt x="1080" y="104"/>
                    <a:pt x="904" y="80"/>
                  </a:cubicBezTo>
                  <a:cubicBezTo>
                    <a:pt x="728" y="56"/>
                    <a:pt x="424" y="0"/>
                    <a:pt x="280" y="80"/>
                  </a:cubicBezTo>
                  <a:cubicBezTo>
                    <a:pt x="136" y="160"/>
                    <a:pt x="0" y="400"/>
                    <a:pt x="40" y="560"/>
                  </a:cubicBezTo>
                  <a:cubicBezTo>
                    <a:pt x="80" y="720"/>
                    <a:pt x="300" y="880"/>
                    <a:pt x="520" y="104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03"/>
            <p:cNvSpPr txBox="1"/>
            <p:nvPr/>
          </p:nvSpPr>
          <p:spPr>
            <a:xfrm>
              <a:off x="1046" y="3005"/>
              <a:ext cx="1272" cy="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R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4</a:t>
              </a: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R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3</a:t>
              </a: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R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R</a:t>
              </a:r>
              <a:r>
                <a:rPr lang="en-US" sz="24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</a:t>
              </a:r>
              <a:endParaRPr/>
            </a:p>
          </p:txBody>
        </p:sp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0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</a:t>
            </a:r>
            <a:endParaRPr/>
          </a:p>
        </p:txBody>
      </p:sp>
      <p:sp>
        <p:nvSpPr>
          <p:cNvPr id="1850" name="Google Shape;1850;p104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10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any planar representation of K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vertex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be connected to both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also must be connected to both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grpSp>
        <p:nvGrpSpPr>
          <p:cNvPr id="1851" name="Google Shape;1851;p104"/>
          <p:cNvGrpSpPr/>
          <p:nvPr/>
        </p:nvGrpSpPr>
        <p:grpSpPr>
          <a:xfrm>
            <a:off x="685800" y="3657600"/>
            <a:ext cx="3090862" cy="2514600"/>
            <a:chOff x="2198" y="3014"/>
            <a:chExt cx="1371" cy="863"/>
          </a:xfrm>
        </p:grpSpPr>
        <p:sp>
          <p:nvSpPr>
            <p:cNvPr id="1852" name="Google Shape;1852;p104"/>
            <p:cNvSpPr/>
            <p:nvPr/>
          </p:nvSpPr>
          <p:spPr>
            <a:xfrm>
              <a:off x="2198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53" name="Google Shape;1853;p104"/>
            <p:cNvCxnSpPr/>
            <p:nvPr/>
          </p:nvCxnSpPr>
          <p:spPr>
            <a:xfrm>
              <a:off x="2239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54" name="Google Shape;1854;p104"/>
            <p:cNvCxnSpPr/>
            <p:nvPr/>
          </p:nvCxnSpPr>
          <p:spPr>
            <a:xfrm>
              <a:off x="3541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55" name="Google Shape;1855;p104"/>
            <p:cNvCxnSpPr/>
            <p:nvPr/>
          </p:nvCxnSpPr>
          <p:spPr>
            <a:xfrm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56" name="Google Shape;1856;p104"/>
            <p:cNvCxnSpPr/>
            <p:nvPr/>
          </p:nvCxnSpPr>
          <p:spPr>
            <a:xfrm rot="10800000" flipH="1"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57" name="Google Shape;1857;p104"/>
            <p:cNvCxnSpPr/>
            <p:nvPr/>
          </p:nvCxnSpPr>
          <p:spPr>
            <a:xfrm>
              <a:off x="2890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58" name="Google Shape;1858;p104"/>
            <p:cNvCxnSpPr/>
            <p:nvPr/>
          </p:nvCxnSpPr>
          <p:spPr>
            <a:xfrm flipH="1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59" name="Google Shape;1859;p104"/>
            <p:cNvCxnSpPr/>
            <p:nvPr/>
          </p:nvCxnSpPr>
          <p:spPr>
            <a:xfrm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60" name="Google Shape;1860;p104"/>
            <p:cNvCxnSpPr/>
            <p:nvPr/>
          </p:nvCxnSpPr>
          <p:spPr>
            <a:xfrm rot="10800000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61" name="Google Shape;1861;p104"/>
            <p:cNvCxnSpPr/>
            <p:nvPr/>
          </p:nvCxnSpPr>
          <p:spPr>
            <a:xfrm rot="10800000" flipH="1"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62" name="Google Shape;1862;p104"/>
            <p:cNvSpPr/>
            <p:nvPr/>
          </p:nvSpPr>
          <p:spPr>
            <a:xfrm>
              <a:off x="2860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04"/>
            <p:cNvSpPr/>
            <p:nvPr/>
          </p:nvSpPr>
          <p:spPr>
            <a:xfrm>
              <a:off x="3494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04"/>
            <p:cNvSpPr/>
            <p:nvPr/>
          </p:nvSpPr>
          <p:spPr>
            <a:xfrm>
              <a:off x="2198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04"/>
            <p:cNvSpPr/>
            <p:nvPr/>
          </p:nvSpPr>
          <p:spPr>
            <a:xfrm>
              <a:off x="2860" y="379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04"/>
            <p:cNvSpPr/>
            <p:nvPr/>
          </p:nvSpPr>
          <p:spPr>
            <a:xfrm>
              <a:off x="3494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7" name="Google Shape;1867;p104"/>
          <p:cNvSpPr txBox="1"/>
          <p:nvPr/>
        </p:nvSpPr>
        <p:spPr>
          <a:xfrm>
            <a:off x="152400" y="3124200"/>
            <a:ext cx="4876800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 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 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10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</a:t>
            </a:r>
            <a:endParaRPr/>
          </a:p>
        </p:txBody>
      </p:sp>
      <p:sp>
        <p:nvSpPr>
          <p:cNvPr id="1873" name="Google Shape;1873;p105"/>
          <p:cNvSpPr txBox="1">
            <a:spLocks noGrp="1"/>
          </p:cNvSpPr>
          <p:nvPr>
            <p:ph type="body" idx="1"/>
          </p:nvPr>
        </p:nvSpPr>
        <p:spPr>
          <a:xfrm>
            <a:off x="152400" y="1219200"/>
            <a:ext cx="8839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four edges {v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{v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{v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      {v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form a closed curve that splits the plane into two regions, R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874" name="Google Shape;1874;p105"/>
          <p:cNvSpPr/>
          <p:nvPr/>
        </p:nvSpPr>
        <p:spPr>
          <a:xfrm>
            <a:off x="1066800" y="4267200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5" name="Google Shape;1875;p105"/>
          <p:cNvCxnSpPr/>
          <p:nvPr/>
        </p:nvCxnSpPr>
        <p:spPr>
          <a:xfrm>
            <a:off x="1147762" y="4327525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76" name="Google Shape;1876;p105"/>
          <p:cNvCxnSpPr/>
          <p:nvPr/>
        </p:nvCxnSpPr>
        <p:spPr>
          <a:xfrm>
            <a:off x="2819400" y="4343400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77" name="Google Shape;1877;p105"/>
          <p:cNvCxnSpPr/>
          <p:nvPr/>
        </p:nvCxnSpPr>
        <p:spPr>
          <a:xfrm rot="10800000">
            <a:off x="1143000" y="6096000"/>
            <a:ext cx="16764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78" name="Google Shape;1878;p105"/>
          <p:cNvCxnSpPr/>
          <p:nvPr/>
        </p:nvCxnSpPr>
        <p:spPr>
          <a:xfrm rot="10800000">
            <a:off x="1147762" y="4327525"/>
            <a:ext cx="1671637" cy="158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79" name="Google Shape;1879;p105"/>
          <p:cNvSpPr/>
          <p:nvPr/>
        </p:nvSpPr>
        <p:spPr>
          <a:xfrm>
            <a:off x="2743200" y="4267200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p105"/>
          <p:cNvSpPr/>
          <p:nvPr/>
        </p:nvSpPr>
        <p:spPr>
          <a:xfrm>
            <a:off x="1066800" y="6007100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105"/>
          <p:cNvSpPr/>
          <p:nvPr/>
        </p:nvSpPr>
        <p:spPr>
          <a:xfrm>
            <a:off x="2743200" y="6019800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105"/>
          <p:cNvSpPr txBox="1"/>
          <p:nvPr/>
        </p:nvSpPr>
        <p:spPr>
          <a:xfrm>
            <a:off x="381000" y="3886200"/>
            <a:ext cx="8305800" cy="274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		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10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</a:t>
            </a:r>
            <a:endParaRPr/>
          </a:p>
        </p:txBody>
      </p:sp>
      <p:sp>
        <p:nvSpPr>
          <p:cNvPr id="1888" name="Google Shape;1888;p106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86106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we note that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be in either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Then the edges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and {v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separate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two subregions,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889" name="Google Shape;1889;p106"/>
          <p:cNvSpPr/>
          <p:nvPr/>
        </p:nvSpPr>
        <p:spPr>
          <a:xfrm>
            <a:off x="1066800" y="4267200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0" name="Google Shape;1890;p106"/>
          <p:cNvCxnSpPr/>
          <p:nvPr/>
        </p:nvCxnSpPr>
        <p:spPr>
          <a:xfrm>
            <a:off x="1147762" y="4327525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91" name="Google Shape;1891;p106"/>
          <p:cNvCxnSpPr/>
          <p:nvPr/>
        </p:nvCxnSpPr>
        <p:spPr>
          <a:xfrm>
            <a:off x="2819400" y="4343400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92" name="Google Shape;1892;p106"/>
          <p:cNvCxnSpPr/>
          <p:nvPr/>
        </p:nvCxnSpPr>
        <p:spPr>
          <a:xfrm rot="10800000">
            <a:off x="1143000" y="6096000"/>
            <a:ext cx="16764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93" name="Google Shape;1893;p106"/>
          <p:cNvCxnSpPr/>
          <p:nvPr/>
        </p:nvCxnSpPr>
        <p:spPr>
          <a:xfrm rot="10800000">
            <a:off x="1147762" y="4327525"/>
            <a:ext cx="1671637" cy="158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94" name="Google Shape;1894;p106"/>
          <p:cNvSpPr/>
          <p:nvPr/>
        </p:nvSpPr>
        <p:spPr>
          <a:xfrm>
            <a:off x="2743200" y="4267200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106"/>
          <p:cNvSpPr/>
          <p:nvPr/>
        </p:nvSpPr>
        <p:spPr>
          <a:xfrm>
            <a:off x="1066800" y="6007100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106"/>
          <p:cNvSpPr/>
          <p:nvPr/>
        </p:nvSpPr>
        <p:spPr>
          <a:xfrm>
            <a:off x="2743200" y="6019800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106"/>
          <p:cNvSpPr txBox="1"/>
          <p:nvPr/>
        </p:nvSpPr>
        <p:spPr>
          <a:xfrm>
            <a:off x="381000" y="3886200"/>
            <a:ext cx="8305800" cy="267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			    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→		     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      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	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98" name="Google Shape;1898;p106"/>
          <p:cNvSpPr/>
          <p:nvPr/>
        </p:nvSpPr>
        <p:spPr>
          <a:xfrm>
            <a:off x="5329237" y="4283075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9" name="Google Shape;1899;p106"/>
          <p:cNvCxnSpPr/>
          <p:nvPr/>
        </p:nvCxnSpPr>
        <p:spPr>
          <a:xfrm>
            <a:off x="5410200" y="4343400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00" name="Google Shape;1900;p106"/>
          <p:cNvCxnSpPr/>
          <p:nvPr/>
        </p:nvCxnSpPr>
        <p:spPr>
          <a:xfrm>
            <a:off x="7081837" y="4359275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01" name="Google Shape;1901;p106"/>
          <p:cNvCxnSpPr/>
          <p:nvPr/>
        </p:nvCxnSpPr>
        <p:spPr>
          <a:xfrm rot="10800000">
            <a:off x="5405437" y="6111875"/>
            <a:ext cx="16764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02" name="Google Shape;1902;p106"/>
          <p:cNvCxnSpPr/>
          <p:nvPr/>
        </p:nvCxnSpPr>
        <p:spPr>
          <a:xfrm rot="10800000">
            <a:off x="5410200" y="4343400"/>
            <a:ext cx="1671637" cy="158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03" name="Google Shape;1903;p106"/>
          <p:cNvSpPr/>
          <p:nvPr/>
        </p:nvSpPr>
        <p:spPr>
          <a:xfrm>
            <a:off x="7005637" y="4283075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106"/>
          <p:cNvSpPr/>
          <p:nvPr/>
        </p:nvSpPr>
        <p:spPr>
          <a:xfrm>
            <a:off x="5329237" y="6022975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106"/>
          <p:cNvSpPr/>
          <p:nvPr/>
        </p:nvSpPr>
        <p:spPr>
          <a:xfrm>
            <a:off x="7005637" y="6035675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106"/>
          <p:cNvSpPr/>
          <p:nvPr/>
        </p:nvSpPr>
        <p:spPr>
          <a:xfrm>
            <a:off x="6172200" y="5105400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7" name="Google Shape;1907;p106"/>
          <p:cNvCxnSpPr/>
          <p:nvPr/>
        </p:nvCxnSpPr>
        <p:spPr>
          <a:xfrm flipH="1">
            <a:off x="5410200" y="4343400"/>
            <a:ext cx="1676400" cy="1752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0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</a:t>
            </a:r>
            <a:endParaRPr/>
          </a:p>
        </p:txBody>
      </p:sp>
      <p:sp>
        <p:nvSpPr>
          <p:cNvPr id="1913" name="Google Shape;1913;p107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6106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there is no way to place vertex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forcing a crossing: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{v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must cross an edge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{v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must cross an edge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{v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must cross an edge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p107"/>
          <p:cNvSpPr txBox="1"/>
          <p:nvPr/>
        </p:nvSpPr>
        <p:spPr>
          <a:xfrm>
            <a:off x="533400" y="3962400"/>
            <a:ext cx="3810000" cy="267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15" name="Google Shape;1915;p107"/>
          <p:cNvSpPr/>
          <p:nvPr/>
        </p:nvSpPr>
        <p:spPr>
          <a:xfrm>
            <a:off x="1138237" y="4359275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6" name="Google Shape;1916;p107"/>
          <p:cNvCxnSpPr/>
          <p:nvPr/>
        </p:nvCxnSpPr>
        <p:spPr>
          <a:xfrm>
            <a:off x="1219200" y="4419600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17" name="Google Shape;1917;p107"/>
          <p:cNvCxnSpPr/>
          <p:nvPr/>
        </p:nvCxnSpPr>
        <p:spPr>
          <a:xfrm>
            <a:off x="2890837" y="4435475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18" name="Google Shape;1918;p107"/>
          <p:cNvCxnSpPr/>
          <p:nvPr/>
        </p:nvCxnSpPr>
        <p:spPr>
          <a:xfrm rot="10800000">
            <a:off x="1214437" y="6188075"/>
            <a:ext cx="16764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19" name="Google Shape;1919;p107"/>
          <p:cNvCxnSpPr/>
          <p:nvPr/>
        </p:nvCxnSpPr>
        <p:spPr>
          <a:xfrm rot="10800000">
            <a:off x="1219200" y="4419600"/>
            <a:ext cx="1671637" cy="158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20" name="Google Shape;1920;p107"/>
          <p:cNvSpPr/>
          <p:nvPr/>
        </p:nvSpPr>
        <p:spPr>
          <a:xfrm>
            <a:off x="2814637" y="4359275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107"/>
          <p:cNvSpPr/>
          <p:nvPr/>
        </p:nvSpPr>
        <p:spPr>
          <a:xfrm>
            <a:off x="1138237" y="6099175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107"/>
          <p:cNvSpPr/>
          <p:nvPr/>
        </p:nvSpPr>
        <p:spPr>
          <a:xfrm>
            <a:off x="2814637" y="6111875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107"/>
          <p:cNvSpPr/>
          <p:nvPr/>
        </p:nvSpPr>
        <p:spPr>
          <a:xfrm>
            <a:off x="1981200" y="5181600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4" name="Google Shape;1924;p107"/>
          <p:cNvCxnSpPr/>
          <p:nvPr/>
        </p:nvCxnSpPr>
        <p:spPr>
          <a:xfrm flipH="1">
            <a:off x="1219200" y="4419600"/>
            <a:ext cx="1676400" cy="1752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10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</a:t>
            </a:r>
            <a:endParaRPr/>
          </a:p>
        </p:txBody>
      </p:sp>
      <p:sp>
        <p:nvSpPr>
          <p:cNvPr id="1930" name="Google Shape;1930;p108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610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Alternatively,  assume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R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Then the edges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and {v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separate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two subregions,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931" name="Google Shape;1931;p108"/>
          <p:cNvSpPr txBox="1"/>
          <p:nvPr/>
        </p:nvSpPr>
        <p:spPr>
          <a:xfrm>
            <a:off x="533400" y="3657600"/>
            <a:ext cx="4648200" cy="267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        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32" name="Google Shape;1932;p108"/>
          <p:cNvSpPr/>
          <p:nvPr/>
        </p:nvSpPr>
        <p:spPr>
          <a:xfrm>
            <a:off x="1138237" y="4054475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3" name="Google Shape;1933;p108"/>
          <p:cNvCxnSpPr/>
          <p:nvPr/>
        </p:nvCxnSpPr>
        <p:spPr>
          <a:xfrm>
            <a:off x="1219200" y="4114800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34" name="Google Shape;1934;p108"/>
          <p:cNvCxnSpPr/>
          <p:nvPr/>
        </p:nvCxnSpPr>
        <p:spPr>
          <a:xfrm>
            <a:off x="2890837" y="4130675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35" name="Google Shape;1935;p108"/>
          <p:cNvCxnSpPr/>
          <p:nvPr/>
        </p:nvCxnSpPr>
        <p:spPr>
          <a:xfrm rot="10800000">
            <a:off x="1214437" y="5883275"/>
            <a:ext cx="16764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36" name="Google Shape;1936;p108"/>
          <p:cNvCxnSpPr/>
          <p:nvPr/>
        </p:nvCxnSpPr>
        <p:spPr>
          <a:xfrm rot="10800000">
            <a:off x="1219200" y="4114800"/>
            <a:ext cx="1671637" cy="158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37" name="Google Shape;1937;p108"/>
          <p:cNvSpPr/>
          <p:nvPr/>
        </p:nvSpPr>
        <p:spPr>
          <a:xfrm>
            <a:off x="2814637" y="4054475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08"/>
          <p:cNvSpPr/>
          <p:nvPr/>
        </p:nvSpPr>
        <p:spPr>
          <a:xfrm>
            <a:off x="1138237" y="5794375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108"/>
          <p:cNvSpPr/>
          <p:nvPr/>
        </p:nvSpPr>
        <p:spPr>
          <a:xfrm>
            <a:off x="2814637" y="5807075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108"/>
          <p:cNvSpPr/>
          <p:nvPr/>
        </p:nvSpPr>
        <p:spPr>
          <a:xfrm>
            <a:off x="4038600" y="4953000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1" name="Google Shape;1941;p108"/>
          <p:cNvCxnSpPr/>
          <p:nvPr/>
        </p:nvCxnSpPr>
        <p:spPr>
          <a:xfrm>
            <a:off x="2895600" y="4114800"/>
            <a:ext cx="1219200" cy="914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42" name="Google Shape;1942;p108"/>
          <p:cNvCxnSpPr/>
          <p:nvPr/>
        </p:nvCxnSpPr>
        <p:spPr>
          <a:xfrm flipH="1">
            <a:off x="1219161" y="5105400"/>
            <a:ext cx="2900400" cy="841500"/>
          </a:xfrm>
          <a:prstGeom prst="curvedConnector3">
            <a:avLst>
              <a:gd name="adj1" fmla="val 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10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</a:t>
            </a:r>
            <a:endParaRPr/>
          </a:p>
        </p:txBody>
      </p:sp>
      <p:sp>
        <p:nvSpPr>
          <p:cNvPr id="1948" name="Google Shape;1948;p109"/>
          <p:cNvSpPr txBox="1">
            <a:spLocks noGrp="1"/>
          </p:cNvSpPr>
          <p:nvPr>
            <p:ph type="body" idx="1"/>
          </p:nvPr>
        </p:nvSpPr>
        <p:spPr>
          <a:xfrm>
            <a:off x="228600" y="1066800"/>
            <a:ext cx="86106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there is no way to place vertex 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forcing a crossing: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{v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must cross an edge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{v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must cross an edge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{v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must cross an edge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9" name="Google Shape;1949;p109"/>
          <p:cNvSpPr txBox="1"/>
          <p:nvPr/>
        </p:nvSpPr>
        <p:spPr>
          <a:xfrm>
            <a:off x="533400" y="3657600"/>
            <a:ext cx="4648200" cy="267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        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  v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50" name="Google Shape;1950;p109"/>
          <p:cNvSpPr/>
          <p:nvPr/>
        </p:nvSpPr>
        <p:spPr>
          <a:xfrm>
            <a:off x="1138237" y="4054475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1" name="Google Shape;1951;p109"/>
          <p:cNvCxnSpPr/>
          <p:nvPr/>
        </p:nvCxnSpPr>
        <p:spPr>
          <a:xfrm>
            <a:off x="1219200" y="4114800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52" name="Google Shape;1952;p109"/>
          <p:cNvCxnSpPr/>
          <p:nvPr/>
        </p:nvCxnSpPr>
        <p:spPr>
          <a:xfrm>
            <a:off x="2890837" y="4130675"/>
            <a:ext cx="0" cy="17605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53" name="Google Shape;1953;p109"/>
          <p:cNvCxnSpPr/>
          <p:nvPr/>
        </p:nvCxnSpPr>
        <p:spPr>
          <a:xfrm rot="10800000">
            <a:off x="1214437" y="5883275"/>
            <a:ext cx="16764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54" name="Google Shape;1954;p109"/>
          <p:cNvCxnSpPr/>
          <p:nvPr/>
        </p:nvCxnSpPr>
        <p:spPr>
          <a:xfrm rot="10800000">
            <a:off x="1219200" y="4114800"/>
            <a:ext cx="1671637" cy="158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55" name="Google Shape;1955;p109"/>
          <p:cNvSpPr/>
          <p:nvPr/>
        </p:nvSpPr>
        <p:spPr>
          <a:xfrm>
            <a:off x="2814637" y="4054475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109"/>
          <p:cNvSpPr/>
          <p:nvPr/>
        </p:nvSpPr>
        <p:spPr>
          <a:xfrm>
            <a:off x="1138237" y="5794375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09"/>
          <p:cNvSpPr/>
          <p:nvPr/>
        </p:nvSpPr>
        <p:spPr>
          <a:xfrm>
            <a:off x="2814637" y="5807075"/>
            <a:ext cx="149225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109"/>
          <p:cNvSpPr/>
          <p:nvPr/>
        </p:nvSpPr>
        <p:spPr>
          <a:xfrm>
            <a:off x="4038600" y="4953000"/>
            <a:ext cx="147637" cy="1651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9" name="Google Shape;1959;p109"/>
          <p:cNvCxnSpPr/>
          <p:nvPr/>
        </p:nvCxnSpPr>
        <p:spPr>
          <a:xfrm>
            <a:off x="2895600" y="4114800"/>
            <a:ext cx="1219200" cy="914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60" name="Google Shape;1960;p109"/>
          <p:cNvCxnSpPr/>
          <p:nvPr/>
        </p:nvCxnSpPr>
        <p:spPr>
          <a:xfrm flipH="1">
            <a:off x="1219161" y="5105400"/>
            <a:ext cx="2900400" cy="841500"/>
          </a:xfrm>
          <a:prstGeom prst="curvedConnector3">
            <a:avLst>
              <a:gd name="adj1" fmla="val 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1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 Graphs</a:t>
            </a:r>
            <a:endParaRPr/>
          </a:p>
        </p:txBody>
      </p:sp>
      <p:sp>
        <p:nvSpPr>
          <p:cNvPr id="1966" name="Google Shape;1966;p110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8382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Consequently, the graph K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be nonplanar.</a:t>
            </a:r>
            <a:endParaRPr/>
          </a:p>
        </p:txBody>
      </p:sp>
      <p:sp>
        <p:nvSpPr>
          <p:cNvPr id="1967" name="Google Shape;1967;p110"/>
          <p:cNvSpPr txBox="1"/>
          <p:nvPr/>
        </p:nvSpPr>
        <p:spPr>
          <a:xfrm>
            <a:off x="6096000" y="4495800"/>
            <a:ext cx="9906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endParaRPr/>
          </a:p>
        </p:txBody>
      </p:sp>
      <p:grpSp>
        <p:nvGrpSpPr>
          <p:cNvPr id="1968" name="Google Shape;1968;p110"/>
          <p:cNvGrpSpPr/>
          <p:nvPr/>
        </p:nvGrpSpPr>
        <p:grpSpPr>
          <a:xfrm>
            <a:off x="838200" y="3352800"/>
            <a:ext cx="4724400" cy="3124200"/>
            <a:chOff x="2198" y="3014"/>
            <a:chExt cx="1371" cy="863"/>
          </a:xfrm>
        </p:grpSpPr>
        <p:sp>
          <p:nvSpPr>
            <p:cNvPr id="1969" name="Google Shape;1969;p110"/>
            <p:cNvSpPr/>
            <p:nvPr/>
          </p:nvSpPr>
          <p:spPr>
            <a:xfrm>
              <a:off x="2198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0" name="Google Shape;1970;p110"/>
            <p:cNvCxnSpPr/>
            <p:nvPr/>
          </p:nvCxnSpPr>
          <p:spPr>
            <a:xfrm>
              <a:off x="2239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971" name="Google Shape;1971;p110"/>
            <p:cNvCxnSpPr/>
            <p:nvPr/>
          </p:nvCxnSpPr>
          <p:spPr>
            <a:xfrm>
              <a:off x="3541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972" name="Google Shape;1972;p110"/>
            <p:cNvCxnSpPr/>
            <p:nvPr/>
          </p:nvCxnSpPr>
          <p:spPr>
            <a:xfrm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973" name="Google Shape;1973;p110"/>
            <p:cNvCxnSpPr/>
            <p:nvPr/>
          </p:nvCxnSpPr>
          <p:spPr>
            <a:xfrm rot="10800000" flipH="1"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974" name="Google Shape;1974;p110"/>
            <p:cNvCxnSpPr/>
            <p:nvPr/>
          </p:nvCxnSpPr>
          <p:spPr>
            <a:xfrm>
              <a:off x="2890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975" name="Google Shape;1975;p110"/>
            <p:cNvCxnSpPr/>
            <p:nvPr/>
          </p:nvCxnSpPr>
          <p:spPr>
            <a:xfrm flipH="1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976" name="Google Shape;1976;p110"/>
            <p:cNvCxnSpPr/>
            <p:nvPr/>
          </p:nvCxnSpPr>
          <p:spPr>
            <a:xfrm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977" name="Google Shape;1977;p110"/>
            <p:cNvCxnSpPr/>
            <p:nvPr/>
          </p:nvCxnSpPr>
          <p:spPr>
            <a:xfrm rot="10800000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978" name="Google Shape;1978;p110"/>
            <p:cNvCxnSpPr/>
            <p:nvPr/>
          </p:nvCxnSpPr>
          <p:spPr>
            <a:xfrm rot="10800000" flipH="1"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979" name="Google Shape;1979;p110"/>
            <p:cNvSpPr/>
            <p:nvPr/>
          </p:nvSpPr>
          <p:spPr>
            <a:xfrm>
              <a:off x="2860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110"/>
            <p:cNvSpPr/>
            <p:nvPr/>
          </p:nvSpPr>
          <p:spPr>
            <a:xfrm>
              <a:off x="3494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110"/>
            <p:cNvSpPr/>
            <p:nvPr/>
          </p:nvSpPr>
          <p:spPr>
            <a:xfrm>
              <a:off x="2198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110"/>
            <p:cNvSpPr/>
            <p:nvPr/>
          </p:nvSpPr>
          <p:spPr>
            <a:xfrm>
              <a:off x="2860" y="379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110"/>
            <p:cNvSpPr/>
            <p:nvPr/>
          </p:nvSpPr>
          <p:spPr>
            <a:xfrm>
              <a:off x="3494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1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Regions</a:t>
            </a:r>
            <a:endParaRPr/>
          </a:p>
        </p:txBody>
      </p:sp>
      <p:sp>
        <p:nvSpPr>
          <p:cNvPr id="1989" name="Google Shape;1989;p111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1060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devised a formula for expressing the relationship between the number of vertices, edges, and regions of a planar graph.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 us determine if a graph can be planar or not.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1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Euler’s Formula</a:t>
            </a:r>
            <a:endParaRPr/>
          </a:p>
        </p:txBody>
      </p:sp>
      <p:sp>
        <p:nvSpPr>
          <p:cNvPr id="1995" name="Google Shape;1995;p112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5344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a connected planar simple graph with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edges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vertices. Let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the number of regions in a planar representation of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Then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996" name="Google Shape;1996;p112"/>
          <p:cNvSpPr txBox="1"/>
          <p:nvPr/>
        </p:nvSpPr>
        <p:spPr>
          <a:xfrm>
            <a:off x="4191000" y="4648200"/>
            <a:ext cx="4648200" cy="137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of edges,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of vertices,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of regions,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 = 4</a:t>
            </a:r>
            <a:endParaRPr/>
          </a:p>
        </p:txBody>
      </p:sp>
      <p:grpSp>
        <p:nvGrpSpPr>
          <p:cNvPr id="1997" name="Google Shape;1997;p112"/>
          <p:cNvGrpSpPr/>
          <p:nvPr/>
        </p:nvGrpSpPr>
        <p:grpSpPr>
          <a:xfrm>
            <a:off x="533400" y="3962400"/>
            <a:ext cx="2987675" cy="2133600"/>
            <a:chOff x="1046" y="2704"/>
            <a:chExt cx="1690" cy="1088"/>
          </a:xfrm>
        </p:grpSpPr>
        <p:sp>
          <p:nvSpPr>
            <p:cNvPr id="1998" name="Google Shape;1998;p112"/>
            <p:cNvSpPr txBox="1"/>
            <p:nvPr/>
          </p:nvSpPr>
          <p:spPr>
            <a:xfrm>
              <a:off x="1872" y="2976"/>
              <a:ext cx="816" cy="768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99" name="Google Shape;1999;p112"/>
            <p:cNvCxnSpPr/>
            <p:nvPr/>
          </p:nvCxnSpPr>
          <p:spPr>
            <a:xfrm>
              <a:off x="1872" y="2976"/>
              <a:ext cx="816" cy="76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000" name="Google Shape;2000;p112"/>
            <p:cNvSpPr/>
            <p:nvPr/>
          </p:nvSpPr>
          <p:spPr>
            <a:xfrm>
              <a:off x="1824" y="2928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112"/>
            <p:cNvSpPr/>
            <p:nvPr/>
          </p:nvSpPr>
          <p:spPr>
            <a:xfrm>
              <a:off x="1824" y="3696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112"/>
            <p:cNvSpPr/>
            <p:nvPr/>
          </p:nvSpPr>
          <p:spPr>
            <a:xfrm>
              <a:off x="2640" y="3696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112"/>
            <p:cNvSpPr/>
            <p:nvPr/>
          </p:nvSpPr>
          <p:spPr>
            <a:xfrm>
              <a:off x="2640" y="2928"/>
              <a:ext cx="96" cy="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112"/>
            <p:cNvSpPr/>
            <p:nvPr/>
          </p:nvSpPr>
          <p:spPr>
            <a:xfrm>
              <a:off x="1352" y="2704"/>
              <a:ext cx="1336" cy="1040"/>
            </a:xfrm>
            <a:custGeom>
              <a:avLst/>
              <a:gdLst/>
              <a:ahLst/>
              <a:cxnLst/>
              <a:rect l="l" t="t" r="r" b="b"/>
              <a:pathLst>
                <a:path w="1336" h="1040" extrusionOk="0">
                  <a:moveTo>
                    <a:pt x="1336" y="224"/>
                  </a:moveTo>
                  <a:cubicBezTo>
                    <a:pt x="1208" y="164"/>
                    <a:pt x="1080" y="104"/>
                    <a:pt x="904" y="80"/>
                  </a:cubicBezTo>
                  <a:cubicBezTo>
                    <a:pt x="728" y="56"/>
                    <a:pt x="424" y="0"/>
                    <a:pt x="280" y="80"/>
                  </a:cubicBezTo>
                  <a:cubicBezTo>
                    <a:pt x="136" y="160"/>
                    <a:pt x="0" y="400"/>
                    <a:pt x="40" y="560"/>
                  </a:cubicBezTo>
                  <a:cubicBezTo>
                    <a:pt x="80" y="720"/>
                    <a:pt x="300" y="880"/>
                    <a:pt x="520" y="104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112"/>
            <p:cNvSpPr txBox="1"/>
            <p:nvPr/>
          </p:nvSpPr>
          <p:spPr>
            <a:xfrm>
              <a:off x="1046" y="3034"/>
              <a:ext cx="1494" cy="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R</a:t>
              </a:r>
              <a:r>
                <a:rPr lang="en-US" sz="20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4</a:t>
              </a:r>
              <a:r>
                <a:rPr lang="en-US" sz="20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</a:t>
              </a: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R</a:t>
              </a:r>
              <a:r>
                <a:rPr lang="en-US" sz="20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3</a:t>
              </a:r>
              <a:r>
                <a:rPr lang="en-US" sz="20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</a:t>
              </a: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R</a:t>
              </a:r>
              <a:r>
                <a:rPr lang="en-US" sz="20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Bookman Old Style"/>
                <a:buNone/>
              </a:pPr>
              <a:r>
                <a:rPr lang="en-US" sz="2000" b="0" i="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</a:t>
              </a:r>
              <a:r>
                <a:rPr lang="en-US" sz="20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R</a:t>
              </a:r>
              <a:r>
                <a:rPr lang="en-US" sz="2000" b="0" i="0" u="none" baseline="-25000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11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Euler’s Formula (Cont.)</a:t>
            </a:r>
            <a:endParaRPr/>
          </a:p>
        </p:txBody>
      </p:sp>
      <p:sp>
        <p:nvSpPr>
          <p:cNvPr id="2011" name="Google Shape;2011;p113"/>
          <p:cNvSpPr txBox="1">
            <a:spLocks noGrp="1"/>
          </p:cNvSpPr>
          <p:nvPr>
            <p:ph type="body" idx="1"/>
          </p:nvPr>
        </p:nvSpPr>
        <p:spPr>
          <a:xfrm>
            <a:off x="228600" y="1447800"/>
            <a:ext cx="86106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 1: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connected planar simple graph with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edges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where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3, then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3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- 6.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planar?</a:t>
            </a:r>
            <a:endParaRPr/>
          </a:p>
        </p:txBody>
      </p:sp>
      <p:grpSp>
        <p:nvGrpSpPr>
          <p:cNvPr id="2012" name="Google Shape;2012;p113"/>
          <p:cNvGrpSpPr/>
          <p:nvPr/>
        </p:nvGrpSpPr>
        <p:grpSpPr>
          <a:xfrm>
            <a:off x="4724400" y="3276600"/>
            <a:ext cx="3810000" cy="3276600"/>
            <a:chOff x="1023" y="2663"/>
            <a:chExt cx="1146" cy="1089"/>
          </a:xfrm>
        </p:grpSpPr>
        <p:sp>
          <p:nvSpPr>
            <p:cNvPr id="2013" name="Google Shape;2013;p113"/>
            <p:cNvSpPr/>
            <p:nvPr/>
          </p:nvSpPr>
          <p:spPr>
            <a:xfrm>
              <a:off x="1568" y="2663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113"/>
            <p:cNvSpPr/>
            <p:nvPr/>
          </p:nvSpPr>
          <p:spPr>
            <a:xfrm>
              <a:off x="2088" y="3055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113"/>
            <p:cNvSpPr/>
            <p:nvPr/>
          </p:nvSpPr>
          <p:spPr>
            <a:xfrm>
              <a:off x="1080" y="2703"/>
              <a:ext cx="1056" cy="1016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16" name="Google Shape;2016;p113"/>
            <p:cNvCxnSpPr/>
            <p:nvPr/>
          </p:nvCxnSpPr>
          <p:spPr>
            <a:xfrm>
              <a:off x="1080" y="3103"/>
              <a:ext cx="848" cy="60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17" name="Google Shape;2017;p113"/>
            <p:cNvCxnSpPr/>
            <p:nvPr/>
          </p:nvCxnSpPr>
          <p:spPr>
            <a:xfrm rot="10800000" flipH="1">
              <a:off x="1088" y="3095"/>
              <a:ext cx="1064" cy="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18" name="Google Shape;2018;p113"/>
            <p:cNvCxnSpPr/>
            <p:nvPr/>
          </p:nvCxnSpPr>
          <p:spPr>
            <a:xfrm flipH="1">
              <a:off x="1288" y="2711"/>
              <a:ext cx="320" cy="100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19" name="Google Shape;2019;p113"/>
            <p:cNvCxnSpPr/>
            <p:nvPr/>
          </p:nvCxnSpPr>
          <p:spPr>
            <a:xfrm>
              <a:off x="1616" y="2703"/>
              <a:ext cx="312" cy="1016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20" name="Google Shape;2020;p113"/>
            <p:cNvCxnSpPr/>
            <p:nvPr/>
          </p:nvCxnSpPr>
          <p:spPr>
            <a:xfrm flipH="1">
              <a:off x="1272" y="3103"/>
              <a:ext cx="872" cy="624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021" name="Google Shape;2021;p113"/>
            <p:cNvSpPr/>
            <p:nvPr/>
          </p:nvSpPr>
          <p:spPr>
            <a:xfrm>
              <a:off x="1023" y="3072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113"/>
            <p:cNvSpPr/>
            <p:nvPr/>
          </p:nvSpPr>
          <p:spPr>
            <a:xfrm>
              <a:off x="1880" y="3671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113"/>
            <p:cNvSpPr/>
            <p:nvPr/>
          </p:nvSpPr>
          <p:spPr>
            <a:xfrm>
              <a:off x="1256" y="3655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4" name="Google Shape;2024;p113"/>
          <p:cNvSpPr txBox="1"/>
          <p:nvPr/>
        </p:nvSpPr>
        <p:spPr>
          <a:xfrm>
            <a:off x="4343400" y="525780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Euler’s Formula (Cont.)</a:t>
            </a:r>
            <a:endParaRPr/>
          </a:p>
        </p:txBody>
      </p:sp>
      <p:sp>
        <p:nvSpPr>
          <p:cNvPr id="2030" name="Google Shape;2030;p114"/>
          <p:cNvSpPr txBox="1">
            <a:spLocks noGrp="1"/>
          </p:cNvSpPr>
          <p:nvPr>
            <p:ph type="body" idx="1"/>
          </p:nvPr>
        </p:nvSpPr>
        <p:spPr>
          <a:xfrm>
            <a:off x="228600" y="1447800"/>
            <a:ext cx="8610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5 vertices and 10 edges.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see that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3. 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if 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planar, it must be true that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3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6.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6  =  3*5 – 6  =  15 – 6  =  9.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be ≤ 9.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nonplanar.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grpSp>
        <p:nvGrpSpPr>
          <p:cNvPr id="2031" name="Google Shape;2031;p114"/>
          <p:cNvGrpSpPr/>
          <p:nvPr/>
        </p:nvGrpSpPr>
        <p:grpSpPr>
          <a:xfrm>
            <a:off x="5486400" y="3581400"/>
            <a:ext cx="3200400" cy="2971800"/>
            <a:chOff x="1023" y="2663"/>
            <a:chExt cx="1146" cy="1089"/>
          </a:xfrm>
        </p:grpSpPr>
        <p:sp>
          <p:nvSpPr>
            <p:cNvPr id="2032" name="Google Shape;2032;p114"/>
            <p:cNvSpPr/>
            <p:nvPr/>
          </p:nvSpPr>
          <p:spPr>
            <a:xfrm>
              <a:off x="1568" y="2663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114"/>
            <p:cNvSpPr/>
            <p:nvPr/>
          </p:nvSpPr>
          <p:spPr>
            <a:xfrm>
              <a:off x="2088" y="3055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114"/>
            <p:cNvSpPr/>
            <p:nvPr/>
          </p:nvSpPr>
          <p:spPr>
            <a:xfrm>
              <a:off x="1080" y="2703"/>
              <a:ext cx="1056" cy="1016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5" name="Google Shape;2035;p114"/>
            <p:cNvCxnSpPr/>
            <p:nvPr/>
          </p:nvCxnSpPr>
          <p:spPr>
            <a:xfrm>
              <a:off x="1080" y="3103"/>
              <a:ext cx="848" cy="60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36" name="Google Shape;2036;p114"/>
            <p:cNvCxnSpPr/>
            <p:nvPr/>
          </p:nvCxnSpPr>
          <p:spPr>
            <a:xfrm rot="10800000" flipH="1">
              <a:off x="1088" y="3095"/>
              <a:ext cx="1064" cy="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37" name="Google Shape;2037;p114"/>
            <p:cNvCxnSpPr/>
            <p:nvPr/>
          </p:nvCxnSpPr>
          <p:spPr>
            <a:xfrm flipH="1">
              <a:off x="1288" y="2711"/>
              <a:ext cx="320" cy="100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38" name="Google Shape;2038;p114"/>
            <p:cNvCxnSpPr/>
            <p:nvPr/>
          </p:nvCxnSpPr>
          <p:spPr>
            <a:xfrm>
              <a:off x="1616" y="2703"/>
              <a:ext cx="312" cy="1016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39" name="Google Shape;2039;p114"/>
            <p:cNvCxnSpPr/>
            <p:nvPr/>
          </p:nvCxnSpPr>
          <p:spPr>
            <a:xfrm flipH="1">
              <a:off x="1272" y="3103"/>
              <a:ext cx="872" cy="624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040" name="Google Shape;2040;p114"/>
            <p:cNvSpPr/>
            <p:nvPr/>
          </p:nvSpPr>
          <p:spPr>
            <a:xfrm>
              <a:off x="1023" y="3072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114"/>
            <p:cNvSpPr/>
            <p:nvPr/>
          </p:nvSpPr>
          <p:spPr>
            <a:xfrm>
              <a:off x="1880" y="3671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114"/>
            <p:cNvSpPr/>
            <p:nvPr/>
          </p:nvSpPr>
          <p:spPr>
            <a:xfrm>
              <a:off x="1256" y="3655"/>
              <a:ext cx="81" cy="8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3" name="Google Shape;2043;p114"/>
          <p:cNvSpPr txBox="1"/>
          <p:nvPr/>
        </p:nvSpPr>
        <p:spPr>
          <a:xfrm>
            <a:off x="5181600" y="5562600"/>
            <a:ext cx="8382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11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Euler’s Formula (Cont.)</a:t>
            </a:r>
            <a:endParaRPr/>
          </a:p>
        </p:txBody>
      </p:sp>
      <p:sp>
        <p:nvSpPr>
          <p:cNvPr id="2049" name="Google Shape;2049;p115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68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 2: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connected planar simple graph, then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a vertex of degree not exceeding 5.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11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Euler’s Formula (Cont.)</a:t>
            </a:r>
            <a:endParaRPr/>
          </a:p>
        </p:txBody>
      </p:sp>
      <p:sp>
        <p:nvSpPr>
          <p:cNvPr id="2055" name="Google Shape;2055;p116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68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 3: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a connected planar simple graph has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edges and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with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3 and no circuits of length 3, then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2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- 4.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 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planar?</a:t>
            </a:r>
            <a:endParaRPr/>
          </a:p>
        </p:txBody>
      </p:sp>
      <p:grpSp>
        <p:nvGrpSpPr>
          <p:cNvPr id="2056" name="Google Shape;2056;p116"/>
          <p:cNvGrpSpPr/>
          <p:nvPr/>
        </p:nvGrpSpPr>
        <p:grpSpPr>
          <a:xfrm>
            <a:off x="5715000" y="4114800"/>
            <a:ext cx="2709862" cy="1905000"/>
            <a:chOff x="2198" y="3014"/>
            <a:chExt cx="1371" cy="863"/>
          </a:xfrm>
        </p:grpSpPr>
        <p:sp>
          <p:nvSpPr>
            <p:cNvPr id="2057" name="Google Shape;2057;p116"/>
            <p:cNvSpPr/>
            <p:nvPr/>
          </p:nvSpPr>
          <p:spPr>
            <a:xfrm>
              <a:off x="2198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8" name="Google Shape;2058;p116"/>
            <p:cNvCxnSpPr/>
            <p:nvPr/>
          </p:nvCxnSpPr>
          <p:spPr>
            <a:xfrm>
              <a:off x="2239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59" name="Google Shape;2059;p116"/>
            <p:cNvCxnSpPr/>
            <p:nvPr/>
          </p:nvCxnSpPr>
          <p:spPr>
            <a:xfrm>
              <a:off x="3541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60" name="Google Shape;2060;p116"/>
            <p:cNvCxnSpPr/>
            <p:nvPr/>
          </p:nvCxnSpPr>
          <p:spPr>
            <a:xfrm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61" name="Google Shape;2061;p116"/>
            <p:cNvCxnSpPr/>
            <p:nvPr/>
          </p:nvCxnSpPr>
          <p:spPr>
            <a:xfrm rot="10800000" flipH="1"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62" name="Google Shape;2062;p116"/>
            <p:cNvCxnSpPr/>
            <p:nvPr/>
          </p:nvCxnSpPr>
          <p:spPr>
            <a:xfrm>
              <a:off x="2890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63" name="Google Shape;2063;p116"/>
            <p:cNvCxnSpPr/>
            <p:nvPr/>
          </p:nvCxnSpPr>
          <p:spPr>
            <a:xfrm flipH="1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64" name="Google Shape;2064;p116"/>
            <p:cNvCxnSpPr/>
            <p:nvPr/>
          </p:nvCxnSpPr>
          <p:spPr>
            <a:xfrm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65" name="Google Shape;2065;p116"/>
            <p:cNvCxnSpPr/>
            <p:nvPr/>
          </p:nvCxnSpPr>
          <p:spPr>
            <a:xfrm rot="10800000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66" name="Google Shape;2066;p116"/>
            <p:cNvCxnSpPr/>
            <p:nvPr/>
          </p:nvCxnSpPr>
          <p:spPr>
            <a:xfrm rot="10800000" flipH="1"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067" name="Google Shape;2067;p116"/>
            <p:cNvSpPr/>
            <p:nvPr/>
          </p:nvSpPr>
          <p:spPr>
            <a:xfrm>
              <a:off x="2860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116"/>
            <p:cNvSpPr/>
            <p:nvPr/>
          </p:nvSpPr>
          <p:spPr>
            <a:xfrm>
              <a:off x="3494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116"/>
            <p:cNvSpPr/>
            <p:nvPr/>
          </p:nvSpPr>
          <p:spPr>
            <a:xfrm>
              <a:off x="2198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116"/>
            <p:cNvSpPr/>
            <p:nvPr/>
          </p:nvSpPr>
          <p:spPr>
            <a:xfrm>
              <a:off x="2860" y="379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116"/>
            <p:cNvSpPr/>
            <p:nvPr/>
          </p:nvSpPr>
          <p:spPr>
            <a:xfrm>
              <a:off x="3494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1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Euler’s Formula (Cont.)</a:t>
            </a:r>
            <a:endParaRPr/>
          </a:p>
        </p:txBody>
      </p:sp>
      <p:sp>
        <p:nvSpPr>
          <p:cNvPr id="2077" name="Google Shape;2077;p117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6868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6 vertices and 9 edges.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Obviously, v ≥ 3 and there are no circuits of length 3.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were planar, then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2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4 would have to be true.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4  = 2*6 – 4  = 8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be ≤ 8.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nonplanar.</a:t>
            </a:r>
            <a:endParaRPr/>
          </a:p>
        </p:txBody>
      </p:sp>
      <p:grpSp>
        <p:nvGrpSpPr>
          <p:cNvPr id="2078" name="Google Shape;2078;p117"/>
          <p:cNvGrpSpPr/>
          <p:nvPr/>
        </p:nvGrpSpPr>
        <p:grpSpPr>
          <a:xfrm>
            <a:off x="4876800" y="3429000"/>
            <a:ext cx="3548062" cy="2590800"/>
            <a:chOff x="2198" y="3014"/>
            <a:chExt cx="1371" cy="863"/>
          </a:xfrm>
        </p:grpSpPr>
        <p:sp>
          <p:nvSpPr>
            <p:cNvPr id="2079" name="Google Shape;2079;p117"/>
            <p:cNvSpPr/>
            <p:nvPr/>
          </p:nvSpPr>
          <p:spPr>
            <a:xfrm>
              <a:off x="2198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0" name="Google Shape;2080;p117"/>
            <p:cNvCxnSpPr/>
            <p:nvPr/>
          </p:nvCxnSpPr>
          <p:spPr>
            <a:xfrm>
              <a:off x="2239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81" name="Google Shape;2081;p117"/>
            <p:cNvCxnSpPr/>
            <p:nvPr/>
          </p:nvCxnSpPr>
          <p:spPr>
            <a:xfrm>
              <a:off x="3541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82" name="Google Shape;2082;p117"/>
            <p:cNvCxnSpPr/>
            <p:nvPr/>
          </p:nvCxnSpPr>
          <p:spPr>
            <a:xfrm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83" name="Google Shape;2083;p117"/>
            <p:cNvCxnSpPr/>
            <p:nvPr/>
          </p:nvCxnSpPr>
          <p:spPr>
            <a:xfrm rot="10800000" flipH="1">
              <a:off x="2239" y="3041"/>
              <a:ext cx="1302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84" name="Google Shape;2084;p117"/>
            <p:cNvCxnSpPr/>
            <p:nvPr/>
          </p:nvCxnSpPr>
          <p:spPr>
            <a:xfrm>
              <a:off x="2890" y="3041"/>
              <a:ext cx="0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85" name="Google Shape;2085;p117"/>
            <p:cNvCxnSpPr/>
            <p:nvPr/>
          </p:nvCxnSpPr>
          <p:spPr>
            <a:xfrm flipH="1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86" name="Google Shape;2086;p117"/>
            <p:cNvCxnSpPr/>
            <p:nvPr/>
          </p:nvCxnSpPr>
          <p:spPr>
            <a:xfrm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87" name="Google Shape;2087;p117"/>
            <p:cNvCxnSpPr/>
            <p:nvPr/>
          </p:nvCxnSpPr>
          <p:spPr>
            <a:xfrm rot="10800000">
              <a:off x="2239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88" name="Google Shape;2088;p117"/>
            <p:cNvCxnSpPr/>
            <p:nvPr/>
          </p:nvCxnSpPr>
          <p:spPr>
            <a:xfrm rot="10800000" flipH="1">
              <a:off x="2890" y="3041"/>
              <a:ext cx="651" cy="79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089" name="Google Shape;2089;p117"/>
            <p:cNvSpPr/>
            <p:nvPr/>
          </p:nvSpPr>
          <p:spPr>
            <a:xfrm>
              <a:off x="2860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117"/>
            <p:cNvSpPr/>
            <p:nvPr/>
          </p:nvSpPr>
          <p:spPr>
            <a:xfrm>
              <a:off x="3494" y="3014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117"/>
            <p:cNvSpPr/>
            <p:nvPr/>
          </p:nvSpPr>
          <p:spPr>
            <a:xfrm>
              <a:off x="2198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117"/>
            <p:cNvSpPr/>
            <p:nvPr/>
          </p:nvSpPr>
          <p:spPr>
            <a:xfrm>
              <a:off x="2860" y="379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117"/>
            <p:cNvSpPr/>
            <p:nvPr/>
          </p:nvSpPr>
          <p:spPr>
            <a:xfrm>
              <a:off x="3494" y="3802"/>
              <a:ext cx="75" cy="75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4" name="Google Shape;2094;p117"/>
          <p:cNvSpPr txBox="1"/>
          <p:nvPr/>
        </p:nvSpPr>
        <p:spPr>
          <a:xfrm>
            <a:off x="5257800" y="6096000"/>
            <a:ext cx="12954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3,3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0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0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1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103</a:t>
            </a:r>
            <a:b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Structures</a:t>
            </a:r>
            <a:endParaRPr/>
          </a:p>
        </p:txBody>
      </p:sp>
      <p:sp>
        <p:nvSpPr>
          <p:cNvPr id="2100" name="Google Shape;2100;p118"/>
          <p:cNvSpPr txBox="1">
            <a:spLocks noGrp="1"/>
          </p:cNvSpPr>
          <p:nvPr>
            <p:ph type="body" idx="1"/>
          </p:nvPr>
        </p:nvSpPr>
        <p:spPr>
          <a:xfrm>
            <a:off x="457200" y="20574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Coloring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These class notes are based on material from our textbook,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and Its Applications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</a:t>
            </a:r>
            <a:r>
              <a:rPr lang="en-US" sz="28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ed., by Kenneth H. Rosen, published by McGraw Hill, Boston, MA, 2006.  They are intended for classroom use only and are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substitute for reading the textbook.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11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2106" name="Google Shape;2106;p119"/>
          <p:cNvSpPr txBox="1">
            <a:spLocks noGrp="1"/>
          </p:cNvSpPr>
          <p:nvPr>
            <p:ph type="body" idx="1"/>
          </p:nvPr>
        </p:nvSpPr>
        <p:spPr>
          <a:xfrm>
            <a:off x="228600" y="1600200"/>
            <a:ext cx="8686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map is colored, two regions with a common border are customarily assigned different colors.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want to use the smallest number of colors instead of just assigning every region its own color.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12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4-Color Map Theorem</a:t>
            </a:r>
            <a:endParaRPr/>
          </a:p>
        </p:txBody>
      </p:sp>
      <p:sp>
        <p:nvSpPr>
          <p:cNvPr id="2112" name="Google Shape;2112;p120"/>
          <p:cNvSpPr txBox="1">
            <a:spLocks noGrp="1"/>
          </p:cNvSpPr>
          <p:nvPr>
            <p:ph type="body" idx="1"/>
          </p:nvPr>
        </p:nvSpPr>
        <p:spPr>
          <a:xfrm>
            <a:off x="228600" y="1600200"/>
            <a:ext cx="8686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shown that any two-dimensional map can be painted using four colors in such a way that adjacent regions (meaning those which sharing a common boundary segment, and not just a point) are different colors.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12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Coloring</a:t>
            </a:r>
            <a:endParaRPr/>
          </a:p>
        </p:txBody>
      </p:sp>
      <p:sp>
        <p:nvSpPr>
          <p:cNvPr id="2118" name="Google Shape;2118;p121"/>
          <p:cNvSpPr txBox="1">
            <a:spLocks noGrp="1"/>
          </p:cNvSpPr>
          <p:nvPr>
            <p:ph type="body" idx="1"/>
          </p:nvPr>
        </p:nvSpPr>
        <p:spPr>
          <a:xfrm>
            <a:off x="457200" y="55626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colors are sufficient to color a map of the contiguous United States.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of map: http://www.math.gatech.edu/~thomas/FC/fourcolor.html</a:t>
            </a:r>
            <a:endParaRPr/>
          </a:p>
        </p:txBody>
      </p:sp>
      <p:pic>
        <p:nvPicPr>
          <p:cNvPr id="2119" name="Google Shape;2119;p121" descr="usa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990600"/>
            <a:ext cx="6858000" cy="4281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12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Graph</a:t>
            </a:r>
            <a:endParaRPr/>
          </a:p>
        </p:txBody>
      </p:sp>
      <p:sp>
        <p:nvSpPr>
          <p:cNvPr id="2125" name="Google Shape;2125;p122"/>
          <p:cNvSpPr txBox="1">
            <a:spLocks noGrp="1"/>
          </p:cNvSpPr>
          <p:nvPr>
            <p:ph type="body" idx="1"/>
          </p:nvPr>
        </p:nvSpPr>
        <p:spPr>
          <a:xfrm>
            <a:off x="152400" y="13716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map in a plane can be represented by a graph.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region is represented by a vertex.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 connect to vertices if the regions represented by these vertices have a common border.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regions that touch at only one point are not considered adjacent.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resulting graph is called the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graph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map.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12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Graph Examples</a:t>
            </a:r>
            <a:endParaRPr/>
          </a:p>
        </p:txBody>
      </p:sp>
      <p:grpSp>
        <p:nvGrpSpPr>
          <p:cNvPr id="2131" name="Google Shape;2131;p123"/>
          <p:cNvGrpSpPr/>
          <p:nvPr/>
        </p:nvGrpSpPr>
        <p:grpSpPr>
          <a:xfrm>
            <a:off x="1371600" y="2222500"/>
            <a:ext cx="2311400" cy="1739900"/>
            <a:chOff x="544" y="1944"/>
            <a:chExt cx="1456" cy="1096"/>
          </a:xfrm>
        </p:grpSpPr>
        <p:sp>
          <p:nvSpPr>
            <p:cNvPr id="2132" name="Google Shape;2132;p123"/>
            <p:cNvSpPr/>
            <p:nvPr/>
          </p:nvSpPr>
          <p:spPr>
            <a:xfrm>
              <a:off x="544" y="1944"/>
              <a:ext cx="1456" cy="1096"/>
            </a:xfrm>
            <a:custGeom>
              <a:avLst/>
              <a:gdLst/>
              <a:ahLst/>
              <a:cxnLst/>
              <a:rect l="l" t="t" r="r" b="b"/>
              <a:pathLst>
                <a:path w="1456" h="1096" extrusionOk="0">
                  <a:moveTo>
                    <a:pt x="944" y="168"/>
                  </a:moveTo>
                  <a:cubicBezTo>
                    <a:pt x="856" y="176"/>
                    <a:pt x="840" y="192"/>
                    <a:pt x="752" y="168"/>
                  </a:cubicBezTo>
                  <a:cubicBezTo>
                    <a:pt x="664" y="144"/>
                    <a:pt x="536" y="0"/>
                    <a:pt x="416" y="24"/>
                  </a:cubicBezTo>
                  <a:cubicBezTo>
                    <a:pt x="296" y="48"/>
                    <a:pt x="64" y="160"/>
                    <a:pt x="32" y="312"/>
                  </a:cubicBezTo>
                  <a:cubicBezTo>
                    <a:pt x="0" y="464"/>
                    <a:pt x="48" y="816"/>
                    <a:pt x="224" y="936"/>
                  </a:cubicBezTo>
                  <a:cubicBezTo>
                    <a:pt x="400" y="1056"/>
                    <a:pt x="888" y="1096"/>
                    <a:pt x="1088" y="1032"/>
                  </a:cubicBezTo>
                  <a:cubicBezTo>
                    <a:pt x="1288" y="968"/>
                    <a:pt x="1392" y="704"/>
                    <a:pt x="1424" y="552"/>
                  </a:cubicBezTo>
                  <a:cubicBezTo>
                    <a:pt x="1456" y="400"/>
                    <a:pt x="1360" y="184"/>
                    <a:pt x="1280" y="120"/>
                  </a:cubicBezTo>
                  <a:cubicBezTo>
                    <a:pt x="1200" y="56"/>
                    <a:pt x="1032" y="160"/>
                    <a:pt x="944" y="168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123"/>
            <p:cNvSpPr/>
            <p:nvPr/>
          </p:nvSpPr>
          <p:spPr>
            <a:xfrm>
              <a:off x="576" y="2064"/>
              <a:ext cx="624" cy="264"/>
            </a:xfrm>
            <a:custGeom>
              <a:avLst/>
              <a:gdLst/>
              <a:ahLst/>
              <a:cxnLst/>
              <a:rect l="l" t="t" r="r" b="b"/>
              <a:pathLst>
                <a:path w="624" h="264" extrusionOk="0">
                  <a:moveTo>
                    <a:pt x="0" y="144"/>
                  </a:moveTo>
                  <a:cubicBezTo>
                    <a:pt x="92" y="204"/>
                    <a:pt x="184" y="264"/>
                    <a:pt x="288" y="240"/>
                  </a:cubicBezTo>
                  <a:cubicBezTo>
                    <a:pt x="392" y="216"/>
                    <a:pt x="508" y="108"/>
                    <a:pt x="624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123"/>
            <p:cNvSpPr/>
            <p:nvPr/>
          </p:nvSpPr>
          <p:spPr>
            <a:xfrm>
              <a:off x="672" y="2280"/>
              <a:ext cx="288" cy="528"/>
            </a:xfrm>
            <a:custGeom>
              <a:avLst/>
              <a:gdLst/>
              <a:ahLst/>
              <a:cxnLst/>
              <a:rect l="l" t="t" r="r" b="b"/>
              <a:pathLst>
                <a:path w="280" h="528" extrusionOk="0">
                  <a:moveTo>
                    <a:pt x="240" y="0"/>
                  </a:moveTo>
                  <a:cubicBezTo>
                    <a:pt x="260" y="124"/>
                    <a:pt x="280" y="248"/>
                    <a:pt x="240" y="336"/>
                  </a:cubicBezTo>
                  <a:cubicBezTo>
                    <a:pt x="200" y="424"/>
                    <a:pt x="100" y="476"/>
                    <a:pt x="0" y="528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123"/>
            <p:cNvSpPr/>
            <p:nvPr/>
          </p:nvSpPr>
          <p:spPr>
            <a:xfrm>
              <a:off x="912" y="2160"/>
              <a:ext cx="224" cy="432"/>
            </a:xfrm>
            <a:custGeom>
              <a:avLst/>
              <a:gdLst/>
              <a:ahLst/>
              <a:cxnLst/>
              <a:rect l="l" t="t" r="r" b="b"/>
              <a:pathLst>
                <a:path w="224" h="432" extrusionOk="0">
                  <a:moveTo>
                    <a:pt x="0" y="432"/>
                  </a:moveTo>
                  <a:cubicBezTo>
                    <a:pt x="80" y="420"/>
                    <a:pt x="160" y="408"/>
                    <a:pt x="192" y="336"/>
                  </a:cubicBezTo>
                  <a:cubicBezTo>
                    <a:pt x="224" y="264"/>
                    <a:pt x="208" y="132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123"/>
            <p:cNvSpPr/>
            <p:nvPr/>
          </p:nvSpPr>
          <p:spPr>
            <a:xfrm>
              <a:off x="816" y="2112"/>
              <a:ext cx="624" cy="664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0" y="576"/>
                  </a:moveTo>
                  <a:cubicBezTo>
                    <a:pt x="120" y="596"/>
                    <a:pt x="240" y="616"/>
                    <a:pt x="336" y="576"/>
                  </a:cubicBezTo>
                  <a:cubicBezTo>
                    <a:pt x="432" y="536"/>
                    <a:pt x="536" y="432"/>
                    <a:pt x="576" y="336"/>
                  </a:cubicBezTo>
                  <a:cubicBezTo>
                    <a:pt x="616" y="240"/>
                    <a:pt x="596" y="120"/>
                    <a:pt x="576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123"/>
            <p:cNvSpPr/>
            <p:nvPr/>
          </p:nvSpPr>
          <p:spPr>
            <a:xfrm>
              <a:off x="1408" y="2272"/>
              <a:ext cx="480" cy="456"/>
            </a:xfrm>
            <a:custGeom>
              <a:avLst/>
              <a:gdLst/>
              <a:ahLst/>
              <a:cxnLst/>
              <a:rect l="l" t="t" r="r" b="b"/>
              <a:pathLst>
                <a:path w="432" h="456" extrusionOk="0">
                  <a:moveTo>
                    <a:pt x="0" y="72"/>
                  </a:moveTo>
                  <a:cubicBezTo>
                    <a:pt x="68" y="36"/>
                    <a:pt x="136" y="0"/>
                    <a:pt x="192" y="24"/>
                  </a:cubicBezTo>
                  <a:cubicBezTo>
                    <a:pt x="248" y="48"/>
                    <a:pt x="296" y="144"/>
                    <a:pt x="336" y="216"/>
                  </a:cubicBezTo>
                  <a:cubicBezTo>
                    <a:pt x="376" y="288"/>
                    <a:pt x="404" y="372"/>
                    <a:pt x="432" y="456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123"/>
            <p:cNvSpPr/>
            <p:nvPr/>
          </p:nvSpPr>
          <p:spPr>
            <a:xfrm>
              <a:off x="1320" y="2544"/>
              <a:ext cx="480" cy="152"/>
            </a:xfrm>
            <a:custGeom>
              <a:avLst/>
              <a:gdLst/>
              <a:ahLst/>
              <a:cxnLst/>
              <a:rect l="l" t="t" r="r" b="b"/>
              <a:pathLst>
                <a:path w="480" h="152" extrusionOk="0">
                  <a:moveTo>
                    <a:pt x="0" y="48"/>
                  </a:moveTo>
                  <a:cubicBezTo>
                    <a:pt x="56" y="100"/>
                    <a:pt x="112" y="152"/>
                    <a:pt x="192" y="144"/>
                  </a:cubicBezTo>
                  <a:cubicBezTo>
                    <a:pt x="272" y="136"/>
                    <a:pt x="376" y="68"/>
                    <a:pt x="480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123"/>
            <p:cNvSpPr txBox="1"/>
            <p:nvPr/>
          </p:nvSpPr>
          <p:spPr>
            <a:xfrm>
              <a:off x="614" y="2381"/>
              <a:ext cx="25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2140" name="Google Shape;2140;p123"/>
            <p:cNvSpPr txBox="1"/>
            <p:nvPr/>
          </p:nvSpPr>
          <p:spPr>
            <a:xfrm>
              <a:off x="806" y="1998"/>
              <a:ext cx="25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sp>
          <p:nvSpPr>
            <p:cNvPr id="2141" name="Google Shape;2141;p123"/>
            <p:cNvSpPr txBox="1"/>
            <p:nvPr/>
          </p:nvSpPr>
          <p:spPr>
            <a:xfrm>
              <a:off x="902" y="2189"/>
              <a:ext cx="25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2142" name="Google Shape;2142;p123"/>
            <p:cNvSpPr txBox="1"/>
            <p:nvPr/>
          </p:nvSpPr>
          <p:spPr>
            <a:xfrm>
              <a:off x="1142" y="2237"/>
              <a:ext cx="25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2143" name="Google Shape;2143;p123"/>
            <p:cNvSpPr txBox="1"/>
            <p:nvPr/>
          </p:nvSpPr>
          <p:spPr>
            <a:xfrm>
              <a:off x="1238" y="2669"/>
              <a:ext cx="24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  <p:sp>
          <p:nvSpPr>
            <p:cNvPr id="2144" name="Google Shape;2144;p123"/>
            <p:cNvSpPr txBox="1"/>
            <p:nvPr/>
          </p:nvSpPr>
          <p:spPr>
            <a:xfrm>
              <a:off x="1430" y="2334"/>
              <a:ext cx="235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F</a:t>
              </a:r>
              <a:endParaRPr/>
            </a:p>
          </p:txBody>
        </p:sp>
        <p:sp>
          <p:nvSpPr>
            <p:cNvPr id="2145" name="Google Shape;2145;p123"/>
            <p:cNvSpPr txBox="1"/>
            <p:nvPr/>
          </p:nvSpPr>
          <p:spPr>
            <a:xfrm>
              <a:off x="1632" y="2068"/>
              <a:ext cx="26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endParaRPr/>
            </a:p>
          </p:txBody>
        </p:sp>
      </p:grpSp>
      <p:grpSp>
        <p:nvGrpSpPr>
          <p:cNvPr id="2146" name="Google Shape;2146;p123"/>
          <p:cNvGrpSpPr/>
          <p:nvPr/>
        </p:nvGrpSpPr>
        <p:grpSpPr>
          <a:xfrm>
            <a:off x="4787900" y="2057400"/>
            <a:ext cx="3098800" cy="1892300"/>
            <a:chOff x="2672" y="1808"/>
            <a:chExt cx="1952" cy="1192"/>
          </a:xfrm>
        </p:grpSpPr>
        <p:sp>
          <p:nvSpPr>
            <p:cNvPr id="2147" name="Google Shape;2147;p123"/>
            <p:cNvSpPr/>
            <p:nvPr/>
          </p:nvSpPr>
          <p:spPr>
            <a:xfrm>
              <a:off x="2672" y="1808"/>
              <a:ext cx="1952" cy="1192"/>
            </a:xfrm>
            <a:custGeom>
              <a:avLst/>
              <a:gdLst/>
              <a:ahLst/>
              <a:cxnLst/>
              <a:rect l="l" t="t" r="r" b="b"/>
              <a:pathLst>
                <a:path w="1952" h="1192" extrusionOk="0">
                  <a:moveTo>
                    <a:pt x="208" y="304"/>
                  </a:moveTo>
                  <a:cubicBezTo>
                    <a:pt x="344" y="168"/>
                    <a:pt x="624" y="96"/>
                    <a:pt x="880" y="64"/>
                  </a:cubicBezTo>
                  <a:cubicBezTo>
                    <a:pt x="1136" y="32"/>
                    <a:pt x="1568" y="0"/>
                    <a:pt x="1744" y="112"/>
                  </a:cubicBezTo>
                  <a:cubicBezTo>
                    <a:pt x="1920" y="224"/>
                    <a:pt x="1952" y="568"/>
                    <a:pt x="1936" y="736"/>
                  </a:cubicBezTo>
                  <a:cubicBezTo>
                    <a:pt x="1920" y="904"/>
                    <a:pt x="1808" y="1072"/>
                    <a:pt x="1648" y="1120"/>
                  </a:cubicBezTo>
                  <a:cubicBezTo>
                    <a:pt x="1488" y="1168"/>
                    <a:pt x="1152" y="1016"/>
                    <a:pt x="976" y="1024"/>
                  </a:cubicBezTo>
                  <a:cubicBezTo>
                    <a:pt x="800" y="1032"/>
                    <a:pt x="744" y="1192"/>
                    <a:pt x="592" y="1168"/>
                  </a:cubicBezTo>
                  <a:cubicBezTo>
                    <a:pt x="440" y="1144"/>
                    <a:pt x="128" y="1024"/>
                    <a:pt x="64" y="880"/>
                  </a:cubicBezTo>
                  <a:cubicBezTo>
                    <a:pt x="0" y="736"/>
                    <a:pt x="72" y="440"/>
                    <a:pt x="208" y="304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123"/>
            <p:cNvSpPr/>
            <p:nvPr/>
          </p:nvSpPr>
          <p:spPr>
            <a:xfrm>
              <a:off x="2736" y="1968"/>
              <a:ext cx="672" cy="504"/>
            </a:xfrm>
            <a:custGeom>
              <a:avLst/>
              <a:gdLst/>
              <a:ahLst/>
              <a:cxnLst/>
              <a:rect l="l" t="t" r="r" b="b"/>
              <a:pathLst>
                <a:path w="672" h="504" extrusionOk="0">
                  <a:moveTo>
                    <a:pt x="0" y="384"/>
                  </a:moveTo>
                  <a:cubicBezTo>
                    <a:pt x="116" y="400"/>
                    <a:pt x="232" y="416"/>
                    <a:pt x="336" y="432"/>
                  </a:cubicBezTo>
                  <a:cubicBezTo>
                    <a:pt x="440" y="448"/>
                    <a:pt x="576" y="504"/>
                    <a:pt x="624" y="480"/>
                  </a:cubicBezTo>
                  <a:cubicBezTo>
                    <a:pt x="672" y="456"/>
                    <a:pt x="656" y="368"/>
                    <a:pt x="624" y="288"/>
                  </a:cubicBezTo>
                  <a:cubicBezTo>
                    <a:pt x="592" y="208"/>
                    <a:pt x="512" y="104"/>
                    <a:pt x="432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123"/>
            <p:cNvSpPr/>
            <p:nvPr/>
          </p:nvSpPr>
          <p:spPr>
            <a:xfrm>
              <a:off x="3344" y="1960"/>
              <a:ext cx="1104" cy="424"/>
            </a:xfrm>
            <a:custGeom>
              <a:avLst/>
              <a:gdLst/>
              <a:ahLst/>
              <a:cxnLst/>
              <a:rect l="l" t="t" r="r" b="b"/>
              <a:pathLst>
                <a:path w="1104" h="424" extrusionOk="0">
                  <a:moveTo>
                    <a:pt x="0" y="240"/>
                  </a:moveTo>
                  <a:cubicBezTo>
                    <a:pt x="148" y="332"/>
                    <a:pt x="296" y="424"/>
                    <a:pt x="480" y="384"/>
                  </a:cubicBezTo>
                  <a:cubicBezTo>
                    <a:pt x="664" y="344"/>
                    <a:pt x="1000" y="64"/>
                    <a:pt x="1104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123"/>
            <p:cNvSpPr/>
            <p:nvPr/>
          </p:nvSpPr>
          <p:spPr>
            <a:xfrm rot="-480000">
              <a:off x="3074" y="2256"/>
              <a:ext cx="1104" cy="352"/>
            </a:xfrm>
            <a:custGeom>
              <a:avLst/>
              <a:gdLst/>
              <a:ahLst/>
              <a:cxnLst/>
              <a:rect l="l" t="t" r="r" b="b"/>
              <a:pathLst>
                <a:path w="912" h="400" extrusionOk="0">
                  <a:moveTo>
                    <a:pt x="32" y="96"/>
                  </a:moveTo>
                  <a:cubicBezTo>
                    <a:pt x="16" y="192"/>
                    <a:pt x="0" y="288"/>
                    <a:pt x="80" y="336"/>
                  </a:cubicBezTo>
                  <a:cubicBezTo>
                    <a:pt x="160" y="384"/>
                    <a:pt x="384" y="400"/>
                    <a:pt x="512" y="384"/>
                  </a:cubicBezTo>
                  <a:cubicBezTo>
                    <a:pt x="640" y="368"/>
                    <a:pt x="784" y="304"/>
                    <a:pt x="848" y="240"/>
                  </a:cubicBezTo>
                  <a:cubicBezTo>
                    <a:pt x="912" y="176"/>
                    <a:pt x="904" y="88"/>
                    <a:pt x="896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123"/>
            <p:cNvSpPr/>
            <p:nvPr/>
          </p:nvSpPr>
          <p:spPr>
            <a:xfrm>
              <a:off x="3552" y="2600"/>
              <a:ext cx="96" cy="240"/>
            </a:xfrm>
            <a:custGeom>
              <a:avLst/>
              <a:gdLst/>
              <a:ahLst/>
              <a:cxnLst/>
              <a:rect l="l" t="t" r="r" b="b"/>
              <a:pathLst>
                <a:path w="48" h="144" extrusionOk="0">
                  <a:moveTo>
                    <a:pt x="0" y="0"/>
                  </a:moveTo>
                  <a:cubicBezTo>
                    <a:pt x="24" y="36"/>
                    <a:pt x="48" y="72"/>
                    <a:pt x="48" y="96"/>
                  </a:cubicBezTo>
                  <a:cubicBezTo>
                    <a:pt x="48" y="120"/>
                    <a:pt x="24" y="132"/>
                    <a:pt x="0" y="144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123"/>
            <p:cNvSpPr txBox="1"/>
            <p:nvPr/>
          </p:nvSpPr>
          <p:spPr>
            <a:xfrm>
              <a:off x="2918" y="2045"/>
              <a:ext cx="25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</a:t>
              </a:r>
              <a:endParaRPr/>
            </a:p>
          </p:txBody>
        </p:sp>
        <p:sp>
          <p:nvSpPr>
            <p:cNvPr id="2153" name="Google Shape;2153;p123"/>
            <p:cNvSpPr txBox="1"/>
            <p:nvPr/>
          </p:nvSpPr>
          <p:spPr>
            <a:xfrm>
              <a:off x="3590" y="1854"/>
              <a:ext cx="25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</p:txBody>
        </p:sp>
        <p:sp>
          <p:nvSpPr>
            <p:cNvPr id="2154" name="Google Shape;2154;p123"/>
            <p:cNvSpPr txBox="1"/>
            <p:nvPr/>
          </p:nvSpPr>
          <p:spPr>
            <a:xfrm>
              <a:off x="3494" y="2334"/>
              <a:ext cx="25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endParaRPr/>
            </a:p>
          </p:txBody>
        </p:sp>
        <p:sp>
          <p:nvSpPr>
            <p:cNvPr id="2155" name="Google Shape;2155;p123"/>
            <p:cNvSpPr txBox="1"/>
            <p:nvPr/>
          </p:nvSpPr>
          <p:spPr>
            <a:xfrm>
              <a:off x="2928" y="2500"/>
              <a:ext cx="25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</a:t>
              </a:r>
              <a:endParaRPr/>
            </a:p>
          </p:txBody>
        </p:sp>
        <p:sp>
          <p:nvSpPr>
            <p:cNvPr id="2156" name="Google Shape;2156;p123"/>
            <p:cNvSpPr txBox="1"/>
            <p:nvPr/>
          </p:nvSpPr>
          <p:spPr>
            <a:xfrm>
              <a:off x="4118" y="2430"/>
              <a:ext cx="24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E</a:t>
              </a:r>
              <a:endParaRPr/>
            </a:p>
          </p:txBody>
        </p:sp>
      </p:grpSp>
      <p:grpSp>
        <p:nvGrpSpPr>
          <p:cNvPr id="2157" name="Google Shape;2157;p123"/>
          <p:cNvGrpSpPr/>
          <p:nvPr/>
        </p:nvGrpSpPr>
        <p:grpSpPr>
          <a:xfrm>
            <a:off x="5100637" y="4419600"/>
            <a:ext cx="2747962" cy="1917700"/>
            <a:chOff x="3213" y="2784"/>
            <a:chExt cx="1731" cy="1208"/>
          </a:xfrm>
        </p:grpSpPr>
        <p:sp>
          <p:nvSpPr>
            <p:cNvPr id="2158" name="Google Shape;2158;p123"/>
            <p:cNvSpPr/>
            <p:nvPr/>
          </p:nvSpPr>
          <p:spPr>
            <a:xfrm>
              <a:off x="3744" y="2888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123"/>
            <p:cNvSpPr/>
            <p:nvPr/>
          </p:nvSpPr>
          <p:spPr>
            <a:xfrm>
              <a:off x="4032" y="3333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123"/>
            <p:cNvSpPr/>
            <p:nvPr/>
          </p:nvSpPr>
          <p:spPr>
            <a:xfrm>
              <a:off x="4629" y="3312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123"/>
            <p:cNvSpPr/>
            <p:nvPr/>
          </p:nvSpPr>
          <p:spPr>
            <a:xfrm>
              <a:off x="3525" y="3333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123"/>
            <p:cNvSpPr/>
            <p:nvPr/>
          </p:nvSpPr>
          <p:spPr>
            <a:xfrm>
              <a:off x="3861" y="3752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63" name="Google Shape;2163;p123"/>
            <p:cNvCxnSpPr/>
            <p:nvPr/>
          </p:nvCxnSpPr>
          <p:spPr>
            <a:xfrm rot="10800000" flipH="1">
              <a:off x="3552" y="2936"/>
              <a:ext cx="240" cy="43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64" name="Google Shape;2164;p123"/>
            <p:cNvCxnSpPr/>
            <p:nvPr/>
          </p:nvCxnSpPr>
          <p:spPr>
            <a:xfrm>
              <a:off x="3792" y="2936"/>
              <a:ext cx="272" cy="40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65" name="Google Shape;2165;p123"/>
            <p:cNvCxnSpPr/>
            <p:nvPr/>
          </p:nvCxnSpPr>
          <p:spPr>
            <a:xfrm>
              <a:off x="3792" y="2936"/>
              <a:ext cx="864" cy="38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66" name="Google Shape;2166;p123"/>
            <p:cNvCxnSpPr/>
            <p:nvPr/>
          </p:nvCxnSpPr>
          <p:spPr>
            <a:xfrm rot="10800000" flipH="1">
              <a:off x="3544" y="3360"/>
              <a:ext cx="1104" cy="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67" name="Google Shape;2167;p123"/>
            <p:cNvCxnSpPr/>
            <p:nvPr/>
          </p:nvCxnSpPr>
          <p:spPr>
            <a:xfrm flipH="1">
              <a:off x="3888" y="3368"/>
              <a:ext cx="184" cy="42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68" name="Google Shape;2168;p123"/>
            <p:cNvCxnSpPr/>
            <p:nvPr/>
          </p:nvCxnSpPr>
          <p:spPr>
            <a:xfrm>
              <a:off x="3552" y="3368"/>
              <a:ext cx="336" cy="43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69" name="Google Shape;2169;p123"/>
            <p:cNvCxnSpPr/>
            <p:nvPr/>
          </p:nvCxnSpPr>
          <p:spPr>
            <a:xfrm rot="10800000" flipH="1">
              <a:off x="3888" y="3360"/>
              <a:ext cx="768" cy="44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170" name="Google Shape;2170;p123"/>
            <p:cNvSpPr txBox="1"/>
            <p:nvPr/>
          </p:nvSpPr>
          <p:spPr>
            <a:xfrm>
              <a:off x="3213" y="2784"/>
              <a:ext cx="1731" cy="1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</a:t>
              </a: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b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a                      e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d</a:t>
              </a:r>
              <a:endParaRPr/>
            </a:p>
          </p:txBody>
        </p:sp>
        <p:sp>
          <p:nvSpPr>
            <p:cNvPr id="2171" name="Google Shape;2171;p123"/>
            <p:cNvSpPr txBox="1"/>
            <p:nvPr/>
          </p:nvSpPr>
          <p:spPr>
            <a:xfrm>
              <a:off x="4048" y="3303"/>
              <a:ext cx="26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lang="en-US" sz="2400" b="0" i="1" u="none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 </a:t>
              </a:r>
              <a:endParaRPr/>
            </a:p>
          </p:txBody>
        </p:sp>
      </p:grpSp>
      <p:grpSp>
        <p:nvGrpSpPr>
          <p:cNvPr id="2172" name="Google Shape;2172;p123"/>
          <p:cNvGrpSpPr/>
          <p:nvPr/>
        </p:nvGrpSpPr>
        <p:grpSpPr>
          <a:xfrm>
            <a:off x="838200" y="4191000"/>
            <a:ext cx="3236912" cy="2282825"/>
            <a:chOff x="528" y="2640"/>
            <a:chExt cx="2039" cy="1438"/>
          </a:xfrm>
        </p:grpSpPr>
        <p:sp>
          <p:nvSpPr>
            <p:cNvPr id="2173" name="Google Shape;2173;p123"/>
            <p:cNvSpPr txBox="1"/>
            <p:nvPr/>
          </p:nvSpPr>
          <p:spPr>
            <a:xfrm>
              <a:off x="1190" y="2918"/>
              <a:ext cx="26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 </a:t>
              </a:r>
              <a:endParaRPr/>
            </a:p>
          </p:txBody>
        </p:sp>
        <p:sp>
          <p:nvSpPr>
            <p:cNvPr id="2174" name="Google Shape;2174;p123"/>
            <p:cNvSpPr/>
            <p:nvPr/>
          </p:nvSpPr>
          <p:spPr>
            <a:xfrm>
              <a:off x="1173" y="2784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5" name="Google Shape;2175;p123"/>
            <p:cNvCxnSpPr/>
            <p:nvPr/>
          </p:nvCxnSpPr>
          <p:spPr>
            <a:xfrm rot="10800000" flipH="1">
              <a:off x="864" y="3176"/>
              <a:ext cx="336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76" name="Google Shape;2176;p123"/>
            <p:cNvCxnSpPr/>
            <p:nvPr/>
          </p:nvCxnSpPr>
          <p:spPr>
            <a:xfrm>
              <a:off x="1200" y="2792"/>
              <a:ext cx="0" cy="43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77" name="Google Shape;2177;p123"/>
            <p:cNvCxnSpPr/>
            <p:nvPr/>
          </p:nvCxnSpPr>
          <p:spPr>
            <a:xfrm rot="10800000" flipH="1">
              <a:off x="864" y="2792"/>
              <a:ext cx="336" cy="62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78" name="Google Shape;2178;p123"/>
            <p:cNvCxnSpPr/>
            <p:nvPr/>
          </p:nvCxnSpPr>
          <p:spPr>
            <a:xfrm>
              <a:off x="1248" y="2840"/>
              <a:ext cx="528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79" name="Google Shape;2179;p123"/>
            <p:cNvCxnSpPr/>
            <p:nvPr/>
          </p:nvCxnSpPr>
          <p:spPr>
            <a:xfrm>
              <a:off x="1200" y="3176"/>
              <a:ext cx="576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80" name="Google Shape;2180;p123"/>
            <p:cNvCxnSpPr/>
            <p:nvPr/>
          </p:nvCxnSpPr>
          <p:spPr>
            <a:xfrm>
              <a:off x="864" y="3368"/>
              <a:ext cx="148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81" name="Google Shape;2181;p123"/>
            <p:cNvCxnSpPr/>
            <p:nvPr/>
          </p:nvCxnSpPr>
          <p:spPr>
            <a:xfrm>
              <a:off x="1776" y="3416"/>
              <a:ext cx="288" cy="48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82" name="Google Shape;2182;p123"/>
            <p:cNvCxnSpPr/>
            <p:nvPr/>
          </p:nvCxnSpPr>
          <p:spPr>
            <a:xfrm>
              <a:off x="1776" y="3368"/>
              <a:ext cx="288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83" name="Google Shape;2183;p123"/>
            <p:cNvCxnSpPr/>
            <p:nvPr/>
          </p:nvCxnSpPr>
          <p:spPr>
            <a:xfrm flipH="1">
              <a:off x="2064" y="3368"/>
              <a:ext cx="288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84" name="Google Shape;2184;p123"/>
            <p:cNvCxnSpPr/>
            <p:nvPr/>
          </p:nvCxnSpPr>
          <p:spPr>
            <a:xfrm flipH="1">
              <a:off x="2064" y="3360"/>
              <a:ext cx="336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85" name="Google Shape;2185;p123"/>
            <p:cNvCxnSpPr/>
            <p:nvPr/>
          </p:nvCxnSpPr>
          <p:spPr>
            <a:xfrm>
              <a:off x="2064" y="3608"/>
              <a:ext cx="0" cy="28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186" name="Google Shape;2186;p123"/>
            <p:cNvSpPr txBox="1"/>
            <p:nvPr/>
          </p:nvSpPr>
          <p:spPr>
            <a:xfrm>
              <a:off x="528" y="2640"/>
              <a:ext cx="2039" cy="1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b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a             d     f      g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1" u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lang="en-US" sz="2400" b="0" i="1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                         e</a:t>
              </a:r>
              <a:endParaRPr/>
            </a:p>
          </p:txBody>
        </p:sp>
        <p:cxnSp>
          <p:nvCxnSpPr>
            <p:cNvPr id="2187" name="Google Shape;2187;p123"/>
            <p:cNvCxnSpPr/>
            <p:nvPr/>
          </p:nvCxnSpPr>
          <p:spPr>
            <a:xfrm>
              <a:off x="864" y="3376"/>
              <a:ext cx="1208" cy="52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188" name="Google Shape;2188;p123"/>
            <p:cNvSpPr/>
            <p:nvPr/>
          </p:nvSpPr>
          <p:spPr>
            <a:xfrm>
              <a:off x="1173" y="3141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123"/>
            <p:cNvSpPr/>
            <p:nvPr/>
          </p:nvSpPr>
          <p:spPr>
            <a:xfrm>
              <a:off x="837" y="3333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123"/>
            <p:cNvSpPr/>
            <p:nvPr/>
          </p:nvSpPr>
          <p:spPr>
            <a:xfrm>
              <a:off x="1728" y="3333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123"/>
            <p:cNvSpPr/>
            <p:nvPr/>
          </p:nvSpPr>
          <p:spPr>
            <a:xfrm>
              <a:off x="2352" y="3333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123"/>
            <p:cNvSpPr/>
            <p:nvPr/>
          </p:nvSpPr>
          <p:spPr>
            <a:xfrm>
              <a:off x="2016" y="3525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123"/>
            <p:cNvSpPr/>
            <p:nvPr/>
          </p:nvSpPr>
          <p:spPr>
            <a:xfrm>
              <a:off x="2016" y="3840"/>
              <a:ext cx="75" cy="75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94" name="Google Shape;2194;p123"/>
          <p:cNvCxnSpPr/>
          <p:nvPr/>
        </p:nvCxnSpPr>
        <p:spPr>
          <a:xfrm>
            <a:off x="2514600" y="4038600"/>
            <a:ext cx="0" cy="457200"/>
          </a:xfrm>
          <a:prstGeom prst="straightConnector1">
            <a:avLst/>
          </a:prstGeom>
          <a:noFill/>
          <a:ln w="635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95" name="Google Shape;2195;p123"/>
          <p:cNvCxnSpPr/>
          <p:nvPr/>
        </p:nvCxnSpPr>
        <p:spPr>
          <a:xfrm>
            <a:off x="6477000" y="4038600"/>
            <a:ext cx="0" cy="457200"/>
          </a:xfrm>
          <a:prstGeom prst="straightConnector1">
            <a:avLst/>
          </a:prstGeom>
          <a:noFill/>
          <a:ln w="635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12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Coloring</a:t>
            </a:r>
            <a:endParaRPr/>
          </a:p>
        </p:txBody>
      </p:sp>
      <p:sp>
        <p:nvSpPr>
          <p:cNvPr id="2201" name="Google Shape;2201;p124"/>
          <p:cNvSpPr txBox="1">
            <a:spLocks noGrp="1"/>
          </p:cNvSpPr>
          <p:nvPr>
            <p:ph type="body" idx="1"/>
          </p:nvPr>
        </p:nvSpPr>
        <p:spPr>
          <a:xfrm>
            <a:off x="152400" y="14478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coloring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simple graph is the assignment of a color to each vertex of the graph so that no two adjacent vertices are assigned the same color.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600" b="0" i="1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chromatic number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graph is the least number of colors needed for a coloring of the graph.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Four Color Theorem: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chromatic number of a planar graph is no greater than four.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12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2207" name="Google Shape;2207;p125"/>
          <p:cNvSpPr txBox="1"/>
          <p:nvPr/>
        </p:nvSpPr>
        <p:spPr>
          <a:xfrm>
            <a:off x="4572000" y="2438400"/>
            <a:ext cx="4343400" cy="399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chromatic number must be at least 3 since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be assigned different colors. So Let’s try 3 colors first.  3 colors work, so the chromatic number of this graph is 3.</a:t>
            </a:r>
            <a:endParaRPr/>
          </a:p>
        </p:txBody>
      </p:sp>
      <p:sp>
        <p:nvSpPr>
          <p:cNvPr id="2208" name="Google Shape;2208;p125"/>
          <p:cNvSpPr txBox="1"/>
          <p:nvPr/>
        </p:nvSpPr>
        <p:spPr>
          <a:xfrm>
            <a:off x="304800" y="1219200"/>
            <a:ext cx="8458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chromatic number of the graph shown below?   </a:t>
            </a:r>
            <a:endParaRPr/>
          </a:p>
        </p:txBody>
      </p:sp>
      <p:grpSp>
        <p:nvGrpSpPr>
          <p:cNvPr id="2209" name="Google Shape;2209;p125"/>
          <p:cNvGrpSpPr/>
          <p:nvPr/>
        </p:nvGrpSpPr>
        <p:grpSpPr>
          <a:xfrm>
            <a:off x="968375" y="3284537"/>
            <a:ext cx="3387725" cy="1920875"/>
            <a:chOff x="610" y="2069"/>
            <a:chExt cx="2134" cy="1210"/>
          </a:xfrm>
        </p:grpSpPr>
        <p:grpSp>
          <p:nvGrpSpPr>
            <p:cNvPr id="2210" name="Google Shape;2210;p125"/>
            <p:cNvGrpSpPr/>
            <p:nvPr/>
          </p:nvGrpSpPr>
          <p:grpSpPr>
            <a:xfrm>
              <a:off x="610" y="2069"/>
              <a:ext cx="2134" cy="1210"/>
              <a:chOff x="576" y="1771"/>
              <a:chExt cx="2134" cy="1210"/>
            </a:xfrm>
          </p:grpSpPr>
          <p:grpSp>
            <p:nvGrpSpPr>
              <p:cNvPr id="2211" name="Google Shape;2211;p125"/>
              <p:cNvGrpSpPr/>
              <p:nvPr/>
            </p:nvGrpSpPr>
            <p:grpSpPr>
              <a:xfrm>
                <a:off x="730" y="1904"/>
                <a:ext cx="1680" cy="864"/>
                <a:chOff x="704" y="3296"/>
                <a:chExt cx="1416" cy="608"/>
              </a:xfrm>
            </p:grpSpPr>
            <p:cxnSp>
              <p:nvCxnSpPr>
                <p:cNvPr id="2212" name="Google Shape;2212;p125"/>
                <p:cNvCxnSpPr/>
                <p:nvPr/>
              </p:nvCxnSpPr>
              <p:spPr>
                <a:xfrm>
                  <a:off x="1056" y="3312"/>
                  <a:ext cx="72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13" name="Google Shape;2213;p125"/>
                <p:cNvCxnSpPr/>
                <p:nvPr/>
              </p:nvCxnSpPr>
              <p:spPr>
                <a:xfrm>
                  <a:off x="1056" y="3312"/>
                  <a:ext cx="0" cy="57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14" name="Google Shape;2214;p125"/>
                <p:cNvCxnSpPr/>
                <p:nvPr/>
              </p:nvCxnSpPr>
              <p:spPr>
                <a:xfrm>
                  <a:off x="1056" y="3888"/>
                  <a:ext cx="72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15" name="Google Shape;2215;p125"/>
                <p:cNvCxnSpPr/>
                <p:nvPr/>
              </p:nvCxnSpPr>
              <p:spPr>
                <a:xfrm>
                  <a:off x="1776" y="3312"/>
                  <a:ext cx="0" cy="57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16" name="Google Shape;2216;p125"/>
                <p:cNvCxnSpPr/>
                <p:nvPr/>
              </p:nvCxnSpPr>
              <p:spPr>
                <a:xfrm>
                  <a:off x="1056" y="3312"/>
                  <a:ext cx="720" cy="57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17" name="Google Shape;2217;p125"/>
                <p:cNvCxnSpPr/>
                <p:nvPr/>
              </p:nvCxnSpPr>
              <p:spPr>
                <a:xfrm rot="10800000" flipH="1">
                  <a:off x="1056" y="3312"/>
                  <a:ext cx="720" cy="57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18" name="Google Shape;2218;p125"/>
                <p:cNvCxnSpPr/>
                <p:nvPr/>
              </p:nvCxnSpPr>
              <p:spPr>
                <a:xfrm flipH="1">
                  <a:off x="720" y="3312"/>
                  <a:ext cx="336" cy="28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19" name="Google Shape;2219;p125"/>
                <p:cNvCxnSpPr/>
                <p:nvPr/>
              </p:nvCxnSpPr>
              <p:spPr>
                <a:xfrm>
                  <a:off x="720" y="3600"/>
                  <a:ext cx="336" cy="28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20" name="Google Shape;2220;p125"/>
                <p:cNvCxnSpPr/>
                <p:nvPr/>
              </p:nvCxnSpPr>
              <p:spPr>
                <a:xfrm>
                  <a:off x="1776" y="3312"/>
                  <a:ext cx="336" cy="28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21" name="Google Shape;2221;p125"/>
                <p:cNvCxnSpPr/>
                <p:nvPr/>
              </p:nvCxnSpPr>
              <p:spPr>
                <a:xfrm rot="10800000" flipH="1">
                  <a:off x="1776" y="3600"/>
                  <a:ext cx="336" cy="28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sp>
              <p:nvSpPr>
                <p:cNvPr id="2222" name="Google Shape;2222;p125"/>
                <p:cNvSpPr/>
                <p:nvPr/>
              </p:nvSpPr>
              <p:spPr>
                <a:xfrm>
                  <a:off x="704" y="3568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18287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3" name="Google Shape;2223;p125"/>
                <p:cNvSpPr/>
                <p:nvPr/>
              </p:nvSpPr>
              <p:spPr>
                <a:xfrm>
                  <a:off x="1040" y="3296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18287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4" name="Google Shape;2224;p125"/>
                <p:cNvSpPr/>
                <p:nvPr/>
              </p:nvSpPr>
              <p:spPr>
                <a:xfrm>
                  <a:off x="1752" y="3296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18287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5" name="Google Shape;2225;p125"/>
                <p:cNvSpPr/>
                <p:nvPr/>
              </p:nvSpPr>
              <p:spPr>
                <a:xfrm>
                  <a:off x="2072" y="3576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18287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6" name="Google Shape;2226;p125"/>
                <p:cNvSpPr/>
                <p:nvPr/>
              </p:nvSpPr>
              <p:spPr>
                <a:xfrm>
                  <a:off x="1392" y="3584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18287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7" name="Google Shape;2227;p125"/>
                <p:cNvSpPr/>
                <p:nvPr/>
              </p:nvSpPr>
              <p:spPr>
                <a:xfrm>
                  <a:off x="1760" y="3856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18287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8" name="Google Shape;2228;p125"/>
                <p:cNvSpPr/>
                <p:nvPr/>
              </p:nvSpPr>
              <p:spPr>
                <a:xfrm>
                  <a:off x="1040" y="3856"/>
                  <a:ext cx="48" cy="48"/>
                </a:xfrm>
                <a:prstGeom prst="ellipse">
                  <a:avLst/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18287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29" name="Google Shape;2229;p125"/>
              <p:cNvSpPr txBox="1"/>
              <p:nvPr/>
            </p:nvSpPr>
            <p:spPr>
              <a:xfrm>
                <a:off x="576" y="1771"/>
                <a:ext cx="2134" cy="1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18287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Bookman Old Style"/>
                  <a:buNone/>
                </a:pPr>
                <a:r>
                  <a:rPr lang="en-US" sz="1800" b="0" i="1" u="none">
                    <a:solidFill>
                      <a:schemeClr val="dk1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         </a:t>
                </a:r>
                <a:r>
                  <a:rPr lang="en-US" sz="2000" b="0" i="1" u="none">
                    <a:solidFill>
                      <a:schemeClr val="dk1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b                      e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Bookman Old Style"/>
                  <a:buNone/>
                </a:pPr>
                <a:r>
                  <a:rPr lang="en-US" sz="2000" b="0" i="1" u="none">
                    <a:solidFill>
                      <a:schemeClr val="dk1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a                     d              g 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 b="0" i="1" u="non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Bookman Old Style"/>
                  <a:buNone/>
                </a:pPr>
                <a:r>
                  <a:rPr lang="en-US" sz="2000" b="0" i="1" u="none">
                    <a:solidFill>
                      <a:schemeClr val="dk1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 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Bookman Old Style"/>
                  <a:buNone/>
                </a:pPr>
                <a:r>
                  <a:rPr lang="en-US" sz="2000" b="0" i="1" u="none">
                    <a:solidFill>
                      <a:schemeClr val="dk1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          c                  f</a:t>
                </a:r>
                <a:endParaRPr/>
              </a:p>
            </p:txBody>
          </p:sp>
        </p:grpSp>
        <p:sp>
          <p:nvSpPr>
            <p:cNvPr id="2230" name="Google Shape;2230;p125"/>
            <p:cNvSpPr/>
            <p:nvPr/>
          </p:nvSpPr>
          <p:spPr>
            <a:xfrm>
              <a:off x="748" y="2576"/>
              <a:ext cx="98" cy="9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125"/>
            <p:cNvSpPr/>
            <p:nvPr/>
          </p:nvSpPr>
          <p:spPr>
            <a:xfrm>
              <a:off x="1149" y="2984"/>
              <a:ext cx="98" cy="9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125"/>
            <p:cNvSpPr/>
            <p:nvPr/>
          </p:nvSpPr>
          <p:spPr>
            <a:xfrm>
              <a:off x="1149" y="2175"/>
              <a:ext cx="98" cy="98"/>
            </a:xfrm>
            <a:prstGeom prst="ellipse">
              <a:avLst/>
            </a:prstGeom>
            <a:solidFill>
              <a:srgbClr val="00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125"/>
            <p:cNvSpPr/>
            <p:nvPr/>
          </p:nvSpPr>
          <p:spPr>
            <a:xfrm>
              <a:off x="1995" y="2984"/>
              <a:ext cx="98" cy="98"/>
            </a:xfrm>
            <a:prstGeom prst="ellipse">
              <a:avLst/>
            </a:prstGeom>
            <a:solidFill>
              <a:srgbClr val="00CC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125"/>
            <p:cNvSpPr/>
            <p:nvPr/>
          </p:nvSpPr>
          <p:spPr>
            <a:xfrm>
              <a:off x="1995" y="2175"/>
              <a:ext cx="98" cy="9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125"/>
            <p:cNvSpPr/>
            <p:nvPr/>
          </p:nvSpPr>
          <p:spPr>
            <a:xfrm>
              <a:off x="1565" y="2591"/>
              <a:ext cx="98" cy="9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125"/>
            <p:cNvSpPr/>
            <p:nvPr/>
          </p:nvSpPr>
          <p:spPr>
            <a:xfrm>
              <a:off x="2374" y="2584"/>
              <a:ext cx="98" cy="9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12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2242" name="Google Shape;2242;p12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chromatic number for each of the following graphs?</a:t>
            </a:r>
            <a:endParaRPr/>
          </a:p>
        </p:txBody>
      </p:sp>
      <p:grpSp>
        <p:nvGrpSpPr>
          <p:cNvPr id="2243" name="Google Shape;2243;p126"/>
          <p:cNvGrpSpPr/>
          <p:nvPr/>
        </p:nvGrpSpPr>
        <p:grpSpPr>
          <a:xfrm>
            <a:off x="1905000" y="3390900"/>
            <a:ext cx="5257800" cy="1765300"/>
            <a:chOff x="1200" y="2352"/>
            <a:chExt cx="3312" cy="1112"/>
          </a:xfrm>
        </p:grpSpPr>
        <p:grpSp>
          <p:nvGrpSpPr>
            <p:cNvPr id="2244" name="Google Shape;2244;p126"/>
            <p:cNvGrpSpPr/>
            <p:nvPr/>
          </p:nvGrpSpPr>
          <p:grpSpPr>
            <a:xfrm>
              <a:off x="1200" y="2448"/>
              <a:ext cx="1200" cy="960"/>
              <a:chOff x="896" y="2464"/>
              <a:chExt cx="1200" cy="960"/>
            </a:xfrm>
          </p:grpSpPr>
          <p:sp>
            <p:nvSpPr>
              <p:cNvPr id="2245" name="Google Shape;2245;p126"/>
              <p:cNvSpPr/>
              <p:nvPr/>
            </p:nvSpPr>
            <p:spPr>
              <a:xfrm>
                <a:off x="912" y="2496"/>
                <a:ext cx="1152" cy="912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6" name="Google Shape;2246;p126"/>
              <p:cNvSpPr/>
              <p:nvPr/>
            </p:nvSpPr>
            <p:spPr>
              <a:xfrm>
                <a:off x="896" y="2928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7" name="Google Shape;2247;p126"/>
              <p:cNvSpPr/>
              <p:nvPr/>
            </p:nvSpPr>
            <p:spPr>
              <a:xfrm>
                <a:off x="1184" y="3376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8" name="Google Shape;2248;p126"/>
              <p:cNvSpPr/>
              <p:nvPr/>
            </p:nvSpPr>
            <p:spPr>
              <a:xfrm>
                <a:off x="1744" y="2480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9" name="Google Shape;2249;p126"/>
              <p:cNvSpPr/>
              <p:nvPr/>
            </p:nvSpPr>
            <p:spPr>
              <a:xfrm>
                <a:off x="2048" y="2928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0" name="Google Shape;2250;p126"/>
              <p:cNvSpPr/>
              <p:nvPr/>
            </p:nvSpPr>
            <p:spPr>
              <a:xfrm>
                <a:off x="1760" y="3376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1" name="Google Shape;2251;p126"/>
              <p:cNvSpPr/>
              <p:nvPr/>
            </p:nvSpPr>
            <p:spPr>
              <a:xfrm>
                <a:off x="1168" y="2464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2" name="Google Shape;2252;p126"/>
            <p:cNvGrpSpPr/>
            <p:nvPr/>
          </p:nvGrpSpPr>
          <p:grpSpPr>
            <a:xfrm>
              <a:off x="3312" y="2352"/>
              <a:ext cx="1200" cy="1112"/>
              <a:chOff x="3000" y="2272"/>
              <a:chExt cx="1200" cy="1112"/>
            </a:xfrm>
          </p:grpSpPr>
          <p:sp>
            <p:nvSpPr>
              <p:cNvPr id="2253" name="Google Shape;2253;p126"/>
              <p:cNvSpPr/>
              <p:nvPr/>
            </p:nvSpPr>
            <p:spPr>
              <a:xfrm>
                <a:off x="3024" y="2304"/>
                <a:ext cx="1152" cy="1056"/>
              </a:xfrm>
              <a:prstGeom prst="pentagon">
                <a:avLst>
                  <a:gd name="hf" fmla="val 105146"/>
                  <a:gd name="vf" fmla="val 110557"/>
                </a:avLst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126"/>
              <p:cNvSpPr/>
              <p:nvPr/>
            </p:nvSpPr>
            <p:spPr>
              <a:xfrm>
                <a:off x="3576" y="2272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5" name="Google Shape;2255;p126"/>
              <p:cNvSpPr/>
              <p:nvPr/>
            </p:nvSpPr>
            <p:spPr>
              <a:xfrm>
                <a:off x="3000" y="2688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6" name="Google Shape;2256;p126"/>
              <p:cNvSpPr/>
              <p:nvPr/>
            </p:nvSpPr>
            <p:spPr>
              <a:xfrm>
                <a:off x="3232" y="3336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7" name="Google Shape;2257;p126"/>
              <p:cNvSpPr/>
              <p:nvPr/>
            </p:nvSpPr>
            <p:spPr>
              <a:xfrm>
                <a:off x="3928" y="3328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8" name="Google Shape;2258;p126"/>
              <p:cNvSpPr/>
              <p:nvPr/>
            </p:nvSpPr>
            <p:spPr>
              <a:xfrm>
                <a:off x="4152" y="2680"/>
                <a:ext cx="48" cy="48"/>
              </a:xfrm>
              <a:prstGeom prst="ellipse">
                <a:avLst/>
              </a:prstGeom>
              <a:solidFill>
                <a:schemeClr val="dk1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59" name="Google Shape;2259;p126"/>
          <p:cNvSpPr txBox="1"/>
          <p:nvPr/>
        </p:nvSpPr>
        <p:spPr>
          <a:xfrm>
            <a:off x="1905000" y="3257550"/>
            <a:ext cx="7000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White</a:t>
            </a:r>
            <a:endParaRPr/>
          </a:p>
        </p:txBody>
      </p:sp>
      <p:sp>
        <p:nvSpPr>
          <p:cNvPr id="2260" name="Google Shape;2260;p126"/>
          <p:cNvSpPr txBox="1"/>
          <p:nvPr/>
        </p:nvSpPr>
        <p:spPr>
          <a:xfrm>
            <a:off x="3276600" y="3308350"/>
            <a:ext cx="762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Yellow</a:t>
            </a:r>
            <a:endParaRPr/>
          </a:p>
        </p:txBody>
      </p:sp>
      <p:sp>
        <p:nvSpPr>
          <p:cNvPr id="2261" name="Google Shape;2261;p126"/>
          <p:cNvSpPr txBox="1"/>
          <p:nvPr/>
        </p:nvSpPr>
        <p:spPr>
          <a:xfrm>
            <a:off x="3795712" y="4146550"/>
            <a:ext cx="7000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White</a:t>
            </a:r>
            <a:endParaRPr/>
          </a:p>
        </p:txBody>
      </p:sp>
      <p:sp>
        <p:nvSpPr>
          <p:cNvPr id="2262" name="Google Shape;2262;p126"/>
          <p:cNvSpPr txBox="1"/>
          <p:nvPr/>
        </p:nvSpPr>
        <p:spPr>
          <a:xfrm>
            <a:off x="3230562" y="5029200"/>
            <a:ext cx="762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Yellow</a:t>
            </a:r>
            <a:endParaRPr/>
          </a:p>
        </p:txBody>
      </p:sp>
      <p:sp>
        <p:nvSpPr>
          <p:cNvPr id="2263" name="Google Shape;2263;p126"/>
          <p:cNvSpPr txBox="1"/>
          <p:nvPr/>
        </p:nvSpPr>
        <p:spPr>
          <a:xfrm>
            <a:off x="2057400" y="5010150"/>
            <a:ext cx="7000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White</a:t>
            </a:r>
            <a:endParaRPr/>
          </a:p>
        </p:txBody>
      </p:sp>
      <p:sp>
        <p:nvSpPr>
          <p:cNvPr id="2264" name="Google Shape;2264;p126"/>
          <p:cNvSpPr txBox="1"/>
          <p:nvPr/>
        </p:nvSpPr>
        <p:spPr>
          <a:xfrm>
            <a:off x="1066800" y="4171950"/>
            <a:ext cx="762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Yellow</a:t>
            </a:r>
            <a:endParaRPr/>
          </a:p>
        </p:txBody>
      </p:sp>
      <p:sp>
        <p:nvSpPr>
          <p:cNvPr id="2265" name="Google Shape;2265;p126"/>
          <p:cNvSpPr txBox="1"/>
          <p:nvPr/>
        </p:nvSpPr>
        <p:spPr>
          <a:xfrm>
            <a:off x="152400" y="5638800"/>
            <a:ext cx="87630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Chromatic number: 2 	  Chromatic number: 3 </a:t>
            </a:r>
            <a:endParaRPr/>
          </a:p>
        </p:txBody>
      </p:sp>
      <p:sp>
        <p:nvSpPr>
          <p:cNvPr id="2266" name="Google Shape;2266;p126"/>
          <p:cNvSpPr txBox="1"/>
          <p:nvPr/>
        </p:nvSpPr>
        <p:spPr>
          <a:xfrm>
            <a:off x="5943600" y="3079750"/>
            <a:ext cx="7000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White</a:t>
            </a:r>
            <a:endParaRPr/>
          </a:p>
        </p:txBody>
      </p:sp>
      <p:sp>
        <p:nvSpPr>
          <p:cNvPr id="2267" name="Google Shape;2267;p126"/>
          <p:cNvSpPr txBox="1"/>
          <p:nvPr/>
        </p:nvSpPr>
        <p:spPr>
          <a:xfrm>
            <a:off x="7116762" y="3841750"/>
            <a:ext cx="762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Yellow</a:t>
            </a:r>
            <a:endParaRPr/>
          </a:p>
        </p:txBody>
      </p:sp>
      <p:sp>
        <p:nvSpPr>
          <p:cNvPr id="2268" name="Google Shape;2268;p126"/>
          <p:cNvSpPr txBox="1"/>
          <p:nvPr/>
        </p:nvSpPr>
        <p:spPr>
          <a:xfrm>
            <a:off x="6769100" y="5041900"/>
            <a:ext cx="7000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White</a:t>
            </a:r>
            <a:endParaRPr/>
          </a:p>
        </p:txBody>
      </p:sp>
      <p:sp>
        <p:nvSpPr>
          <p:cNvPr id="2269" name="Google Shape;2269;p126"/>
          <p:cNvSpPr txBox="1"/>
          <p:nvPr/>
        </p:nvSpPr>
        <p:spPr>
          <a:xfrm>
            <a:off x="5410200" y="5073650"/>
            <a:ext cx="762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Yellow</a:t>
            </a:r>
            <a:endParaRPr/>
          </a:p>
        </p:txBody>
      </p:sp>
      <p:sp>
        <p:nvSpPr>
          <p:cNvPr id="2270" name="Google Shape;2270;p126"/>
          <p:cNvSpPr txBox="1"/>
          <p:nvPr/>
        </p:nvSpPr>
        <p:spPr>
          <a:xfrm>
            <a:off x="4495800" y="3905250"/>
            <a:ext cx="7175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rgbClr val="33CC33"/>
                </a:solidFill>
                <a:latin typeface="Tahoma"/>
                <a:ea typeface="Tahoma"/>
                <a:cs typeface="Tahoma"/>
                <a:sym typeface="Tahoma"/>
              </a:rPr>
              <a:t>Green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2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2276" name="Google Shape;2276;p127"/>
          <p:cNvSpPr txBox="1">
            <a:spLocks noGrp="1"/>
          </p:cNvSpPr>
          <p:nvPr>
            <p:ph type="body" idx="1"/>
          </p:nvPr>
        </p:nvSpPr>
        <p:spPr>
          <a:xfrm>
            <a:off x="228600" y="1600200"/>
            <a:ext cx="8686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chapter we have covered: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Graphs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Terminology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Representing Graphs and Graph Isomorphism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Connectivity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and Hamilton Paths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 Graphs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Coloring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6296</Words>
  <Application>Microsoft Office PowerPoint</Application>
  <PresentationFormat>On-screen Show (4:3)</PresentationFormat>
  <Paragraphs>980</Paragraphs>
  <Slides>127</Slides>
  <Notes>127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3" baseType="lpstr">
      <vt:lpstr>Times New Roman</vt:lpstr>
      <vt:lpstr>Bookman Old Style</vt:lpstr>
      <vt:lpstr>Tahoma</vt:lpstr>
      <vt:lpstr>Book Antiqua</vt:lpstr>
      <vt:lpstr>Arial</vt:lpstr>
      <vt:lpstr>1_Default Design</vt:lpstr>
      <vt:lpstr>CSE 103 Discrete Structures</vt:lpstr>
      <vt:lpstr>Simple Graph</vt:lpstr>
      <vt:lpstr>Simple Graph Example</vt:lpstr>
      <vt:lpstr>Multigraph</vt:lpstr>
      <vt:lpstr>Pseudograph</vt:lpstr>
      <vt:lpstr>Types of Undirected Graphs</vt:lpstr>
      <vt:lpstr>Directed Graph</vt:lpstr>
      <vt:lpstr>Directed Multigraph</vt:lpstr>
      <vt:lpstr>Types of Directed Graphs</vt:lpstr>
      <vt:lpstr>Graph Models</vt:lpstr>
      <vt:lpstr>Niche Overlay Graph</vt:lpstr>
      <vt:lpstr>Acquaintanceship Graph</vt:lpstr>
      <vt:lpstr>Influence Graph</vt:lpstr>
      <vt:lpstr>Round-Robin Tournament Graph</vt:lpstr>
      <vt:lpstr>Call Graphs</vt:lpstr>
      <vt:lpstr>Precedence Graphs</vt:lpstr>
      <vt:lpstr>Hollywood Graph</vt:lpstr>
      <vt:lpstr>Shortest-path Algorithms</vt:lpstr>
      <vt:lpstr>Bacon Numbers</vt:lpstr>
      <vt:lpstr>Bacon Numbers</vt:lpstr>
      <vt:lpstr>Shortest-path Algorithms</vt:lpstr>
      <vt:lpstr>Summary</vt:lpstr>
      <vt:lpstr>CSE 103 Discrete Structures</vt:lpstr>
      <vt:lpstr>Adjacent Vertices in Undirected Graphs</vt:lpstr>
      <vt:lpstr>Degree of a Vertex</vt:lpstr>
      <vt:lpstr>Example</vt:lpstr>
      <vt:lpstr>Adjacent Vertices in Directed Graphs</vt:lpstr>
      <vt:lpstr>Degree of a Vertex</vt:lpstr>
      <vt:lpstr>Example</vt:lpstr>
      <vt:lpstr>PowerPoint Presentation</vt:lpstr>
      <vt:lpstr>Theorem 3</vt:lpstr>
      <vt:lpstr>Complete Graph</vt:lpstr>
      <vt:lpstr>Cycle</vt:lpstr>
      <vt:lpstr>Wheel</vt:lpstr>
      <vt:lpstr>Bipartite Graph</vt:lpstr>
      <vt:lpstr>Bipartite Graph (Example)</vt:lpstr>
      <vt:lpstr>Bipartite Graph (Example)</vt:lpstr>
      <vt:lpstr>Subgraph</vt:lpstr>
      <vt:lpstr>Union</vt:lpstr>
      <vt:lpstr>CSE 103 Discrete Structures</vt:lpstr>
      <vt:lpstr>Adjacency Matrix</vt:lpstr>
      <vt:lpstr>Adjacency Matrix Example</vt:lpstr>
      <vt:lpstr>Incidence Matrix </vt:lpstr>
      <vt:lpstr>Incidence Matrix Example</vt:lpstr>
      <vt:lpstr>Isomorphism</vt:lpstr>
      <vt:lpstr>Isomorphism (Cont.)</vt:lpstr>
      <vt:lpstr>Example</vt:lpstr>
      <vt:lpstr>Invariants</vt:lpstr>
      <vt:lpstr>Example</vt:lpstr>
      <vt:lpstr>Example</vt:lpstr>
      <vt:lpstr>Example (Cont.)</vt:lpstr>
      <vt:lpstr>Example (Cont.)</vt:lpstr>
      <vt:lpstr>Example (Cont.)</vt:lpstr>
      <vt:lpstr>Example (Cont.)</vt:lpstr>
      <vt:lpstr>Example (Cont.)</vt:lpstr>
      <vt:lpstr>Example (Cont.)</vt:lpstr>
      <vt:lpstr>Example (Cont.)</vt:lpstr>
      <vt:lpstr>CSE 103 Discrete Structures</vt:lpstr>
      <vt:lpstr>Paths in Undirected Graphs</vt:lpstr>
      <vt:lpstr>Paths in Undirected Graphs</vt:lpstr>
      <vt:lpstr>Example</vt:lpstr>
      <vt:lpstr>Example</vt:lpstr>
      <vt:lpstr>Example</vt:lpstr>
      <vt:lpstr>Connectedness</vt:lpstr>
      <vt:lpstr>Example</vt:lpstr>
      <vt:lpstr>Connectedness (Cont.)</vt:lpstr>
      <vt:lpstr>Example</vt:lpstr>
      <vt:lpstr>Example</vt:lpstr>
      <vt:lpstr>Cut edges and vertices</vt:lpstr>
      <vt:lpstr>Example</vt:lpstr>
      <vt:lpstr>Example</vt:lpstr>
      <vt:lpstr>Connectedness in Directed Graphs</vt:lpstr>
      <vt:lpstr>Example</vt:lpstr>
      <vt:lpstr>Example</vt:lpstr>
      <vt:lpstr>Connectedness in Directed Graphs</vt:lpstr>
      <vt:lpstr>Example</vt:lpstr>
      <vt:lpstr>CSE 103 Discrete Structures</vt:lpstr>
      <vt:lpstr>Euler Paths and Circuits</vt:lpstr>
      <vt:lpstr>Euler Paths and Circuits</vt:lpstr>
      <vt:lpstr>Necessary and Sufficient Conditions</vt:lpstr>
      <vt:lpstr>Example</vt:lpstr>
      <vt:lpstr>Example</vt:lpstr>
      <vt:lpstr>Euler Circuit in Directed Graphs</vt:lpstr>
      <vt:lpstr>Euler Path in Directed Graphs</vt:lpstr>
      <vt:lpstr>Hamilton Paths and Circuits</vt:lpstr>
      <vt:lpstr>Hamilton Circuits</vt:lpstr>
      <vt:lpstr>Hamilton Circuits</vt:lpstr>
      <vt:lpstr>Finding Hamilton Circuits</vt:lpstr>
      <vt:lpstr>Finding Hamilton Circuits</vt:lpstr>
      <vt:lpstr>Finding Hamilton Circuits</vt:lpstr>
      <vt:lpstr>Properties to look for ...</vt:lpstr>
      <vt:lpstr>A Sufficient Condition</vt:lpstr>
      <vt:lpstr>Travelling Salesman Problem</vt:lpstr>
      <vt:lpstr>Summary</vt:lpstr>
      <vt:lpstr>CSE 103 Discrete Structures</vt:lpstr>
      <vt:lpstr>The House-and-Utilities Problem</vt:lpstr>
      <vt:lpstr>Planar Graphs</vt:lpstr>
      <vt:lpstr>Planar Graphs</vt:lpstr>
      <vt:lpstr>Planar Graphs</vt:lpstr>
      <vt:lpstr>Example</vt:lpstr>
      <vt:lpstr>Example</vt:lpstr>
      <vt:lpstr>Planar Graphs</vt:lpstr>
      <vt:lpstr>Regions</vt:lpstr>
      <vt:lpstr>Regions</vt:lpstr>
      <vt:lpstr>Regions</vt:lpstr>
      <vt:lpstr>Regions</vt:lpstr>
      <vt:lpstr>Regions</vt:lpstr>
      <vt:lpstr>Regions</vt:lpstr>
      <vt:lpstr>Regions</vt:lpstr>
      <vt:lpstr>Planar Graphs</vt:lpstr>
      <vt:lpstr>Regions</vt:lpstr>
      <vt:lpstr>Euler’s Formula</vt:lpstr>
      <vt:lpstr>Euler’s Formula (Cont.)</vt:lpstr>
      <vt:lpstr>Euler’s Formula (Cont.)</vt:lpstr>
      <vt:lpstr>Euler’s Formula (Cont.)</vt:lpstr>
      <vt:lpstr>Euler’s Formula (Cont.)</vt:lpstr>
      <vt:lpstr>Euler’s Formula (Cont.)</vt:lpstr>
      <vt:lpstr>CSE 103 Discrete Structures</vt:lpstr>
      <vt:lpstr>Introduction</vt:lpstr>
      <vt:lpstr>4-Color Map Theorem</vt:lpstr>
      <vt:lpstr>Map Coloring</vt:lpstr>
      <vt:lpstr>Dual Graph</vt:lpstr>
      <vt:lpstr>Dual Graph Examples</vt:lpstr>
      <vt:lpstr>Graph Coloring</vt:lpstr>
      <vt:lpstr>Example</vt:lpstr>
      <vt:lpstr>Example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Zobaer Zihad</cp:lastModifiedBy>
  <cp:revision>3</cp:revision>
  <dcterms:modified xsi:type="dcterms:W3CDTF">2026-04-02T05:58:04Z</dcterms:modified>
</cp:coreProperties>
</file>