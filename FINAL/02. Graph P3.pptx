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62" r:id="rId10"/>
    <p:sldId id="263" r:id="rId11"/>
    <p:sldId id="264" r:id="rId12"/>
    <p:sldId id="265" r:id="rId13"/>
    <p:sldId id="267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4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Graphs and Tree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CSE 103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664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Cut vertex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the removal from a graph of a vertex and all incident edges produces a </a:t>
            </a:r>
            <a:r>
              <a:rPr lang="en-US" dirty="0" err="1" smtClean="0"/>
              <a:t>subgraph</a:t>
            </a:r>
            <a:r>
              <a:rPr lang="en-US" dirty="0"/>
              <a:t> </a:t>
            </a:r>
            <a:r>
              <a:rPr lang="en-US" dirty="0" smtClean="0"/>
              <a:t>with </a:t>
            </a:r>
            <a:r>
              <a:rPr lang="en-US" dirty="0"/>
              <a:t>more connected components. Such vertices are called </a:t>
            </a:r>
            <a:r>
              <a:rPr lang="en-US" b="1" dirty="0"/>
              <a:t>cut vertices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602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degree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/>
              <a:t>A vertex of degree zero is called </a:t>
            </a:r>
            <a:r>
              <a:rPr lang="en-US" b="1" dirty="0"/>
              <a:t>isolated</a:t>
            </a:r>
            <a:r>
              <a:rPr lang="en-US" dirty="0" smtClean="0"/>
              <a:t>.</a:t>
            </a:r>
            <a:r>
              <a:rPr lang="en-US" dirty="0"/>
              <a:t> Vertex </a:t>
            </a:r>
            <a:r>
              <a:rPr lang="en-US" i="1" dirty="0"/>
              <a:t>g </a:t>
            </a:r>
            <a:r>
              <a:rPr lang="en-US" dirty="0"/>
              <a:t>in graph </a:t>
            </a:r>
            <a:r>
              <a:rPr lang="en-US" i="1" dirty="0"/>
              <a:t>G </a:t>
            </a:r>
            <a:r>
              <a:rPr lang="en-US" dirty="0"/>
              <a:t>in Example 1 is isolated.</a:t>
            </a:r>
            <a:endParaRPr lang="en-US" dirty="0" smtClean="0"/>
          </a:p>
          <a:p>
            <a:r>
              <a:rPr lang="en-US" dirty="0"/>
              <a:t>A vertex is </a:t>
            </a:r>
            <a:r>
              <a:rPr lang="en-US" b="1" dirty="0"/>
              <a:t>pendant </a:t>
            </a:r>
            <a:r>
              <a:rPr lang="en-US" dirty="0"/>
              <a:t>if and </a:t>
            </a:r>
            <a:r>
              <a:rPr lang="en-US" dirty="0" smtClean="0"/>
              <a:t>only if </a:t>
            </a:r>
            <a:r>
              <a:rPr lang="en-US" dirty="0"/>
              <a:t>it has degree one</a:t>
            </a:r>
            <a:r>
              <a:rPr lang="en-US" dirty="0" smtClean="0"/>
              <a:t>.</a:t>
            </a:r>
            <a:r>
              <a:rPr lang="en-US" dirty="0"/>
              <a:t> Vertex </a:t>
            </a:r>
            <a:r>
              <a:rPr lang="en-US" i="1" dirty="0"/>
              <a:t>d </a:t>
            </a:r>
            <a:r>
              <a:rPr lang="en-US" dirty="0"/>
              <a:t>in graph </a:t>
            </a:r>
            <a:r>
              <a:rPr lang="en-US" i="1" dirty="0"/>
              <a:t>G </a:t>
            </a:r>
            <a:r>
              <a:rPr lang="en-US" dirty="0"/>
              <a:t>in Example 1 is </a:t>
            </a:r>
            <a:r>
              <a:rPr lang="en-US" dirty="0" smtClean="0"/>
              <a:t>pendant.</a:t>
            </a:r>
            <a:endParaRPr lang="en-US" dirty="0"/>
          </a:p>
        </p:txBody>
      </p:sp>
      <p:pic>
        <p:nvPicPr>
          <p:cNvPr id="1026" name="Picture 2" descr="C:\Users\Faculty-PC\Desktop\g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733800"/>
            <a:ext cx="3933825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71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 1 </a:t>
            </a:r>
            <a:r>
              <a:rPr lang="en-US" dirty="0"/>
              <a:t>A </a:t>
            </a:r>
            <a:r>
              <a:rPr lang="en-US" i="1" dirty="0"/>
              <a:t>tree </a:t>
            </a:r>
            <a:r>
              <a:rPr lang="en-US" dirty="0"/>
              <a:t>is a connected undirected graph with no simple circuits</a:t>
            </a:r>
            <a:r>
              <a:rPr lang="en-US" dirty="0" smtClean="0"/>
              <a:t>.</a:t>
            </a:r>
          </a:p>
          <a:p>
            <a:r>
              <a:rPr lang="en-US" b="1" dirty="0"/>
              <a:t>DEFINITION 2 </a:t>
            </a:r>
            <a:r>
              <a:rPr lang="en-US" dirty="0"/>
              <a:t>A </a:t>
            </a:r>
            <a:r>
              <a:rPr lang="en-US" i="1" dirty="0"/>
              <a:t>rooted tree </a:t>
            </a:r>
            <a:r>
              <a:rPr lang="en-US" dirty="0"/>
              <a:t>is a tree in which one vertex has been designated as the root and every edge </a:t>
            </a:r>
            <a:r>
              <a:rPr lang="en-US" dirty="0" smtClean="0"/>
              <a:t>is directed </a:t>
            </a:r>
            <a:r>
              <a:rPr lang="en-US" dirty="0"/>
              <a:t>away </a:t>
            </a:r>
            <a:r>
              <a:rPr lang="en-US" dirty="0" smtClean="0"/>
              <a:t>from </a:t>
            </a:r>
            <a:r>
              <a:rPr lang="en-US" dirty="0"/>
              <a:t>the root</a:t>
            </a:r>
            <a:r>
              <a:rPr lang="en-US" dirty="0" smtClean="0"/>
              <a:t>.</a:t>
            </a:r>
          </a:p>
          <a:p>
            <a:r>
              <a:rPr lang="en-US" dirty="0"/>
              <a:t>The terminology for </a:t>
            </a:r>
            <a:r>
              <a:rPr lang="en-US" dirty="0" smtClean="0"/>
              <a:t>trees are </a:t>
            </a:r>
            <a:r>
              <a:rPr lang="en-US" b="1" dirty="0" smtClean="0"/>
              <a:t>parent, child, siblings</a:t>
            </a:r>
            <a:r>
              <a:rPr lang="en-US" dirty="0" smtClean="0"/>
              <a:t>, </a:t>
            </a:r>
            <a:r>
              <a:rPr lang="en-US" b="1" dirty="0" smtClean="0"/>
              <a:t>ancestors, descendants.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70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r>
              <a:rPr lang="en-US" b="1" dirty="0"/>
              <a:t>DEFINITION 3 </a:t>
            </a:r>
            <a:r>
              <a:rPr lang="en-US" dirty="0"/>
              <a:t>A rooted tree is called an </a:t>
            </a:r>
            <a:r>
              <a:rPr lang="en-US" i="1" dirty="0"/>
              <a:t>m-</a:t>
            </a:r>
            <a:r>
              <a:rPr lang="en-US" i="1" dirty="0" err="1"/>
              <a:t>ary</a:t>
            </a:r>
            <a:r>
              <a:rPr lang="en-US" i="1" dirty="0"/>
              <a:t> tree </a:t>
            </a:r>
            <a:r>
              <a:rPr lang="en-US" dirty="0"/>
              <a:t>if every internal vertex has no more than </a:t>
            </a:r>
            <a:r>
              <a:rPr lang="en-US" i="1" dirty="0"/>
              <a:t>m </a:t>
            </a:r>
            <a:r>
              <a:rPr lang="en-US" dirty="0" smtClean="0"/>
              <a:t>children. The </a:t>
            </a:r>
            <a:r>
              <a:rPr lang="en-US" dirty="0"/>
              <a:t>tree is called a </a:t>
            </a:r>
            <a:r>
              <a:rPr lang="en-US" i="1" dirty="0"/>
              <a:t>full m-</a:t>
            </a:r>
            <a:r>
              <a:rPr lang="en-US" i="1" dirty="0" err="1"/>
              <a:t>ary</a:t>
            </a:r>
            <a:r>
              <a:rPr lang="en-US" i="1" dirty="0"/>
              <a:t> tree </a:t>
            </a:r>
            <a:r>
              <a:rPr lang="en-US" dirty="0"/>
              <a:t>if every internal vertex has exactly </a:t>
            </a:r>
            <a:r>
              <a:rPr lang="en-US" i="1" dirty="0"/>
              <a:t>m </a:t>
            </a:r>
            <a:r>
              <a:rPr lang="en-US" dirty="0"/>
              <a:t>children. An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/>
              <a:t> </a:t>
            </a:r>
            <a:r>
              <a:rPr lang="en-US" dirty="0" smtClean="0"/>
              <a:t>tree </a:t>
            </a:r>
            <a:r>
              <a:rPr lang="en-US" dirty="0"/>
              <a:t>with </a:t>
            </a:r>
            <a:r>
              <a:rPr lang="en-US" i="1" dirty="0"/>
              <a:t>m </a:t>
            </a:r>
            <a:r>
              <a:rPr lang="en-US" dirty="0"/>
              <a:t>= 2 is called a </a:t>
            </a:r>
            <a:r>
              <a:rPr lang="en-US" i="1" dirty="0"/>
              <a:t>binary tree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2050" name="Picture 2" descr="C:\Users\Faculty-PC\Desktop\t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308" y="4343400"/>
            <a:ext cx="6924675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963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a binary search tree for the words </a:t>
            </a:r>
            <a:r>
              <a:rPr lang="en-US" i="1" dirty="0"/>
              <a:t>mathematics, physics, geography, zoology, </a:t>
            </a:r>
            <a:r>
              <a:rPr lang="en-US" i="1" dirty="0" smtClean="0"/>
              <a:t>meteorology, geology</a:t>
            </a:r>
            <a:r>
              <a:rPr lang="en-US" i="1" dirty="0"/>
              <a:t>, psychology</a:t>
            </a:r>
            <a:r>
              <a:rPr lang="en-US" dirty="0"/>
              <a:t>, and </a:t>
            </a:r>
            <a:r>
              <a:rPr lang="en-US" i="1" dirty="0"/>
              <a:t>chemistry </a:t>
            </a:r>
            <a:r>
              <a:rPr lang="en-US" dirty="0"/>
              <a:t>(using alphabetical order).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7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C:\Users\Faculty-PC\Desktop\t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08" y="1664677"/>
            <a:ext cx="8020050" cy="453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012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ORDERED ROOTED TREES </a:t>
            </a:r>
            <a:r>
              <a:rPr lang="en-US" dirty="0"/>
              <a:t>An </a:t>
            </a:r>
            <a:r>
              <a:rPr lang="en-US" b="1" dirty="0"/>
              <a:t>ordered rooted tree </a:t>
            </a:r>
            <a:r>
              <a:rPr lang="en-US" dirty="0"/>
              <a:t>is a rooted tree where the </a:t>
            </a:r>
            <a:r>
              <a:rPr lang="en-US" dirty="0" smtClean="0"/>
              <a:t>children of </a:t>
            </a:r>
            <a:r>
              <a:rPr lang="en-US" dirty="0"/>
              <a:t>each </a:t>
            </a:r>
            <a:r>
              <a:rPr lang="en-US" dirty="0" smtClean="0"/>
              <a:t>internal </a:t>
            </a:r>
            <a:r>
              <a:rPr lang="en-US" dirty="0"/>
              <a:t>vertex are ordered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Example: Binary tree</a:t>
            </a:r>
          </a:p>
          <a:p>
            <a:r>
              <a:rPr lang="en-US" b="1" dirty="0"/>
              <a:t>THEOREM 2 </a:t>
            </a:r>
            <a:r>
              <a:rPr lang="en-US" dirty="0">
                <a:solidFill>
                  <a:srgbClr val="FF0000"/>
                </a:solidFill>
              </a:rPr>
              <a:t>A tree with </a:t>
            </a:r>
            <a:r>
              <a:rPr lang="en-US" i="1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</a:rPr>
              <a:t>vertices has </a:t>
            </a:r>
            <a:r>
              <a:rPr lang="en-US" i="1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</a:rPr>
              <a:t>− 1 edges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b="1" dirty="0"/>
              <a:t>THEOREM 3 </a:t>
            </a:r>
            <a:r>
              <a:rPr lang="en-US" dirty="0">
                <a:solidFill>
                  <a:srgbClr val="FF0000"/>
                </a:solidFill>
              </a:rPr>
              <a:t>A full </a:t>
            </a:r>
            <a:r>
              <a:rPr lang="en-US" i="1" dirty="0">
                <a:solidFill>
                  <a:srgbClr val="FF0000"/>
                </a:solidFill>
              </a:rPr>
              <a:t>m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ary</a:t>
            </a:r>
            <a:r>
              <a:rPr lang="en-US" dirty="0">
                <a:solidFill>
                  <a:srgbClr val="FF0000"/>
                </a:solidFill>
              </a:rPr>
              <a:t> tree with </a:t>
            </a:r>
            <a:r>
              <a:rPr lang="en-US" i="1" dirty="0">
                <a:solidFill>
                  <a:srgbClr val="FF0000"/>
                </a:solidFill>
              </a:rPr>
              <a:t>i </a:t>
            </a:r>
            <a:r>
              <a:rPr lang="en-US" dirty="0">
                <a:solidFill>
                  <a:srgbClr val="FF0000"/>
                </a:solidFill>
              </a:rPr>
              <a:t>internal vertices contains </a:t>
            </a:r>
            <a:r>
              <a:rPr lang="en-US" i="1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</a:rPr>
              <a:t>= </a:t>
            </a:r>
            <a:r>
              <a:rPr lang="en-US" i="1" dirty="0">
                <a:solidFill>
                  <a:srgbClr val="FF0000"/>
                </a:solidFill>
              </a:rPr>
              <a:t>mi </a:t>
            </a:r>
            <a:r>
              <a:rPr lang="en-US" dirty="0">
                <a:solidFill>
                  <a:srgbClr val="FF0000"/>
                </a:solidFill>
              </a:rPr>
              <a:t>+ 1 vertices.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196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THEOREM 4 </a:t>
            </a:r>
            <a:r>
              <a:rPr lang="en-US" dirty="0"/>
              <a:t>A full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 with</a:t>
            </a:r>
          </a:p>
          <a:p>
            <a:r>
              <a:rPr lang="en-US" dirty="0"/>
              <a:t>(</a:t>
            </a:r>
            <a:r>
              <a:rPr lang="en-US" i="1" dirty="0"/>
              <a:t>i </a:t>
            </a:r>
            <a:r>
              <a:rPr lang="en-US" dirty="0"/>
              <a:t>) </a:t>
            </a:r>
            <a:r>
              <a:rPr lang="en-US" i="1" dirty="0"/>
              <a:t>n </a:t>
            </a:r>
            <a:r>
              <a:rPr lang="en-US" dirty="0"/>
              <a:t>vertices has </a:t>
            </a:r>
            <a:r>
              <a:rPr lang="en-US" i="1" dirty="0"/>
              <a:t>i </a:t>
            </a:r>
            <a:r>
              <a:rPr lang="en-US" dirty="0"/>
              <a:t>= </a:t>
            </a:r>
            <a:r>
              <a:rPr lang="en-US" i="1" dirty="0"/>
              <a:t>(n </a:t>
            </a:r>
            <a:r>
              <a:rPr lang="en-US" dirty="0"/>
              <a:t>− 1</a:t>
            </a:r>
            <a:r>
              <a:rPr lang="en-US" i="1" dirty="0"/>
              <a:t>)/m </a:t>
            </a:r>
            <a:r>
              <a:rPr lang="en-US" dirty="0"/>
              <a:t>internal vertices and </a:t>
            </a:r>
            <a:r>
              <a:rPr lang="en-US" i="1" dirty="0"/>
              <a:t>l </a:t>
            </a:r>
            <a:r>
              <a:rPr lang="en-US" dirty="0"/>
              <a:t>= [</a:t>
            </a:r>
            <a:r>
              <a:rPr lang="en-US" i="1" dirty="0"/>
              <a:t>(m </a:t>
            </a:r>
            <a:r>
              <a:rPr lang="en-US" dirty="0"/>
              <a:t>− 1</a:t>
            </a:r>
            <a:r>
              <a:rPr lang="en-US" i="1" dirty="0"/>
              <a:t>)n </a:t>
            </a:r>
            <a:r>
              <a:rPr lang="en-US" dirty="0"/>
              <a:t>+ 1]</a:t>
            </a:r>
            <a:r>
              <a:rPr lang="en-US" i="1" dirty="0"/>
              <a:t>/m </a:t>
            </a:r>
            <a:r>
              <a:rPr lang="en-US" dirty="0"/>
              <a:t>leaves,</a:t>
            </a:r>
          </a:p>
          <a:p>
            <a:r>
              <a:rPr lang="en-US" dirty="0"/>
              <a:t>(</a:t>
            </a:r>
            <a:r>
              <a:rPr lang="en-US" i="1" dirty="0"/>
              <a:t>ii </a:t>
            </a:r>
            <a:r>
              <a:rPr lang="en-US" dirty="0"/>
              <a:t>) </a:t>
            </a:r>
            <a:r>
              <a:rPr lang="en-US" i="1" dirty="0"/>
              <a:t>i </a:t>
            </a:r>
            <a:r>
              <a:rPr lang="en-US" dirty="0"/>
              <a:t>internal vertices has </a:t>
            </a:r>
            <a:r>
              <a:rPr lang="en-US" i="1" dirty="0"/>
              <a:t>n </a:t>
            </a:r>
            <a:r>
              <a:rPr lang="en-US" dirty="0"/>
              <a:t>= </a:t>
            </a:r>
            <a:r>
              <a:rPr lang="en-US" i="1" dirty="0"/>
              <a:t>mi </a:t>
            </a:r>
            <a:r>
              <a:rPr lang="en-US" dirty="0"/>
              <a:t>+ 1 vertices and </a:t>
            </a:r>
            <a:r>
              <a:rPr lang="en-US" i="1" dirty="0"/>
              <a:t>l </a:t>
            </a:r>
            <a:r>
              <a:rPr lang="en-US" dirty="0"/>
              <a:t>= </a:t>
            </a:r>
            <a:r>
              <a:rPr lang="en-US" i="1" dirty="0"/>
              <a:t>(m </a:t>
            </a:r>
            <a:r>
              <a:rPr lang="en-US" dirty="0"/>
              <a:t>− 1</a:t>
            </a:r>
            <a:r>
              <a:rPr lang="en-US" i="1" dirty="0"/>
              <a:t>)i </a:t>
            </a:r>
            <a:r>
              <a:rPr lang="en-US" dirty="0"/>
              <a:t>+ 1 leaves,</a:t>
            </a:r>
          </a:p>
          <a:p>
            <a:r>
              <a:rPr lang="en-US" dirty="0"/>
              <a:t>(</a:t>
            </a:r>
            <a:r>
              <a:rPr lang="en-US" i="1" dirty="0"/>
              <a:t>iii </a:t>
            </a:r>
            <a:r>
              <a:rPr lang="en-US" dirty="0"/>
              <a:t>) </a:t>
            </a:r>
            <a:r>
              <a:rPr lang="en-US" i="1" dirty="0"/>
              <a:t>l </a:t>
            </a:r>
            <a:r>
              <a:rPr lang="en-US" dirty="0"/>
              <a:t>leaves has </a:t>
            </a:r>
            <a:r>
              <a:rPr lang="en-US" i="1" dirty="0"/>
              <a:t>n </a:t>
            </a:r>
            <a:r>
              <a:rPr lang="en-US" dirty="0"/>
              <a:t>= </a:t>
            </a:r>
            <a:r>
              <a:rPr lang="en-US" i="1" dirty="0"/>
              <a:t>(ml </a:t>
            </a:r>
            <a:r>
              <a:rPr lang="en-US" dirty="0"/>
              <a:t>− 1</a:t>
            </a:r>
            <a:r>
              <a:rPr lang="en-US" i="1" dirty="0"/>
              <a:t>)/(m </a:t>
            </a:r>
            <a:r>
              <a:rPr lang="en-US" dirty="0"/>
              <a:t>− 1</a:t>
            </a:r>
            <a:r>
              <a:rPr lang="en-US" i="1" dirty="0"/>
              <a:t>) </a:t>
            </a:r>
            <a:r>
              <a:rPr lang="en-US" dirty="0"/>
              <a:t>vertices and </a:t>
            </a:r>
            <a:r>
              <a:rPr lang="en-US" i="1" dirty="0"/>
              <a:t>i </a:t>
            </a:r>
            <a:r>
              <a:rPr lang="en-US" dirty="0"/>
              <a:t>= </a:t>
            </a:r>
            <a:r>
              <a:rPr lang="en-US" i="1" dirty="0"/>
              <a:t>(l </a:t>
            </a:r>
            <a:r>
              <a:rPr lang="en-US" dirty="0"/>
              <a:t>− 1</a:t>
            </a:r>
            <a:r>
              <a:rPr lang="en-US" i="1" dirty="0"/>
              <a:t>)/(m </a:t>
            </a:r>
            <a:r>
              <a:rPr lang="en-US" dirty="0"/>
              <a:t>− 1</a:t>
            </a:r>
            <a:r>
              <a:rPr lang="en-US" i="1" dirty="0"/>
              <a:t>) </a:t>
            </a:r>
            <a:r>
              <a:rPr lang="en-US" dirty="0"/>
              <a:t>internal vertices.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464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Infix, Prefix, and Postfix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ordered rooted tree that represents the expression </a:t>
            </a:r>
            <a:r>
              <a:rPr lang="en-US" i="1" dirty="0"/>
              <a:t>((x </a:t>
            </a:r>
            <a:r>
              <a:rPr lang="en-US" dirty="0"/>
              <a:t>+ </a:t>
            </a:r>
            <a:r>
              <a:rPr lang="en-US" i="1" dirty="0"/>
              <a:t>y)</a:t>
            </a:r>
            <a:r>
              <a:rPr lang="en-US" dirty="0"/>
              <a:t>↑2</a:t>
            </a:r>
            <a:r>
              <a:rPr lang="en-US" i="1" dirty="0"/>
              <a:t>) </a:t>
            </a:r>
            <a:r>
              <a:rPr lang="en-US" dirty="0"/>
              <a:t>+ </a:t>
            </a:r>
            <a:r>
              <a:rPr lang="en-US" i="1" dirty="0"/>
              <a:t>((x </a:t>
            </a:r>
            <a:r>
              <a:rPr lang="en-US" dirty="0"/>
              <a:t>− 4</a:t>
            </a:r>
            <a:r>
              <a:rPr lang="en-US" i="1" dirty="0"/>
              <a:t>)/</a:t>
            </a:r>
            <a:r>
              <a:rPr lang="en-US" dirty="0"/>
              <a:t>3</a:t>
            </a:r>
            <a:r>
              <a:rPr lang="en-US" i="1" dirty="0" smtClean="0"/>
              <a:t>)</a:t>
            </a:r>
            <a:r>
              <a:rPr lang="en-US" dirty="0" smtClean="0"/>
              <a:t>? =&gt; This is infix form.</a:t>
            </a:r>
          </a:p>
          <a:p>
            <a:endParaRPr lang="en-US" dirty="0"/>
          </a:p>
        </p:txBody>
      </p:sp>
      <p:pic>
        <p:nvPicPr>
          <p:cNvPr id="3074" name="Picture 2" descr="C:\Users\Faculty-PC\Desktop\t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200400"/>
            <a:ext cx="6657975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665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prefix form for </a:t>
            </a:r>
            <a:r>
              <a:rPr lang="en-US" i="1" dirty="0"/>
              <a:t>((x </a:t>
            </a:r>
            <a:r>
              <a:rPr lang="en-US" dirty="0"/>
              <a:t>+ </a:t>
            </a:r>
            <a:r>
              <a:rPr lang="en-US" i="1" dirty="0"/>
              <a:t>y) </a:t>
            </a:r>
            <a:r>
              <a:rPr lang="en-US" dirty="0"/>
              <a:t>↑ 2</a:t>
            </a:r>
            <a:r>
              <a:rPr lang="en-US" i="1" dirty="0"/>
              <a:t>) </a:t>
            </a:r>
            <a:r>
              <a:rPr lang="en-US" dirty="0"/>
              <a:t>+ </a:t>
            </a:r>
            <a:r>
              <a:rPr lang="en-US" i="1" dirty="0"/>
              <a:t>((x </a:t>
            </a:r>
            <a:r>
              <a:rPr lang="en-US" dirty="0"/>
              <a:t>− 4</a:t>
            </a:r>
            <a:r>
              <a:rPr lang="en-US" i="1" dirty="0"/>
              <a:t>)/</a:t>
            </a:r>
            <a:r>
              <a:rPr lang="en-US" dirty="0"/>
              <a:t>3</a:t>
            </a:r>
            <a:r>
              <a:rPr lang="en-US" i="1" dirty="0" smtClean="0"/>
              <a:t>)</a:t>
            </a:r>
            <a:r>
              <a:rPr lang="en-US" dirty="0" smtClean="0"/>
              <a:t>?</a:t>
            </a:r>
          </a:p>
          <a:p>
            <a:r>
              <a:rPr lang="en-US" i="1" dirty="0" smtClean="0"/>
              <a:t>Solution: </a:t>
            </a:r>
            <a:r>
              <a:rPr lang="en-US" dirty="0" smtClean="0"/>
              <a:t>We </a:t>
            </a:r>
            <a:r>
              <a:rPr lang="en-US" dirty="0"/>
              <a:t>obtain the prefix form for this expression by traversing the binary tree that </a:t>
            </a:r>
            <a:r>
              <a:rPr lang="en-US" dirty="0" smtClean="0"/>
              <a:t>represents it </a:t>
            </a:r>
            <a:r>
              <a:rPr lang="en-US" dirty="0"/>
              <a:t>in preorder, shown in Figure 10. This produces + ↑ + </a:t>
            </a:r>
            <a:r>
              <a:rPr lang="en-US" i="1" dirty="0"/>
              <a:t>x y </a:t>
            </a:r>
            <a:r>
              <a:rPr lang="en-US" dirty="0"/>
              <a:t>2 / − </a:t>
            </a:r>
            <a:r>
              <a:rPr lang="en-US" i="1" dirty="0"/>
              <a:t>x </a:t>
            </a:r>
            <a:r>
              <a:rPr lang="en-US" dirty="0"/>
              <a:t>4 3.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823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098" name="Picture 2" descr="C:\Users\Faculty-PC\Desktop\t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8534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468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Faculty-PC\Desktop\t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7515225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869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value of the prefix expression + − ∗ 2 3 5</a:t>
            </a:r>
            <a:r>
              <a:rPr lang="en-US" i="1" dirty="0"/>
              <a:t>/</a:t>
            </a:r>
            <a:r>
              <a:rPr lang="en-US" dirty="0"/>
              <a:t>↑ 2 3 4</a:t>
            </a:r>
            <a:r>
              <a:rPr lang="en-US" dirty="0" smtClean="0"/>
              <a:t>?</a:t>
            </a:r>
          </a:p>
          <a:p>
            <a:r>
              <a:rPr lang="en-US" dirty="0"/>
              <a:t>What is the value of the postfix expression 7 2 3 ∗ − 4 ↑ 9 3</a:t>
            </a:r>
            <a:r>
              <a:rPr lang="en-US" i="1" dirty="0" smtClean="0"/>
              <a:t>/</a:t>
            </a:r>
            <a:r>
              <a:rPr lang="en-US" dirty="0" smtClean="0"/>
              <a:t>+?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27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512</Words>
  <Application>Microsoft Office PowerPoint</Application>
  <PresentationFormat>On-screen Show (4:3)</PresentationFormat>
  <Paragraphs>30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Graphs and Tree</vt:lpstr>
      <vt:lpstr>Cut vertex</vt:lpstr>
      <vt:lpstr>degree</vt:lpstr>
      <vt:lpstr>Tree</vt:lpstr>
      <vt:lpstr>PowerPoint Presentation</vt:lpstr>
      <vt:lpstr>Binary search tree</vt:lpstr>
      <vt:lpstr>Binary search tree</vt:lpstr>
      <vt:lpstr>PowerPoint Presentation</vt:lpstr>
      <vt:lpstr>PowerPoint Presentation</vt:lpstr>
      <vt:lpstr>Infix, Prefix, and Postfix Notation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 and Tree</dc:title>
  <dc:creator>Faculty-PC</dc:creator>
  <cp:lastModifiedBy>Faculty-PC</cp:lastModifiedBy>
  <cp:revision>8</cp:revision>
  <dcterms:created xsi:type="dcterms:W3CDTF">2006-08-16T00:00:00Z</dcterms:created>
  <dcterms:modified xsi:type="dcterms:W3CDTF">2018-09-17T06:51:08Z</dcterms:modified>
</cp:coreProperties>
</file>